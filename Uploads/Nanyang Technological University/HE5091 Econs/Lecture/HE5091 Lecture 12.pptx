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48"/>
  </p:notesMasterIdLst>
  <p:handoutMasterIdLst>
    <p:handoutMasterId r:id="rId49"/>
  </p:handoutMasterIdLst>
  <p:sldIdLst>
    <p:sldId id="384" r:id="rId2"/>
    <p:sldId id="385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7" r:id="rId21"/>
    <p:sldId id="408" r:id="rId22"/>
    <p:sldId id="409" r:id="rId23"/>
    <p:sldId id="410" r:id="rId24"/>
    <p:sldId id="411" r:id="rId25"/>
    <p:sldId id="438" r:id="rId26"/>
    <p:sldId id="414" r:id="rId27"/>
    <p:sldId id="416" r:id="rId28"/>
    <p:sldId id="417" r:id="rId29"/>
    <p:sldId id="439" r:id="rId30"/>
    <p:sldId id="418" r:id="rId31"/>
    <p:sldId id="420" r:id="rId32"/>
    <p:sldId id="421" r:id="rId33"/>
    <p:sldId id="422" r:id="rId34"/>
    <p:sldId id="423" r:id="rId35"/>
    <p:sldId id="424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60" r:id="rId47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8" autoAdjust="0"/>
    <p:restoredTop sz="86509" autoAdjust="0"/>
  </p:normalViewPr>
  <p:slideViewPr>
    <p:cSldViewPr snapToGrid="0">
      <p:cViewPr varScale="1">
        <p:scale>
          <a:sx n="58" d="100"/>
          <a:sy n="58" d="100"/>
        </p:scale>
        <p:origin x="816" y="36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8960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Research\McGraw%20Hill\Revised%20Chapters\Figure%2026.1-10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352707894926446E-2"/>
          <c:y val="3.407868185726301E-2"/>
          <c:w val="0.88748030826393554"/>
          <c:h val="0.8000832579124505"/>
        </c:manualLayout>
      </c:layout>
      <c:scatterChart>
        <c:scatterStyle val="lineMarker"/>
        <c:varyColors val="0"/>
        <c:ser>
          <c:idx val="0"/>
          <c:order val="0"/>
          <c:spPr>
            <a:ln w="38100"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'Data 26.1'!$A$5:$A$44</c:f>
              <c:numCache>
                <c:formatCode>dd\-mm\-yy</c:formatCode>
                <c:ptCount val="40"/>
                <c:pt idx="0">
                  <c:v>26665</c:v>
                </c:pt>
                <c:pt idx="1">
                  <c:v>27030</c:v>
                </c:pt>
                <c:pt idx="2">
                  <c:v>27395</c:v>
                </c:pt>
                <c:pt idx="3">
                  <c:v>27760</c:v>
                </c:pt>
                <c:pt idx="4">
                  <c:v>28126</c:v>
                </c:pt>
                <c:pt idx="5">
                  <c:v>28491</c:v>
                </c:pt>
                <c:pt idx="6">
                  <c:v>28856</c:v>
                </c:pt>
                <c:pt idx="7">
                  <c:v>29221</c:v>
                </c:pt>
                <c:pt idx="8">
                  <c:v>29587</c:v>
                </c:pt>
                <c:pt idx="9">
                  <c:v>29952</c:v>
                </c:pt>
                <c:pt idx="10">
                  <c:v>30317</c:v>
                </c:pt>
                <c:pt idx="11">
                  <c:v>30682</c:v>
                </c:pt>
                <c:pt idx="12">
                  <c:v>31048</c:v>
                </c:pt>
                <c:pt idx="13">
                  <c:v>31413</c:v>
                </c:pt>
                <c:pt idx="14">
                  <c:v>31778</c:v>
                </c:pt>
                <c:pt idx="15">
                  <c:v>32143</c:v>
                </c:pt>
                <c:pt idx="16">
                  <c:v>32509</c:v>
                </c:pt>
                <c:pt idx="17">
                  <c:v>32874</c:v>
                </c:pt>
                <c:pt idx="18">
                  <c:v>33239</c:v>
                </c:pt>
                <c:pt idx="19">
                  <c:v>33604</c:v>
                </c:pt>
                <c:pt idx="20">
                  <c:v>33970</c:v>
                </c:pt>
                <c:pt idx="21">
                  <c:v>34335</c:v>
                </c:pt>
                <c:pt idx="22">
                  <c:v>34700</c:v>
                </c:pt>
                <c:pt idx="23">
                  <c:v>35065</c:v>
                </c:pt>
                <c:pt idx="24">
                  <c:v>35431</c:v>
                </c:pt>
                <c:pt idx="25">
                  <c:v>35796</c:v>
                </c:pt>
                <c:pt idx="26">
                  <c:v>36161</c:v>
                </c:pt>
                <c:pt idx="27">
                  <c:v>36526</c:v>
                </c:pt>
                <c:pt idx="28">
                  <c:v>36892</c:v>
                </c:pt>
                <c:pt idx="29">
                  <c:v>37257</c:v>
                </c:pt>
                <c:pt idx="30">
                  <c:v>37622</c:v>
                </c:pt>
                <c:pt idx="31">
                  <c:v>37987</c:v>
                </c:pt>
                <c:pt idx="32">
                  <c:v>38353</c:v>
                </c:pt>
                <c:pt idx="33">
                  <c:v>38718</c:v>
                </c:pt>
                <c:pt idx="34">
                  <c:v>39083</c:v>
                </c:pt>
                <c:pt idx="35">
                  <c:v>39448</c:v>
                </c:pt>
                <c:pt idx="36">
                  <c:v>39814</c:v>
                </c:pt>
                <c:pt idx="37">
                  <c:v>40179</c:v>
                </c:pt>
                <c:pt idx="38">
                  <c:v>40544</c:v>
                </c:pt>
                <c:pt idx="39">
                  <c:v>40909</c:v>
                </c:pt>
              </c:numCache>
            </c:numRef>
          </c:xVal>
          <c:yVal>
            <c:numRef>
              <c:f>'Data 26.1'!$B$5:$B$44</c:f>
              <c:numCache>
                <c:formatCode>0.00</c:formatCode>
                <c:ptCount val="40"/>
                <c:pt idx="0">
                  <c:v>100.16999999999999</c:v>
                </c:pt>
                <c:pt idx="1">
                  <c:v>102.02</c:v>
                </c:pt>
                <c:pt idx="2">
                  <c:v>102.39</c:v>
                </c:pt>
                <c:pt idx="3">
                  <c:v>106.44000000000011</c:v>
                </c:pt>
                <c:pt idx="4">
                  <c:v>106.1</c:v>
                </c:pt>
                <c:pt idx="5">
                  <c:v>97.13</c:v>
                </c:pt>
                <c:pt idx="6">
                  <c:v>95.59</c:v>
                </c:pt>
                <c:pt idx="7">
                  <c:v>95.35</c:v>
                </c:pt>
                <c:pt idx="8">
                  <c:v>104.76</c:v>
                </c:pt>
                <c:pt idx="9">
                  <c:v>115.75</c:v>
                </c:pt>
                <c:pt idx="10">
                  <c:v>120.46000000000002</c:v>
                </c:pt>
                <c:pt idx="11">
                  <c:v>128.69</c:v>
                </c:pt>
                <c:pt idx="12">
                  <c:v>133.55000000000001</c:v>
                </c:pt>
                <c:pt idx="13">
                  <c:v>109.77</c:v>
                </c:pt>
                <c:pt idx="14">
                  <c:v>97.16</c:v>
                </c:pt>
                <c:pt idx="15">
                  <c:v>90.43</c:v>
                </c:pt>
                <c:pt idx="16">
                  <c:v>94.29</c:v>
                </c:pt>
                <c:pt idx="17">
                  <c:v>89.910000000000025</c:v>
                </c:pt>
                <c:pt idx="18">
                  <c:v>88.59</c:v>
                </c:pt>
                <c:pt idx="19">
                  <c:v>87</c:v>
                </c:pt>
                <c:pt idx="20">
                  <c:v>89.9</c:v>
                </c:pt>
                <c:pt idx="21">
                  <c:v>88.43</c:v>
                </c:pt>
                <c:pt idx="22">
                  <c:v>83.410000000000025</c:v>
                </c:pt>
                <c:pt idx="23">
                  <c:v>87.25</c:v>
                </c:pt>
                <c:pt idx="24">
                  <c:v>93.93</c:v>
                </c:pt>
                <c:pt idx="25">
                  <c:v>98.45</c:v>
                </c:pt>
                <c:pt idx="26">
                  <c:v>97.06</c:v>
                </c:pt>
                <c:pt idx="27">
                  <c:v>101.76</c:v>
                </c:pt>
                <c:pt idx="28">
                  <c:v>107.86999999999999</c:v>
                </c:pt>
                <c:pt idx="29">
                  <c:v>106.17999999999998</c:v>
                </c:pt>
                <c:pt idx="30">
                  <c:v>93.149999999999991</c:v>
                </c:pt>
                <c:pt idx="31">
                  <c:v>85.51</c:v>
                </c:pt>
                <c:pt idx="32">
                  <c:v>83.86</c:v>
                </c:pt>
                <c:pt idx="33">
                  <c:v>82.6</c:v>
                </c:pt>
                <c:pt idx="34">
                  <c:v>77.95</c:v>
                </c:pt>
                <c:pt idx="35">
                  <c:v>74.39</c:v>
                </c:pt>
                <c:pt idx="36">
                  <c:v>77.649999999999991</c:v>
                </c:pt>
                <c:pt idx="37">
                  <c:v>75.34</c:v>
                </c:pt>
                <c:pt idx="38">
                  <c:v>70.819999999999993</c:v>
                </c:pt>
                <c:pt idx="39">
                  <c:v>73.5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81-4D92-9CCB-46284351CE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230208"/>
        <c:axId val="71232128"/>
      </c:scatterChart>
      <c:valAx>
        <c:axId val="71230208"/>
        <c:scaling>
          <c:orientation val="minMax"/>
          <c:max val="41275"/>
          <c:min val="26665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Year</a:t>
                </a:r>
              </a:p>
            </c:rich>
          </c:tx>
          <c:layout>
            <c:manualLayout>
              <c:xMode val="edge"/>
              <c:yMode val="edge"/>
              <c:x val="0.50914859804477663"/>
              <c:y val="0.96400541374616133"/>
            </c:manualLayout>
          </c:layout>
          <c:overlay val="0"/>
        </c:title>
        <c:numFmt formatCode="yyyy" sourceLinked="0"/>
        <c:majorTickMark val="out"/>
        <c:minorTickMark val="in"/>
        <c:tickLblPos val="nextTo"/>
        <c:txPr>
          <a:bodyPr rot="-5400000" vert="horz"/>
          <a:lstStyle/>
          <a:p>
            <a:pPr>
              <a:defRPr/>
            </a:pPr>
            <a:endParaRPr lang="en-US"/>
          </a:p>
        </c:txPr>
        <c:crossAx val="71232128"/>
        <c:crosses val="autoZero"/>
        <c:crossBetween val="midCat"/>
        <c:majorUnit val="1200"/>
        <c:minorUnit val="240"/>
      </c:valAx>
      <c:valAx>
        <c:axId val="71232128"/>
        <c:scaling>
          <c:orientation val="minMax"/>
          <c:max val="160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200"/>
                  <a:t>Exchange rate index, 1973=100</a:t>
                </a:r>
              </a:p>
            </c:rich>
          </c:tx>
          <c:layout>
            <c:manualLayout>
              <c:xMode val="edge"/>
              <c:yMode val="edge"/>
              <c:x val="6.8269424909115839E-3"/>
              <c:y val="0.3083186062877577"/>
            </c:manualLayout>
          </c:layout>
          <c:overlay val="0"/>
        </c:title>
        <c:numFmt formatCode="#,##0" sourceLinked="0"/>
        <c:majorTickMark val="in"/>
        <c:minorTickMark val="none"/>
        <c:tickLblPos val="nextTo"/>
        <c:crossAx val="7123020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00" b="1" i="0" baseline="0"/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04D28-AD25-480A-AC23-D1BCEAA59BB0}" type="doc">
      <dgm:prSet loTypeId="urn:microsoft.com/office/officeart/2005/8/layout/process1" loCatId="process" qsTypeId="urn:microsoft.com/office/officeart/2005/8/quickstyle/3d2#1" qsCatId="3D" csTypeId="urn:microsoft.com/office/officeart/2005/8/colors/accent2_2" csCatId="accent2" phldr="1"/>
      <dgm:spPr/>
    </dgm:pt>
    <dgm:pt modelId="{033B0FD5-C523-48CC-AB8B-5A378CDB2051}">
      <dgm:prSet phldrT="[Text]" custT="1"/>
      <dgm:spPr/>
      <dgm:t>
        <a:bodyPr/>
        <a:lstStyle/>
        <a:p>
          <a:r>
            <a:rPr lang="en-US" sz="2400" b="1" dirty="0"/>
            <a:t> r </a:t>
          </a:r>
          <a:r>
            <a:rPr lang="en-US" sz="2400" b="1" baseline="0" dirty="0">
              <a:sym typeface="Symbol"/>
            </a:rPr>
            <a:t></a:t>
          </a:r>
          <a:r>
            <a:rPr lang="en-US" sz="2400" b="1" dirty="0"/>
            <a:t>  </a:t>
          </a:r>
        </a:p>
      </dgm:t>
    </dgm:pt>
    <dgm:pt modelId="{B84B50C3-9FD2-4566-90B0-39A73B4F32CA}" type="parTrans" cxnId="{4A169DB5-6625-4057-81DC-7A7A9E644FB3}">
      <dgm:prSet/>
      <dgm:spPr/>
      <dgm:t>
        <a:bodyPr/>
        <a:lstStyle/>
        <a:p>
          <a:endParaRPr lang="en-US" sz="2400" b="1"/>
        </a:p>
      </dgm:t>
    </dgm:pt>
    <dgm:pt modelId="{5F2865CE-A9EF-445C-9537-5E52E0A3F5AD}" type="sibTrans" cxnId="{4A169DB5-6625-4057-81DC-7A7A9E644FB3}">
      <dgm:prSet custT="1"/>
      <dgm:spPr/>
      <dgm:t>
        <a:bodyPr/>
        <a:lstStyle/>
        <a:p>
          <a:endParaRPr lang="en-US" sz="2400" b="1" dirty="0"/>
        </a:p>
      </dgm:t>
    </dgm:pt>
    <dgm:pt modelId="{02E55053-5427-4976-9F0C-E149ABCB84FD}">
      <dgm:prSet phldrT="[Text]" custT="1"/>
      <dgm:spPr/>
      <dgm:t>
        <a:bodyPr/>
        <a:lstStyle/>
        <a:p>
          <a:r>
            <a:rPr lang="en-US" sz="2400" b="1" dirty="0"/>
            <a:t>C, I</a:t>
          </a:r>
          <a:r>
            <a:rPr lang="en-US" sz="2400" b="1" baseline="30000" dirty="0"/>
            <a:t>P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5EF56916-5C16-438B-A90D-6524C65CD68F}" type="parTrans" cxnId="{53FB11BE-529E-4C2B-93D1-FCC1C61A5CC0}">
      <dgm:prSet/>
      <dgm:spPr/>
      <dgm:t>
        <a:bodyPr/>
        <a:lstStyle/>
        <a:p>
          <a:endParaRPr lang="en-US" sz="2400" b="1"/>
        </a:p>
      </dgm:t>
    </dgm:pt>
    <dgm:pt modelId="{DE7D1741-448B-464F-BF4E-52E249D0B2D8}" type="sibTrans" cxnId="{53FB11BE-529E-4C2B-93D1-FCC1C61A5CC0}">
      <dgm:prSet custT="1"/>
      <dgm:spPr/>
      <dgm:t>
        <a:bodyPr/>
        <a:lstStyle/>
        <a:p>
          <a:endParaRPr lang="en-US" sz="2400" b="1" dirty="0"/>
        </a:p>
      </dgm:t>
    </dgm:pt>
    <dgm:pt modelId="{89D0B6BD-FED6-42C2-8AFB-CD9F4B942B39}">
      <dgm:prSet phldrT="[Text]" custT="1"/>
      <dgm:spPr/>
      <dgm:t>
        <a:bodyPr/>
        <a:lstStyle/>
        <a:p>
          <a:r>
            <a:rPr lang="en-US" sz="2400" b="1" dirty="0"/>
            <a:t>Y </a:t>
          </a:r>
          <a:r>
            <a:rPr lang="en-US" sz="2400" b="1" dirty="0">
              <a:sym typeface="Symbol"/>
            </a:rPr>
            <a:t></a:t>
          </a:r>
          <a:endParaRPr lang="en-US" sz="2400" b="1" dirty="0"/>
        </a:p>
      </dgm:t>
    </dgm:pt>
    <dgm:pt modelId="{A569310D-B050-4601-8633-61AF01D905CF}" type="par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65E1D993-DD27-4549-A8B3-6704B4CAB46D}" type="sib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EBFAAC2A-5F82-4D89-A3BD-BBD231FF6DC5}">
      <dgm:prSet phldrT="[Text]" custT="1"/>
      <dgm:spPr/>
      <dgm:t>
        <a:bodyPr/>
        <a:lstStyle/>
        <a:p>
          <a:r>
            <a:rPr lang="en-US" sz="2400" b="1" dirty="0"/>
            <a:t>PAE 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E5A07815-27A5-4359-B2ED-39207CF89851}" type="parTrans" cxnId="{77D7D000-BC07-447F-A0AB-97DDDC569334}">
      <dgm:prSet/>
      <dgm:spPr/>
      <dgm:t>
        <a:bodyPr/>
        <a:lstStyle/>
        <a:p>
          <a:endParaRPr lang="en-US" sz="2400" b="1"/>
        </a:p>
      </dgm:t>
    </dgm:pt>
    <dgm:pt modelId="{E4B13E03-109F-43C4-8582-DED5EEB9A17D}" type="sibTrans" cxnId="{77D7D000-BC07-447F-A0AB-97DDDC569334}">
      <dgm:prSet custT="1"/>
      <dgm:spPr/>
      <dgm:t>
        <a:bodyPr/>
        <a:lstStyle/>
        <a:p>
          <a:endParaRPr lang="en-US" sz="2400" b="1" dirty="0"/>
        </a:p>
      </dgm:t>
    </dgm:pt>
    <dgm:pt modelId="{BF315171-E209-441A-BDD6-1CA63D1A6242}" type="pres">
      <dgm:prSet presAssocID="{E9204D28-AD25-480A-AC23-D1BCEAA59BB0}" presName="Name0" presStyleCnt="0">
        <dgm:presLayoutVars>
          <dgm:dir/>
          <dgm:resizeHandles val="exact"/>
        </dgm:presLayoutVars>
      </dgm:prSet>
      <dgm:spPr/>
    </dgm:pt>
    <dgm:pt modelId="{92C02F95-1AD7-4244-AF62-045404F02640}" type="pres">
      <dgm:prSet presAssocID="{033B0FD5-C523-48CC-AB8B-5A378CDB2051}" presName="node" presStyleLbl="node1" presStyleIdx="0" presStyleCnt="4" custScaleX="59466">
        <dgm:presLayoutVars>
          <dgm:bulletEnabled val="1"/>
        </dgm:presLayoutVars>
      </dgm:prSet>
      <dgm:spPr/>
    </dgm:pt>
    <dgm:pt modelId="{EFB2F4FE-1724-43E4-8B56-8DFFEAF8C234}" type="pres">
      <dgm:prSet presAssocID="{5F2865CE-A9EF-445C-9537-5E52E0A3F5AD}" presName="sibTrans" presStyleLbl="sibTrans2D1" presStyleIdx="0" presStyleCnt="3"/>
      <dgm:spPr/>
    </dgm:pt>
    <dgm:pt modelId="{A8FEE831-DCA2-4C58-9027-7582CDE1A79F}" type="pres">
      <dgm:prSet presAssocID="{5F2865CE-A9EF-445C-9537-5E52E0A3F5AD}" presName="connectorText" presStyleLbl="sibTrans2D1" presStyleIdx="0" presStyleCnt="3"/>
      <dgm:spPr/>
    </dgm:pt>
    <dgm:pt modelId="{563EE3C3-B019-40A1-A39F-B7597F845D8E}" type="pres">
      <dgm:prSet presAssocID="{02E55053-5427-4976-9F0C-E149ABCB84FD}" presName="node" presStyleLbl="node1" presStyleIdx="1" presStyleCnt="4" custScaleX="83192">
        <dgm:presLayoutVars>
          <dgm:bulletEnabled val="1"/>
        </dgm:presLayoutVars>
      </dgm:prSet>
      <dgm:spPr/>
    </dgm:pt>
    <dgm:pt modelId="{B39EA355-8EFD-4E1E-8131-36C83F564235}" type="pres">
      <dgm:prSet presAssocID="{DE7D1741-448B-464F-BF4E-52E249D0B2D8}" presName="sibTrans" presStyleLbl="sibTrans2D1" presStyleIdx="1" presStyleCnt="3"/>
      <dgm:spPr/>
    </dgm:pt>
    <dgm:pt modelId="{3AE0B0B0-E8A7-4ED4-8540-F38008C607CC}" type="pres">
      <dgm:prSet presAssocID="{DE7D1741-448B-464F-BF4E-52E249D0B2D8}" presName="connectorText" presStyleLbl="sibTrans2D1" presStyleIdx="1" presStyleCnt="3"/>
      <dgm:spPr/>
    </dgm:pt>
    <dgm:pt modelId="{D140FCDC-36ED-4651-B954-8DC899549259}" type="pres">
      <dgm:prSet presAssocID="{EBFAAC2A-5F82-4D89-A3BD-BBD231FF6DC5}" presName="node" presStyleLbl="node1" presStyleIdx="2" presStyleCnt="4" custScaleX="88773">
        <dgm:presLayoutVars>
          <dgm:bulletEnabled val="1"/>
        </dgm:presLayoutVars>
      </dgm:prSet>
      <dgm:spPr/>
    </dgm:pt>
    <dgm:pt modelId="{30CAA2C4-A72C-4392-8A55-4D9AA281059C}" type="pres">
      <dgm:prSet presAssocID="{E4B13E03-109F-43C4-8582-DED5EEB9A17D}" presName="sibTrans" presStyleLbl="sibTrans2D1" presStyleIdx="2" presStyleCnt="3"/>
      <dgm:spPr/>
    </dgm:pt>
    <dgm:pt modelId="{4C8AE31E-EEB8-4CAA-AC58-2945233A1A71}" type="pres">
      <dgm:prSet presAssocID="{E4B13E03-109F-43C4-8582-DED5EEB9A17D}" presName="connectorText" presStyleLbl="sibTrans2D1" presStyleIdx="2" presStyleCnt="3"/>
      <dgm:spPr/>
    </dgm:pt>
    <dgm:pt modelId="{22835E65-87F6-46D5-AA3A-27DD8F132ABA}" type="pres">
      <dgm:prSet presAssocID="{89D0B6BD-FED6-42C2-8AFB-CD9F4B942B39}" presName="node" presStyleLbl="node1" presStyleIdx="3" presStyleCnt="4">
        <dgm:presLayoutVars>
          <dgm:bulletEnabled val="1"/>
        </dgm:presLayoutVars>
      </dgm:prSet>
      <dgm:spPr/>
    </dgm:pt>
  </dgm:ptLst>
  <dgm:cxnLst>
    <dgm:cxn modelId="{77D7D000-BC07-447F-A0AB-97DDDC569334}" srcId="{E9204D28-AD25-480A-AC23-D1BCEAA59BB0}" destId="{EBFAAC2A-5F82-4D89-A3BD-BBD231FF6DC5}" srcOrd="2" destOrd="0" parTransId="{E5A07815-27A5-4359-B2ED-39207CF89851}" sibTransId="{E4B13E03-109F-43C4-8582-DED5EEB9A17D}"/>
    <dgm:cxn modelId="{74186504-98A6-4021-8FA0-30E45E2AB307}" type="presOf" srcId="{DE7D1741-448B-464F-BF4E-52E249D0B2D8}" destId="{3AE0B0B0-E8A7-4ED4-8540-F38008C607CC}" srcOrd="1" destOrd="0" presId="urn:microsoft.com/office/officeart/2005/8/layout/process1"/>
    <dgm:cxn modelId="{F6064219-6AD6-49D3-A8DD-EE747E269DC1}" type="presOf" srcId="{E4B13E03-109F-43C4-8582-DED5EEB9A17D}" destId="{30CAA2C4-A72C-4392-8A55-4D9AA281059C}" srcOrd="0" destOrd="0" presId="urn:microsoft.com/office/officeart/2005/8/layout/process1"/>
    <dgm:cxn modelId="{25428A2B-A1D7-4B7A-8867-70BB80FD5F47}" type="presOf" srcId="{89D0B6BD-FED6-42C2-8AFB-CD9F4B942B39}" destId="{22835E65-87F6-46D5-AA3A-27DD8F132ABA}" srcOrd="0" destOrd="0" presId="urn:microsoft.com/office/officeart/2005/8/layout/process1"/>
    <dgm:cxn modelId="{1B18D332-0510-43D0-981B-B319EFA7A605}" type="presOf" srcId="{E4B13E03-109F-43C4-8582-DED5EEB9A17D}" destId="{4C8AE31E-EEB8-4CAA-AC58-2945233A1A71}" srcOrd="1" destOrd="0" presId="urn:microsoft.com/office/officeart/2005/8/layout/process1"/>
    <dgm:cxn modelId="{5532F13C-511E-42F0-B7EC-8F416EE8BC3B}" type="presOf" srcId="{02E55053-5427-4976-9F0C-E149ABCB84FD}" destId="{563EE3C3-B019-40A1-A39F-B7597F845D8E}" srcOrd="0" destOrd="0" presId="urn:microsoft.com/office/officeart/2005/8/layout/process1"/>
    <dgm:cxn modelId="{989AC962-22ED-4DF2-9899-3B60B380114C}" type="presOf" srcId="{5F2865CE-A9EF-445C-9537-5E52E0A3F5AD}" destId="{EFB2F4FE-1724-43E4-8B56-8DFFEAF8C234}" srcOrd="0" destOrd="0" presId="urn:microsoft.com/office/officeart/2005/8/layout/process1"/>
    <dgm:cxn modelId="{319FCEA8-8948-48E3-A0B9-0D78598D09AD}" type="presOf" srcId="{E9204D28-AD25-480A-AC23-D1BCEAA59BB0}" destId="{BF315171-E209-441A-BDD6-1CA63D1A6242}" srcOrd="0" destOrd="0" presId="urn:microsoft.com/office/officeart/2005/8/layout/process1"/>
    <dgm:cxn modelId="{E272D1AB-453D-42FF-BE3B-F95C78C7937B}" type="presOf" srcId="{033B0FD5-C523-48CC-AB8B-5A378CDB2051}" destId="{92C02F95-1AD7-4244-AF62-045404F02640}" srcOrd="0" destOrd="0" presId="urn:microsoft.com/office/officeart/2005/8/layout/process1"/>
    <dgm:cxn modelId="{BA8A58AD-BBD7-43A5-A200-4334777DDE90}" srcId="{E9204D28-AD25-480A-AC23-D1BCEAA59BB0}" destId="{89D0B6BD-FED6-42C2-8AFB-CD9F4B942B39}" srcOrd="3" destOrd="0" parTransId="{A569310D-B050-4601-8633-61AF01D905CF}" sibTransId="{65E1D993-DD27-4549-A8B3-6704B4CAB46D}"/>
    <dgm:cxn modelId="{0232A0AE-30E9-467D-9C51-0F044C33F7D9}" type="presOf" srcId="{5F2865CE-A9EF-445C-9537-5E52E0A3F5AD}" destId="{A8FEE831-DCA2-4C58-9027-7582CDE1A79F}" srcOrd="1" destOrd="0" presId="urn:microsoft.com/office/officeart/2005/8/layout/process1"/>
    <dgm:cxn modelId="{AA59ABB1-C5FC-43EC-98BD-333383C6E997}" type="presOf" srcId="{DE7D1741-448B-464F-BF4E-52E249D0B2D8}" destId="{B39EA355-8EFD-4E1E-8131-36C83F564235}" srcOrd="0" destOrd="0" presId="urn:microsoft.com/office/officeart/2005/8/layout/process1"/>
    <dgm:cxn modelId="{4A169DB5-6625-4057-81DC-7A7A9E644FB3}" srcId="{E9204D28-AD25-480A-AC23-D1BCEAA59BB0}" destId="{033B0FD5-C523-48CC-AB8B-5A378CDB2051}" srcOrd="0" destOrd="0" parTransId="{B84B50C3-9FD2-4566-90B0-39A73B4F32CA}" sibTransId="{5F2865CE-A9EF-445C-9537-5E52E0A3F5AD}"/>
    <dgm:cxn modelId="{53FB11BE-529E-4C2B-93D1-FCC1C61A5CC0}" srcId="{E9204D28-AD25-480A-AC23-D1BCEAA59BB0}" destId="{02E55053-5427-4976-9F0C-E149ABCB84FD}" srcOrd="1" destOrd="0" parTransId="{5EF56916-5C16-438B-A90D-6524C65CD68F}" sibTransId="{DE7D1741-448B-464F-BF4E-52E249D0B2D8}"/>
    <dgm:cxn modelId="{F3E61FFB-48D7-4170-9C38-36D61B8B18E4}" type="presOf" srcId="{EBFAAC2A-5F82-4D89-A3BD-BBD231FF6DC5}" destId="{D140FCDC-36ED-4651-B954-8DC899549259}" srcOrd="0" destOrd="0" presId="urn:microsoft.com/office/officeart/2005/8/layout/process1"/>
    <dgm:cxn modelId="{9812E656-25A6-4F51-85DF-BDC5D1ADAC75}" type="presParOf" srcId="{BF315171-E209-441A-BDD6-1CA63D1A6242}" destId="{92C02F95-1AD7-4244-AF62-045404F02640}" srcOrd="0" destOrd="0" presId="urn:microsoft.com/office/officeart/2005/8/layout/process1"/>
    <dgm:cxn modelId="{93DC297B-64F3-4516-931A-95F0E5EA6DF3}" type="presParOf" srcId="{BF315171-E209-441A-BDD6-1CA63D1A6242}" destId="{EFB2F4FE-1724-43E4-8B56-8DFFEAF8C234}" srcOrd="1" destOrd="0" presId="urn:microsoft.com/office/officeart/2005/8/layout/process1"/>
    <dgm:cxn modelId="{80F2BC6E-D878-4FFA-909B-D5B3D9F92E5B}" type="presParOf" srcId="{EFB2F4FE-1724-43E4-8B56-8DFFEAF8C234}" destId="{A8FEE831-DCA2-4C58-9027-7582CDE1A79F}" srcOrd="0" destOrd="0" presId="urn:microsoft.com/office/officeart/2005/8/layout/process1"/>
    <dgm:cxn modelId="{088C6FBA-44D9-43CC-8CA4-BF6D0EF5BD92}" type="presParOf" srcId="{BF315171-E209-441A-BDD6-1CA63D1A6242}" destId="{563EE3C3-B019-40A1-A39F-B7597F845D8E}" srcOrd="2" destOrd="0" presId="urn:microsoft.com/office/officeart/2005/8/layout/process1"/>
    <dgm:cxn modelId="{7C75C2B3-AAE1-40EE-9867-9A5B8BFF5712}" type="presParOf" srcId="{BF315171-E209-441A-BDD6-1CA63D1A6242}" destId="{B39EA355-8EFD-4E1E-8131-36C83F564235}" srcOrd="3" destOrd="0" presId="urn:microsoft.com/office/officeart/2005/8/layout/process1"/>
    <dgm:cxn modelId="{C9041C63-F08B-4187-8E49-474F987DEDE3}" type="presParOf" srcId="{B39EA355-8EFD-4E1E-8131-36C83F564235}" destId="{3AE0B0B0-E8A7-4ED4-8540-F38008C607CC}" srcOrd="0" destOrd="0" presId="urn:microsoft.com/office/officeart/2005/8/layout/process1"/>
    <dgm:cxn modelId="{D93079B7-7AC6-495E-B434-9BB79D5AF84F}" type="presParOf" srcId="{BF315171-E209-441A-BDD6-1CA63D1A6242}" destId="{D140FCDC-36ED-4651-B954-8DC899549259}" srcOrd="4" destOrd="0" presId="urn:microsoft.com/office/officeart/2005/8/layout/process1"/>
    <dgm:cxn modelId="{DF87A765-E5EF-4719-9B1C-B367B3575DD0}" type="presParOf" srcId="{BF315171-E209-441A-BDD6-1CA63D1A6242}" destId="{30CAA2C4-A72C-4392-8A55-4D9AA281059C}" srcOrd="5" destOrd="0" presId="urn:microsoft.com/office/officeart/2005/8/layout/process1"/>
    <dgm:cxn modelId="{3C490677-5A88-408D-9076-E62DE62C4E1C}" type="presParOf" srcId="{30CAA2C4-A72C-4392-8A55-4D9AA281059C}" destId="{4C8AE31E-EEB8-4CAA-AC58-2945233A1A71}" srcOrd="0" destOrd="0" presId="urn:microsoft.com/office/officeart/2005/8/layout/process1"/>
    <dgm:cxn modelId="{BEFF5CAE-F483-4985-BB9F-89CF0025A917}" type="presParOf" srcId="{BF315171-E209-441A-BDD6-1CA63D1A6242}" destId="{22835E65-87F6-46D5-AA3A-27DD8F132A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04D28-AD25-480A-AC23-D1BCEAA59BB0}" type="doc">
      <dgm:prSet loTypeId="urn:microsoft.com/office/officeart/2005/8/layout/process1" loCatId="process" qsTypeId="urn:microsoft.com/office/officeart/2005/8/quickstyle/3d2#2" qsCatId="3D" csTypeId="urn:microsoft.com/office/officeart/2005/8/colors/accent2_2" csCatId="accent2" phldr="1"/>
      <dgm:spPr/>
    </dgm:pt>
    <dgm:pt modelId="{033B0FD5-C523-48CC-AB8B-5A378CDB2051}">
      <dgm:prSet phldrT="[Text]" custT="1"/>
      <dgm:spPr/>
      <dgm:t>
        <a:bodyPr/>
        <a:lstStyle/>
        <a:p>
          <a:r>
            <a:rPr lang="en-US" sz="2400" b="1" dirty="0"/>
            <a:t> r </a:t>
          </a:r>
          <a:r>
            <a:rPr lang="en-US" sz="2400" b="1" baseline="0" dirty="0">
              <a:sym typeface="Symbol"/>
            </a:rPr>
            <a:t></a:t>
          </a:r>
          <a:r>
            <a:rPr lang="en-US" sz="2400" b="1" dirty="0"/>
            <a:t>  </a:t>
          </a:r>
        </a:p>
      </dgm:t>
    </dgm:pt>
    <dgm:pt modelId="{B84B50C3-9FD2-4566-90B0-39A73B4F32CA}" type="parTrans" cxnId="{4A169DB5-6625-4057-81DC-7A7A9E644FB3}">
      <dgm:prSet/>
      <dgm:spPr/>
      <dgm:t>
        <a:bodyPr/>
        <a:lstStyle/>
        <a:p>
          <a:endParaRPr lang="en-US" sz="2400" b="1"/>
        </a:p>
      </dgm:t>
    </dgm:pt>
    <dgm:pt modelId="{5F2865CE-A9EF-445C-9537-5E52E0A3F5AD}" type="sibTrans" cxnId="{4A169DB5-6625-4057-81DC-7A7A9E644FB3}">
      <dgm:prSet custT="1"/>
      <dgm:spPr/>
      <dgm:t>
        <a:bodyPr/>
        <a:lstStyle/>
        <a:p>
          <a:endParaRPr lang="en-US" sz="2400" b="1" dirty="0"/>
        </a:p>
      </dgm:t>
    </dgm:pt>
    <dgm:pt modelId="{02E55053-5427-4976-9F0C-E149ABCB84FD}">
      <dgm:prSet phldrT="[Text]" custT="1"/>
      <dgm:spPr/>
      <dgm:t>
        <a:bodyPr/>
        <a:lstStyle/>
        <a:p>
          <a:r>
            <a:rPr lang="en-US" sz="2400" b="1" dirty="0"/>
            <a:t>e*</a:t>
          </a:r>
          <a:r>
            <a:rPr lang="en-US" sz="2400" b="1" baseline="0" dirty="0">
              <a:sym typeface="Symbol"/>
            </a:rPr>
            <a:t></a:t>
          </a:r>
          <a:r>
            <a:rPr lang="en-US" sz="2400" b="1" dirty="0"/>
            <a:t> </a:t>
          </a:r>
        </a:p>
      </dgm:t>
    </dgm:pt>
    <dgm:pt modelId="{5EF56916-5C16-438B-A90D-6524C65CD68F}" type="parTrans" cxnId="{53FB11BE-529E-4C2B-93D1-FCC1C61A5CC0}">
      <dgm:prSet/>
      <dgm:spPr/>
      <dgm:t>
        <a:bodyPr/>
        <a:lstStyle/>
        <a:p>
          <a:endParaRPr lang="en-US" sz="2400" b="1"/>
        </a:p>
      </dgm:t>
    </dgm:pt>
    <dgm:pt modelId="{DE7D1741-448B-464F-BF4E-52E249D0B2D8}" type="sibTrans" cxnId="{53FB11BE-529E-4C2B-93D1-FCC1C61A5CC0}">
      <dgm:prSet custT="1"/>
      <dgm:spPr/>
      <dgm:t>
        <a:bodyPr/>
        <a:lstStyle/>
        <a:p>
          <a:endParaRPr lang="en-US" sz="2400" b="1" dirty="0"/>
        </a:p>
      </dgm:t>
    </dgm:pt>
    <dgm:pt modelId="{89D0B6BD-FED6-42C2-8AFB-CD9F4B942B39}">
      <dgm:prSet phldrT="[Text]" custT="1"/>
      <dgm:spPr/>
      <dgm:t>
        <a:bodyPr/>
        <a:lstStyle/>
        <a:p>
          <a:r>
            <a:rPr lang="en-US" sz="2400" b="1" dirty="0"/>
            <a:t>Y </a:t>
          </a:r>
          <a:r>
            <a:rPr lang="en-US" sz="2400" b="1" dirty="0">
              <a:sym typeface="Symbol"/>
            </a:rPr>
            <a:t></a:t>
          </a:r>
          <a:endParaRPr lang="en-US" sz="2400" b="1" dirty="0"/>
        </a:p>
      </dgm:t>
    </dgm:pt>
    <dgm:pt modelId="{A569310D-B050-4601-8633-61AF01D905CF}" type="par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65E1D993-DD27-4549-A8B3-6704B4CAB46D}" type="sibTrans" cxnId="{BA8A58AD-BBD7-43A5-A200-4334777DDE90}">
      <dgm:prSet/>
      <dgm:spPr/>
      <dgm:t>
        <a:bodyPr/>
        <a:lstStyle/>
        <a:p>
          <a:endParaRPr lang="en-US" sz="2400" b="1"/>
        </a:p>
      </dgm:t>
    </dgm:pt>
    <dgm:pt modelId="{EBFAAC2A-5F82-4D89-A3BD-BBD231FF6DC5}">
      <dgm:prSet phldrT="[Text]" custT="1"/>
      <dgm:spPr/>
      <dgm:t>
        <a:bodyPr/>
        <a:lstStyle/>
        <a:p>
          <a:r>
            <a:rPr lang="en-US" sz="2400" b="1" dirty="0"/>
            <a:t>NX </a:t>
          </a:r>
          <a:r>
            <a:rPr lang="en-US" sz="2400" b="1" dirty="0">
              <a:sym typeface="Symbol"/>
            </a:rPr>
            <a:t></a:t>
          </a:r>
          <a:r>
            <a:rPr lang="en-US" sz="2400" b="1" dirty="0"/>
            <a:t> </a:t>
          </a:r>
        </a:p>
      </dgm:t>
    </dgm:pt>
    <dgm:pt modelId="{E5A07815-27A5-4359-B2ED-39207CF89851}" type="parTrans" cxnId="{77D7D000-BC07-447F-A0AB-97DDDC569334}">
      <dgm:prSet/>
      <dgm:spPr/>
      <dgm:t>
        <a:bodyPr/>
        <a:lstStyle/>
        <a:p>
          <a:endParaRPr lang="en-US" sz="2400" b="1"/>
        </a:p>
      </dgm:t>
    </dgm:pt>
    <dgm:pt modelId="{E4B13E03-109F-43C4-8582-DED5EEB9A17D}" type="sibTrans" cxnId="{77D7D000-BC07-447F-A0AB-97DDDC569334}">
      <dgm:prSet custT="1"/>
      <dgm:spPr/>
      <dgm:t>
        <a:bodyPr/>
        <a:lstStyle/>
        <a:p>
          <a:endParaRPr lang="en-US" sz="2400" b="1" dirty="0"/>
        </a:p>
      </dgm:t>
    </dgm:pt>
    <dgm:pt modelId="{AB100FE5-6756-4F87-9343-2DBD2DC43C9A}">
      <dgm:prSet phldrT="[Text]" custT="1"/>
      <dgm:spPr/>
      <dgm:t>
        <a:bodyPr/>
        <a:lstStyle/>
        <a:p>
          <a:r>
            <a:rPr lang="en-US" sz="2400" b="1" dirty="0"/>
            <a:t>PAE </a:t>
          </a:r>
          <a:r>
            <a:rPr lang="en-US" sz="2400" b="1" dirty="0">
              <a:sym typeface="Symbol"/>
            </a:rPr>
            <a:t></a:t>
          </a:r>
          <a:endParaRPr lang="en-US" sz="2400" b="1" dirty="0"/>
        </a:p>
      </dgm:t>
    </dgm:pt>
    <dgm:pt modelId="{F0B45507-1D84-488C-B276-F125FCC94F18}" type="parTrans" cxnId="{7CE527D9-1BDB-47C9-B022-6A2DC5639F23}">
      <dgm:prSet/>
      <dgm:spPr/>
      <dgm:t>
        <a:bodyPr/>
        <a:lstStyle/>
        <a:p>
          <a:endParaRPr lang="en-US"/>
        </a:p>
      </dgm:t>
    </dgm:pt>
    <dgm:pt modelId="{1BE12995-EF37-4291-ABE9-3CB85EEE5F19}" type="sibTrans" cxnId="{7CE527D9-1BDB-47C9-B022-6A2DC5639F23}">
      <dgm:prSet/>
      <dgm:spPr/>
      <dgm:t>
        <a:bodyPr/>
        <a:lstStyle/>
        <a:p>
          <a:endParaRPr lang="en-US" dirty="0"/>
        </a:p>
      </dgm:t>
    </dgm:pt>
    <dgm:pt modelId="{BF315171-E209-441A-BDD6-1CA63D1A6242}" type="pres">
      <dgm:prSet presAssocID="{E9204D28-AD25-480A-AC23-D1BCEAA59BB0}" presName="Name0" presStyleCnt="0">
        <dgm:presLayoutVars>
          <dgm:dir/>
          <dgm:resizeHandles val="exact"/>
        </dgm:presLayoutVars>
      </dgm:prSet>
      <dgm:spPr/>
    </dgm:pt>
    <dgm:pt modelId="{92C02F95-1AD7-4244-AF62-045404F02640}" type="pres">
      <dgm:prSet presAssocID="{033B0FD5-C523-48CC-AB8B-5A378CDB2051}" presName="node" presStyleLbl="node1" presStyleIdx="0" presStyleCnt="5" custScaleX="59466">
        <dgm:presLayoutVars>
          <dgm:bulletEnabled val="1"/>
        </dgm:presLayoutVars>
      </dgm:prSet>
      <dgm:spPr/>
    </dgm:pt>
    <dgm:pt modelId="{EFB2F4FE-1724-43E4-8B56-8DFFEAF8C234}" type="pres">
      <dgm:prSet presAssocID="{5F2865CE-A9EF-445C-9537-5E52E0A3F5AD}" presName="sibTrans" presStyleLbl="sibTrans2D1" presStyleIdx="0" presStyleCnt="4"/>
      <dgm:spPr/>
    </dgm:pt>
    <dgm:pt modelId="{A8FEE831-DCA2-4C58-9027-7582CDE1A79F}" type="pres">
      <dgm:prSet presAssocID="{5F2865CE-A9EF-445C-9537-5E52E0A3F5AD}" presName="connectorText" presStyleLbl="sibTrans2D1" presStyleIdx="0" presStyleCnt="4"/>
      <dgm:spPr/>
    </dgm:pt>
    <dgm:pt modelId="{563EE3C3-B019-40A1-A39F-B7597F845D8E}" type="pres">
      <dgm:prSet presAssocID="{02E55053-5427-4976-9F0C-E149ABCB84FD}" presName="node" presStyleLbl="node1" presStyleIdx="1" presStyleCnt="5" custScaleX="83192">
        <dgm:presLayoutVars>
          <dgm:bulletEnabled val="1"/>
        </dgm:presLayoutVars>
      </dgm:prSet>
      <dgm:spPr/>
    </dgm:pt>
    <dgm:pt modelId="{B39EA355-8EFD-4E1E-8131-36C83F564235}" type="pres">
      <dgm:prSet presAssocID="{DE7D1741-448B-464F-BF4E-52E249D0B2D8}" presName="sibTrans" presStyleLbl="sibTrans2D1" presStyleIdx="1" presStyleCnt="4"/>
      <dgm:spPr/>
    </dgm:pt>
    <dgm:pt modelId="{3AE0B0B0-E8A7-4ED4-8540-F38008C607CC}" type="pres">
      <dgm:prSet presAssocID="{DE7D1741-448B-464F-BF4E-52E249D0B2D8}" presName="connectorText" presStyleLbl="sibTrans2D1" presStyleIdx="1" presStyleCnt="4"/>
      <dgm:spPr/>
    </dgm:pt>
    <dgm:pt modelId="{D140FCDC-36ED-4651-B954-8DC899549259}" type="pres">
      <dgm:prSet presAssocID="{EBFAAC2A-5F82-4D89-A3BD-BBD231FF6DC5}" presName="node" presStyleLbl="node1" presStyleIdx="2" presStyleCnt="5" custScaleX="88773">
        <dgm:presLayoutVars>
          <dgm:bulletEnabled val="1"/>
        </dgm:presLayoutVars>
      </dgm:prSet>
      <dgm:spPr/>
    </dgm:pt>
    <dgm:pt modelId="{30CAA2C4-A72C-4392-8A55-4D9AA281059C}" type="pres">
      <dgm:prSet presAssocID="{E4B13E03-109F-43C4-8582-DED5EEB9A17D}" presName="sibTrans" presStyleLbl="sibTrans2D1" presStyleIdx="2" presStyleCnt="4"/>
      <dgm:spPr/>
    </dgm:pt>
    <dgm:pt modelId="{4C8AE31E-EEB8-4CAA-AC58-2945233A1A71}" type="pres">
      <dgm:prSet presAssocID="{E4B13E03-109F-43C4-8582-DED5EEB9A17D}" presName="connectorText" presStyleLbl="sibTrans2D1" presStyleIdx="2" presStyleCnt="4"/>
      <dgm:spPr/>
    </dgm:pt>
    <dgm:pt modelId="{AF7ADC92-5297-40A1-A777-E1B33238894E}" type="pres">
      <dgm:prSet presAssocID="{AB100FE5-6756-4F87-9343-2DBD2DC43C9A}" presName="node" presStyleLbl="node1" presStyleIdx="3" presStyleCnt="5" custLinFactNeighborX="-7881">
        <dgm:presLayoutVars>
          <dgm:bulletEnabled val="1"/>
        </dgm:presLayoutVars>
      </dgm:prSet>
      <dgm:spPr/>
    </dgm:pt>
    <dgm:pt modelId="{AD168B2E-FDD2-4438-9A9C-18BFBA645695}" type="pres">
      <dgm:prSet presAssocID="{1BE12995-EF37-4291-ABE9-3CB85EEE5F19}" presName="sibTrans" presStyleLbl="sibTrans2D1" presStyleIdx="3" presStyleCnt="4"/>
      <dgm:spPr/>
    </dgm:pt>
    <dgm:pt modelId="{713B26E9-C2A4-46A0-AE48-201D28A96DAC}" type="pres">
      <dgm:prSet presAssocID="{1BE12995-EF37-4291-ABE9-3CB85EEE5F19}" presName="connectorText" presStyleLbl="sibTrans2D1" presStyleIdx="3" presStyleCnt="4"/>
      <dgm:spPr/>
    </dgm:pt>
    <dgm:pt modelId="{22835E65-87F6-46D5-AA3A-27DD8F132ABA}" type="pres">
      <dgm:prSet presAssocID="{89D0B6BD-FED6-42C2-8AFB-CD9F4B942B39}" presName="node" presStyleLbl="node1" presStyleIdx="4" presStyleCnt="5">
        <dgm:presLayoutVars>
          <dgm:bulletEnabled val="1"/>
        </dgm:presLayoutVars>
      </dgm:prSet>
      <dgm:spPr/>
    </dgm:pt>
  </dgm:ptLst>
  <dgm:cxnLst>
    <dgm:cxn modelId="{77D7D000-BC07-447F-A0AB-97DDDC569334}" srcId="{E9204D28-AD25-480A-AC23-D1BCEAA59BB0}" destId="{EBFAAC2A-5F82-4D89-A3BD-BBD231FF6DC5}" srcOrd="2" destOrd="0" parTransId="{E5A07815-27A5-4359-B2ED-39207CF89851}" sibTransId="{E4B13E03-109F-43C4-8582-DED5EEB9A17D}"/>
    <dgm:cxn modelId="{BE825407-C1BD-4D29-BF75-5E40FD7EA0B4}" type="presOf" srcId="{1BE12995-EF37-4291-ABE9-3CB85EEE5F19}" destId="{AD168B2E-FDD2-4438-9A9C-18BFBA645695}" srcOrd="0" destOrd="0" presId="urn:microsoft.com/office/officeart/2005/8/layout/process1"/>
    <dgm:cxn modelId="{344CAF0F-33D1-46EA-903F-0608AF290477}" type="presOf" srcId="{AB100FE5-6756-4F87-9343-2DBD2DC43C9A}" destId="{AF7ADC92-5297-40A1-A777-E1B33238894E}" srcOrd="0" destOrd="0" presId="urn:microsoft.com/office/officeart/2005/8/layout/process1"/>
    <dgm:cxn modelId="{AEC19226-8D02-4D2D-BAAD-F14D55A27631}" type="presOf" srcId="{033B0FD5-C523-48CC-AB8B-5A378CDB2051}" destId="{92C02F95-1AD7-4244-AF62-045404F02640}" srcOrd="0" destOrd="0" presId="urn:microsoft.com/office/officeart/2005/8/layout/process1"/>
    <dgm:cxn modelId="{8F479827-2701-4DBB-BC49-C8EFDE60229D}" type="presOf" srcId="{E4B13E03-109F-43C4-8582-DED5EEB9A17D}" destId="{4C8AE31E-EEB8-4CAA-AC58-2945233A1A71}" srcOrd="1" destOrd="0" presId="urn:microsoft.com/office/officeart/2005/8/layout/process1"/>
    <dgm:cxn modelId="{3D526E6A-C15E-4018-B79F-D744F4366C93}" type="presOf" srcId="{DE7D1741-448B-464F-BF4E-52E249D0B2D8}" destId="{3AE0B0B0-E8A7-4ED4-8540-F38008C607CC}" srcOrd="1" destOrd="0" presId="urn:microsoft.com/office/officeart/2005/8/layout/process1"/>
    <dgm:cxn modelId="{E008934C-7655-48AD-90E2-137BAADBE9C0}" type="presOf" srcId="{89D0B6BD-FED6-42C2-8AFB-CD9F4B942B39}" destId="{22835E65-87F6-46D5-AA3A-27DD8F132ABA}" srcOrd="0" destOrd="0" presId="urn:microsoft.com/office/officeart/2005/8/layout/process1"/>
    <dgm:cxn modelId="{DBD3D96F-59E0-4673-B4C9-800EE2CE8854}" type="presOf" srcId="{5F2865CE-A9EF-445C-9537-5E52E0A3F5AD}" destId="{A8FEE831-DCA2-4C58-9027-7582CDE1A79F}" srcOrd="1" destOrd="0" presId="urn:microsoft.com/office/officeart/2005/8/layout/process1"/>
    <dgm:cxn modelId="{8A396D99-4166-4899-8CC9-4A8D82A4FE0A}" type="presOf" srcId="{02E55053-5427-4976-9F0C-E149ABCB84FD}" destId="{563EE3C3-B019-40A1-A39F-B7597F845D8E}" srcOrd="0" destOrd="0" presId="urn:microsoft.com/office/officeart/2005/8/layout/process1"/>
    <dgm:cxn modelId="{BA8A58AD-BBD7-43A5-A200-4334777DDE90}" srcId="{E9204D28-AD25-480A-AC23-D1BCEAA59BB0}" destId="{89D0B6BD-FED6-42C2-8AFB-CD9F4B942B39}" srcOrd="4" destOrd="0" parTransId="{A569310D-B050-4601-8633-61AF01D905CF}" sibTransId="{65E1D993-DD27-4549-A8B3-6704B4CAB46D}"/>
    <dgm:cxn modelId="{0DD3CDB2-E28F-4EA2-B33E-AA1BEA241BC1}" type="presOf" srcId="{DE7D1741-448B-464F-BF4E-52E249D0B2D8}" destId="{B39EA355-8EFD-4E1E-8131-36C83F564235}" srcOrd="0" destOrd="0" presId="urn:microsoft.com/office/officeart/2005/8/layout/process1"/>
    <dgm:cxn modelId="{4A169DB5-6625-4057-81DC-7A7A9E644FB3}" srcId="{E9204D28-AD25-480A-AC23-D1BCEAA59BB0}" destId="{033B0FD5-C523-48CC-AB8B-5A378CDB2051}" srcOrd="0" destOrd="0" parTransId="{B84B50C3-9FD2-4566-90B0-39A73B4F32CA}" sibTransId="{5F2865CE-A9EF-445C-9537-5E52E0A3F5AD}"/>
    <dgm:cxn modelId="{53FB11BE-529E-4C2B-93D1-FCC1C61A5CC0}" srcId="{E9204D28-AD25-480A-AC23-D1BCEAA59BB0}" destId="{02E55053-5427-4976-9F0C-E149ABCB84FD}" srcOrd="1" destOrd="0" parTransId="{5EF56916-5C16-438B-A90D-6524C65CD68F}" sibTransId="{DE7D1741-448B-464F-BF4E-52E249D0B2D8}"/>
    <dgm:cxn modelId="{E8DE43C7-D077-4750-A634-5A11F8BE674B}" type="presOf" srcId="{E4B13E03-109F-43C4-8582-DED5EEB9A17D}" destId="{30CAA2C4-A72C-4392-8A55-4D9AA281059C}" srcOrd="0" destOrd="0" presId="urn:microsoft.com/office/officeart/2005/8/layout/process1"/>
    <dgm:cxn modelId="{1203D8D2-8F11-495D-A9DF-ECD878722CDE}" type="presOf" srcId="{E9204D28-AD25-480A-AC23-D1BCEAA59BB0}" destId="{BF315171-E209-441A-BDD6-1CA63D1A6242}" srcOrd="0" destOrd="0" presId="urn:microsoft.com/office/officeart/2005/8/layout/process1"/>
    <dgm:cxn modelId="{5894A1D4-D2BF-4AD4-BDE8-83DE9F9BDBD1}" type="presOf" srcId="{EBFAAC2A-5F82-4D89-A3BD-BBD231FF6DC5}" destId="{D140FCDC-36ED-4651-B954-8DC899549259}" srcOrd="0" destOrd="0" presId="urn:microsoft.com/office/officeart/2005/8/layout/process1"/>
    <dgm:cxn modelId="{7CE527D9-1BDB-47C9-B022-6A2DC5639F23}" srcId="{E9204D28-AD25-480A-AC23-D1BCEAA59BB0}" destId="{AB100FE5-6756-4F87-9343-2DBD2DC43C9A}" srcOrd="3" destOrd="0" parTransId="{F0B45507-1D84-488C-B276-F125FCC94F18}" sibTransId="{1BE12995-EF37-4291-ABE9-3CB85EEE5F19}"/>
    <dgm:cxn modelId="{FAB19CED-248F-4836-B147-2932C4AF3000}" type="presOf" srcId="{1BE12995-EF37-4291-ABE9-3CB85EEE5F19}" destId="{713B26E9-C2A4-46A0-AE48-201D28A96DAC}" srcOrd="1" destOrd="0" presId="urn:microsoft.com/office/officeart/2005/8/layout/process1"/>
    <dgm:cxn modelId="{C7585EF1-DFE6-42F2-ADA9-618C4548ECA5}" type="presOf" srcId="{5F2865CE-A9EF-445C-9537-5E52E0A3F5AD}" destId="{EFB2F4FE-1724-43E4-8B56-8DFFEAF8C234}" srcOrd="0" destOrd="0" presId="urn:microsoft.com/office/officeart/2005/8/layout/process1"/>
    <dgm:cxn modelId="{D2DA9DE4-66C1-4322-BA2D-F1FEA5327383}" type="presParOf" srcId="{BF315171-E209-441A-BDD6-1CA63D1A6242}" destId="{92C02F95-1AD7-4244-AF62-045404F02640}" srcOrd="0" destOrd="0" presId="urn:microsoft.com/office/officeart/2005/8/layout/process1"/>
    <dgm:cxn modelId="{14509094-33D7-4D17-8A65-922B39646E35}" type="presParOf" srcId="{BF315171-E209-441A-BDD6-1CA63D1A6242}" destId="{EFB2F4FE-1724-43E4-8B56-8DFFEAF8C234}" srcOrd="1" destOrd="0" presId="urn:microsoft.com/office/officeart/2005/8/layout/process1"/>
    <dgm:cxn modelId="{799B71A5-3640-477D-B550-2E4F2F50E030}" type="presParOf" srcId="{EFB2F4FE-1724-43E4-8B56-8DFFEAF8C234}" destId="{A8FEE831-DCA2-4C58-9027-7582CDE1A79F}" srcOrd="0" destOrd="0" presId="urn:microsoft.com/office/officeart/2005/8/layout/process1"/>
    <dgm:cxn modelId="{DA5E328D-0D45-4D5D-8967-B429A07D48A4}" type="presParOf" srcId="{BF315171-E209-441A-BDD6-1CA63D1A6242}" destId="{563EE3C3-B019-40A1-A39F-B7597F845D8E}" srcOrd="2" destOrd="0" presId="urn:microsoft.com/office/officeart/2005/8/layout/process1"/>
    <dgm:cxn modelId="{647CF9B4-48DE-40F0-8755-50D2243C2F20}" type="presParOf" srcId="{BF315171-E209-441A-BDD6-1CA63D1A6242}" destId="{B39EA355-8EFD-4E1E-8131-36C83F564235}" srcOrd="3" destOrd="0" presId="urn:microsoft.com/office/officeart/2005/8/layout/process1"/>
    <dgm:cxn modelId="{75E798AB-5CAD-49D7-AA1A-99130E55DC11}" type="presParOf" srcId="{B39EA355-8EFD-4E1E-8131-36C83F564235}" destId="{3AE0B0B0-E8A7-4ED4-8540-F38008C607CC}" srcOrd="0" destOrd="0" presId="urn:microsoft.com/office/officeart/2005/8/layout/process1"/>
    <dgm:cxn modelId="{28198DCE-946D-405F-BDB4-90DBA154019A}" type="presParOf" srcId="{BF315171-E209-441A-BDD6-1CA63D1A6242}" destId="{D140FCDC-36ED-4651-B954-8DC899549259}" srcOrd="4" destOrd="0" presId="urn:microsoft.com/office/officeart/2005/8/layout/process1"/>
    <dgm:cxn modelId="{2935EED4-34A5-4334-B4C7-458644707430}" type="presParOf" srcId="{BF315171-E209-441A-BDD6-1CA63D1A6242}" destId="{30CAA2C4-A72C-4392-8A55-4D9AA281059C}" srcOrd="5" destOrd="0" presId="urn:microsoft.com/office/officeart/2005/8/layout/process1"/>
    <dgm:cxn modelId="{E37F7907-0528-4622-9D55-9FB18C20280C}" type="presParOf" srcId="{30CAA2C4-A72C-4392-8A55-4D9AA281059C}" destId="{4C8AE31E-EEB8-4CAA-AC58-2945233A1A71}" srcOrd="0" destOrd="0" presId="urn:microsoft.com/office/officeart/2005/8/layout/process1"/>
    <dgm:cxn modelId="{066A3408-C10C-4D33-AFE0-4979890A7DEF}" type="presParOf" srcId="{BF315171-E209-441A-BDD6-1CA63D1A6242}" destId="{AF7ADC92-5297-40A1-A777-E1B33238894E}" srcOrd="6" destOrd="0" presId="urn:microsoft.com/office/officeart/2005/8/layout/process1"/>
    <dgm:cxn modelId="{0F39C9DE-54AD-42C6-B461-1B8617412719}" type="presParOf" srcId="{BF315171-E209-441A-BDD6-1CA63D1A6242}" destId="{AD168B2E-FDD2-4438-9A9C-18BFBA645695}" srcOrd="7" destOrd="0" presId="urn:microsoft.com/office/officeart/2005/8/layout/process1"/>
    <dgm:cxn modelId="{A75E1D15-8E08-4EF1-9DE3-CA2E09D5BE57}" type="presParOf" srcId="{AD168B2E-FDD2-4438-9A9C-18BFBA645695}" destId="{713B26E9-C2A4-46A0-AE48-201D28A96DAC}" srcOrd="0" destOrd="0" presId="urn:microsoft.com/office/officeart/2005/8/layout/process1"/>
    <dgm:cxn modelId="{216C1F53-1333-431C-8A64-4D1B57E873F4}" type="presParOf" srcId="{BF315171-E209-441A-BDD6-1CA63D1A6242}" destId="{22835E65-87F6-46D5-AA3A-27DD8F132AB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1CCA6F-09AE-4E02-892D-8B6F062B6969}" type="doc">
      <dgm:prSet loTypeId="urn:microsoft.com/office/officeart/2005/8/layout/vList2" loCatId="list" qsTypeId="urn:microsoft.com/office/officeart/2005/8/quickstyle/3d2#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FAD4E95-01B0-4752-A1D2-2670E293FDA0}">
      <dgm:prSet phldrT="[Text]" custT="1"/>
      <dgm:spPr/>
      <dgm:t>
        <a:bodyPr/>
        <a:lstStyle/>
        <a:p>
          <a:r>
            <a:rPr lang="en-US" sz="2400" b="1" dirty="0"/>
            <a:t>Trade Imbalances</a:t>
          </a:r>
        </a:p>
      </dgm:t>
    </dgm:pt>
    <dgm:pt modelId="{30C8A05E-7793-401A-ABAD-8F20805B55A7}" type="parTrans" cxnId="{D38B6988-D343-4B83-9BFE-471F92CEBAE5}">
      <dgm:prSet/>
      <dgm:spPr/>
      <dgm:t>
        <a:bodyPr/>
        <a:lstStyle/>
        <a:p>
          <a:endParaRPr lang="en-US"/>
        </a:p>
      </dgm:t>
    </dgm:pt>
    <dgm:pt modelId="{D2D775E3-0880-486C-B0AB-562272BA1DC8}" type="sibTrans" cxnId="{D38B6988-D343-4B83-9BFE-471F92CEBAE5}">
      <dgm:prSet/>
      <dgm:spPr/>
      <dgm:t>
        <a:bodyPr/>
        <a:lstStyle/>
        <a:p>
          <a:endParaRPr lang="en-US"/>
        </a:p>
      </dgm:t>
    </dgm:pt>
    <dgm:pt modelId="{B6A58F7F-1832-4083-BB8B-3DDEE6CB9425}">
      <dgm:prSet phldrT="[Text]" custT="1"/>
      <dgm:spPr/>
      <dgm:t>
        <a:bodyPr/>
        <a:lstStyle/>
        <a:p>
          <a:r>
            <a:rPr lang="en-US" sz="2400" dirty="0"/>
            <a:t>International capital flows compensate for trade imbalances</a:t>
          </a:r>
        </a:p>
      </dgm:t>
    </dgm:pt>
    <dgm:pt modelId="{239938AF-FB45-49C5-8D70-CEF7F764F68B}" type="parTrans" cxnId="{C1CBFF62-037B-4B85-8005-1D522A5C2D0A}">
      <dgm:prSet/>
      <dgm:spPr/>
      <dgm:t>
        <a:bodyPr/>
        <a:lstStyle/>
        <a:p>
          <a:endParaRPr lang="en-US"/>
        </a:p>
      </dgm:t>
    </dgm:pt>
    <dgm:pt modelId="{3BDF26CA-D0D4-48CA-85EA-B759BE75AE1E}" type="sibTrans" cxnId="{C1CBFF62-037B-4B85-8005-1D522A5C2D0A}">
      <dgm:prSet/>
      <dgm:spPr/>
      <dgm:t>
        <a:bodyPr/>
        <a:lstStyle/>
        <a:p>
          <a:endParaRPr lang="en-US"/>
        </a:p>
      </dgm:t>
    </dgm:pt>
    <dgm:pt modelId="{BEC47B3F-F8CE-4DCF-B767-F081A60CEB4C}">
      <dgm:prSet phldrT="[Text]" custT="1"/>
      <dgm:spPr/>
      <dgm:t>
        <a:bodyPr/>
        <a:lstStyle/>
        <a:p>
          <a:r>
            <a:rPr lang="en-US" sz="2400" dirty="0"/>
            <a:t>Trade surplus means net capital outflows</a:t>
          </a:r>
        </a:p>
      </dgm:t>
    </dgm:pt>
    <dgm:pt modelId="{1D1C0EFA-67C0-4009-860D-08D5583F0859}" type="parTrans" cxnId="{85C340FF-1629-49F4-B536-72107C2683E2}">
      <dgm:prSet/>
      <dgm:spPr/>
      <dgm:t>
        <a:bodyPr/>
        <a:lstStyle/>
        <a:p>
          <a:endParaRPr lang="en-US"/>
        </a:p>
      </dgm:t>
    </dgm:pt>
    <dgm:pt modelId="{C1CDDEF6-2AA9-474C-BC74-E7D9E41CD3DE}" type="sibTrans" cxnId="{85C340FF-1629-49F4-B536-72107C2683E2}">
      <dgm:prSet/>
      <dgm:spPr/>
      <dgm:t>
        <a:bodyPr/>
        <a:lstStyle/>
        <a:p>
          <a:endParaRPr lang="en-US"/>
        </a:p>
      </dgm:t>
    </dgm:pt>
    <dgm:pt modelId="{E2FFA8BD-951A-4A22-9189-00762A8E102B}">
      <dgm:prSet phldrT="[Text]" custT="1"/>
      <dgm:spPr/>
      <dgm:t>
        <a:bodyPr/>
        <a:lstStyle/>
        <a:p>
          <a:r>
            <a:rPr lang="en-US" sz="2400" b="1" dirty="0"/>
            <a:t>Efficient Allocation of Savings</a:t>
          </a:r>
        </a:p>
      </dgm:t>
    </dgm:pt>
    <dgm:pt modelId="{F094665A-1A06-40D8-BF50-FF4DC5DD9DA8}" type="parTrans" cxnId="{9D9C625B-75CD-43B3-8661-F85E46E999E2}">
      <dgm:prSet/>
      <dgm:spPr/>
      <dgm:t>
        <a:bodyPr/>
        <a:lstStyle/>
        <a:p>
          <a:endParaRPr lang="en-US"/>
        </a:p>
      </dgm:t>
    </dgm:pt>
    <dgm:pt modelId="{B630765C-6E3B-4F77-8F87-6FE94FD9BF1C}" type="sibTrans" cxnId="{9D9C625B-75CD-43B3-8661-F85E46E999E2}">
      <dgm:prSet/>
      <dgm:spPr/>
      <dgm:t>
        <a:bodyPr/>
        <a:lstStyle/>
        <a:p>
          <a:endParaRPr lang="en-US"/>
        </a:p>
      </dgm:t>
    </dgm:pt>
    <dgm:pt modelId="{8E442033-0A5B-4F99-B2C3-A974107507B6}">
      <dgm:prSet phldrT="[Text]" custT="1"/>
      <dgm:spPr/>
      <dgm:t>
        <a:bodyPr/>
        <a:lstStyle/>
        <a:p>
          <a:r>
            <a:rPr lang="en-US" sz="2400" dirty="0"/>
            <a:t>International capital flows allow savers to invest in the most profitable opportunities</a:t>
          </a:r>
        </a:p>
      </dgm:t>
    </dgm:pt>
    <dgm:pt modelId="{5630ECE3-1CC6-4794-9E85-35BB1FADE177}" type="parTrans" cxnId="{AFE8F0FE-4C08-438E-983C-7C18CD0732E3}">
      <dgm:prSet/>
      <dgm:spPr/>
      <dgm:t>
        <a:bodyPr/>
        <a:lstStyle/>
        <a:p>
          <a:endParaRPr lang="en-US"/>
        </a:p>
      </dgm:t>
    </dgm:pt>
    <dgm:pt modelId="{9EF6995A-1FDD-4890-9521-C1809639361E}" type="sibTrans" cxnId="{AFE8F0FE-4C08-438E-983C-7C18CD0732E3}">
      <dgm:prSet/>
      <dgm:spPr/>
      <dgm:t>
        <a:bodyPr/>
        <a:lstStyle/>
        <a:p>
          <a:endParaRPr lang="en-US"/>
        </a:p>
      </dgm:t>
    </dgm:pt>
    <dgm:pt modelId="{6F9E2FF6-95E4-42F3-B85F-9AB0D7A0430A}">
      <dgm:prSet phldrT="[Text]" custT="1"/>
      <dgm:spPr/>
      <dgm:t>
        <a:bodyPr/>
        <a:lstStyle/>
        <a:p>
          <a:r>
            <a:rPr lang="en-US" sz="2400" dirty="0"/>
            <a:t>Fills savings gap in destination country</a:t>
          </a:r>
        </a:p>
      </dgm:t>
    </dgm:pt>
    <dgm:pt modelId="{58161A7D-4279-4D59-B004-274A17FF8764}" type="parTrans" cxnId="{62607BF4-54B7-4BD7-8F93-C0DD1201FD9F}">
      <dgm:prSet/>
      <dgm:spPr/>
      <dgm:t>
        <a:bodyPr/>
        <a:lstStyle/>
        <a:p>
          <a:endParaRPr lang="en-US"/>
        </a:p>
      </dgm:t>
    </dgm:pt>
    <dgm:pt modelId="{EE9E2462-D8F3-4C73-AB2B-400CAEFCA191}" type="sibTrans" cxnId="{62607BF4-54B7-4BD7-8F93-C0DD1201FD9F}">
      <dgm:prSet/>
      <dgm:spPr/>
      <dgm:t>
        <a:bodyPr/>
        <a:lstStyle/>
        <a:p>
          <a:endParaRPr lang="en-US"/>
        </a:p>
      </dgm:t>
    </dgm:pt>
    <dgm:pt modelId="{288F0FA2-2AA4-40CB-AB19-453DAC29BFF5}">
      <dgm:prSet phldrT="[Text]" custT="1"/>
      <dgm:spPr/>
      <dgm:t>
        <a:bodyPr/>
        <a:lstStyle/>
        <a:p>
          <a:r>
            <a:rPr lang="en-US" sz="2400" dirty="0"/>
            <a:t>Trade deficit means net capital inflows</a:t>
          </a:r>
        </a:p>
      </dgm:t>
    </dgm:pt>
    <dgm:pt modelId="{61EAEE44-7F61-448D-AF03-7BB656C8FB73}" type="parTrans" cxnId="{16D6ABB7-F677-4BEF-8919-3BE2F76C54BE}">
      <dgm:prSet/>
      <dgm:spPr/>
      <dgm:t>
        <a:bodyPr/>
        <a:lstStyle/>
        <a:p>
          <a:endParaRPr lang="en-US"/>
        </a:p>
      </dgm:t>
    </dgm:pt>
    <dgm:pt modelId="{33C5DE88-7A56-46AE-AF65-13A7D42A9C3F}" type="sibTrans" cxnId="{16D6ABB7-F677-4BEF-8919-3BE2F76C54BE}">
      <dgm:prSet/>
      <dgm:spPr/>
      <dgm:t>
        <a:bodyPr/>
        <a:lstStyle/>
        <a:p>
          <a:endParaRPr lang="en-US"/>
        </a:p>
      </dgm:t>
    </dgm:pt>
    <dgm:pt modelId="{F92AEA59-6ED6-4BF6-B032-CC37B68338F3}">
      <dgm:prSet phldrT="[Text]" custT="1"/>
      <dgm:spPr/>
      <dgm:t>
        <a:bodyPr/>
        <a:lstStyle/>
        <a:p>
          <a:r>
            <a:rPr lang="en-US" sz="2400" dirty="0"/>
            <a:t>Independent of location </a:t>
          </a:r>
        </a:p>
      </dgm:t>
    </dgm:pt>
    <dgm:pt modelId="{741E4F3D-997E-4D1B-8013-CFE72DEFEE7A}" type="parTrans" cxnId="{1AD0A5D9-A62B-4B3E-A23D-964F260568A4}">
      <dgm:prSet/>
      <dgm:spPr/>
      <dgm:t>
        <a:bodyPr/>
        <a:lstStyle/>
        <a:p>
          <a:endParaRPr lang="en-US"/>
        </a:p>
      </dgm:t>
    </dgm:pt>
    <dgm:pt modelId="{19A16575-E673-41C7-8548-5BC8C5D51A5F}" type="sibTrans" cxnId="{1AD0A5D9-A62B-4B3E-A23D-964F260568A4}">
      <dgm:prSet/>
      <dgm:spPr/>
      <dgm:t>
        <a:bodyPr/>
        <a:lstStyle/>
        <a:p>
          <a:endParaRPr lang="en-US"/>
        </a:p>
      </dgm:t>
    </dgm:pt>
    <dgm:pt modelId="{CF0E65D1-6C7B-4E2C-A4CA-75721178C6F6}" type="pres">
      <dgm:prSet presAssocID="{B31CCA6F-09AE-4E02-892D-8B6F062B6969}" presName="linear" presStyleCnt="0">
        <dgm:presLayoutVars>
          <dgm:animLvl val="lvl"/>
          <dgm:resizeHandles val="exact"/>
        </dgm:presLayoutVars>
      </dgm:prSet>
      <dgm:spPr/>
    </dgm:pt>
    <dgm:pt modelId="{848891C2-8BC9-4BD1-9BBA-9D9CD3E80A67}" type="pres">
      <dgm:prSet presAssocID="{EFAD4E95-01B0-4752-A1D2-2670E293FD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F096A6-EAA2-465F-8D5C-69D9BBE30EDF}" type="pres">
      <dgm:prSet presAssocID="{EFAD4E95-01B0-4752-A1D2-2670E293FDA0}" presName="childText" presStyleLbl="revTx" presStyleIdx="0" presStyleCnt="2">
        <dgm:presLayoutVars>
          <dgm:bulletEnabled val="1"/>
        </dgm:presLayoutVars>
      </dgm:prSet>
      <dgm:spPr/>
    </dgm:pt>
    <dgm:pt modelId="{70CAFE33-737A-400B-BF00-67917168109F}" type="pres">
      <dgm:prSet presAssocID="{E2FFA8BD-951A-4A22-9189-00762A8E102B}" presName="parentText" presStyleLbl="node1" presStyleIdx="1" presStyleCnt="2" custLinFactNeighborX="-533" custLinFactNeighborY="-904">
        <dgm:presLayoutVars>
          <dgm:chMax val="0"/>
          <dgm:bulletEnabled val="1"/>
        </dgm:presLayoutVars>
      </dgm:prSet>
      <dgm:spPr/>
    </dgm:pt>
    <dgm:pt modelId="{DE9D57BB-61E3-446A-B133-3B6D4578C9C6}" type="pres">
      <dgm:prSet presAssocID="{E2FFA8BD-951A-4A22-9189-00762A8E102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1AC1D5B-329A-4D44-A241-28737BA5D5E7}" type="presOf" srcId="{E2FFA8BD-951A-4A22-9189-00762A8E102B}" destId="{70CAFE33-737A-400B-BF00-67917168109F}" srcOrd="0" destOrd="0" presId="urn:microsoft.com/office/officeart/2005/8/layout/vList2"/>
    <dgm:cxn modelId="{9D9C625B-75CD-43B3-8661-F85E46E999E2}" srcId="{B31CCA6F-09AE-4E02-892D-8B6F062B6969}" destId="{E2FFA8BD-951A-4A22-9189-00762A8E102B}" srcOrd="1" destOrd="0" parTransId="{F094665A-1A06-40D8-BF50-FF4DC5DD9DA8}" sibTransId="{B630765C-6E3B-4F77-8F87-6FE94FD9BF1C}"/>
    <dgm:cxn modelId="{11FB8342-CE47-4530-BD87-D9258B9D6DA1}" type="presOf" srcId="{F92AEA59-6ED6-4BF6-B032-CC37B68338F3}" destId="{DE9D57BB-61E3-446A-B133-3B6D4578C9C6}" srcOrd="0" destOrd="1" presId="urn:microsoft.com/office/officeart/2005/8/layout/vList2"/>
    <dgm:cxn modelId="{C1CBFF62-037B-4B85-8005-1D522A5C2D0A}" srcId="{EFAD4E95-01B0-4752-A1D2-2670E293FDA0}" destId="{B6A58F7F-1832-4083-BB8B-3DDEE6CB9425}" srcOrd="0" destOrd="0" parTransId="{239938AF-FB45-49C5-8D70-CEF7F764F68B}" sibTransId="{3BDF26CA-D0D4-48CA-85EA-B759BE75AE1E}"/>
    <dgm:cxn modelId="{D38B6988-D343-4B83-9BFE-471F92CEBAE5}" srcId="{B31CCA6F-09AE-4E02-892D-8B6F062B6969}" destId="{EFAD4E95-01B0-4752-A1D2-2670E293FDA0}" srcOrd="0" destOrd="0" parTransId="{30C8A05E-7793-401A-ABAD-8F20805B55A7}" sibTransId="{D2D775E3-0880-486C-B0AB-562272BA1DC8}"/>
    <dgm:cxn modelId="{5502598C-701D-425E-81CF-0F8F7CC7501C}" type="presOf" srcId="{6F9E2FF6-95E4-42F3-B85F-9AB0D7A0430A}" destId="{DE9D57BB-61E3-446A-B133-3B6D4578C9C6}" srcOrd="0" destOrd="2" presId="urn:microsoft.com/office/officeart/2005/8/layout/vList2"/>
    <dgm:cxn modelId="{FAAF0F93-38F3-4944-A195-7E5E467BE460}" type="presOf" srcId="{8E442033-0A5B-4F99-B2C3-A974107507B6}" destId="{DE9D57BB-61E3-446A-B133-3B6D4578C9C6}" srcOrd="0" destOrd="0" presId="urn:microsoft.com/office/officeart/2005/8/layout/vList2"/>
    <dgm:cxn modelId="{EBE52A98-B576-49F8-9B51-D1EF506DADDD}" type="presOf" srcId="{EFAD4E95-01B0-4752-A1D2-2670E293FDA0}" destId="{848891C2-8BC9-4BD1-9BBA-9D9CD3E80A67}" srcOrd="0" destOrd="0" presId="urn:microsoft.com/office/officeart/2005/8/layout/vList2"/>
    <dgm:cxn modelId="{A9FF929A-5DD3-4AB5-9CBC-00B6CF940D38}" type="presOf" srcId="{288F0FA2-2AA4-40CB-AB19-453DAC29BFF5}" destId="{75F096A6-EAA2-465F-8D5C-69D9BBE30EDF}" srcOrd="0" destOrd="2" presId="urn:microsoft.com/office/officeart/2005/8/layout/vList2"/>
    <dgm:cxn modelId="{5957A79E-D797-4B04-81A6-8CCC1450AC9F}" type="presOf" srcId="{BEC47B3F-F8CE-4DCF-B767-F081A60CEB4C}" destId="{75F096A6-EAA2-465F-8D5C-69D9BBE30EDF}" srcOrd="0" destOrd="1" presId="urn:microsoft.com/office/officeart/2005/8/layout/vList2"/>
    <dgm:cxn modelId="{1C1302AA-94D2-418F-9D41-BD2DFF070AEC}" type="presOf" srcId="{B31CCA6F-09AE-4E02-892D-8B6F062B6969}" destId="{CF0E65D1-6C7B-4E2C-A4CA-75721178C6F6}" srcOrd="0" destOrd="0" presId="urn:microsoft.com/office/officeart/2005/8/layout/vList2"/>
    <dgm:cxn modelId="{16D6ABB7-F677-4BEF-8919-3BE2F76C54BE}" srcId="{B6A58F7F-1832-4083-BB8B-3DDEE6CB9425}" destId="{288F0FA2-2AA4-40CB-AB19-453DAC29BFF5}" srcOrd="1" destOrd="0" parTransId="{61EAEE44-7F61-448D-AF03-7BB656C8FB73}" sibTransId="{33C5DE88-7A56-46AE-AF65-13A7D42A9C3F}"/>
    <dgm:cxn modelId="{1AD0A5D9-A62B-4B3E-A23D-964F260568A4}" srcId="{8E442033-0A5B-4F99-B2C3-A974107507B6}" destId="{F92AEA59-6ED6-4BF6-B032-CC37B68338F3}" srcOrd="0" destOrd="0" parTransId="{741E4F3D-997E-4D1B-8013-CFE72DEFEE7A}" sibTransId="{19A16575-E673-41C7-8548-5BC8C5D51A5F}"/>
    <dgm:cxn modelId="{F241A9EB-3B49-4804-858C-6816ED6F80FF}" type="presOf" srcId="{B6A58F7F-1832-4083-BB8B-3DDEE6CB9425}" destId="{75F096A6-EAA2-465F-8D5C-69D9BBE30EDF}" srcOrd="0" destOrd="0" presId="urn:microsoft.com/office/officeart/2005/8/layout/vList2"/>
    <dgm:cxn modelId="{62607BF4-54B7-4BD7-8F93-C0DD1201FD9F}" srcId="{E2FFA8BD-951A-4A22-9189-00762A8E102B}" destId="{6F9E2FF6-95E4-42F3-B85F-9AB0D7A0430A}" srcOrd="1" destOrd="0" parTransId="{58161A7D-4279-4D59-B004-274A17FF8764}" sibTransId="{EE9E2462-D8F3-4C73-AB2B-400CAEFCA191}"/>
    <dgm:cxn modelId="{AFE8F0FE-4C08-438E-983C-7C18CD0732E3}" srcId="{E2FFA8BD-951A-4A22-9189-00762A8E102B}" destId="{8E442033-0A5B-4F99-B2C3-A974107507B6}" srcOrd="0" destOrd="0" parTransId="{5630ECE3-1CC6-4794-9E85-35BB1FADE177}" sibTransId="{9EF6995A-1FDD-4890-9521-C1809639361E}"/>
    <dgm:cxn modelId="{85C340FF-1629-49F4-B536-72107C2683E2}" srcId="{B6A58F7F-1832-4083-BB8B-3DDEE6CB9425}" destId="{BEC47B3F-F8CE-4DCF-B767-F081A60CEB4C}" srcOrd="0" destOrd="0" parTransId="{1D1C0EFA-67C0-4009-860D-08D5583F0859}" sibTransId="{C1CDDEF6-2AA9-474C-BC74-E7D9E41CD3DE}"/>
    <dgm:cxn modelId="{7A8F5A67-B724-4904-A543-C4E1C4490454}" type="presParOf" srcId="{CF0E65D1-6C7B-4E2C-A4CA-75721178C6F6}" destId="{848891C2-8BC9-4BD1-9BBA-9D9CD3E80A67}" srcOrd="0" destOrd="0" presId="urn:microsoft.com/office/officeart/2005/8/layout/vList2"/>
    <dgm:cxn modelId="{ACE57A44-E495-41C1-96F8-7EA35814B8E0}" type="presParOf" srcId="{CF0E65D1-6C7B-4E2C-A4CA-75721178C6F6}" destId="{75F096A6-EAA2-465F-8D5C-69D9BBE30EDF}" srcOrd="1" destOrd="0" presId="urn:microsoft.com/office/officeart/2005/8/layout/vList2"/>
    <dgm:cxn modelId="{4E82D694-21B3-4111-A6D7-F798C0AB3DC2}" type="presParOf" srcId="{CF0E65D1-6C7B-4E2C-A4CA-75721178C6F6}" destId="{70CAFE33-737A-400B-BF00-67917168109F}" srcOrd="2" destOrd="0" presId="urn:microsoft.com/office/officeart/2005/8/layout/vList2"/>
    <dgm:cxn modelId="{5CADA86C-E3A1-4F00-825F-CDD10F505412}" type="presParOf" srcId="{CF0E65D1-6C7B-4E2C-A4CA-75721178C6F6}" destId="{DE9D57BB-61E3-446A-B133-3B6D4578C9C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02F95-1AD7-4244-AF62-045404F02640}">
      <dsp:nvSpPr>
        <dsp:cNvPr id="0" name=""/>
        <dsp:cNvSpPr/>
      </dsp:nvSpPr>
      <dsp:spPr>
        <a:xfrm>
          <a:off x="1471" y="0"/>
          <a:ext cx="1043528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r </a:t>
          </a:r>
          <a:r>
            <a:rPr lang="en-US" sz="2400" b="1" kern="1200" baseline="0" dirty="0">
              <a:sym typeface="Symbol"/>
            </a:rPr>
            <a:t></a:t>
          </a:r>
          <a:r>
            <a:rPr lang="en-US" sz="2400" b="1" kern="1200" dirty="0"/>
            <a:t>  </a:t>
          </a:r>
        </a:p>
      </dsp:txBody>
      <dsp:txXfrm>
        <a:off x="1471" y="0"/>
        <a:ext cx="1043528" cy="765852"/>
      </dsp:txXfrm>
    </dsp:sp>
    <dsp:sp modelId="{EFB2F4FE-1724-43E4-8B56-8DFFEAF8C234}">
      <dsp:nvSpPr>
        <dsp:cNvPr id="0" name=""/>
        <dsp:cNvSpPr/>
      </dsp:nvSpPr>
      <dsp:spPr>
        <a:xfrm>
          <a:off x="1220483" y="165326"/>
          <a:ext cx="372024" cy="43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1220483" y="165326"/>
        <a:ext cx="372024" cy="435198"/>
      </dsp:txXfrm>
    </dsp:sp>
    <dsp:sp modelId="{563EE3C3-B019-40A1-A39F-B7597F845D8E}">
      <dsp:nvSpPr>
        <dsp:cNvPr id="0" name=""/>
        <dsp:cNvSpPr/>
      </dsp:nvSpPr>
      <dsp:spPr>
        <a:xfrm>
          <a:off x="1746932" y="0"/>
          <a:ext cx="1459880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C, I</a:t>
          </a:r>
          <a:r>
            <a:rPr lang="en-US" sz="2400" b="1" kern="1200" baseline="30000" dirty="0"/>
            <a:t>P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1746932" y="0"/>
        <a:ext cx="1459880" cy="765852"/>
      </dsp:txXfrm>
    </dsp:sp>
    <dsp:sp modelId="{B39EA355-8EFD-4E1E-8131-36C83F564235}">
      <dsp:nvSpPr>
        <dsp:cNvPr id="0" name=""/>
        <dsp:cNvSpPr/>
      </dsp:nvSpPr>
      <dsp:spPr>
        <a:xfrm>
          <a:off x="3382296" y="165326"/>
          <a:ext cx="372024" cy="43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3382296" y="165326"/>
        <a:ext cx="372024" cy="435198"/>
      </dsp:txXfrm>
    </dsp:sp>
    <dsp:sp modelId="{D140FCDC-36ED-4651-B954-8DC899549259}">
      <dsp:nvSpPr>
        <dsp:cNvPr id="0" name=""/>
        <dsp:cNvSpPr/>
      </dsp:nvSpPr>
      <dsp:spPr>
        <a:xfrm>
          <a:off x="3908745" y="0"/>
          <a:ext cx="1557817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PAE 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3908745" y="0"/>
        <a:ext cx="1557817" cy="765852"/>
      </dsp:txXfrm>
    </dsp:sp>
    <dsp:sp modelId="{30CAA2C4-A72C-4392-8A55-4D9AA281059C}">
      <dsp:nvSpPr>
        <dsp:cNvPr id="0" name=""/>
        <dsp:cNvSpPr/>
      </dsp:nvSpPr>
      <dsp:spPr>
        <a:xfrm>
          <a:off x="5642046" y="165326"/>
          <a:ext cx="372024" cy="435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5642046" y="165326"/>
        <a:ext cx="372024" cy="435198"/>
      </dsp:txXfrm>
    </dsp:sp>
    <dsp:sp modelId="{22835E65-87F6-46D5-AA3A-27DD8F132ABA}">
      <dsp:nvSpPr>
        <dsp:cNvPr id="0" name=""/>
        <dsp:cNvSpPr/>
      </dsp:nvSpPr>
      <dsp:spPr>
        <a:xfrm>
          <a:off x="6168496" y="0"/>
          <a:ext cx="1754832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Y </a:t>
          </a:r>
          <a:r>
            <a:rPr lang="en-US" sz="2400" b="1" kern="1200" dirty="0">
              <a:sym typeface="Symbol"/>
            </a:rPr>
            <a:t></a:t>
          </a:r>
          <a:endParaRPr lang="en-US" sz="2400" b="1" kern="1200" dirty="0"/>
        </a:p>
      </dsp:txBody>
      <dsp:txXfrm>
        <a:off x="6168496" y="0"/>
        <a:ext cx="1754832" cy="76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02F95-1AD7-4244-AF62-045404F02640}">
      <dsp:nvSpPr>
        <dsp:cNvPr id="0" name=""/>
        <dsp:cNvSpPr/>
      </dsp:nvSpPr>
      <dsp:spPr>
        <a:xfrm>
          <a:off x="3189" y="0"/>
          <a:ext cx="796165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r </a:t>
          </a:r>
          <a:r>
            <a:rPr lang="en-US" sz="2400" b="1" kern="1200" baseline="0" dirty="0">
              <a:sym typeface="Symbol"/>
            </a:rPr>
            <a:t></a:t>
          </a:r>
          <a:r>
            <a:rPr lang="en-US" sz="2400" b="1" kern="1200" dirty="0"/>
            <a:t>  </a:t>
          </a:r>
        </a:p>
      </dsp:txBody>
      <dsp:txXfrm>
        <a:off x="3189" y="0"/>
        <a:ext cx="796165" cy="765852"/>
      </dsp:txXfrm>
    </dsp:sp>
    <dsp:sp modelId="{EFB2F4FE-1724-43E4-8B56-8DFFEAF8C234}">
      <dsp:nvSpPr>
        <dsp:cNvPr id="0" name=""/>
        <dsp:cNvSpPr/>
      </dsp:nvSpPr>
      <dsp:spPr>
        <a:xfrm>
          <a:off x="933240" y="216907"/>
          <a:ext cx="283837" cy="332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933240" y="216907"/>
        <a:ext cx="283837" cy="332036"/>
      </dsp:txXfrm>
    </dsp:sp>
    <dsp:sp modelId="{563EE3C3-B019-40A1-A39F-B7597F845D8E}">
      <dsp:nvSpPr>
        <dsp:cNvPr id="0" name=""/>
        <dsp:cNvSpPr/>
      </dsp:nvSpPr>
      <dsp:spPr>
        <a:xfrm>
          <a:off x="1334898" y="0"/>
          <a:ext cx="1113822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e*</a:t>
          </a:r>
          <a:r>
            <a:rPr lang="en-US" sz="2400" b="1" kern="1200" baseline="0" dirty="0">
              <a:sym typeface="Symbol"/>
            </a:rPr>
            <a:t></a:t>
          </a:r>
          <a:r>
            <a:rPr lang="en-US" sz="2400" b="1" kern="1200" dirty="0"/>
            <a:t> </a:t>
          </a:r>
        </a:p>
      </dsp:txBody>
      <dsp:txXfrm>
        <a:off x="1334898" y="0"/>
        <a:ext cx="1113822" cy="765852"/>
      </dsp:txXfrm>
    </dsp:sp>
    <dsp:sp modelId="{B39EA355-8EFD-4E1E-8131-36C83F564235}">
      <dsp:nvSpPr>
        <dsp:cNvPr id="0" name=""/>
        <dsp:cNvSpPr/>
      </dsp:nvSpPr>
      <dsp:spPr>
        <a:xfrm>
          <a:off x="2582606" y="216907"/>
          <a:ext cx="283837" cy="332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2582606" y="216907"/>
        <a:ext cx="283837" cy="332036"/>
      </dsp:txXfrm>
    </dsp:sp>
    <dsp:sp modelId="{D140FCDC-36ED-4651-B954-8DC899549259}">
      <dsp:nvSpPr>
        <dsp:cNvPr id="0" name=""/>
        <dsp:cNvSpPr/>
      </dsp:nvSpPr>
      <dsp:spPr>
        <a:xfrm>
          <a:off x="2984263" y="0"/>
          <a:ext cx="1188544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NX </a:t>
          </a:r>
          <a:r>
            <a:rPr lang="en-US" sz="2400" b="1" kern="1200" dirty="0">
              <a:sym typeface="Symbol"/>
            </a:rPr>
            <a:t></a:t>
          </a:r>
          <a:r>
            <a:rPr lang="en-US" sz="2400" b="1" kern="1200" dirty="0"/>
            <a:t> </a:t>
          </a:r>
        </a:p>
      </dsp:txBody>
      <dsp:txXfrm>
        <a:off x="2984263" y="0"/>
        <a:ext cx="1188544" cy="765852"/>
      </dsp:txXfrm>
    </dsp:sp>
    <dsp:sp modelId="{30CAA2C4-A72C-4392-8A55-4D9AA281059C}">
      <dsp:nvSpPr>
        <dsp:cNvPr id="0" name=""/>
        <dsp:cNvSpPr/>
      </dsp:nvSpPr>
      <dsp:spPr>
        <a:xfrm>
          <a:off x="4296142" y="216907"/>
          <a:ext cx="261468" cy="332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</dsp:txBody>
      <dsp:txXfrm>
        <a:off x="4296142" y="216907"/>
        <a:ext cx="261468" cy="332036"/>
      </dsp:txXfrm>
    </dsp:sp>
    <dsp:sp modelId="{AF7ADC92-5297-40A1-A777-E1B33238894E}">
      <dsp:nvSpPr>
        <dsp:cNvPr id="0" name=""/>
        <dsp:cNvSpPr/>
      </dsp:nvSpPr>
      <dsp:spPr>
        <a:xfrm>
          <a:off x="4666145" y="0"/>
          <a:ext cx="1338857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PAE </a:t>
          </a:r>
          <a:r>
            <a:rPr lang="en-US" sz="2400" b="1" kern="1200" dirty="0">
              <a:sym typeface="Symbol"/>
            </a:rPr>
            <a:t></a:t>
          </a:r>
          <a:endParaRPr lang="en-US" sz="2400" b="1" kern="1200" dirty="0"/>
        </a:p>
      </dsp:txBody>
      <dsp:txXfrm>
        <a:off x="4666145" y="0"/>
        <a:ext cx="1338857" cy="765852"/>
      </dsp:txXfrm>
    </dsp:sp>
    <dsp:sp modelId="{AD168B2E-FDD2-4438-9A9C-18BFBA645695}">
      <dsp:nvSpPr>
        <dsp:cNvPr id="0" name=""/>
        <dsp:cNvSpPr/>
      </dsp:nvSpPr>
      <dsp:spPr>
        <a:xfrm>
          <a:off x="6149440" y="216907"/>
          <a:ext cx="306207" cy="332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6149440" y="216907"/>
        <a:ext cx="306207" cy="332036"/>
      </dsp:txXfrm>
    </dsp:sp>
    <dsp:sp modelId="{22835E65-87F6-46D5-AA3A-27DD8F132ABA}">
      <dsp:nvSpPr>
        <dsp:cNvPr id="0" name=""/>
        <dsp:cNvSpPr/>
      </dsp:nvSpPr>
      <dsp:spPr>
        <a:xfrm>
          <a:off x="6582752" y="0"/>
          <a:ext cx="1338857" cy="7658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Y </a:t>
          </a:r>
          <a:r>
            <a:rPr lang="en-US" sz="2400" b="1" kern="1200" dirty="0">
              <a:sym typeface="Symbol"/>
            </a:rPr>
            <a:t></a:t>
          </a:r>
          <a:endParaRPr lang="en-US" sz="2400" b="1" kern="1200" dirty="0"/>
        </a:p>
      </dsp:txBody>
      <dsp:txXfrm>
        <a:off x="6582752" y="0"/>
        <a:ext cx="1338857" cy="765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891C2-8BC9-4BD1-9BBA-9D9CD3E80A67}">
      <dsp:nvSpPr>
        <dsp:cNvPr id="0" name=""/>
        <dsp:cNvSpPr/>
      </dsp:nvSpPr>
      <dsp:spPr>
        <a:xfrm>
          <a:off x="0" y="50475"/>
          <a:ext cx="792480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Trade Imbalances</a:t>
          </a:r>
        </a:p>
      </dsp:txBody>
      <dsp:txXfrm>
        <a:off x="0" y="50475"/>
        <a:ext cx="7924800" cy="804960"/>
      </dsp:txXfrm>
    </dsp:sp>
    <dsp:sp modelId="{75F096A6-EAA2-465F-8D5C-69D9BBE30EDF}">
      <dsp:nvSpPr>
        <dsp:cNvPr id="0" name=""/>
        <dsp:cNvSpPr/>
      </dsp:nvSpPr>
      <dsp:spPr>
        <a:xfrm>
          <a:off x="0" y="855435"/>
          <a:ext cx="7924800" cy="1468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61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International capital flows compensate for trade imbalances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Trade surplus means net capital outflows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Trade deficit means net capital inflows</a:t>
          </a:r>
        </a:p>
      </dsp:txBody>
      <dsp:txXfrm>
        <a:off x="0" y="855435"/>
        <a:ext cx="7924800" cy="1468665"/>
      </dsp:txXfrm>
    </dsp:sp>
    <dsp:sp modelId="{70CAFE33-737A-400B-BF00-67917168109F}">
      <dsp:nvSpPr>
        <dsp:cNvPr id="0" name=""/>
        <dsp:cNvSpPr/>
      </dsp:nvSpPr>
      <dsp:spPr>
        <a:xfrm>
          <a:off x="0" y="2310823"/>
          <a:ext cx="792480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Efficient Allocation of Savings</a:t>
          </a:r>
        </a:p>
      </dsp:txBody>
      <dsp:txXfrm>
        <a:off x="0" y="2310823"/>
        <a:ext cx="7924800" cy="804960"/>
      </dsp:txXfrm>
    </dsp:sp>
    <dsp:sp modelId="{DE9D57BB-61E3-446A-B133-3B6D4578C9C6}">
      <dsp:nvSpPr>
        <dsp:cNvPr id="0" name=""/>
        <dsp:cNvSpPr/>
      </dsp:nvSpPr>
      <dsp:spPr>
        <a:xfrm>
          <a:off x="0" y="3129060"/>
          <a:ext cx="7924800" cy="1468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61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International capital flows allow savers to invest in the most profitable opportunities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Independent of location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Fills savings gap in destination country</a:t>
          </a:r>
        </a:p>
      </dsp:txBody>
      <dsp:txXfrm>
        <a:off x="0" y="3129060"/>
        <a:ext cx="7924800" cy="1468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0.44942</cdr:x>
      <cdr:y>0.24417</cdr:y>
    </cdr:from>
    <cdr:to>
      <cdr:x>0.59176</cdr:x>
      <cdr:y>0.37311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180210" y="1482225"/>
          <a:ext cx="1324010" cy="78274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 dirty="0"/>
            <a:t>U.S. Nominal</a:t>
          </a:r>
          <a:br>
            <a:rPr lang="en-GB" sz="1200" b="1" dirty="0"/>
          </a:br>
          <a:r>
            <a:rPr lang="en-GB" sz="1200" b="1" dirty="0"/>
            <a:t>exchange</a:t>
          </a:r>
          <a:r>
            <a:rPr lang="en-GB" sz="1200" b="1" baseline="0" dirty="0"/>
            <a:t> rate</a:t>
          </a:r>
          <a:endParaRPr lang="en-GB" sz="12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D5BE85-49C0-4649-ADB4-519E940DC12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19459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C8DC9B-DFD3-4451-804E-4429DEAE5FA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ACEF82-42C6-41D1-80BA-4FB625FA8E1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699"/>
            <a:ext cx="7515225" cy="3533775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12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Exchange Rate, International Trade and Capital Flow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1752600"/>
            <a:ext cx="7721600" cy="4324350"/>
          </a:xfrm>
        </p:spPr>
        <p:txBody>
          <a:bodyPr/>
          <a:lstStyle/>
          <a:p>
            <a:r>
              <a:rPr lang="en-US" dirty="0"/>
              <a:t>Exchange Rate Determination</a:t>
            </a:r>
          </a:p>
          <a:p>
            <a:r>
              <a:rPr lang="en-US" dirty="0"/>
              <a:t>Flexible and Fixed Exchange Rates</a:t>
            </a:r>
          </a:p>
          <a:p>
            <a:r>
              <a:rPr lang="en-US" dirty="0"/>
              <a:t>Nominal and Real Exchange Rates</a:t>
            </a:r>
          </a:p>
          <a:p>
            <a:r>
              <a:rPr lang="en-US" dirty="0"/>
              <a:t>Purchasing Power Parity Theory</a:t>
            </a:r>
          </a:p>
          <a:p>
            <a:r>
              <a:rPr lang="en-US" dirty="0"/>
              <a:t>Trade Balance and Net Capital Inflows</a:t>
            </a:r>
          </a:p>
          <a:p>
            <a:r>
              <a:rPr lang="en-US" dirty="0"/>
              <a:t>International Capital Flows</a:t>
            </a:r>
          </a:p>
          <a:p>
            <a:r>
              <a:rPr lang="en-US" dirty="0"/>
              <a:t>Reference</a:t>
            </a:r>
            <a:r>
              <a:rPr lang="en-US"/>
              <a:t>: FBAH or FBL, </a:t>
            </a:r>
            <a:r>
              <a:rPr lang="en-US" dirty="0"/>
              <a:t>chapter 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Importance of Exchange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38175" y="1371600"/>
            <a:ext cx="8458200" cy="5327151"/>
          </a:xfrm>
        </p:spPr>
        <p:txBody>
          <a:bodyPr/>
          <a:lstStyle/>
          <a:p>
            <a:pPr eaLnBrk="1" hangingPunct="1"/>
            <a:r>
              <a:rPr lang="en-US" dirty="0"/>
              <a:t>Domestic purchases are made with local currency</a:t>
            </a:r>
          </a:p>
          <a:p>
            <a:pPr lvl="1" eaLnBrk="1" hangingPunct="1"/>
            <a:r>
              <a:rPr lang="en-US" dirty="0"/>
              <a:t>Purchasing goods abroad requires converting your local currency to their local currency</a:t>
            </a:r>
          </a:p>
          <a:p>
            <a:pPr lvl="2" eaLnBrk="1" hangingPunct="1"/>
            <a:r>
              <a:rPr lang="en-US" dirty="0"/>
              <a:t>The exchange rate measures the rate of conversion</a:t>
            </a:r>
          </a:p>
          <a:p>
            <a:pPr eaLnBrk="1" hangingPunct="1"/>
            <a:r>
              <a:rPr lang="en-US" dirty="0"/>
              <a:t>Exchange rates are set in the foreign exchange market </a:t>
            </a:r>
          </a:p>
          <a:p>
            <a:pPr lvl="1" eaLnBrk="1" hangingPunct="1"/>
            <a:r>
              <a:rPr lang="en-US" dirty="0"/>
              <a:t>Rates are determined by supply and demand forces</a:t>
            </a:r>
          </a:p>
          <a:p>
            <a:pPr lvl="1" eaLnBrk="1" hangingPunct="1"/>
            <a:r>
              <a:rPr lang="en-US" dirty="0"/>
              <a:t>Affect the value of imported goods and the value of financial investments made across borders</a:t>
            </a:r>
          </a:p>
          <a:p>
            <a:pPr eaLnBrk="1" hangingPunct="1"/>
            <a:r>
              <a:rPr lang="en-US" dirty="0"/>
              <a:t>Changes in exchange rates can have a significant effect on trade dependent economies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Nominal Exchange Rates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7820" y="1315092"/>
            <a:ext cx="8352888" cy="5342562"/>
          </a:xfrm>
        </p:spPr>
        <p:txBody>
          <a:bodyPr/>
          <a:lstStyle/>
          <a:p>
            <a:pPr eaLnBrk="1" hangingPunct="1"/>
            <a:r>
              <a:rPr lang="en-US" sz="2600" dirty="0"/>
              <a:t>The </a:t>
            </a:r>
            <a:r>
              <a:rPr lang="en-US" sz="2600" b="1" dirty="0"/>
              <a:t>nominal exchange rate</a:t>
            </a:r>
            <a:r>
              <a:rPr lang="en-US" sz="2600" dirty="0"/>
              <a:t> is the rate at which two currencies can be traded for each other</a:t>
            </a:r>
          </a:p>
          <a:p>
            <a:pPr eaLnBrk="1" hangingPunct="1"/>
            <a:r>
              <a:rPr lang="en-US" sz="2600" dirty="0"/>
              <a:t>Two definitions of exchange rate:</a:t>
            </a:r>
          </a:p>
          <a:p>
            <a:pPr eaLnBrk="1" hangingPunct="1"/>
            <a:r>
              <a:rPr lang="en-US" sz="2600" dirty="0"/>
              <a:t>(1) Number of foreign currency for one local currency</a:t>
            </a:r>
          </a:p>
          <a:p>
            <a:pPr eaLnBrk="1" hangingPunct="1"/>
            <a:r>
              <a:rPr lang="en-US" sz="2600" dirty="0"/>
              <a:t>(2) Number of local currency for one foreign currency</a:t>
            </a:r>
          </a:p>
          <a:p>
            <a:pPr eaLnBrk="1" hangingPunct="1"/>
            <a:endParaRPr lang="en-US" sz="2600" dirty="0"/>
          </a:p>
          <a:p>
            <a:pPr eaLnBrk="1" hangingPunct="1"/>
            <a:endParaRPr lang="en-US" sz="2600" dirty="0"/>
          </a:p>
          <a:p>
            <a:pPr eaLnBrk="1" hangingPunct="1"/>
            <a:endParaRPr lang="en-US" sz="2600" dirty="0"/>
          </a:p>
          <a:p>
            <a:pPr eaLnBrk="1" hangingPunct="1"/>
            <a:endParaRPr lang="en-US" sz="2600" dirty="0"/>
          </a:p>
          <a:p>
            <a:pPr eaLnBrk="1" hangingPunct="1"/>
            <a:endParaRPr lang="en-US" sz="2600" dirty="0"/>
          </a:p>
          <a:p>
            <a:pPr eaLnBrk="1" hangingPunct="1">
              <a:buNone/>
            </a:pPr>
            <a:r>
              <a:rPr lang="en-US" sz="2600" dirty="0"/>
              <a:t>For consistency, use definition (1)</a:t>
            </a:r>
            <a:endParaRPr lang="en-US" dirty="0"/>
          </a:p>
        </p:txBody>
      </p:sp>
      <p:graphicFrame>
        <p:nvGraphicFramePr>
          <p:cNvPr id="43041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5879"/>
              </p:ext>
            </p:extLst>
          </p:nvPr>
        </p:nvGraphicFramePr>
        <p:xfrm>
          <a:off x="914400" y="3626778"/>
          <a:ext cx="7876317" cy="2407920"/>
        </p:xfrm>
        <a:graphic>
          <a:graphicData uri="http://schemas.openxmlformats.org/drawingml/2006/table">
            <a:tbl>
              <a:tblPr/>
              <a:tblGrid>
                <a:gridCol w="284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7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Rates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Local currency (US$) 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Foreign Currency / Dollar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Dollar  / Foreign Currency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China 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yuan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¥)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6.132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935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0.163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Hong Kong (HK$)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7.755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935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0.129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Japan (¥)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100.940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935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0.010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Singapore (S$)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25525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1.281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935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0.781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7725" y="973208"/>
            <a:ext cx="7957227" cy="548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Consider 3 currencies:  US Dollars (US$), Singapore Dollars (S$), and Chinese Yuan </a:t>
            </a:r>
            <a:r>
              <a:rPr lang="en-US" sz="2500" dirty="0"/>
              <a:t>(</a:t>
            </a:r>
            <a:r>
              <a:rPr lang="en-US" sz="2400" dirty="0"/>
              <a:t>¥)</a:t>
            </a: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500" dirty="0"/>
              <a:t>One dollar buys </a:t>
            </a:r>
            <a:r>
              <a:rPr lang="en-US" sz="2400" dirty="0"/>
              <a:t>¥ </a:t>
            </a:r>
            <a:r>
              <a:rPr lang="en-US" sz="2500" dirty="0"/>
              <a:t> 6.132 or S$ 1.281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500" dirty="0"/>
              <a:t>The exchange rate between Chinese Yuan and Singapore Dollars can be calculated from this information</a:t>
            </a:r>
          </a:p>
          <a:p>
            <a:pPr marL="742950" lvl="1" indent="-285750" algn="ctr">
              <a:spcBef>
                <a:spcPct val="20000"/>
              </a:spcBef>
            </a:pPr>
            <a:r>
              <a:rPr lang="en-US" sz="2400" dirty="0"/>
              <a:t>¥</a:t>
            </a:r>
            <a:r>
              <a:rPr lang="en-US" sz="2500" dirty="0"/>
              <a:t>6.132 =  S$ 1.281</a:t>
            </a:r>
          </a:p>
          <a:p>
            <a:pPr marL="742950" lvl="1" indent="-285750" algn="ctr">
              <a:spcBef>
                <a:spcPct val="20000"/>
              </a:spcBef>
            </a:pPr>
            <a:r>
              <a:rPr lang="en-US" dirty="0"/>
              <a:t>¥</a:t>
            </a:r>
            <a:r>
              <a:rPr lang="en-US" sz="2500" dirty="0"/>
              <a:t>1 =  S$ 1.281 / 6.132</a:t>
            </a:r>
          </a:p>
          <a:p>
            <a:pPr marL="742950" lvl="1" indent="-285750" algn="ctr">
              <a:spcBef>
                <a:spcPct val="20000"/>
              </a:spcBef>
            </a:pPr>
            <a:r>
              <a:rPr lang="en-US" sz="2800" dirty="0"/>
              <a:t>¥</a:t>
            </a:r>
            <a:r>
              <a:rPr lang="en-US" sz="2500" dirty="0"/>
              <a:t>1 =  S$ 0.209</a:t>
            </a:r>
          </a:p>
          <a:p>
            <a:pPr marL="742950" lvl="1" indent="-285750" algn="ctr">
              <a:spcBef>
                <a:spcPct val="20000"/>
              </a:spcBef>
            </a:pPr>
            <a:r>
              <a:rPr lang="en-US" sz="2400" dirty="0"/>
              <a:t>OR</a:t>
            </a:r>
          </a:p>
          <a:p>
            <a:pPr marL="742950" lvl="1" indent="-285750" algn="ctr">
              <a:spcBef>
                <a:spcPct val="10000"/>
              </a:spcBef>
            </a:pPr>
            <a:r>
              <a:rPr lang="en-US" sz="2500" dirty="0"/>
              <a:t>S$ 1 = </a:t>
            </a:r>
            <a:r>
              <a:rPr lang="en-US" sz="2400" dirty="0"/>
              <a:t>¥</a:t>
            </a:r>
            <a:r>
              <a:rPr lang="en-US" sz="2500" dirty="0"/>
              <a:t> 6.132 / 1.281</a:t>
            </a:r>
          </a:p>
          <a:p>
            <a:pPr marL="742950" lvl="1" indent="-285750" algn="ctr">
              <a:spcBef>
                <a:spcPct val="10000"/>
              </a:spcBef>
            </a:pPr>
            <a:r>
              <a:rPr lang="en-US" sz="2500" dirty="0"/>
              <a:t>S$ 1 = </a:t>
            </a:r>
            <a:r>
              <a:rPr lang="en-US" sz="2400" dirty="0"/>
              <a:t>¥</a:t>
            </a:r>
            <a:r>
              <a:rPr lang="en-US" sz="2500" dirty="0"/>
              <a:t> 4.787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85800" y="101601"/>
            <a:ext cx="8229600" cy="91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 kern="0"/>
              <a:t>Nominal Exchange </a:t>
            </a:r>
            <a:r>
              <a:rPr lang="en-US" kern="0"/>
              <a:t>Rates</a:t>
            </a:r>
            <a:endParaRPr lang="en-US" kern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54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894302" y="1569026"/>
            <a:ext cx="8007927" cy="45165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971550" y="1649413"/>
            <a:ext cx="7853363" cy="43561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U.S. Nominal Exchange Rate, </a:t>
            </a:r>
            <a:r>
              <a:rPr lang="en-US" dirty="0">
                <a:solidFill>
                  <a:schemeClr val="tx1"/>
                </a:solidFill>
              </a:rPr>
              <a:t>1973 - 2012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63441"/>
              </p:ext>
            </p:extLst>
          </p:nvPr>
        </p:nvGraphicFramePr>
        <p:xfrm>
          <a:off x="1057619" y="1729648"/>
          <a:ext cx="7689774" cy="4153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Changes in Exchange Rates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Appreciation</a:t>
            </a:r>
            <a:r>
              <a:rPr lang="en-US" dirty="0"/>
              <a:t> is an increase in the value of a currency relative to other currencies</a:t>
            </a:r>
          </a:p>
          <a:p>
            <a:pPr lvl="1" eaLnBrk="1" hangingPunct="1"/>
            <a:r>
              <a:rPr lang="en-US" dirty="0"/>
              <a:t>Example:  U.S. dollar appreciates when it goes from $1 = £0.5 to $1 = £0.6</a:t>
            </a:r>
          </a:p>
          <a:p>
            <a:pPr lvl="2" eaLnBrk="1" hangingPunct="1"/>
            <a:r>
              <a:rPr lang="en-US" dirty="0"/>
              <a:t>A dollar buys more of the foreign currency</a:t>
            </a:r>
          </a:p>
          <a:p>
            <a:pPr eaLnBrk="1" hangingPunct="1"/>
            <a:r>
              <a:rPr lang="en-US" b="1" dirty="0"/>
              <a:t>Depreciation</a:t>
            </a:r>
            <a:r>
              <a:rPr lang="en-US" dirty="0"/>
              <a:t> is a decrease in the value of a currency relative to other currencies</a:t>
            </a:r>
          </a:p>
          <a:p>
            <a:pPr lvl="1" eaLnBrk="1" hangingPunct="1"/>
            <a:r>
              <a:rPr lang="en-US" dirty="0"/>
              <a:t>Example:  the Canadian dollar depreciates when it goes from C$1 = ¥ 5.5 to C$1 = ¥ 5.3</a:t>
            </a:r>
          </a:p>
          <a:p>
            <a:pPr lvl="2" eaLnBrk="1" hangingPunct="1"/>
            <a:r>
              <a:rPr lang="en-US" dirty="0"/>
              <a:t>A Canadian dollar buys fewer Yuan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Exchange Rates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4991100"/>
          </a:xfrm>
        </p:spPr>
        <p:txBody>
          <a:bodyPr/>
          <a:lstStyle/>
          <a:p>
            <a:pPr eaLnBrk="1" hangingPunct="1"/>
            <a:r>
              <a:rPr lang="en-US" dirty="0"/>
              <a:t>Consider trade between US and Japan with currency US$ and Japanese Yen (¥)</a:t>
            </a:r>
          </a:p>
          <a:p>
            <a:pPr eaLnBrk="1" hangingPunct="1"/>
            <a:r>
              <a:rPr lang="en-US" dirty="0"/>
              <a:t>Definition of exchange rate (e)</a:t>
            </a:r>
          </a:p>
          <a:p>
            <a:pPr lvl="1" eaLnBrk="1" hangingPunct="1"/>
            <a:r>
              <a:rPr lang="en-US" dirty="0"/>
              <a:t>e = the number of units of foreign currency that each unit of domestic currency will buy</a:t>
            </a:r>
          </a:p>
          <a:p>
            <a:pPr lvl="2" eaLnBrk="1" hangingPunct="1"/>
            <a:r>
              <a:rPr lang="en-US" dirty="0"/>
              <a:t>With US dollar as local currency and Japanese Yen as foreign currency.</a:t>
            </a:r>
          </a:p>
          <a:p>
            <a:pPr lvl="2" eaLnBrk="1" hangingPunct="1"/>
            <a:r>
              <a:rPr lang="en-US" dirty="0"/>
              <a:t>e is the number of Japanese yen one can buy with $1</a:t>
            </a:r>
          </a:p>
          <a:p>
            <a:pPr lvl="2" eaLnBrk="1" hangingPunct="1"/>
            <a:r>
              <a:rPr lang="en-US" dirty="0"/>
              <a:t>e is the nominal exchange rate</a:t>
            </a:r>
          </a:p>
          <a:p>
            <a:pPr eaLnBrk="1" hangingPunct="1"/>
            <a:r>
              <a:rPr lang="en-US" dirty="0"/>
              <a:t>Domestic currency </a:t>
            </a:r>
            <a:r>
              <a:rPr lang="en-US" b="1" dirty="0"/>
              <a:t>appreciates</a:t>
            </a:r>
            <a:r>
              <a:rPr lang="en-US" dirty="0"/>
              <a:t> if e increases</a:t>
            </a:r>
          </a:p>
          <a:p>
            <a:pPr eaLnBrk="1" hangingPunct="1"/>
            <a:r>
              <a:rPr lang="en-US" dirty="0"/>
              <a:t>Domestic currency </a:t>
            </a:r>
            <a:r>
              <a:rPr lang="en-US" b="1" dirty="0"/>
              <a:t>depreciates</a:t>
            </a:r>
            <a:r>
              <a:rPr lang="en-US" dirty="0"/>
              <a:t> if e decreases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Exchange Rate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4924425"/>
          </a:xfrm>
        </p:spPr>
        <p:txBody>
          <a:bodyPr/>
          <a:lstStyle/>
          <a:p>
            <a:pPr marL="225425" lvl="1" indent="-225425" eaLnBrk="1" hangingPunct="1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b="1" dirty="0"/>
              <a:t>foreign exchange market</a:t>
            </a:r>
            <a:r>
              <a:rPr lang="en-US" sz="2400" dirty="0"/>
              <a:t> is the market on which currencies of various nations are traded</a:t>
            </a:r>
          </a:p>
          <a:p>
            <a:pPr eaLnBrk="1" hangingPunct="1"/>
            <a:r>
              <a:rPr lang="en-US" sz="2400" dirty="0"/>
              <a:t>A </a:t>
            </a:r>
            <a:r>
              <a:rPr lang="en-US" sz="2400" b="1" dirty="0"/>
              <a:t>flexible exchange rate</a:t>
            </a:r>
            <a:r>
              <a:rPr lang="en-US" sz="2400" dirty="0"/>
              <a:t> is an exchange rate whose value is not officially fixed but varies according to the supply and demand for the currency in the foreign exchange market</a:t>
            </a:r>
          </a:p>
          <a:p>
            <a:pPr eaLnBrk="1" hangingPunct="1"/>
            <a:r>
              <a:rPr lang="en-US" sz="2400" dirty="0"/>
              <a:t>A </a:t>
            </a:r>
            <a:r>
              <a:rPr lang="en-US" sz="2400" b="1" dirty="0"/>
              <a:t>fixed exchange rate </a:t>
            </a:r>
            <a:r>
              <a:rPr lang="en-US" sz="2400" dirty="0"/>
              <a:t>is an exchange rate set by official government policy</a:t>
            </a:r>
          </a:p>
          <a:p>
            <a:pPr marL="225425" lvl="1" indent="-225425" eaLnBrk="1" hangingPunct="1"/>
            <a:r>
              <a:rPr lang="en-US" sz="2400" dirty="0"/>
              <a:t>Can be set independently or by agreement with a number of other governments</a:t>
            </a:r>
          </a:p>
          <a:p>
            <a:pPr marL="225425" lvl="1" indent="-225425" eaLnBrk="1" hangingPunct="1"/>
            <a:r>
              <a:rPr lang="en-US" sz="2400" dirty="0"/>
              <a:t>Fixed rates can be set relative to the another currency (usually US dollars), or even gold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Flexible Exchange Rate in the Short Run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600200"/>
            <a:ext cx="8543926" cy="4525963"/>
          </a:xfrm>
        </p:spPr>
        <p:txBody>
          <a:bodyPr/>
          <a:lstStyle/>
          <a:p>
            <a:pPr eaLnBrk="1" hangingPunct="1"/>
            <a:r>
              <a:rPr lang="en-US" dirty="0"/>
              <a:t>Exchange rates are set by supply and demand forces in the foreign exchange market</a:t>
            </a:r>
          </a:p>
          <a:p>
            <a:pPr eaLnBrk="1" hangingPunct="1"/>
            <a:r>
              <a:rPr lang="en-US" dirty="0"/>
              <a:t>US dollars are demanded by foreigners who seek to purchase U.S. goods or financial assets</a:t>
            </a:r>
          </a:p>
          <a:p>
            <a:pPr lvl="1" eaLnBrk="1" hangingPunct="1"/>
            <a:r>
              <a:rPr lang="en-US" dirty="0"/>
              <a:t>Number of dollars foreigners seek to buy</a:t>
            </a:r>
          </a:p>
          <a:p>
            <a:pPr eaLnBrk="1" hangingPunct="1"/>
            <a:r>
              <a:rPr lang="en-US" dirty="0"/>
              <a:t>US dollars are supplied by U.S. residents who need foreign currency to buy foreign goods or financial assets</a:t>
            </a:r>
          </a:p>
          <a:p>
            <a:pPr lvl="1" eaLnBrk="1" hangingPunct="1"/>
            <a:r>
              <a:rPr lang="en-US" dirty="0"/>
              <a:t>Number of dollars offered in exchange for other currencies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Supply of U.S. Dollars in Foreign Exchange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6096" y="1600200"/>
            <a:ext cx="8350786" cy="5020937"/>
          </a:xfrm>
        </p:spPr>
        <p:txBody>
          <a:bodyPr/>
          <a:lstStyle/>
          <a:p>
            <a:pPr eaLnBrk="1" hangingPunct="1"/>
            <a:r>
              <a:rPr lang="en-US" dirty="0"/>
              <a:t>Anyone who holds US$ is a potential supplier</a:t>
            </a:r>
          </a:p>
          <a:p>
            <a:pPr lvl="1" eaLnBrk="1" hangingPunct="1"/>
            <a:r>
              <a:rPr lang="en-US" dirty="0"/>
              <a:t>US households and firms are the most common suppliers</a:t>
            </a:r>
          </a:p>
          <a:p>
            <a:pPr eaLnBrk="1" hangingPunct="1"/>
            <a:r>
              <a:rPr lang="en-US" dirty="0"/>
              <a:t>Supply curve has a positive slope</a:t>
            </a:r>
          </a:p>
          <a:p>
            <a:pPr lvl="1" eaLnBrk="1" hangingPunct="1"/>
            <a:r>
              <a:rPr lang="en-US" dirty="0"/>
              <a:t>The more foreign currency each US dollar can buy, the larger the quantity of dollars supplied</a:t>
            </a:r>
          </a:p>
          <a:p>
            <a:pPr lvl="2" eaLnBrk="1" hangingPunct="1"/>
            <a:r>
              <a:rPr lang="en-US" dirty="0"/>
              <a:t>This makes foreign goods cheaper</a:t>
            </a:r>
          </a:p>
          <a:p>
            <a:pPr eaLnBrk="1" hangingPunct="1"/>
            <a:r>
              <a:rPr lang="en-US" dirty="0"/>
              <a:t>When US$1 = ¥100, a ¥5,000 item costs US$50</a:t>
            </a:r>
          </a:p>
          <a:p>
            <a:pPr lvl="1" eaLnBrk="1" hangingPunct="1"/>
            <a:r>
              <a:rPr lang="en-US" dirty="0"/>
              <a:t>If US$1 = ¥200, that same ¥5,000 item costs US$25</a:t>
            </a:r>
          </a:p>
          <a:p>
            <a:pPr lvl="1" eaLnBrk="1" hangingPunct="1"/>
            <a:r>
              <a:rPr lang="en-US" dirty="0"/>
              <a:t>When the US dollar appreciates, the quantity of dollars supplied increases to finance more import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Demand for U.S. Dollars in Foreign Exchange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5006083"/>
          </a:xfrm>
        </p:spPr>
        <p:txBody>
          <a:bodyPr/>
          <a:lstStyle/>
          <a:p>
            <a:pPr eaLnBrk="1" hangingPunct="1"/>
            <a:r>
              <a:rPr lang="en-US" dirty="0"/>
              <a:t>Anyone who holds yen can demand US dollars</a:t>
            </a:r>
          </a:p>
          <a:p>
            <a:pPr lvl="1" eaLnBrk="1" hangingPunct="1"/>
            <a:r>
              <a:rPr lang="en-US" dirty="0"/>
              <a:t>Japanese households and firms are the most common demanders</a:t>
            </a:r>
          </a:p>
          <a:p>
            <a:pPr eaLnBrk="1" hangingPunct="1"/>
            <a:r>
              <a:rPr lang="en-US" dirty="0"/>
              <a:t>Demand curve has a negative slope</a:t>
            </a:r>
          </a:p>
          <a:p>
            <a:pPr lvl="1" eaLnBrk="1" hangingPunct="1"/>
            <a:r>
              <a:rPr lang="en-US" dirty="0"/>
              <a:t>The more foreign currency needed to buy a dollar, the smaller the quantity of dollars demanded</a:t>
            </a:r>
          </a:p>
          <a:p>
            <a:pPr lvl="2" eaLnBrk="1" hangingPunct="1"/>
            <a:r>
              <a:rPr lang="en-US" dirty="0"/>
              <a:t>This makes U.S. goods more expensive</a:t>
            </a:r>
          </a:p>
          <a:p>
            <a:pPr eaLnBrk="1" hangingPunct="1"/>
            <a:r>
              <a:rPr lang="en-US" dirty="0"/>
              <a:t>When US$1 = ¥100, a US$30 item costs ¥3,000</a:t>
            </a:r>
          </a:p>
          <a:p>
            <a:pPr lvl="1" eaLnBrk="1" hangingPunct="1"/>
            <a:r>
              <a:rPr lang="en-US" dirty="0"/>
              <a:t>If US$1= ¥200, that same US$30 item costs ¥6,000</a:t>
            </a:r>
          </a:p>
          <a:p>
            <a:pPr lvl="1" eaLnBrk="1" hangingPunct="1"/>
            <a:r>
              <a:rPr lang="en-US" dirty="0"/>
              <a:t>When the dollar appreciates, the quantity of dollars demanded decreases as foreigner import less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0100" y="1143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The Dollar </a:t>
            </a:r>
            <a:r>
              <a:rPr lang="en-US">
                <a:cs typeface="Arial" charset="0"/>
              </a:rPr>
              <a:t>–</a:t>
            </a:r>
            <a:r>
              <a:rPr lang="en-US"/>
              <a:t> Yen Market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half" idx="4294967295"/>
          </p:nvPr>
        </p:nvSpPr>
        <p:spPr>
          <a:xfrm>
            <a:off x="838200" y="1185863"/>
            <a:ext cx="3954463" cy="5307404"/>
          </a:xfrm>
        </p:spPr>
        <p:txBody>
          <a:bodyPr/>
          <a:lstStyle/>
          <a:p>
            <a:pPr eaLnBrk="1" hangingPunct="1"/>
            <a:r>
              <a:rPr lang="en-US" sz="2600" dirty="0"/>
              <a:t>The </a:t>
            </a:r>
            <a:r>
              <a:rPr lang="en-US" sz="2600" b="1" dirty="0"/>
              <a:t>market equilibrium value of the exchange rate</a:t>
            </a:r>
            <a:r>
              <a:rPr lang="en-US" sz="2600" dirty="0"/>
              <a:t> equates the quantities of the currency supplied and demanded in the foreign exchange market</a:t>
            </a:r>
          </a:p>
          <a:p>
            <a:pPr eaLnBrk="1" hangingPunct="1"/>
            <a:r>
              <a:rPr lang="en-US" sz="2600" dirty="0"/>
              <a:t>US dollar appreciates e* increases</a:t>
            </a:r>
          </a:p>
          <a:p>
            <a:pPr eaLnBrk="1" hangingPunct="1"/>
            <a:r>
              <a:rPr lang="en-US" sz="2600" dirty="0"/>
              <a:t>US dollar depreciates if e* decreases</a:t>
            </a:r>
          </a:p>
        </p:txBody>
      </p:sp>
      <p:sp>
        <p:nvSpPr>
          <p:cNvPr id="32771" name="Content Placeholder 23"/>
          <p:cNvSpPr>
            <a:spLocks noGrp="1"/>
          </p:cNvSpPr>
          <p:nvPr>
            <p:ph sz="half" idx="4294967295"/>
          </p:nvPr>
        </p:nvSpPr>
        <p:spPr>
          <a:xfrm>
            <a:off x="4960938" y="1719263"/>
            <a:ext cx="3954462" cy="4406900"/>
          </a:xfrm>
        </p:spPr>
        <p:txBody>
          <a:bodyPr/>
          <a:lstStyle/>
          <a:p>
            <a:pPr algn="ctr" eaLnBrk="1" hangingPunct="1"/>
            <a:endParaRPr lang="en-US" sz="2400"/>
          </a:p>
        </p:txBody>
      </p:sp>
      <p:sp>
        <p:nvSpPr>
          <p:cNvPr id="21" name="Rectangle 20"/>
          <p:cNvSpPr/>
          <p:nvPr/>
        </p:nvSpPr>
        <p:spPr bwMode="auto">
          <a:xfrm>
            <a:off x="4875095" y="1606690"/>
            <a:ext cx="4057890" cy="4639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5" name="Rectangle 19"/>
          <p:cNvSpPr>
            <a:spLocks noChangeArrowheads="1"/>
          </p:cNvSpPr>
          <p:nvPr/>
        </p:nvSpPr>
        <p:spPr bwMode="auto">
          <a:xfrm>
            <a:off x="4921250" y="1690688"/>
            <a:ext cx="3965575" cy="4471987"/>
          </a:xfrm>
          <a:prstGeom prst="rect">
            <a:avLst/>
          </a:prstGeom>
          <a:solidFill>
            <a:schemeClr val="bg1"/>
          </a:solidFill>
          <a:ln w="38100" algn="ctr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2000" u="sng"/>
              <a:t>Market for Dollars</a:t>
            </a:r>
          </a:p>
        </p:txBody>
      </p:sp>
      <p:sp>
        <p:nvSpPr>
          <p:cNvPr id="32776" name="Text Box 14"/>
          <p:cNvSpPr txBox="1">
            <a:spLocks noChangeArrowheads="1"/>
          </p:cNvSpPr>
          <p:nvPr/>
        </p:nvSpPr>
        <p:spPr bwMode="auto">
          <a:xfrm>
            <a:off x="5453349" y="5681663"/>
            <a:ext cx="34763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Quantity of US dollars traded</a:t>
            </a:r>
          </a:p>
        </p:txBody>
      </p:sp>
      <p:sp>
        <p:nvSpPr>
          <p:cNvPr id="32777" name="Text Box 15"/>
          <p:cNvSpPr txBox="1">
            <a:spLocks noChangeArrowheads="1"/>
          </p:cNvSpPr>
          <p:nvPr/>
        </p:nvSpPr>
        <p:spPr bwMode="auto">
          <a:xfrm rot="-5400000">
            <a:off x="3357562" y="3384519"/>
            <a:ext cx="35242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Yen/US dollar exchange rate</a:t>
            </a:r>
          </a:p>
        </p:txBody>
      </p:sp>
      <p:sp>
        <p:nvSpPr>
          <p:cNvPr id="32778" name="Line 16"/>
          <p:cNvSpPr>
            <a:spLocks noChangeShapeType="1"/>
          </p:cNvSpPr>
          <p:nvPr/>
        </p:nvSpPr>
        <p:spPr bwMode="auto">
          <a:xfrm>
            <a:off x="5561013" y="5316538"/>
            <a:ext cx="285750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6292850" y="2284413"/>
            <a:ext cx="2622550" cy="2657475"/>
            <a:chOff x="6292804" y="2805682"/>
            <a:chExt cx="2622750" cy="2656606"/>
          </a:xfrm>
        </p:grpSpPr>
        <p:sp>
          <p:nvSpPr>
            <p:cNvPr id="189461" name="Freeform 21"/>
            <p:cNvSpPr>
              <a:spLocks/>
            </p:cNvSpPr>
            <p:nvPr/>
          </p:nvSpPr>
          <p:spPr bwMode="auto">
            <a:xfrm>
              <a:off x="6292804" y="2805682"/>
              <a:ext cx="1840053" cy="2656606"/>
            </a:xfrm>
            <a:custGeom>
              <a:avLst/>
              <a:gdLst/>
              <a:ahLst/>
              <a:cxnLst>
                <a:cxn ang="0">
                  <a:pos x="1861" y="1980"/>
                </a:cxn>
                <a:cxn ang="0">
                  <a:pos x="1554" y="1861"/>
                </a:cxn>
                <a:cxn ang="0">
                  <a:pos x="1165" y="1629"/>
                </a:cxn>
                <a:cxn ang="0">
                  <a:pos x="761" y="1292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861" h="1980">
                  <a:moveTo>
                    <a:pt x="1861" y="1980"/>
                  </a:moveTo>
                  <a:cubicBezTo>
                    <a:pt x="1811" y="1960"/>
                    <a:pt x="1670" y="1919"/>
                    <a:pt x="1554" y="1861"/>
                  </a:cubicBezTo>
                  <a:cubicBezTo>
                    <a:pt x="1438" y="1803"/>
                    <a:pt x="1297" y="1724"/>
                    <a:pt x="1165" y="1629"/>
                  </a:cubicBezTo>
                  <a:cubicBezTo>
                    <a:pt x="1033" y="1534"/>
                    <a:pt x="886" y="1414"/>
                    <a:pt x="761" y="1292"/>
                  </a:cubicBezTo>
                  <a:cubicBezTo>
                    <a:pt x="636" y="1170"/>
                    <a:pt x="527" y="1063"/>
                    <a:pt x="418" y="899"/>
                  </a:cubicBezTo>
                  <a:cubicBezTo>
                    <a:pt x="309" y="735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9177" name="Text Box 22"/>
            <p:cNvSpPr txBox="1">
              <a:spLocks noChangeArrowheads="1"/>
            </p:cNvSpPr>
            <p:nvPr/>
          </p:nvSpPr>
          <p:spPr bwMode="auto">
            <a:xfrm>
              <a:off x="7312057" y="4705298"/>
              <a:ext cx="1603497" cy="707793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000" dirty="0"/>
                <a:t>Demand for </a:t>
              </a:r>
              <a:br>
                <a:rPr lang="en-US" sz="2000" dirty="0"/>
              </a:br>
              <a:r>
                <a:rPr lang="en-US" sz="2000" dirty="0"/>
                <a:t>dollars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946775" y="2554288"/>
            <a:ext cx="2959100" cy="2079625"/>
            <a:chOff x="5933840" y="3074026"/>
            <a:chExt cx="2959363" cy="2079666"/>
          </a:xfrm>
        </p:grpSpPr>
        <p:sp>
          <p:nvSpPr>
            <p:cNvPr id="189460" name="Freeform 20"/>
            <p:cNvSpPr>
              <a:spLocks/>
            </p:cNvSpPr>
            <p:nvPr/>
          </p:nvSpPr>
          <p:spPr bwMode="auto">
            <a:xfrm>
              <a:off x="5933840" y="3074026"/>
              <a:ext cx="1998841" cy="2079666"/>
            </a:xfrm>
            <a:custGeom>
              <a:avLst/>
              <a:gdLst/>
              <a:ahLst/>
              <a:cxnLst>
                <a:cxn ang="0">
                  <a:pos x="0" y="1550"/>
                </a:cxn>
                <a:cxn ang="0">
                  <a:pos x="299" y="1430"/>
                </a:cxn>
                <a:cxn ang="0">
                  <a:pos x="667" y="1274"/>
                </a:cxn>
                <a:cxn ang="0">
                  <a:pos x="1093" y="1027"/>
                </a:cxn>
                <a:cxn ang="0">
                  <a:pos x="1460" y="705"/>
                </a:cxn>
                <a:cxn ang="0">
                  <a:pos x="1781" y="346"/>
                </a:cxn>
                <a:cxn ang="0">
                  <a:pos x="2022" y="0"/>
                </a:cxn>
              </a:cxnLst>
              <a:rect l="0" t="0" r="r" b="b"/>
              <a:pathLst>
                <a:path w="2022" h="1550">
                  <a:moveTo>
                    <a:pt x="0" y="1550"/>
                  </a:moveTo>
                  <a:cubicBezTo>
                    <a:pt x="98" y="1512"/>
                    <a:pt x="188" y="1476"/>
                    <a:pt x="299" y="1430"/>
                  </a:cubicBezTo>
                  <a:cubicBezTo>
                    <a:pt x="410" y="1384"/>
                    <a:pt x="535" y="1341"/>
                    <a:pt x="667" y="1274"/>
                  </a:cubicBezTo>
                  <a:cubicBezTo>
                    <a:pt x="799" y="1207"/>
                    <a:pt x="961" y="1122"/>
                    <a:pt x="1093" y="1027"/>
                  </a:cubicBezTo>
                  <a:cubicBezTo>
                    <a:pt x="1225" y="932"/>
                    <a:pt x="1345" y="818"/>
                    <a:pt x="1460" y="705"/>
                  </a:cubicBezTo>
                  <a:cubicBezTo>
                    <a:pt x="1575" y="592"/>
                    <a:pt x="1687" y="463"/>
                    <a:pt x="1781" y="346"/>
                  </a:cubicBezTo>
                  <a:cubicBezTo>
                    <a:pt x="1875" y="229"/>
                    <a:pt x="1972" y="72"/>
                    <a:pt x="2022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9175" name="Text Box 23"/>
            <p:cNvSpPr txBox="1">
              <a:spLocks noChangeArrowheads="1"/>
            </p:cNvSpPr>
            <p:nvPr/>
          </p:nvSpPr>
          <p:spPr bwMode="auto">
            <a:xfrm>
              <a:off x="7632616" y="3081963"/>
              <a:ext cx="1260587" cy="70803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000" dirty="0"/>
                <a:t>Supply </a:t>
              </a:r>
              <a:br>
                <a:rPr lang="en-US" sz="2000" dirty="0"/>
              </a:br>
              <a:r>
                <a:rPr lang="en-US" sz="2000" dirty="0"/>
                <a:t>of dollars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106988" y="3825875"/>
            <a:ext cx="2114620" cy="1905565"/>
            <a:chOff x="5107378" y="4346923"/>
            <a:chExt cx="2113649" cy="1905304"/>
          </a:xfrm>
        </p:grpSpPr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 flipV="1">
              <a:off x="6984034" y="4478807"/>
              <a:ext cx="0" cy="13457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Line 19"/>
            <p:cNvSpPr>
              <a:spLocks noChangeShapeType="1"/>
            </p:cNvSpPr>
            <p:nvPr/>
          </p:nvSpPr>
          <p:spPr bwMode="auto">
            <a:xfrm>
              <a:off x="5565974" y="4481490"/>
              <a:ext cx="1404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8" name="Text Box 25"/>
            <p:cNvSpPr txBox="1">
              <a:spLocks noChangeArrowheads="1"/>
            </p:cNvSpPr>
            <p:nvPr/>
          </p:nvSpPr>
          <p:spPr bwMode="auto">
            <a:xfrm>
              <a:off x="5107378" y="4346923"/>
              <a:ext cx="543549" cy="4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i="1" dirty="0"/>
                <a:t>e*</a:t>
              </a:r>
            </a:p>
          </p:txBody>
        </p:sp>
        <p:sp>
          <p:nvSpPr>
            <p:cNvPr id="32789" name="TextBox 24"/>
            <p:cNvSpPr txBox="1">
              <a:spLocks noChangeArrowheads="1"/>
            </p:cNvSpPr>
            <p:nvPr/>
          </p:nvSpPr>
          <p:spPr bwMode="auto">
            <a:xfrm>
              <a:off x="6738425" y="5852172"/>
              <a:ext cx="482602" cy="400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Q*</a:t>
              </a:r>
            </a:p>
          </p:txBody>
        </p:sp>
      </p:grpSp>
      <p:cxnSp>
        <p:nvCxnSpPr>
          <p:cNvPr id="32782" name="Straight Connector 28"/>
          <p:cNvCxnSpPr>
            <a:cxnSpLocks noChangeShapeType="1"/>
          </p:cNvCxnSpPr>
          <p:nvPr/>
        </p:nvCxnSpPr>
        <p:spPr bwMode="auto">
          <a:xfrm rot="5400000">
            <a:off x="4013995" y="3790156"/>
            <a:ext cx="3109912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618920" y="1997075"/>
            <a:ext cx="400110" cy="2246152"/>
            <a:chOff x="5619403" y="2518116"/>
            <a:chExt cx="399510" cy="1997612"/>
          </a:xfrm>
        </p:grpSpPr>
        <p:sp>
          <p:nvSpPr>
            <p:cNvPr id="27" name="TextBox 26"/>
            <p:cNvSpPr txBox="1"/>
            <p:nvPr/>
          </p:nvSpPr>
          <p:spPr>
            <a:xfrm rot="16200000">
              <a:off x="4820352" y="3317167"/>
              <a:ext cx="1997612" cy="3995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/>
                <a:t>Dollar appreciates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 bwMode="auto">
            <a:xfrm rot="5400000" flipH="1" flipV="1">
              <a:off x="4935604" y="3434446"/>
              <a:ext cx="1413719" cy="475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Supply of U.S. Dollars in Foreign Exchange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Supply of US dollars for Japanese yen is determined by </a:t>
            </a:r>
          </a:p>
          <a:p>
            <a:pPr lvl="1" eaLnBrk="1" hangingPunct="1"/>
            <a:r>
              <a:rPr lang="en-US" dirty="0"/>
              <a:t>The preference for Japanese goods</a:t>
            </a:r>
          </a:p>
          <a:p>
            <a:pPr lvl="2" eaLnBrk="1" hangingPunct="1"/>
            <a:r>
              <a:rPr lang="en-US" dirty="0"/>
              <a:t>The stronger the preference, the greater the supply of US dollars</a:t>
            </a:r>
          </a:p>
          <a:p>
            <a:pPr lvl="1" eaLnBrk="1" hangingPunct="1"/>
            <a:r>
              <a:rPr lang="en-US" dirty="0"/>
              <a:t>U.S. real GDP</a:t>
            </a:r>
          </a:p>
          <a:p>
            <a:pPr lvl="2" eaLnBrk="1" hangingPunct="1"/>
            <a:r>
              <a:rPr lang="en-US" dirty="0"/>
              <a:t>The higher GDP, the greater the supply of dollars</a:t>
            </a:r>
          </a:p>
          <a:p>
            <a:pPr lvl="1" eaLnBrk="1" hangingPunct="1"/>
            <a:r>
              <a:rPr lang="en-US" dirty="0"/>
              <a:t>Real interest rate on Japanese assets and the real interest rate on US assets</a:t>
            </a:r>
          </a:p>
          <a:p>
            <a:pPr lvl="2" eaLnBrk="1" hangingPunct="1"/>
            <a:r>
              <a:rPr lang="en-US" dirty="0"/>
              <a:t>Supply of US dollars will be greater if </a:t>
            </a:r>
          </a:p>
          <a:p>
            <a:pPr lvl="3" eaLnBrk="1" hangingPunct="1"/>
            <a:r>
              <a:rPr lang="en-US" dirty="0"/>
              <a:t>Real interest rate on Japanese assets is higher</a:t>
            </a:r>
          </a:p>
          <a:p>
            <a:pPr lvl="3" eaLnBrk="1" hangingPunct="1"/>
            <a:r>
              <a:rPr lang="en-US" dirty="0"/>
              <a:t>Real interest rate on US assets is lower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An Increase in the Supply of U.S. Dollars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4294967295"/>
          </p:nvPr>
        </p:nvSpPr>
        <p:spPr>
          <a:xfrm>
            <a:off x="712583" y="1789113"/>
            <a:ext cx="3954463" cy="4406900"/>
          </a:xfrm>
        </p:spPr>
        <p:txBody>
          <a:bodyPr/>
          <a:lstStyle/>
          <a:p>
            <a:pPr eaLnBrk="1" hangingPunct="1"/>
            <a:r>
              <a:rPr lang="en-US" sz="2200" dirty="0"/>
              <a:t>Initial equilibrium at E</a:t>
            </a:r>
          </a:p>
          <a:p>
            <a:pPr eaLnBrk="1" hangingPunct="1"/>
            <a:r>
              <a:rPr lang="en-US" sz="2200" dirty="0"/>
              <a:t>Suppose consumers prefer the new video game system made in Japan</a:t>
            </a:r>
          </a:p>
          <a:p>
            <a:pPr marL="465138" lvl="1" indent="-239713" eaLnBrk="1" hangingPunct="1"/>
            <a:r>
              <a:rPr lang="en-US" sz="2000" dirty="0"/>
              <a:t>Shift in preferences</a:t>
            </a:r>
          </a:p>
          <a:p>
            <a:pPr eaLnBrk="1" hangingPunct="1"/>
            <a:r>
              <a:rPr lang="en-US" sz="2200" dirty="0"/>
              <a:t>Increase in the supply of US dollars shifts dollar supply curve to the right</a:t>
            </a:r>
          </a:p>
          <a:p>
            <a:pPr marL="465138" lvl="1" indent="-239713" eaLnBrk="1" hangingPunct="1"/>
            <a:r>
              <a:rPr lang="en-US" sz="2000" dirty="0"/>
              <a:t>New equilibrium at F</a:t>
            </a:r>
          </a:p>
          <a:p>
            <a:pPr eaLnBrk="1" hangingPunct="1"/>
            <a:r>
              <a:rPr lang="en-US" sz="2200" dirty="0"/>
              <a:t>US dollar depreciates to e*'</a:t>
            </a:r>
          </a:p>
          <a:p>
            <a:pPr eaLnBrk="1" hangingPunct="1"/>
            <a:r>
              <a:rPr lang="en-US" sz="2200" dirty="0"/>
              <a:t>Quantity of US dollars traded increases to Q*’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4736763" y="1636327"/>
            <a:ext cx="4059936" cy="463600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783138" y="1712913"/>
            <a:ext cx="3967162" cy="44831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71" name="Text Box 3"/>
          <p:cNvSpPr txBox="1">
            <a:spLocks noChangeArrowheads="1"/>
          </p:cNvSpPr>
          <p:nvPr/>
        </p:nvSpPr>
        <p:spPr bwMode="auto">
          <a:xfrm>
            <a:off x="5938464" y="5683250"/>
            <a:ext cx="2778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Quantity of US dollars</a:t>
            </a:r>
          </a:p>
        </p:txBody>
      </p:sp>
      <p:sp>
        <p:nvSpPr>
          <p:cNvPr id="36872" name="Text Box 4"/>
          <p:cNvSpPr txBox="1">
            <a:spLocks noChangeArrowheads="1"/>
          </p:cNvSpPr>
          <p:nvPr/>
        </p:nvSpPr>
        <p:spPr bwMode="auto">
          <a:xfrm rot="-5400000">
            <a:off x="3126969" y="3407936"/>
            <a:ext cx="36816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Yen / US dollar exchange rate</a:t>
            </a:r>
          </a:p>
        </p:txBody>
      </p:sp>
      <p:sp>
        <p:nvSpPr>
          <p:cNvPr id="36873" name="Line 5"/>
          <p:cNvSpPr>
            <a:spLocks noChangeShapeType="1"/>
          </p:cNvSpPr>
          <p:nvPr/>
        </p:nvSpPr>
        <p:spPr bwMode="auto">
          <a:xfrm>
            <a:off x="5486400" y="5267325"/>
            <a:ext cx="317023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0474" name="Freeform 10"/>
          <p:cNvSpPr>
            <a:spLocks/>
          </p:cNvSpPr>
          <p:nvPr/>
        </p:nvSpPr>
        <p:spPr bwMode="auto">
          <a:xfrm>
            <a:off x="6297613" y="2017713"/>
            <a:ext cx="2041525" cy="2847975"/>
          </a:xfrm>
          <a:custGeom>
            <a:avLst/>
            <a:gdLst/>
            <a:ahLst/>
            <a:cxnLst>
              <a:cxn ang="0">
                <a:pos x="1861" y="1980"/>
              </a:cxn>
              <a:cxn ang="0">
                <a:pos x="1554" y="1861"/>
              </a:cxn>
              <a:cxn ang="0">
                <a:pos x="1165" y="1629"/>
              </a:cxn>
              <a:cxn ang="0">
                <a:pos x="761" y="1292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861" h="1980">
                <a:moveTo>
                  <a:pt x="1861" y="1980"/>
                </a:moveTo>
                <a:cubicBezTo>
                  <a:pt x="1811" y="1960"/>
                  <a:pt x="1670" y="1919"/>
                  <a:pt x="1554" y="1861"/>
                </a:cubicBezTo>
                <a:cubicBezTo>
                  <a:pt x="1438" y="1803"/>
                  <a:pt x="1297" y="1724"/>
                  <a:pt x="1165" y="1629"/>
                </a:cubicBezTo>
                <a:cubicBezTo>
                  <a:pt x="1033" y="1534"/>
                  <a:pt x="886" y="1414"/>
                  <a:pt x="761" y="1292"/>
                </a:cubicBezTo>
                <a:cubicBezTo>
                  <a:pt x="636" y="1170"/>
                  <a:pt x="527" y="1063"/>
                  <a:pt x="418" y="899"/>
                </a:cubicBezTo>
                <a:cubicBezTo>
                  <a:pt x="309" y="735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8183563" y="4508500"/>
            <a:ext cx="2492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D</a:t>
            </a:r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V="1">
            <a:off x="7064375" y="3811588"/>
            <a:ext cx="0" cy="14430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7" name="Line 8"/>
          <p:cNvSpPr>
            <a:spLocks noChangeShapeType="1"/>
          </p:cNvSpPr>
          <p:nvPr/>
        </p:nvSpPr>
        <p:spPr bwMode="auto">
          <a:xfrm>
            <a:off x="5491163" y="3814763"/>
            <a:ext cx="15589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0473" name="Freeform 9"/>
          <p:cNvSpPr>
            <a:spLocks/>
          </p:cNvSpPr>
          <p:nvPr/>
        </p:nvSpPr>
        <p:spPr bwMode="auto">
          <a:xfrm>
            <a:off x="5899150" y="2305050"/>
            <a:ext cx="2219325" cy="2230438"/>
          </a:xfrm>
          <a:custGeom>
            <a:avLst/>
            <a:gdLst/>
            <a:ahLst/>
            <a:cxnLst>
              <a:cxn ang="0">
                <a:pos x="0" y="1550"/>
              </a:cxn>
              <a:cxn ang="0">
                <a:pos x="299" y="1430"/>
              </a:cxn>
              <a:cxn ang="0">
                <a:pos x="667" y="1274"/>
              </a:cxn>
              <a:cxn ang="0">
                <a:pos x="1093" y="1027"/>
              </a:cxn>
              <a:cxn ang="0">
                <a:pos x="1460" y="705"/>
              </a:cxn>
              <a:cxn ang="0">
                <a:pos x="1781" y="346"/>
              </a:cxn>
              <a:cxn ang="0">
                <a:pos x="2022" y="0"/>
              </a:cxn>
            </a:cxnLst>
            <a:rect l="0" t="0" r="r" b="b"/>
            <a:pathLst>
              <a:path w="2022" h="1550">
                <a:moveTo>
                  <a:pt x="0" y="1550"/>
                </a:moveTo>
                <a:cubicBezTo>
                  <a:pt x="98" y="1512"/>
                  <a:pt x="188" y="1476"/>
                  <a:pt x="299" y="1430"/>
                </a:cubicBezTo>
                <a:cubicBezTo>
                  <a:pt x="410" y="1384"/>
                  <a:pt x="535" y="1341"/>
                  <a:pt x="667" y="1274"/>
                </a:cubicBezTo>
                <a:cubicBezTo>
                  <a:pt x="799" y="1207"/>
                  <a:pt x="961" y="1122"/>
                  <a:pt x="1093" y="1027"/>
                </a:cubicBezTo>
                <a:cubicBezTo>
                  <a:pt x="1225" y="932"/>
                  <a:pt x="1345" y="818"/>
                  <a:pt x="1460" y="705"/>
                </a:cubicBezTo>
                <a:cubicBezTo>
                  <a:pt x="1575" y="592"/>
                  <a:pt x="1687" y="463"/>
                  <a:pt x="1781" y="346"/>
                </a:cubicBezTo>
                <a:cubicBezTo>
                  <a:pt x="1875" y="229"/>
                  <a:pt x="1972" y="72"/>
                  <a:pt x="2022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879" name="Text Box 12"/>
          <p:cNvSpPr txBox="1">
            <a:spLocks noChangeArrowheads="1"/>
          </p:cNvSpPr>
          <p:nvPr/>
        </p:nvSpPr>
        <p:spPr bwMode="auto">
          <a:xfrm>
            <a:off x="7867650" y="2039938"/>
            <a:ext cx="4048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S</a:t>
            </a:r>
          </a:p>
        </p:txBody>
      </p:sp>
      <p:sp>
        <p:nvSpPr>
          <p:cNvPr id="36880" name="Text Box 13"/>
          <p:cNvSpPr txBox="1">
            <a:spLocks noChangeArrowheads="1"/>
          </p:cNvSpPr>
          <p:nvPr/>
        </p:nvSpPr>
        <p:spPr bwMode="auto">
          <a:xfrm>
            <a:off x="5092700" y="3602038"/>
            <a:ext cx="40322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i="1"/>
              <a:t>e*</a:t>
            </a:r>
          </a:p>
        </p:txBody>
      </p:sp>
      <p:sp>
        <p:nvSpPr>
          <p:cNvPr id="36881" name="Text Box 19"/>
          <p:cNvSpPr txBox="1">
            <a:spLocks noChangeArrowheads="1"/>
          </p:cNvSpPr>
          <p:nvPr/>
        </p:nvSpPr>
        <p:spPr bwMode="auto">
          <a:xfrm>
            <a:off x="6938963" y="3411538"/>
            <a:ext cx="3063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E</a:t>
            </a:r>
          </a:p>
        </p:txBody>
      </p:sp>
      <p:sp>
        <p:nvSpPr>
          <p:cNvPr id="190484" name="Text Box 20"/>
          <p:cNvSpPr txBox="1">
            <a:spLocks noChangeArrowheads="1"/>
          </p:cNvSpPr>
          <p:nvPr/>
        </p:nvSpPr>
        <p:spPr bwMode="auto">
          <a:xfrm>
            <a:off x="7437438" y="3992563"/>
            <a:ext cx="307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F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227763" y="2351088"/>
            <a:ext cx="2452687" cy="2540000"/>
            <a:chOff x="6227486" y="2351253"/>
            <a:chExt cx="2452281" cy="2539091"/>
          </a:xfrm>
        </p:grpSpPr>
        <p:sp>
          <p:nvSpPr>
            <p:cNvPr id="190478" name="Freeform 14"/>
            <p:cNvSpPr>
              <a:spLocks/>
            </p:cNvSpPr>
            <p:nvPr/>
          </p:nvSpPr>
          <p:spPr bwMode="auto">
            <a:xfrm>
              <a:off x="6227486" y="2660704"/>
              <a:ext cx="2218958" cy="2229640"/>
            </a:xfrm>
            <a:custGeom>
              <a:avLst/>
              <a:gdLst/>
              <a:ahLst/>
              <a:cxnLst>
                <a:cxn ang="0">
                  <a:pos x="0" y="1550"/>
                </a:cxn>
                <a:cxn ang="0">
                  <a:pos x="299" y="1430"/>
                </a:cxn>
                <a:cxn ang="0">
                  <a:pos x="667" y="1274"/>
                </a:cxn>
                <a:cxn ang="0">
                  <a:pos x="1093" y="1027"/>
                </a:cxn>
                <a:cxn ang="0">
                  <a:pos x="1460" y="705"/>
                </a:cxn>
                <a:cxn ang="0">
                  <a:pos x="1781" y="346"/>
                </a:cxn>
                <a:cxn ang="0">
                  <a:pos x="2022" y="0"/>
                </a:cxn>
              </a:cxnLst>
              <a:rect l="0" t="0" r="r" b="b"/>
              <a:pathLst>
                <a:path w="2022" h="1550">
                  <a:moveTo>
                    <a:pt x="0" y="1550"/>
                  </a:moveTo>
                  <a:cubicBezTo>
                    <a:pt x="98" y="1512"/>
                    <a:pt x="188" y="1476"/>
                    <a:pt x="299" y="1430"/>
                  </a:cubicBezTo>
                  <a:cubicBezTo>
                    <a:pt x="410" y="1384"/>
                    <a:pt x="535" y="1341"/>
                    <a:pt x="667" y="1274"/>
                  </a:cubicBezTo>
                  <a:cubicBezTo>
                    <a:pt x="799" y="1207"/>
                    <a:pt x="961" y="1122"/>
                    <a:pt x="1093" y="1027"/>
                  </a:cubicBezTo>
                  <a:cubicBezTo>
                    <a:pt x="1225" y="932"/>
                    <a:pt x="1345" y="818"/>
                    <a:pt x="1460" y="705"/>
                  </a:cubicBezTo>
                  <a:cubicBezTo>
                    <a:pt x="1575" y="592"/>
                    <a:pt x="1687" y="463"/>
                    <a:pt x="1781" y="346"/>
                  </a:cubicBezTo>
                  <a:cubicBezTo>
                    <a:pt x="1875" y="229"/>
                    <a:pt x="1972" y="72"/>
                    <a:pt x="2022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6899" name="Text Box 18"/>
            <p:cNvSpPr txBox="1">
              <a:spLocks noChangeArrowheads="1"/>
            </p:cNvSpPr>
            <p:nvPr/>
          </p:nvSpPr>
          <p:spPr bwMode="auto">
            <a:xfrm>
              <a:off x="8219387" y="2351253"/>
              <a:ext cx="460380" cy="3999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S'</a:t>
              </a:r>
            </a:p>
          </p:txBody>
        </p:sp>
        <p:sp>
          <p:nvSpPr>
            <p:cNvPr id="190485" name="AutoShape 21"/>
            <p:cNvSpPr>
              <a:spLocks noChangeArrowheads="1"/>
            </p:cNvSpPr>
            <p:nvPr/>
          </p:nvSpPr>
          <p:spPr bwMode="auto">
            <a:xfrm>
              <a:off x="7618933" y="3207433"/>
              <a:ext cx="413719" cy="217031"/>
            </a:xfrm>
            <a:prstGeom prst="rightArrow">
              <a:avLst>
                <a:gd name="adj1" fmla="val 50000"/>
                <a:gd name="adj2" fmla="val 8916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6884" name="Text Box 16"/>
          <p:cNvSpPr txBox="1">
            <a:spLocks noChangeArrowheads="1"/>
          </p:cNvSpPr>
          <p:nvPr/>
        </p:nvSpPr>
        <p:spPr bwMode="auto">
          <a:xfrm>
            <a:off x="6734175" y="5280025"/>
            <a:ext cx="5508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i="1"/>
              <a:t>Q*</a:t>
            </a:r>
          </a:p>
        </p:txBody>
      </p:sp>
      <p:cxnSp>
        <p:nvCxnSpPr>
          <p:cNvPr id="36885" name="Straight Connector 28"/>
          <p:cNvCxnSpPr>
            <a:cxnSpLocks noChangeShapeType="1"/>
          </p:cNvCxnSpPr>
          <p:nvPr/>
        </p:nvCxnSpPr>
        <p:spPr bwMode="auto">
          <a:xfrm rot="5400000">
            <a:off x="3880644" y="3644107"/>
            <a:ext cx="323532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5049838" y="3811588"/>
            <a:ext cx="2327275" cy="504825"/>
            <a:chOff x="5050304" y="3812344"/>
            <a:chExt cx="2327210" cy="504019"/>
          </a:xfrm>
        </p:grpSpPr>
        <p:sp>
          <p:nvSpPr>
            <p:cNvPr id="36893" name="Line 15"/>
            <p:cNvSpPr>
              <a:spLocks noChangeShapeType="1"/>
            </p:cNvSpPr>
            <p:nvPr/>
          </p:nvSpPr>
          <p:spPr bwMode="auto">
            <a:xfrm>
              <a:off x="5491161" y="4171070"/>
              <a:ext cx="18863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Text Box 16"/>
            <p:cNvSpPr txBox="1">
              <a:spLocks noChangeArrowheads="1"/>
            </p:cNvSpPr>
            <p:nvPr/>
          </p:nvSpPr>
          <p:spPr bwMode="auto">
            <a:xfrm>
              <a:off x="5050304" y="3967084"/>
              <a:ext cx="446343" cy="349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 i="1"/>
                <a:t>e*'</a:t>
              </a:r>
            </a:p>
          </p:txBody>
        </p:sp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 rot="5400000">
              <a:off x="5503386" y="3871532"/>
              <a:ext cx="323556" cy="205180"/>
            </a:xfrm>
            <a:prstGeom prst="rightArrow">
              <a:avLst>
                <a:gd name="adj1" fmla="val 50000"/>
                <a:gd name="adj2" fmla="val 8916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7091363" y="4144963"/>
            <a:ext cx="603250" cy="1473200"/>
            <a:chOff x="7090690" y="4145176"/>
            <a:chExt cx="604339" cy="1472689"/>
          </a:xfrm>
        </p:grpSpPr>
        <p:sp>
          <p:nvSpPr>
            <p:cNvPr id="36888" name="Line 17"/>
            <p:cNvSpPr>
              <a:spLocks noChangeShapeType="1"/>
            </p:cNvSpPr>
            <p:nvPr/>
          </p:nvSpPr>
          <p:spPr bwMode="auto">
            <a:xfrm flipV="1">
              <a:off x="7376417" y="4145176"/>
              <a:ext cx="0" cy="1109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Text Box 16"/>
            <p:cNvSpPr txBox="1">
              <a:spLocks noChangeArrowheads="1"/>
            </p:cNvSpPr>
            <p:nvPr/>
          </p:nvSpPr>
          <p:spPr bwMode="auto">
            <a:xfrm>
              <a:off x="7144045" y="5279311"/>
              <a:ext cx="55098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 i="1"/>
                <a:t>Q*'</a:t>
              </a:r>
            </a:p>
          </p:txBody>
        </p:sp>
        <p:sp>
          <p:nvSpPr>
            <p:cNvPr id="37" name="AutoShape 21"/>
            <p:cNvSpPr>
              <a:spLocks noChangeArrowheads="1"/>
            </p:cNvSpPr>
            <p:nvPr/>
          </p:nvSpPr>
          <p:spPr bwMode="auto">
            <a:xfrm flipV="1">
              <a:off x="7090690" y="4966468"/>
              <a:ext cx="323556" cy="205180"/>
            </a:xfrm>
            <a:prstGeom prst="rightArrow">
              <a:avLst>
                <a:gd name="adj1" fmla="val 50000"/>
                <a:gd name="adj2" fmla="val 8916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8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Demand for U.S. Dollars in Foreign Exchange Market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00200"/>
            <a:ext cx="8229600" cy="5133975"/>
          </a:xfrm>
        </p:spPr>
        <p:txBody>
          <a:bodyPr/>
          <a:lstStyle/>
          <a:p>
            <a:pPr eaLnBrk="1" hangingPunct="1"/>
            <a:r>
              <a:rPr lang="en-US" dirty="0"/>
              <a:t>Demand for US dollars by holders of yen is determined by </a:t>
            </a:r>
          </a:p>
          <a:p>
            <a:pPr lvl="1" eaLnBrk="1" hangingPunct="1"/>
            <a:r>
              <a:rPr lang="en-US" dirty="0"/>
              <a:t>The preference for US goods</a:t>
            </a:r>
          </a:p>
          <a:p>
            <a:pPr lvl="2" eaLnBrk="1" hangingPunct="1"/>
            <a:r>
              <a:rPr lang="en-US" dirty="0"/>
              <a:t>The stronger the preference, the greater the demand for US dollars</a:t>
            </a:r>
          </a:p>
          <a:p>
            <a:pPr lvl="1" eaLnBrk="1" hangingPunct="1"/>
            <a:r>
              <a:rPr lang="en-US" dirty="0"/>
              <a:t>Real GDP in Japan</a:t>
            </a:r>
          </a:p>
          <a:p>
            <a:pPr lvl="2" eaLnBrk="1" hangingPunct="1"/>
            <a:r>
              <a:rPr lang="en-US" dirty="0"/>
              <a:t>The higher GDP, the greater the demand for dollars</a:t>
            </a:r>
          </a:p>
          <a:p>
            <a:pPr lvl="1" eaLnBrk="1" hangingPunct="1"/>
            <a:r>
              <a:rPr lang="en-US" dirty="0"/>
              <a:t>Real interest rate on Japanese assets and real interest rate on U.S. assets</a:t>
            </a:r>
          </a:p>
          <a:p>
            <a:pPr lvl="2" eaLnBrk="1" hangingPunct="1"/>
            <a:r>
              <a:rPr lang="en-US" dirty="0"/>
              <a:t>Demand for US dollars will be greater if </a:t>
            </a:r>
          </a:p>
          <a:p>
            <a:pPr lvl="3" eaLnBrk="1" hangingPunct="1"/>
            <a:r>
              <a:rPr lang="en-US" dirty="0"/>
              <a:t>Real interest rate on Japanese assets is lower</a:t>
            </a:r>
          </a:p>
          <a:p>
            <a:pPr lvl="3" eaLnBrk="1" hangingPunct="1"/>
            <a:r>
              <a:rPr lang="en-US" dirty="0"/>
              <a:t>Real interest rate on U.S. assets is higher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Strong Currency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943475"/>
          </a:xfrm>
        </p:spPr>
        <p:txBody>
          <a:bodyPr/>
          <a:lstStyle/>
          <a:p>
            <a:pPr eaLnBrk="1" hangingPunct="1"/>
            <a:r>
              <a:rPr lang="en-US" dirty="0"/>
              <a:t>A strong currency is unrelated to a strong economy</a:t>
            </a:r>
          </a:p>
          <a:p>
            <a:pPr lvl="1" eaLnBrk="1" hangingPunct="1"/>
            <a:r>
              <a:rPr lang="en-US" dirty="0"/>
              <a:t>Currency may be strong when recession occurs and may be weak during expansion</a:t>
            </a:r>
          </a:p>
          <a:p>
            <a:pPr lvl="1" eaLnBrk="1" hangingPunct="1"/>
            <a:r>
              <a:rPr lang="en-US" dirty="0"/>
              <a:t>A strong currency means its value is high in terms of other countries currencies</a:t>
            </a:r>
          </a:p>
          <a:p>
            <a:pPr eaLnBrk="1" hangingPunct="1"/>
            <a:r>
              <a:rPr lang="en-US" dirty="0"/>
              <a:t>Strong currencies reduce net exports</a:t>
            </a:r>
          </a:p>
          <a:p>
            <a:pPr lvl="1" eaLnBrk="1" hangingPunct="1"/>
            <a:r>
              <a:rPr lang="en-US" dirty="0"/>
              <a:t>Japanese goods are cheaper, so NX goes down</a:t>
            </a:r>
          </a:p>
          <a:p>
            <a:pPr lvl="1" eaLnBrk="1" hangingPunct="1"/>
            <a:r>
              <a:rPr lang="en-US" dirty="0"/>
              <a:t>Lower sales and profits for U.S. industries</a:t>
            </a:r>
          </a:p>
          <a:p>
            <a:pPr eaLnBrk="1" hangingPunct="1"/>
            <a:r>
              <a:rPr lang="en-US" dirty="0"/>
              <a:t>Strong currency tends to attract inflow of foreign funds for investment in assets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5209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Monetary Policy and the Exchange Rate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710562"/>
            <a:ext cx="8229600" cy="5023613"/>
          </a:xfrm>
        </p:spPr>
        <p:txBody>
          <a:bodyPr/>
          <a:lstStyle/>
          <a:p>
            <a:pPr eaLnBrk="1" hangingPunct="1"/>
            <a:r>
              <a:rPr lang="en-US" dirty="0"/>
              <a:t>Monetary policy affects interest rates which affect the exchange rate</a:t>
            </a:r>
          </a:p>
          <a:p>
            <a:pPr lvl="1" eaLnBrk="1" hangingPunct="1"/>
            <a:r>
              <a:rPr lang="en-US" dirty="0"/>
              <a:t>Tighter U.S. monetary policy (reduce money supply) leads to a higher real interest rate in the United States</a:t>
            </a:r>
          </a:p>
          <a:p>
            <a:pPr lvl="1" eaLnBrk="1" hangingPunct="1"/>
            <a:r>
              <a:rPr lang="en-US" dirty="0"/>
              <a:t>Higher interest rates make U.S. assets more attractive than foreign assets</a:t>
            </a:r>
          </a:p>
          <a:p>
            <a:pPr lvl="2" eaLnBrk="1" hangingPunct="1"/>
            <a:r>
              <a:rPr lang="en-US" dirty="0"/>
              <a:t>Demand for the US dollar increases by foreigners</a:t>
            </a:r>
          </a:p>
          <a:p>
            <a:pPr lvl="3" eaLnBrk="1" hangingPunct="1"/>
            <a:r>
              <a:rPr lang="en-US" dirty="0"/>
              <a:t>Demand curve shifts to the right</a:t>
            </a:r>
          </a:p>
          <a:p>
            <a:pPr lvl="2" eaLnBrk="1" hangingPunct="1"/>
            <a:r>
              <a:rPr lang="en-US" dirty="0"/>
              <a:t>Supply of US dollars by U.S. decreases</a:t>
            </a:r>
          </a:p>
          <a:p>
            <a:pPr lvl="3" eaLnBrk="1" hangingPunct="1"/>
            <a:r>
              <a:rPr lang="en-US" dirty="0"/>
              <a:t>Supply curve shifts to the left</a:t>
            </a:r>
          </a:p>
          <a:p>
            <a:pPr lvl="1" eaLnBrk="1" hangingPunct="1"/>
            <a:r>
              <a:rPr lang="en-US" dirty="0"/>
              <a:t>US dollar appreciates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Tighter Monetary Policy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half" idx="4294967295"/>
          </p:nvPr>
        </p:nvSpPr>
        <p:spPr>
          <a:xfrm>
            <a:off x="685800" y="1719263"/>
            <a:ext cx="3954463" cy="44069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sz="2600" dirty="0"/>
              <a:t>Higher real interest rates in U.S. increase demand for US dollars and decrease supply</a:t>
            </a:r>
          </a:p>
          <a:p>
            <a:pPr eaLnBrk="1" hangingPunct="1">
              <a:buClr>
                <a:schemeClr val="tx1"/>
              </a:buClr>
            </a:pPr>
            <a:r>
              <a:rPr lang="en-US" sz="2600" dirty="0"/>
              <a:t>US dollar appreciates</a:t>
            </a:r>
          </a:p>
          <a:p>
            <a:pPr eaLnBrk="1" hangingPunct="1">
              <a:buClr>
                <a:schemeClr val="tx1"/>
              </a:buClr>
            </a:pPr>
            <a:r>
              <a:rPr lang="en-US" sz="2600" dirty="0"/>
              <a:t>Change in quantity of US dollars traded depends on </a:t>
            </a:r>
          </a:p>
          <a:p>
            <a:pPr marL="463550" lvl="1" indent="-238125" eaLnBrk="1" hangingPunct="1">
              <a:buClr>
                <a:schemeClr val="tx1"/>
              </a:buClr>
            </a:pPr>
            <a:r>
              <a:rPr lang="en-US" sz="2400" dirty="0"/>
              <a:t>Size of the two shifts</a:t>
            </a:r>
          </a:p>
          <a:p>
            <a:pPr marL="463550" lvl="1" indent="-238125" eaLnBrk="1" hangingPunct="1">
              <a:buClr>
                <a:schemeClr val="tx1"/>
              </a:buClr>
            </a:pPr>
            <a:r>
              <a:rPr lang="en-US" sz="2400" dirty="0"/>
              <a:t>Slopes of the curves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 bwMode="auto">
          <a:xfrm>
            <a:off x="4608909" y="1662759"/>
            <a:ext cx="4059936" cy="463600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664075" y="1738313"/>
            <a:ext cx="3949700" cy="448468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063" name="Text Box 5"/>
          <p:cNvSpPr txBox="1">
            <a:spLocks noChangeArrowheads="1"/>
          </p:cNvSpPr>
          <p:nvPr/>
        </p:nvSpPr>
        <p:spPr bwMode="auto">
          <a:xfrm>
            <a:off x="5825448" y="5734050"/>
            <a:ext cx="27629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Quantity of US dollars</a:t>
            </a:r>
          </a:p>
        </p:txBody>
      </p:sp>
      <p:sp>
        <p:nvSpPr>
          <p:cNvPr id="45064" name="Text Box 6"/>
          <p:cNvSpPr txBox="1">
            <a:spLocks noChangeArrowheads="1"/>
          </p:cNvSpPr>
          <p:nvPr/>
        </p:nvSpPr>
        <p:spPr bwMode="auto">
          <a:xfrm rot="-5400000">
            <a:off x="3030168" y="3380487"/>
            <a:ext cx="36473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Yen / US dollar exchange rate</a:t>
            </a:r>
          </a:p>
        </p:txBody>
      </p:sp>
      <p:sp>
        <p:nvSpPr>
          <p:cNvPr id="45065" name="Line 7"/>
          <p:cNvSpPr>
            <a:spLocks noChangeShapeType="1"/>
          </p:cNvSpPr>
          <p:nvPr/>
        </p:nvSpPr>
        <p:spPr bwMode="auto">
          <a:xfrm>
            <a:off x="5329238" y="5700713"/>
            <a:ext cx="3005137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6" name="Line 8"/>
          <p:cNvSpPr>
            <a:spLocks noChangeShapeType="1"/>
          </p:cNvSpPr>
          <p:nvPr/>
        </p:nvSpPr>
        <p:spPr bwMode="auto">
          <a:xfrm>
            <a:off x="5335588" y="1857375"/>
            <a:ext cx="0" cy="3843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897048" y="2655888"/>
            <a:ext cx="2325685" cy="703897"/>
            <a:chOff x="4897587" y="2655867"/>
            <a:chExt cx="2325332" cy="704248"/>
          </a:xfrm>
        </p:grpSpPr>
        <p:sp>
          <p:nvSpPr>
            <p:cNvPr id="45086" name="Line 3"/>
            <p:cNvSpPr>
              <a:spLocks noChangeShapeType="1"/>
            </p:cNvSpPr>
            <p:nvPr/>
          </p:nvSpPr>
          <p:spPr bwMode="auto">
            <a:xfrm>
              <a:off x="5334268" y="3088837"/>
              <a:ext cx="15380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87" name="Text Box 17"/>
            <p:cNvSpPr txBox="1">
              <a:spLocks noChangeArrowheads="1"/>
            </p:cNvSpPr>
            <p:nvPr/>
          </p:nvSpPr>
          <p:spPr bwMode="auto">
            <a:xfrm>
              <a:off x="4897587" y="2959805"/>
              <a:ext cx="486539" cy="400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dirty="0"/>
                <a:t>e*'</a:t>
              </a:r>
            </a:p>
          </p:txBody>
        </p:sp>
        <p:sp>
          <p:nvSpPr>
            <p:cNvPr id="45088" name="Text Box 20"/>
            <p:cNvSpPr txBox="1">
              <a:spLocks noChangeArrowheads="1"/>
            </p:cNvSpPr>
            <p:nvPr/>
          </p:nvSpPr>
          <p:spPr bwMode="auto">
            <a:xfrm>
              <a:off x="6814670" y="2655867"/>
              <a:ext cx="408249" cy="400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F</a:t>
              </a:r>
            </a:p>
          </p:txBody>
        </p:sp>
      </p:grpSp>
      <p:sp>
        <p:nvSpPr>
          <p:cNvPr id="45068" name="Text Box 14"/>
          <p:cNvSpPr txBox="1">
            <a:spLocks noChangeArrowheads="1"/>
          </p:cNvSpPr>
          <p:nvPr/>
        </p:nvSpPr>
        <p:spPr bwMode="auto">
          <a:xfrm>
            <a:off x="7718425" y="2538413"/>
            <a:ext cx="4635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S</a:t>
            </a:r>
          </a:p>
        </p:txBody>
      </p:sp>
      <p:sp>
        <p:nvSpPr>
          <p:cNvPr id="45069" name="Line 10"/>
          <p:cNvSpPr>
            <a:spLocks noChangeShapeType="1"/>
          </p:cNvSpPr>
          <p:nvPr/>
        </p:nvSpPr>
        <p:spPr bwMode="auto">
          <a:xfrm>
            <a:off x="5334000" y="3863975"/>
            <a:ext cx="1419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0" name="Text Box 13"/>
          <p:cNvSpPr txBox="1">
            <a:spLocks noChangeArrowheads="1"/>
          </p:cNvSpPr>
          <p:nvPr/>
        </p:nvSpPr>
        <p:spPr bwMode="auto">
          <a:xfrm>
            <a:off x="7942263" y="4984750"/>
            <a:ext cx="4003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D</a:t>
            </a:r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4989513" y="3713163"/>
            <a:ext cx="4249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e*</a:t>
            </a:r>
          </a:p>
        </p:txBody>
      </p:sp>
      <p:sp>
        <p:nvSpPr>
          <p:cNvPr id="45072" name="Text Box 19"/>
          <p:cNvSpPr txBox="1">
            <a:spLocks noChangeArrowheads="1"/>
          </p:cNvSpPr>
          <p:nvPr/>
        </p:nvSpPr>
        <p:spPr bwMode="auto">
          <a:xfrm>
            <a:off x="6681788" y="3419475"/>
            <a:ext cx="290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E</a:t>
            </a:r>
          </a:p>
        </p:txBody>
      </p:sp>
      <p:sp>
        <p:nvSpPr>
          <p:cNvPr id="191516" name="Line 28"/>
          <p:cNvSpPr>
            <a:spLocks noChangeShapeType="1"/>
          </p:cNvSpPr>
          <p:nvPr/>
        </p:nvSpPr>
        <p:spPr bwMode="auto">
          <a:xfrm flipH="1">
            <a:off x="5529263" y="2911475"/>
            <a:ext cx="2289175" cy="2185988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1519" name="Line 31"/>
          <p:cNvSpPr>
            <a:spLocks noChangeShapeType="1"/>
          </p:cNvSpPr>
          <p:nvPr/>
        </p:nvSpPr>
        <p:spPr bwMode="auto">
          <a:xfrm>
            <a:off x="6029325" y="2989263"/>
            <a:ext cx="1963738" cy="2217737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5529263" y="2273300"/>
            <a:ext cx="3255141" cy="2586038"/>
            <a:chOff x="3266703" y="2130906"/>
            <a:chExt cx="4176981" cy="2039692"/>
          </a:xfrm>
        </p:grpSpPr>
        <p:sp>
          <p:nvSpPr>
            <p:cNvPr id="191517" name="Line 29"/>
            <p:cNvSpPr>
              <a:spLocks noChangeShapeType="1"/>
            </p:cNvSpPr>
            <p:nvPr/>
          </p:nvSpPr>
          <p:spPr bwMode="auto">
            <a:xfrm flipH="1">
              <a:off x="3266703" y="2427657"/>
              <a:ext cx="2358930" cy="1384837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5077" name="Text Box 30"/>
            <p:cNvSpPr txBox="1">
              <a:spLocks noChangeArrowheads="1"/>
            </p:cNvSpPr>
            <p:nvPr/>
          </p:nvSpPr>
          <p:spPr bwMode="auto">
            <a:xfrm>
              <a:off x="5487523" y="2130906"/>
              <a:ext cx="596578" cy="315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S'</a:t>
              </a:r>
            </a:p>
          </p:txBody>
        </p:sp>
        <p:sp>
          <p:nvSpPr>
            <p:cNvPr id="45078" name="Text Box 23"/>
            <p:cNvSpPr txBox="1">
              <a:spLocks noChangeArrowheads="1"/>
            </p:cNvSpPr>
            <p:nvPr/>
          </p:nvSpPr>
          <p:spPr bwMode="auto">
            <a:xfrm>
              <a:off x="6731557" y="3816597"/>
              <a:ext cx="712127" cy="315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D'</a:t>
              </a:r>
            </a:p>
          </p:txBody>
        </p:sp>
        <p:sp>
          <p:nvSpPr>
            <p:cNvPr id="191520" name="Line 32"/>
            <p:cNvSpPr>
              <a:spLocks noChangeShapeType="1"/>
            </p:cNvSpPr>
            <p:nvPr/>
          </p:nvSpPr>
          <p:spPr bwMode="auto">
            <a:xfrm>
              <a:off x="4344314" y="2287420"/>
              <a:ext cx="2519859" cy="1750454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" name="Right Arrow 23"/>
            <p:cNvSpPr/>
            <p:nvPr/>
          </p:nvSpPr>
          <p:spPr bwMode="auto">
            <a:xfrm>
              <a:off x="5936460" y="3837017"/>
              <a:ext cx="740675" cy="333581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Right Arrow 24"/>
            <p:cNvSpPr/>
            <p:nvPr/>
          </p:nvSpPr>
          <p:spPr bwMode="auto">
            <a:xfrm flipH="1">
              <a:off x="3608616" y="3579419"/>
              <a:ext cx="526856" cy="333581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156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Monetary Policy and the Exchange Rate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3466" y="1600200"/>
            <a:ext cx="8442434" cy="5038725"/>
          </a:xfrm>
        </p:spPr>
        <p:txBody>
          <a:bodyPr/>
          <a:lstStyle/>
          <a:p>
            <a:pPr eaLnBrk="1" hangingPunct="1"/>
            <a:r>
              <a:rPr lang="en-US" sz="2600" dirty="0"/>
              <a:t>Flexible exchange rates make monetary policy more effective</a:t>
            </a:r>
          </a:p>
          <a:p>
            <a:pPr lvl="1" eaLnBrk="1" hangingPunct="1"/>
            <a:r>
              <a:rPr lang="en-US" dirty="0"/>
              <a:t>When the central bank tightens monetary policy to control inflation, it sets off a chain of domestic events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And a chain of international events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sz="800" dirty="0"/>
          </a:p>
          <a:p>
            <a:pPr eaLnBrk="1" hangingPunct="1"/>
            <a:r>
              <a:rPr lang="en-US" sz="2600" dirty="0"/>
              <a:t>Monetary policy is more effective in an open economy with flexible exchange rates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8499843"/>
              </p:ext>
            </p:extLst>
          </p:nvPr>
        </p:nvGraphicFramePr>
        <p:xfrm>
          <a:off x="907894" y="3413616"/>
          <a:ext cx="7924800" cy="765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625606"/>
              </p:ext>
            </p:extLst>
          </p:nvPr>
        </p:nvGraphicFramePr>
        <p:xfrm>
          <a:off x="907894" y="4775841"/>
          <a:ext cx="7924800" cy="765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Fixed Exchange Rates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47700" y="1474072"/>
            <a:ext cx="8420100" cy="5088653"/>
          </a:xfrm>
        </p:spPr>
        <p:txBody>
          <a:bodyPr/>
          <a:lstStyle/>
          <a:p>
            <a:pPr eaLnBrk="1" hangingPunct="1"/>
            <a:r>
              <a:rPr lang="en-US" dirty="0"/>
              <a:t>Most large industrialized countries use a flexible exchange rate</a:t>
            </a:r>
          </a:p>
          <a:p>
            <a:pPr eaLnBrk="1" hangingPunct="1"/>
            <a:r>
              <a:rPr lang="en-US" dirty="0"/>
              <a:t>Small and developing countries may use a fixed exchange rate</a:t>
            </a:r>
          </a:p>
          <a:p>
            <a:pPr eaLnBrk="1" hangingPunct="1"/>
            <a:r>
              <a:rPr lang="en-US" dirty="0"/>
              <a:t>Fixed rates can be beneficial for small economies as its create stability in trade and investment due to exchange rate being fixed.</a:t>
            </a:r>
          </a:p>
          <a:p>
            <a:pPr eaLnBrk="1" hangingPunct="1"/>
            <a:r>
              <a:rPr lang="en-US" dirty="0"/>
              <a:t>But fixed exchange rates greatly reduce the effectiveness of monetary policy as a stabilization tool.  This reduce the ability of the government to solve economic problems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Fixed Exchange Rates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47700" y="1600200"/>
            <a:ext cx="8458200" cy="5029200"/>
          </a:xfrm>
        </p:spPr>
        <p:txBody>
          <a:bodyPr/>
          <a:lstStyle/>
          <a:p>
            <a:pPr eaLnBrk="1" hangingPunct="1"/>
            <a:r>
              <a:rPr lang="en-US" dirty="0"/>
              <a:t>To establish a fixed exchange rate system, the government states the value of its currency in terms of a major currency </a:t>
            </a:r>
          </a:p>
          <a:p>
            <a:pPr lvl="1" eaLnBrk="1" hangingPunct="1"/>
            <a:r>
              <a:rPr lang="en-US" dirty="0"/>
              <a:t>May use an average of the currencies of its major trading partners</a:t>
            </a:r>
          </a:p>
          <a:p>
            <a:pPr eaLnBrk="1" hangingPunct="1"/>
            <a:r>
              <a:rPr lang="en-US" dirty="0"/>
              <a:t>Government attempts to maintain the fixed exchange rate at its existing level</a:t>
            </a:r>
          </a:p>
          <a:p>
            <a:pPr eaLnBrk="1" hangingPunct="1"/>
            <a:r>
              <a:rPr lang="en-US" dirty="0"/>
              <a:t>Central bank will intervene in the foreign exchange market by buying or selling its currency </a:t>
            </a:r>
          </a:p>
          <a:p>
            <a:pPr eaLnBrk="1" hangingPunct="1"/>
            <a:r>
              <a:rPr lang="en-US" dirty="0"/>
              <a:t>The government may change the value of its currency in response to market events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 idx="4294967295"/>
          </p:nvPr>
        </p:nvSpPr>
        <p:spPr>
          <a:xfrm>
            <a:off x="466725" y="304800"/>
            <a:ext cx="8677275" cy="1143000"/>
          </a:xfrm>
        </p:spPr>
        <p:txBody>
          <a:bodyPr/>
          <a:lstStyle/>
          <a:p>
            <a:pPr eaLnBrk="1" hangingPunct="1"/>
            <a:r>
              <a:rPr lang="en-US" sz="4000" dirty="0"/>
              <a:t>Exchange Rate and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447800"/>
            <a:ext cx="8229600" cy="5248275"/>
          </a:xfrm>
        </p:spPr>
        <p:txBody>
          <a:bodyPr/>
          <a:lstStyle/>
          <a:p>
            <a:pPr eaLnBrk="1" hangingPunct="1"/>
            <a:r>
              <a:rPr lang="en-US" sz="2600" dirty="0"/>
              <a:t>Fixed rates require the central bank to choose between defending the currency and stabilizing the economy</a:t>
            </a:r>
          </a:p>
          <a:p>
            <a:pPr eaLnBrk="1" hangingPunct="1"/>
            <a:r>
              <a:rPr lang="en-US" sz="2600" dirty="0"/>
              <a:t>To control inflation, central bank reduces money supply to increase interest rate and reduce aggregate demand which reduces price level</a:t>
            </a:r>
          </a:p>
          <a:p>
            <a:pPr eaLnBrk="1" hangingPunct="1"/>
            <a:r>
              <a:rPr lang="en-US" sz="2600" dirty="0"/>
              <a:t>But higher interest rate leads to appreciation of domestic currency.</a:t>
            </a:r>
          </a:p>
          <a:p>
            <a:pPr eaLnBrk="1" hangingPunct="1"/>
            <a:r>
              <a:rPr lang="en-US" sz="2600" dirty="0"/>
              <a:t>To maintain the fixed exchange rate, central bank has to increase money supply to reduce interest rate</a:t>
            </a:r>
          </a:p>
          <a:p>
            <a:pPr eaLnBrk="1" hangingPunct="1"/>
            <a:r>
              <a:rPr lang="en-US" sz="2600" dirty="0"/>
              <a:t>Monetary policy is ineffective under a fixed exchange rate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 idx="4294967295"/>
          </p:nvPr>
        </p:nvSpPr>
        <p:spPr>
          <a:xfrm>
            <a:off x="748864" y="50975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Fixed Exchange Rate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8864" y="1931286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Fixed exchange rates have benefits</a:t>
            </a:r>
          </a:p>
          <a:p>
            <a:pPr lvl="1" eaLnBrk="1" hangingPunct="1"/>
            <a:r>
              <a:rPr lang="en-US" dirty="0"/>
              <a:t>Predictability and stability in foreign transactions</a:t>
            </a:r>
          </a:p>
          <a:p>
            <a:pPr lvl="1" eaLnBrk="1" hangingPunct="1"/>
            <a:r>
              <a:rPr lang="en-US" dirty="0"/>
              <a:t>Certainty of future value of the currencies</a:t>
            </a:r>
          </a:p>
          <a:p>
            <a:pPr eaLnBrk="1" hangingPunct="1"/>
            <a:r>
              <a:rPr lang="en-US" dirty="0"/>
              <a:t>However, fixed rates are not fixed forever</a:t>
            </a:r>
          </a:p>
          <a:p>
            <a:pPr lvl="1" eaLnBrk="1" hangingPunct="1"/>
            <a:r>
              <a:rPr lang="en-US" dirty="0"/>
              <a:t>Sudden and unforeseen large changes are possible</a:t>
            </a:r>
          </a:p>
          <a:p>
            <a:pPr lvl="1" eaLnBrk="1" hangingPunct="1"/>
            <a:r>
              <a:rPr lang="en-US" dirty="0"/>
              <a:t>Government may need to adjust reduce the fixed rate (devaluation), increase the fixed rate (revaluation) or abandon the fixed rate to respond to economic situations</a:t>
            </a:r>
          </a:p>
          <a:p>
            <a:pPr lvl="1" eaLnBrk="1" hangingPunct="1"/>
            <a:r>
              <a:rPr lang="en-US" dirty="0"/>
              <a:t>Reduce the benefit of fixed exchange rate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 idx="4294967295"/>
          </p:nvPr>
        </p:nvSpPr>
        <p:spPr>
          <a:xfrm>
            <a:off x="717332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Real Exchange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0075" y="1568668"/>
            <a:ext cx="8346857" cy="4525963"/>
          </a:xfrm>
        </p:spPr>
        <p:txBody>
          <a:bodyPr/>
          <a:lstStyle/>
          <a:p>
            <a:pPr eaLnBrk="1" hangingPunct="1"/>
            <a:r>
              <a:rPr lang="en-US" sz="2500" dirty="0"/>
              <a:t>The competitiveness of a country’s product is determined by the real exchange rate, not the nominal exchange rate.</a:t>
            </a:r>
            <a:endParaRPr lang="en-US" dirty="0"/>
          </a:p>
          <a:p>
            <a:pPr eaLnBrk="1" hangingPunct="1"/>
            <a:r>
              <a:rPr lang="en-US" sz="2500" dirty="0"/>
              <a:t>The </a:t>
            </a:r>
            <a:r>
              <a:rPr lang="en-US" sz="2500" b="1" dirty="0"/>
              <a:t>real exchange rate</a:t>
            </a:r>
            <a:r>
              <a:rPr lang="en-US" sz="2500" dirty="0"/>
              <a:t> is the price of the average domestic good relative to the price of the average comparable foreign good when prices are expressed in a common currency </a:t>
            </a:r>
          </a:p>
          <a:p>
            <a:pPr eaLnBrk="1" hangingPunct="1"/>
            <a:r>
              <a:rPr lang="en-US" sz="2500" dirty="0"/>
              <a:t>The nominal exchange rate, e, is the number of units of foreign currency per US dollar</a:t>
            </a:r>
          </a:p>
          <a:p>
            <a:pPr lvl="1" eaLnBrk="1" hangingPunct="1"/>
            <a:r>
              <a:rPr lang="en-US" dirty="0"/>
              <a:t>To convert a foreign price P</a:t>
            </a:r>
            <a:r>
              <a:rPr lang="en-US" baseline="30000" dirty="0"/>
              <a:t>f</a:t>
            </a:r>
            <a:r>
              <a:rPr lang="en-US" dirty="0"/>
              <a:t> to the domestic price P, divide P</a:t>
            </a:r>
            <a:r>
              <a:rPr lang="en-US" baseline="30000" dirty="0"/>
              <a:t>f</a:t>
            </a:r>
            <a:r>
              <a:rPr lang="en-US" dirty="0"/>
              <a:t> by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70156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Real Exchange Rate – An Example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460500"/>
            <a:ext cx="8229600" cy="5207000"/>
          </a:xfrm>
        </p:spPr>
        <p:txBody>
          <a:bodyPr/>
          <a:lstStyle/>
          <a:p>
            <a:pPr eaLnBrk="1" hangingPunct="1"/>
            <a:r>
              <a:rPr lang="en-US" sz="2500" dirty="0"/>
              <a:t>Choose between a U.S. computer and a comparable Japanese computer, based on price</a:t>
            </a:r>
          </a:p>
          <a:p>
            <a:pPr lvl="1" eaLnBrk="1" hangingPunct="1"/>
            <a:r>
              <a:rPr lang="en-US" dirty="0"/>
              <a:t>US computer costs US$2,400</a:t>
            </a:r>
          </a:p>
          <a:p>
            <a:pPr lvl="1" eaLnBrk="1" hangingPunct="1"/>
            <a:r>
              <a:rPr lang="en-US" dirty="0"/>
              <a:t>Japanese computer costs ¥242,000</a:t>
            </a:r>
          </a:p>
          <a:p>
            <a:pPr lvl="1" eaLnBrk="1" hangingPunct="1"/>
            <a:r>
              <a:rPr lang="en-US" dirty="0"/>
              <a:t>US$1 = ¥110</a:t>
            </a:r>
          </a:p>
          <a:p>
            <a:pPr eaLnBrk="1" hangingPunct="1"/>
            <a:r>
              <a:rPr lang="en-US" sz="2500" dirty="0"/>
              <a:t>The Japanese computer cost  is ¥242,000/(¥110/US$1) or US$2,200</a:t>
            </a:r>
          </a:p>
          <a:p>
            <a:pPr lvl="1" eaLnBrk="1" hangingPunct="1"/>
            <a:r>
              <a:rPr lang="en-US" dirty="0"/>
              <a:t>The Japanese computer is cheaper</a:t>
            </a:r>
          </a:p>
          <a:p>
            <a:pPr eaLnBrk="1" hangingPunct="1"/>
            <a:r>
              <a:rPr lang="en-US" sz="2500" dirty="0"/>
              <a:t>The relative price of the U.S. computer to the Japanese computer is US$2,400 / US$2,200 = 1.09</a:t>
            </a:r>
          </a:p>
          <a:p>
            <a:pPr lvl="1" eaLnBrk="1" hangingPunct="1"/>
            <a:r>
              <a:rPr lang="en-US" dirty="0"/>
              <a:t>U.S. computer costs 9% more than the Japanese one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Real Exchange Rates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19238" y="1617663"/>
            <a:ext cx="7371374" cy="830997"/>
            <a:chOff x="1519310" y="1617811"/>
            <a:chExt cx="7371074" cy="830145"/>
          </a:xfrm>
        </p:grpSpPr>
        <p:sp>
          <p:nvSpPr>
            <p:cNvPr id="67603" name="TextBox 13"/>
            <p:cNvSpPr txBox="1">
              <a:spLocks noChangeArrowheads="1"/>
            </p:cNvSpPr>
            <p:nvPr/>
          </p:nvSpPr>
          <p:spPr bwMode="auto">
            <a:xfrm>
              <a:off x="4287742" y="1617811"/>
              <a:ext cx="4602642" cy="830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Price of domestic good</a:t>
              </a:r>
            </a:p>
            <a:p>
              <a:pPr algn="ctr"/>
              <a:r>
                <a:rPr lang="en-US" sz="2400" dirty="0"/>
                <a:t>Price of foreign good in US$</a:t>
              </a:r>
            </a:p>
          </p:txBody>
        </p:sp>
        <p:sp>
          <p:nvSpPr>
            <p:cNvPr id="67604" name="TextBox 14"/>
            <p:cNvSpPr txBox="1">
              <a:spLocks noChangeArrowheads="1"/>
            </p:cNvSpPr>
            <p:nvPr/>
          </p:nvSpPr>
          <p:spPr bwMode="auto">
            <a:xfrm>
              <a:off x="1519310" y="1802477"/>
              <a:ext cx="312136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lvl="1"/>
              <a:r>
                <a:rPr lang="en-US" sz="2400"/>
                <a:t>Real exchange rate =</a:t>
              </a: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>
              <a:off x="4571948" y="2031723"/>
              <a:ext cx="3976927" cy="31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519238" y="2668588"/>
            <a:ext cx="4095750" cy="830262"/>
            <a:chOff x="1531033" y="3205115"/>
            <a:chExt cx="4095129" cy="830997"/>
          </a:xfrm>
        </p:grpSpPr>
        <p:sp>
          <p:nvSpPr>
            <p:cNvPr id="67599" name="TextBox 17"/>
            <p:cNvSpPr txBox="1">
              <a:spLocks noChangeArrowheads="1"/>
            </p:cNvSpPr>
            <p:nvPr/>
          </p:nvSpPr>
          <p:spPr bwMode="auto">
            <a:xfrm>
              <a:off x="1531033" y="3389781"/>
              <a:ext cx="312136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lvl="1"/>
              <a:r>
                <a:rPr lang="en-US" sz="2400"/>
                <a:t>Real exchange rate =</a:t>
              </a:r>
            </a:p>
          </p:txBody>
        </p: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4639994" y="3205115"/>
              <a:ext cx="986168" cy="830997"/>
              <a:chOff x="4639994" y="3205115"/>
              <a:chExt cx="986168" cy="830997"/>
            </a:xfrm>
          </p:grpSpPr>
          <p:sp>
            <p:nvSpPr>
              <p:cNvPr id="67601" name="TextBox 9"/>
              <p:cNvSpPr txBox="1">
                <a:spLocks noChangeArrowheads="1"/>
              </p:cNvSpPr>
              <p:nvPr/>
            </p:nvSpPr>
            <p:spPr bwMode="auto">
              <a:xfrm>
                <a:off x="4639994" y="3205115"/>
                <a:ext cx="986168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/>
                  <a:t>P</a:t>
                </a:r>
              </a:p>
              <a:p>
                <a:pPr algn="ctr"/>
                <a:r>
                  <a:rPr lang="en-US" sz="2400"/>
                  <a:t>P</a:t>
                </a:r>
                <a:r>
                  <a:rPr lang="en-US" sz="2400" baseline="30000"/>
                  <a:t>f</a:t>
                </a:r>
                <a:r>
                  <a:rPr lang="en-US" sz="2400"/>
                  <a:t> /  e</a:t>
                </a:r>
              </a:p>
            </p:txBody>
          </p:sp>
          <p:cxnSp>
            <p:nvCxnSpPr>
              <p:cNvPr id="21" name="Straight Connector 20"/>
              <p:cNvCxnSpPr/>
              <p:nvPr/>
            </p:nvCxnSpPr>
            <p:spPr bwMode="auto">
              <a:xfrm rot="10800000" flipH="1">
                <a:off x="4640474" y="3619819"/>
                <a:ext cx="985688" cy="158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519238" y="3717925"/>
            <a:ext cx="4165600" cy="831850"/>
            <a:chOff x="1531033" y="3205115"/>
            <a:chExt cx="4165662" cy="830997"/>
          </a:xfrm>
        </p:grpSpPr>
        <p:sp>
          <p:nvSpPr>
            <p:cNvPr id="67595" name="TextBox 22"/>
            <p:cNvSpPr txBox="1">
              <a:spLocks noChangeArrowheads="1"/>
            </p:cNvSpPr>
            <p:nvPr/>
          </p:nvSpPr>
          <p:spPr bwMode="auto">
            <a:xfrm>
              <a:off x="1531033" y="3389781"/>
              <a:ext cx="312136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lvl="1"/>
              <a:r>
                <a:rPr lang="en-US" sz="2400"/>
                <a:t>Real exchange rate =</a:t>
              </a:r>
            </a:p>
          </p:txBody>
        </p: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639994" y="3205115"/>
              <a:ext cx="1056701" cy="830997"/>
              <a:chOff x="4639994" y="3205115"/>
              <a:chExt cx="1056701" cy="830997"/>
            </a:xfrm>
          </p:grpSpPr>
          <p:sp>
            <p:nvSpPr>
              <p:cNvPr id="67597" name="TextBox 9"/>
              <p:cNvSpPr txBox="1">
                <a:spLocks noChangeArrowheads="1"/>
              </p:cNvSpPr>
              <p:nvPr/>
            </p:nvSpPr>
            <p:spPr bwMode="auto">
              <a:xfrm>
                <a:off x="4639994" y="3205115"/>
                <a:ext cx="1056701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/>
                  <a:t>(P) (e)</a:t>
                </a:r>
              </a:p>
              <a:p>
                <a:pPr algn="ctr"/>
                <a:r>
                  <a:rPr lang="en-US" sz="2400"/>
                  <a:t>P</a:t>
                </a:r>
                <a:r>
                  <a:rPr lang="en-US" sz="2400" baseline="30000"/>
                  <a:t>f</a:t>
                </a:r>
                <a:endParaRPr lang="en-US" sz="2400"/>
              </a:p>
            </p:txBody>
          </p:sp>
          <p:cxnSp>
            <p:nvCxnSpPr>
              <p:cNvPr id="26" name="Straight Connector 25"/>
              <p:cNvCxnSpPr/>
              <p:nvPr/>
            </p:nvCxnSpPr>
            <p:spPr bwMode="auto">
              <a:xfrm rot="10800000" flipH="1">
                <a:off x="4639404" y="3619028"/>
                <a:ext cx="987440" cy="317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519238" y="4768850"/>
            <a:ext cx="7151037" cy="830997"/>
            <a:chOff x="1531033" y="3205116"/>
            <a:chExt cx="6801345" cy="831732"/>
          </a:xfrm>
        </p:grpSpPr>
        <p:sp>
          <p:nvSpPr>
            <p:cNvPr id="67591" name="TextBox 27"/>
            <p:cNvSpPr txBox="1">
              <a:spLocks noChangeArrowheads="1"/>
            </p:cNvSpPr>
            <p:nvPr/>
          </p:nvSpPr>
          <p:spPr bwMode="auto">
            <a:xfrm>
              <a:off x="1531033" y="3389781"/>
              <a:ext cx="312136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lvl="1"/>
              <a:r>
                <a:rPr lang="en-US" sz="2400"/>
                <a:t>Real exchange rate =</a:t>
              </a:r>
            </a:p>
          </p:txBody>
        </p:sp>
        <p:grpSp>
          <p:nvGrpSpPr>
            <p:cNvPr id="8" name="Group 13"/>
            <p:cNvGrpSpPr>
              <a:grpSpLocks/>
            </p:cNvGrpSpPr>
            <p:nvPr/>
          </p:nvGrpSpPr>
          <p:grpSpPr bwMode="auto">
            <a:xfrm>
              <a:off x="4425795" y="3205116"/>
              <a:ext cx="3906583" cy="831732"/>
              <a:chOff x="4425795" y="3205116"/>
              <a:chExt cx="3906583" cy="831732"/>
            </a:xfrm>
          </p:grpSpPr>
          <p:sp>
            <p:nvSpPr>
              <p:cNvPr id="67593" name="TextBox 9"/>
              <p:cNvSpPr txBox="1">
                <a:spLocks noChangeArrowheads="1"/>
              </p:cNvSpPr>
              <p:nvPr/>
            </p:nvSpPr>
            <p:spPr bwMode="auto">
              <a:xfrm>
                <a:off x="4425795" y="3205116"/>
                <a:ext cx="3906583" cy="831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(US$2,400) (¥110/ US$1)</a:t>
                </a:r>
              </a:p>
              <a:p>
                <a:pPr algn="ctr"/>
                <a:r>
                  <a:rPr lang="en-US" sz="2400" dirty="0"/>
                  <a:t>¥242,000</a:t>
                </a:r>
              </a:p>
            </p:txBody>
          </p:sp>
          <p:cxnSp>
            <p:nvCxnSpPr>
              <p:cNvPr id="31" name="Straight Connector 30"/>
              <p:cNvCxnSpPr>
                <a:endCxn id="67593" idx="3"/>
              </p:cNvCxnSpPr>
              <p:nvPr/>
            </p:nvCxnSpPr>
            <p:spPr bwMode="auto">
              <a:xfrm flipV="1">
                <a:off x="4639720" y="3620983"/>
                <a:ext cx="3692658" cy="42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531938" y="5818188"/>
            <a:ext cx="3805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1"/>
            <a:r>
              <a:rPr lang="en-US" sz="2400"/>
              <a:t>Real exchange rate = 1.09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24173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Real Exchange Rate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206936"/>
            <a:ext cx="8229600" cy="5522637"/>
          </a:xfrm>
        </p:spPr>
        <p:txBody>
          <a:bodyPr/>
          <a:lstStyle/>
          <a:p>
            <a:pPr eaLnBrk="1" hangingPunct="1"/>
            <a:r>
              <a:rPr lang="en-US" dirty="0"/>
              <a:t>In the general case, the real exchange rate uses an average price of all goods and services in both countries</a:t>
            </a:r>
          </a:p>
          <a:p>
            <a:pPr eaLnBrk="1" hangingPunct="1"/>
            <a:r>
              <a:rPr lang="en-US" dirty="0"/>
              <a:t>If the real exchange rate is high, domestic goods are expensive relative to foreign goods</a:t>
            </a:r>
          </a:p>
          <a:p>
            <a:pPr eaLnBrk="1" hangingPunct="1"/>
            <a:r>
              <a:rPr lang="en-US" dirty="0"/>
              <a:t>Net exports will tend to be low when the real exchange rate is high</a:t>
            </a:r>
          </a:p>
          <a:p>
            <a:pPr eaLnBrk="1" hangingPunct="1"/>
            <a:r>
              <a:rPr lang="en-US" dirty="0"/>
              <a:t>An increase in e increases the real exchange rate if P and P</a:t>
            </a:r>
            <a:r>
              <a:rPr lang="en-US" baseline="30000" dirty="0"/>
              <a:t>f</a:t>
            </a:r>
            <a:r>
              <a:rPr lang="en-US" dirty="0"/>
              <a:t> are constant</a:t>
            </a:r>
          </a:p>
          <a:p>
            <a:pPr eaLnBrk="1" hangingPunct="1"/>
            <a:r>
              <a:rPr lang="en-US" dirty="0"/>
              <a:t>An increase in P or a reduction in P</a:t>
            </a:r>
            <a:r>
              <a:rPr lang="en-US" baseline="30000" dirty="0"/>
              <a:t>f</a:t>
            </a:r>
            <a:r>
              <a:rPr lang="en-US" dirty="0"/>
              <a:t> also increases the real exchange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8363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Theory of Exchange Rate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7903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Purchasing power parity (PPP) theory states that nominal exchange rates are determined by price differential between economies</a:t>
            </a:r>
          </a:p>
          <a:p>
            <a:pPr eaLnBrk="1" hangingPunct="1"/>
            <a:r>
              <a:rPr lang="en-US" dirty="0"/>
              <a:t>In the long run, the currencies of countries that experience significant inflation will tend to depreciate</a:t>
            </a:r>
          </a:p>
          <a:p>
            <a:pPr eaLnBrk="1" hangingPunct="1"/>
            <a:r>
              <a:rPr lang="en-US" dirty="0"/>
              <a:t>The PPP Theory is based on the law of one price </a:t>
            </a:r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22597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Law of One Price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364380"/>
            <a:ext cx="8229600" cy="5322170"/>
          </a:xfrm>
        </p:spPr>
        <p:txBody>
          <a:bodyPr/>
          <a:lstStyle/>
          <a:p>
            <a:pPr eaLnBrk="1" hangingPunct="1"/>
            <a:r>
              <a:rPr lang="en-US" b="1" dirty="0"/>
              <a:t>The law of one price</a:t>
            </a:r>
            <a:r>
              <a:rPr lang="en-US" dirty="0"/>
              <a:t> states that if transportation costs are relatively small and there is no trade restrictions, the price of an internationally traded commodity must be the same in all locations</a:t>
            </a:r>
          </a:p>
          <a:p>
            <a:pPr eaLnBrk="1" hangingPunct="1"/>
            <a:r>
              <a:rPr lang="en-US" dirty="0"/>
              <a:t>Suppose wheat in Sydney was half the price of wheat in Bangkok</a:t>
            </a:r>
          </a:p>
          <a:p>
            <a:pPr lvl="1" eaLnBrk="1" hangingPunct="1"/>
            <a:r>
              <a:rPr lang="en-US" dirty="0"/>
              <a:t>Buy wheat in Sydney, increasing demand and price</a:t>
            </a:r>
          </a:p>
          <a:p>
            <a:pPr lvl="1" eaLnBrk="1" hangingPunct="1"/>
            <a:r>
              <a:rPr lang="en-US" dirty="0"/>
              <a:t>Sell wheat in Bangkok, increasing supply and decreasing the price</a:t>
            </a:r>
          </a:p>
          <a:p>
            <a:pPr lvl="1" eaLnBrk="1" hangingPunct="1"/>
            <a:r>
              <a:rPr lang="en-US" dirty="0"/>
              <a:t>Price adjusts until price of wheat is the same in both places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PPP – An Example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 bushel of grain costs </a:t>
            </a:r>
          </a:p>
          <a:p>
            <a:pPr lvl="1" eaLnBrk="1" hangingPunct="1"/>
            <a:r>
              <a:rPr lang="en-US" dirty="0"/>
              <a:t>A$ 5 in Sydney and </a:t>
            </a:r>
          </a:p>
          <a:p>
            <a:pPr lvl="1" eaLnBrk="1" hangingPunct="1"/>
            <a:r>
              <a:rPr lang="en-US" dirty="0">
                <a:latin typeface="Arial" pitchFamily="34" charset="0"/>
                <a:cs typeface="Arial" pitchFamily="34" charset="0"/>
              </a:rPr>
              <a:t>฿</a:t>
            </a:r>
            <a:r>
              <a:rPr lang="en-US" dirty="0"/>
              <a:t> 150 in Bangkok</a:t>
            </a:r>
          </a:p>
          <a:p>
            <a:pPr lvl="1" eaLnBrk="1" hangingPunct="1"/>
            <a:r>
              <a:rPr lang="en-US" dirty="0"/>
              <a:t>For the price of the bushel of grain to be the same in both countries, the implied nominal exchange rate is A$ 1 = </a:t>
            </a:r>
            <a:r>
              <a:rPr lang="en-US" dirty="0">
                <a:latin typeface="Arial" pitchFamily="34" charset="0"/>
                <a:cs typeface="Arial" pitchFamily="34" charset="0"/>
              </a:rPr>
              <a:t>฿</a:t>
            </a:r>
            <a:r>
              <a:rPr lang="en-US" dirty="0"/>
              <a:t> 30</a:t>
            </a:r>
          </a:p>
          <a:p>
            <a:pPr eaLnBrk="1" hangingPunct="1"/>
            <a:r>
              <a:rPr lang="en-US" dirty="0"/>
              <a:t>Suppose that Bangkok experiences inflation and the bushel of grain now costs </a:t>
            </a:r>
            <a:r>
              <a:rPr lang="en-US" dirty="0">
                <a:latin typeface="Arial" pitchFamily="34" charset="0"/>
                <a:cs typeface="Arial" pitchFamily="34" charset="0"/>
              </a:rPr>
              <a:t>฿</a:t>
            </a:r>
            <a:r>
              <a:rPr lang="en-US" dirty="0"/>
              <a:t> 300 in Bangkok</a:t>
            </a:r>
          </a:p>
          <a:p>
            <a:pPr lvl="1" eaLnBrk="1" hangingPunct="1"/>
            <a:r>
              <a:rPr lang="en-US" dirty="0"/>
              <a:t>The Australian dollar appreciates to A$ 1 = </a:t>
            </a:r>
            <a:r>
              <a:rPr lang="en-US" dirty="0">
                <a:latin typeface="Arial" pitchFamily="34" charset="0"/>
                <a:cs typeface="Arial" pitchFamily="34" charset="0"/>
              </a:rPr>
              <a:t>฿</a:t>
            </a:r>
            <a:r>
              <a:rPr lang="en-US" dirty="0"/>
              <a:t> 60</a:t>
            </a:r>
          </a:p>
          <a:p>
            <a:pPr lvl="1" eaLnBrk="1" hangingPunct="1"/>
            <a:r>
              <a:rPr lang="en-US" dirty="0"/>
              <a:t>Price of the wheat is the same in both countries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Inflation and Currency Depreciation</a:t>
            </a:r>
            <a:br>
              <a:rPr lang="en-US" sz="4000" dirty="0"/>
            </a:br>
            <a:r>
              <a:rPr lang="en-US" sz="4000" dirty="0"/>
              <a:t>in South America, 1995-2004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849438" y="1804988"/>
            <a:ext cx="6302375" cy="4572000"/>
            <a:chOff x="1399309" y="1579418"/>
            <a:chExt cx="6913418" cy="5015346"/>
          </a:xfrm>
        </p:grpSpPr>
        <p:sp>
          <p:nvSpPr>
            <p:cNvPr id="7" name="Rectangle 6"/>
            <p:cNvSpPr/>
            <p:nvPr/>
          </p:nvSpPr>
          <p:spPr bwMode="auto">
            <a:xfrm>
              <a:off x="1399309" y="1579418"/>
              <a:ext cx="6913418" cy="501534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475931" y="1656041"/>
              <a:ext cx="6760173" cy="4862099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77833" name="Picture 6" descr="fra25679_300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43490" y="1801091"/>
              <a:ext cx="6425057" cy="457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2" name="Straight Connector 11"/>
          <p:cNvCxnSpPr/>
          <p:nvPr/>
        </p:nvCxnSpPr>
        <p:spPr bwMode="auto">
          <a:xfrm flipV="1">
            <a:off x="2532063" y="2039938"/>
            <a:ext cx="3602037" cy="35734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828" name="TextBox 12"/>
          <p:cNvSpPr txBox="1">
            <a:spLocks noChangeArrowheads="1"/>
          </p:cNvSpPr>
          <p:nvPr/>
        </p:nvSpPr>
        <p:spPr bwMode="auto">
          <a:xfrm>
            <a:off x="5197475" y="2082800"/>
            <a:ext cx="50006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400"/>
              <a:t>45</a:t>
            </a:r>
            <a:r>
              <a:rPr lang="en-US" sz="1400">
                <a:cs typeface="Arial" charset="0"/>
              </a:rPr>
              <a:t>º </a:t>
            </a:r>
            <a:br>
              <a:rPr lang="en-US" sz="1400">
                <a:cs typeface="Arial" charset="0"/>
              </a:rPr>
            </a:br>
            <a:r>
              <a:rPr lang="en-US" sz="1400">
                <a:cs typeface="Arial" charset="0"/>
              </a:rPr>
              <a:t>line</a:t>
            </a:r>
            <a:endParaRPr lang="en-US" sz="14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PPP Theory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00200"/>
            <a:ext cx="8229600" cy="4924425"/>
          </a:xfrm>
        </p:spPr>
        <p:txBody>
          <a:bodyPr/>
          <a:lstStyle/>
          <a:p>
            <a:pPr eaLnBrk="1" hangingPunct="1"/>
            <a:r>
              <a:rPr lang="en-US" dirty="0"/>
              <a:t>Shortcomings of the PPP Theory</a:t>
            </a:r>
          </a:p>
          <a:p>
            <a:pPr lvl="1" eaLnBrk="1" hangingPunct="1"/>
            <a:r>
              <a:rPr lang="en-US" dirty="0"/>
              <a:t>The theory works well in the long run but not the short run</a:t>
            </a:r>
          </a:p>
          <a:p>
            <a:pPr eaLnBrk="1" hangingPunct="1"/>
            <a:r>
              <a:rPr lang="en-US" dirty="0"/>
              <a:t>Limits to the PPP Theory</a:t>
            </a:r>
          </a:p>
          <a:p>
            <a:pPr lvl="1" eaLnBrk="1" hangingPunct="1"/>
            <a:r>
              <a:rPr lang="en-US" dirty="0"/>
              <a:t>Transport cost and trade restriction exists </a:t>
            </a:r>
          </a:p>
          <a:p>
            <a:pPr lvl="1" eaLnBrk="1" hangingPunct="1"/>
            <a:r>
              <a:rPr lang="en-US" dirty="0"/>
              <a:t>Not all goods and services are traded internationally</a:t>
            </a:r>
          </a:p>
          <a:p>
            <a:pPr lvl="2" eaLnBrk="1" hangingPunct="1"/>
            <a:r>
              <a:rPr lang="en-US" dirty="0"/>
              <a:t>The greater the share of non-traded goods, the less precise the PPP theory</a:t>
            </a:r>
          </a:p>
          <a:p>
            <a:pPr lvl="3" eaLnBrk="1" hangingPunct="1"/>
            <a:r>
              <a:rPr lang="en-US" dirty="0"/>
              <a:t>For example, the market for haircuts is very local</a:t>
            </a:r>
          </a:p>
          <a:p>
            <a:pPr lvl="1" eaLnBrk="1" hangingPunct="1"/>
            <a:r>
              <a:rPr lang="en-US" dirty="0"/>
              <a:t>Not all internationally traded goods and services are perfectly standardized commodities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3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International Trade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733098" y="1390650"/>
            <a:ext cx="8229600" cy="5353050"/>
          </a:xfrm>
        </p:spPr>
        <p:txBody>
          <a:bodyPr/>
          <a:lstStyle/>
          <a:p>
            <a:pPr eaLnBrk="1" hangingPunct="1"/>
            <a:r>
              <a:rPr lang="en-US" dirty="0"/>
              <a:t>Trade is important even to a large economy such as the U.S and China.</a:t>
            </a:r>
          </a:p>
          <a:p>
            <a:pPr eaLnBrk="1" hangingPunct="1"/>
            <a:r>
              <a:rPr lang="en-US" dirty="0"/>
              <a:t>Free trade based on comparative advantage (producing a product with lower opportunity cost) maximizes social welfare.</a:t>
            </a:r>
          </a:p>
          <a:p>
            <a:pPr eaLnBrk="1" hangingPunct="1"/>
            <a:r>
              <a:rPr lang="en-US" dirty="0"/>
              <a:t>Trade and capital flows are easily politicized</a:t>
            </a:r>
          </a:p>
          <a:p>
            <a:pPr lvl="1" eaLnBrk="1" hangingPunct="1"/>
            <a:r>
              <a:rPr lang="en-US" dirty="0"/>
              <a:t>Free trade can be seen to cost U.S. jobs</a:t>
            </a:r>
          </a:p>
          <a:p>
            <a:pPr lvl="1" eaLnBrk="1" hangingPunct="1"/>
            <a:r>
              <a:rPr lang="en-US" dirty="0"/>
              <a:t>Foreign control of "essential" assets such as ports or telecommunications infrastructure may affect national security</a:t>
            </a:r>
          </a:p>
          <a:p>
            <a:pPr eaLnBrk="1" hangingPunct="1"/>
            <a:r>
              <a:rPr lang="en-US" dirty="0"/>
              <a:t>Trade restriction (protectionism) is common among economies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Trade Balance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/>
              <a:t>Trade balance</a:t>
            </a:r>
            <a:r>
              <a:rPr lang="en-US"/>
              <a:t> is another name for net exports (NX)</a:t>
            </a:r>
          </a:p>
          <a:p>
            <a:pPr lvl="1" eaLnBrk="1" hangingPunct="1"/>
            <a:r>
              <a:rPr lang="en-US"/>
              <a:t>Value of a country's exports minus the value of its imports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trade surplus</a:t>
            </a:r>
            <a:r>
              <a:rPr lang="en-US"/>
              <a:t> is a positive trade balance</a:t>
            </a:r>
          </a:p>
          <a:p>
            <a:pPr lvl="1" eaLnBrk="1" hangingPunct="1"/>
            <a:r>
              <a:rPr lang="en-US"/>
              <a:t>Exports &gt; imports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trade deficit</a:t>
            </a:r>
            <a:r>
              <a:rPr lang="en-US"/>
              <a:t> is a negative trade balance</a:t>
            </a:r>
          </a:p>
          <a:p>
            <a:pPr lvl="1" eaLnBrk="1" hangingPunct="1"/>
            <a:r>
              <a:rPr lang="en-US"/>
              <a:t>Imports &gt; exports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Capital Flows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48864" y="1552902"/>
            <a:ext cx="8229600" cy="4525963"/>
          </a:xfrm>
        </p:spPr>
        <p:txBody>
          <a:bodyPr/>
          <a:lstStyle/>
          <a:p>
            <a:pPr eaLnBrk="1" hangingPunct="1"/>
            <a:r>
              <a:rPr lang="en-US" sz="2500" b="1" dirty="0"/>
              <a:t>International capital flows</a:t>
            </a:r>
            <a:r>
              <a:rPr lang="en-US" sz="2500" dirty="0"/>
              <a:t> are purchases or sales of real and financial assets across international borders</a:t>
            </a:r>
          </a:p>
          <a:p>
            <a:pPr lvl="1" eaLnBrk="1" hangingPunct="1"/>
            <a:r>
              <a:rPr lang="en-US" b="1" dirty="0"/>
              <a:t>Capital inflows</a:t>
            </a:r>
            <a:r>
              <a:rPr lang="en-US" dirty="0"/>
              <a:t> are purchases of domestic assets by foreign households and firms</a:t>
            </a:r>
          </a:p>
          <a:p>
            <a:pPr lvl="1" eaLnBrk="1" hangingPunct="1"/>
            <a:r>
              <a:rPr lang="en-US" b="1" dirty="0"/>
              <a:t>Capital outflows</a:t>
            </a:r>
            <a:r>
              <a:rPr lang="en-US" dirty="0"/>
              <a:t> are purchases of foreign assets by domestic households and firms</a:t>
            </a:r>
          </a:p>
          <a:p>
            <a:pPr lvl="1" eaLnBrk="1" hangingPunct="1"/>
            <a:r>
              <a:rPr lang="en-US" b="1" dirty="0"/>
              <a:t>Net capital inflows</a:t>
            </a:r>
            <a:r>
              <a:rPr lang="en-US" dirty="0"/>
              <a:t> (KI) are capital inflows minus capital outflows</a:t>
            </a:r>
          </a:p>
          <a:p>
            <a:pPr eaLnBrk="1" hangingPunct="1"/>
            <a:r>
              <a:rPr lang="en-US" sz="2500" dirty="0"/>
              <a:t>Capital flows are not counted as imports or exports since they refer to the purchase of existing assets rather than currently produced goods and services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Trade Balance (NX) and Net Capital Inflows (KI)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046" y="1567149"/>
            <a:ext cx="8364556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NX + KI = 0</a:t>
            </a:r>
          </a:p>
          <a:p>
            <a:pPr eaLnBrk="1" hangingPunct="1"/>
            <a:r>
              <a:rPr lang="en-US" sz="2500" dirty="0"/>
              <a:t>U.S. resident purchases Japanese car for US$20,000</a:t>
            </a:r>
          </a:p>
          <a:p>
            <a:pPr lvl="1" eaLnBrk="1" hangingPunct="1"/>
            <a:r>
              <a:rPr lang="en-US" dirty="0"/>
              <a:t>Imports = US$20,000</a:t>
            </a:r>
          </a:p>
          <a:p>
            <a:pPr eaLnBrk="1" hangingPunct="1"/>
            <a:r>
              <a:rPr lang="en-US" sz="2500" dirty="0"/>
              <a:t>Manufacturer holds US$20,000 in a U.S. bank account</a:t>
            </a:r>
          </a:p>
          <a:p>
            <a:pPr lvl="1" eaLnBrk="1" hangingPunct="1"/>
            <a:r>
              <a:rPr lang="en-US" dirty="0"/>
              <a:t>Option 1: purchase US$20,000 of U.S. goods and services so exports = US$20,000</a:t>
            </a:r>
          </a:p>
          <a:p>
            <a:pPr lvl="1" eaLnBrk="1" hangingPunct="1"/>
            <a:r>
              <a:rPr lang="en-US" dirty="0"/>
              <a:t>Option 2:  purchase U.S. bonds or U.S. real estate</a:t>
            </a:r>
          </a:p>
          <a:p>
            <a:pPr lvl="2" eaLnBrk="1" hangingPunct="1"/>
            <a:r>
              <a:rPr lang="en-US" sz="2500" dirty="0"/>
              <a:t>NX = </a:t>
            </a:r>
            <a:r>
              <a:rPr lang="en-US" sz="2500" dirty="0">
                <a:cs typeface="Arial" charset="0"/>
              </a:rPr>
              <a:t>–</a:t>
            </a:r>
            <a:r>
              <a:rPr lang="en-US" sz="2500" dirty="0"/>
              <a:t> US$20,000, KI = US$20,000</a:t>
            </a:r>
          </a:p>
          <a:p>
            <a:pPr lvl="1" eaLnBrk="1" hangingPunct="1"/>
            <a:r>
              <a:rPr lang="en-US" dirty="0"/>
              <a:t>Option 3: sell US dollars for yen</a:t>
            </a:r>
          </a:p>
          <a:p>
            <a:pPr lvl="2" eaLnBrk="1" hangingPunct="1"/>
            <a:r>
              <a:rPr lang="en-US" sz="2500" dirty="0"/>
              <a:t>Follow the US dollars and see what the purchaser does with them to determine NX and KI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International Capital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458913"/>
            <a:ext cx="7924800" cy="4648200"/>
          </a:xfrm>
        </p:spPr>
        <p:txBody>
          <a:bodyPr/>
          <a:lstStyle/>
          <a:p>
            <a:pPr eaLnBrk="1" hangingPunct="1"/>
            <a:r>
              <a:rPr lang="en-US" sz="2500"/>
              <a:t>Highly developed financial markets allow borrowing and lending across borders</a:t>
            </a:r>
          </a:p>
          <a:p>
            <a:pPr eaLnBrk="1" hangingPunct="1"/>
            <a:r>
              <a:rPr lang="en-US" sz="2500"/>
              <a:t>Transactions are subject to laws in the originating country and the target country</a:t>
            </a:r>
          </a:p>
          <a:p>
            <a:pPr lvl="1" eaLnBrk="1" hangingPunct="1"/>
            <a:r>
              <a:rPr lang="en-US"/>
              <a:t>Size of international flows for a country depend on its regulations and laws</a:t>
            </a:r>
          </a:p>
          <a:p>
            <a:pPr lvl="1" eaLnBrk="1" hangingPunct="1"/>
            <a:r>
              <a:rPr lang="en-US"/>
              <a:t>Also depend on economic integration and political stability</a:t>
            </a:r>
          </a:p>
          <a:p>
            <a:pPr eaLnBrk="1" hangingPunct="1"/>
            <a:r>
              <a:rPr lang="en-US" sz="2500"/>
              <a:t>Lending is acquiring a real or financial asset</a:t>
            </a:r>
          </a:p>
          <a:p>
            <a:pPr lvl="1" eaLnBrk="1" hangingPunct="1"/>
            <a:r>
              <a:rPr lang="en-US"/>
              <a:t>Buying a share of stock or a government bond or a parcel of land</a:t>
            </a:r>
          </a:p>
          <a:p>
            <a:pPr eaLnBrk="1" hangingPunct="1"/>
            <a:r>
              <a:rPr lang="en-US" sz="2500"/>
              <a:t>Borrowing is selling a real or financial asset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Two Roles of International Capital Flows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38200" y="1600200"/>
          <a:ext cx="7924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International Capital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sz="2500" dirty="0"/>
              <a:t>Capital inflows to the U.S. include foreign purchases of</a:t>
            </a:r>
          </a:p>
          <a:p>
            <a:pPr lvl="1" eaLnBrk="1" hangingPunct="1"/>
            <a:r>
              <a:rPr lang="en-US" dirty="0"/>
              <a:t> Stocks and bonds of U.S. companies</a:t>
            </a:r>
          </a:p>
          <a:p>
            <a:pPr lvl="1" eaLnBrk="1" hangingPunct="1"/>
            <a:r>
              <a:rPr lang="en-US" dirty="0"/>
              <a:t>U.S. government bonds</a:t>
            </a:r>
          </a:p>
          <a:p>
            <a:pPr lvl="1" eaLnBrk="1" hangingPunct="1"/>
            <a:r>
              <a:rPr lang="en-US" dirty="0"/>
              <a:t>Real assets such as land and buildings owned by US residents</a:t>
            </a:r>
          </a:p>
          <a:p>
            <a:pPr eaLnBrk="1" hangingPunct="1"/>
            <a:r>
              <a:rPr lang="en-US" sz="2500" dirty="0"/>
              <a:t>Capital flows respond to real </a:t>
            </a:r>
            <a:br>
              <a:rPr lang="en-US" sz="2500" dirty="0"/>
            </a:br>
            <a:r>
              <a:rPr lang="en-US" sz="2500" dirty="0"/>
              <a:t>interest rates</a:t>
            </a:r>
          </a:p>
          <a:p>
            <a:pPr lvl="1" eaLnBrk="1" hangingPunct="1"/>
            <a:r>
              <a:rPr lang="en-US" dirty="0"/>
              <a:t>Higher domestic interest </a:t>
            </a:r>
            <a:br>
              <a:rPr lang="en-US" dirty="0"/>
            </a:br>
            <a:r>
              <a:rPr lang="en-US" dirty="0"/>
              <a:t>rates mean greater capital </a:t>
            </a:r>
            <a:br>
              <a:rPr lang="en-US" dirty="0"/>
            </a:br>
            <a:r>
              <a:rPr lang="en-US" dirty="0"/>
              <a:t>inflows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362758" y="3465395"/>
            <a:ext cx="3677746" cy="3109060"/>
            <a:chOff x="5134707" y="3312942"/>
            <a:chExt cx="3676844" cy="3108960"/>
          </a:xfrm>
        </p:grpSpPr>
        <p:sp>
          <p:nvSpPr>
            <p:cNvPr id="5" name="Rectangle 4"/>
            <p:cNvSpPr/>
            <p:nvPr/>
          </p:nvSpPr>
          <p:spPr bwMode="auto">
            <a:xfrm>
              <a:off x="5134707" y="3312942"/>
              <a:ext cx="3676844" cy="310896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207532" y="3373383"/>
              <a:ext cx="3531322" cy="298757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5153210" y="3402405"/>
              <a:ext cx="3480067" cy="2938474"/>
              <a:chOff x="3305433" y="2889529"/>
              <a:chExt cx="3965597" cy="3348439"/>
            </a:xfrm>
          </p:grpSpPr>
          <p:cxnSp>
            <p:nvCxnSpPr>
              <p:cNvPr id="96266" name="Straight Connector 4"/>
              <p:cNvCxnSpPr>
                <a:cxnSpLocks noChangeShapeType="1"/>
              </p:cNvCxnSpPr>
              <p:nvPr/>
            </p:nvCxnSpPr>
            <p:spPr bwMode="auto">
              <a:xfrm rot="5400000">
                <a:off x="2890911" y="4255477"/>
                <a:ext cx="257438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6267" name="Straight Connector 8"/>
              <p:cNvCxnSpPr>
                <a:cxnSpLocks noChangeShapeType="1"/>
              </p:cNvCxnSpPr>
              <p:nvPr/>
            </p:nvCxnSpPr>
            <p:spPr bwMode="auto">
              <a:xfrm>
                <a:off x="4164037" y="5542671"/>
                <a:ext cx="294014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0" name="Straight Connector 9"/>
              <p:cNvCxnSpPr/>
              <p:nvPr/>
            </p:nvCxnSpPr>
            <p:spPr bwMode="auto">
              <a:xfrm rot="5400000">
                <a:off x="4271979" y="4252947"/>
                <a:ext cx="2574099" cy="1808"/>
              </a:xfrm>
              <a:prstGeom prst="line">
                <a:avLst/>
              </a:prstGeom>
              <a:ln>
                <a:prstDash val="dash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6269" name="TextBox 10"/>
              <p:cNvSpPr txBox="1">
                <a:spLocks noChangeArrowheads="1"/>
              </p:cNvSpPr>
              <p:nvPr/>
            </p:nvSpPr>
            <p:spPr bwMode="auto">
              <a:xfrm rot="16200000">
                <a:off x="2239407" y="3955555"/>
                <a:ext cx="2938504" cy="8064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Domestic  Real </a:t>
                </a:r>
                <a:br>
                  <a:rPr lang="en-US" sz="2000" dirty="0"/>
                </a:br>
                <a:r>
                  <a:rPr lang="en-US" sz="2000" dirty="0"/>
                  <a:t>Interest Rate (r)</a:t>
                </a:r>
              </a:p>
            </p:txBody>
          </p:sp>
          <p:sp>
            <p:nvSpPr>
              <p:cNvPr id="96270" name="TextBox 11"/>
              <p:cNvSpPr txBox="1">
                <a:spLocks noChangeArrowheads="1"/>
              </p:cNvSpPr>
              <p:nvPr/>
            </p:nvSpPr>
            <p:spPr bwMode="auto">
              <a:xfrm>
                <a:off x="4074811" y="5782050"/>
                <a:ext cx="3196219" cy="455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2000" dirty="0"/>
                  <a:t>Net Capital Inflows (KI)</a:t>
                </a:r>
              </a:p>
            </p:txBody>
          </p:sp>
          <p:sp>
            <p:nvSpPr>
              <p:cNvPr id="96271" name="TextBox 12"/>
              <p:cNvSpPr txBox="1">
                <a:spLocks noChangeArrowheads="1"/>
              </p:cNvSpPr>
              <p:nvPr/>
            </p:nvSpPr>
            <p:spPr bwMode="auto">
              <a:xfrm>
                <a:off x="5342678" y="5539600"/>
                <a:ext cx="372911" cy="455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0</a:t>
                </a:r>
              </a:p>
            </p:txBody>
          </p:sp>
          <p:sp>
            <p:nvSpPr>
              <p:cNvPr id="14" name="Freeform 16"/>
              <p:cNvSpPr>
                <a:spLocks/>
              </p:cNvSpPr>
              <p:nvPr/>
            </p:nvSpPr>
            <p:spPr bwMode="auto">
              <a:xfrm rot="4172895">
                <a:off x="4418819" y="2991488"/>
                <a:ext cx="1696771" cy="24578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0" y="128"/>
                  </a:cxn>
                  <a:cxn ang="0">
                    <a:pos x="920" y="280"/>
                  </a:cxn>
                  <a:cxn ang="0">
                    <a:pos x="1240" y="416"/>
                  </a:cxn>
                  <a:cxn ang="0">
                    <a:pos x="1440" y="552"/>
                  </a:cxn>
                  <a:cxn ang="0">
                    <a:pos x="1568" y="664"/>
                  </a:cxn>
                  <a:cxn ang="0">
                    <a:pos x="1712" y="808"/>
                  </a:cxn>
                  <a:cxn ang="0">
                    <a:pos x="1896" y="1048"/>
                  </a:cxn>
                  <a:cxn ang="0">
                    <a:pos x="2158" y="1480"/>
                  </a:cxn>
                  <a:cxn ang="0">
                    <a:pos x="2320" y="1896"/>
                  </a:cxn>
                  <a:cxn ang="0">
                    <a:pos x="2368" y="2152"/>
                  </a:cxn>
                </a:cxnLst>
                <a:rect l="0" t="0" r="r" b="b"/>
                <a:pathLst>
                  <a:path w="2368" h="2152">
                    <a:moveTo>
                      <a:pt x="0" y="0"/>
                    </a:moveTo>
                    <a:cubicBezTo>
                      <a:pt x="80" y="21"/>
                      <a:pt x="327" y="81"/>
                      <a:pt x="480" y="128"/>
                    </a:cubicBezTo>
                    <a:cubicBezTo>
                      <a:pt x="633" y="175"/>
                      <a:pt x="793" y="232"/>
                      <a:pt x="920" y="280"/>
                    </a:cubicBezTo>
                    <a:cubicBezTo>
                      <a:pt x="1047" y="328"/>
                      <a:pt x="1153" y="371"/>
                      <a:pt x="1240" y="416"/>
                    </a:cubicBezTo>
                    <a:cubicBezTo>
                      <a:pt x="1327" y="461"/>
                      <a:pt x="1385" y="511"/>
                      <a:pt x="1440" y="552"/>
                    </a:cubicBezTo>
                    <a:cubicBezTo>
                      <a:pt x="1495" y="593"/>
                      <a:pt x="1523" y="621"/>
                      <a:pt x="1568" y="664"/>
                    </a:cubicBezTo>
                    <a:cubicBezTo>
                      <a:pt x="1613" y="707"/>
                      <a:pt x="1657" y="744"/>
                      <a:pt x="1712" y="808"/>
                    </a:cubicBezTo>
                    <a:cubicBezTo>
                      <a:pt x="1767" y="872"/>
                      <a:pt x="1822" y="936"/>
                      <a:pt x="1896" y="1048"/>
                    </a:cubicBezTo>
                    <a:cubicBezTo>
                      <a:pt x="1970" y="1160"/>
                      <a:pt x="2087" y="1339"/>
                      <a:pt x="2158" y="1480"/>
                    </a:cubicBezTo>
                    <a:cubicBezTo>
                      <a:pt x="2229" y="1621"/>
                      <a:pt x="2285" y="1784"/>
                      <a:pt x="2320" y="1896"/>
                    </a:cubicBezTo>
                    <a:cubicBezTo>
                      <a:pt x="2355" y="2008"/>
                      <a:pt x="2358" y="2099"/>
                      <a:pt x="2368" y="2152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6273" name="TextBox 14"/>
              <p:cNvSpPr txBox="1">
                <a:spLocks noChangeArrowheads="1"/>
              </p:cNvSpPr>
              <p:nvPr/>
            </p:nvSpPr>
            <p:spPr bwMode="auto">
              <a:xfrm>
                <a:off x="5484226" y="4303818"/>
                <a:ext cx="1590987" cy="1157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/>
                  <a:t>KI &gt; 0</a:t>
                </a:r>
                <a:br>
                  <a:rPr lang="en-US" sz="2000" dirty="0"/>
                </a:br>
                <a:r>
                  <a:rPr lang="en-US" sz="2000" dirty="0"/>
                  <a:t>Net capital</a:t>
                </a:r>
                <a:br>
                  <a:rPr lang="en-US" sz="2000" dirty="0"/>
                </a:br>
                <a:r>
                  <a:rPr lang="en-US" sz="2000" dirty="0"/>
                  <a:t>inflows</a:t>
                </a:r>
              </a:p>
            </p:txBody>
          </p:sp>
          <p:sp>
            <p:nvSpPr>
              <p:cNvPr id="96274" name="TextBox 15"/>
              <p:cNvSpPr txBox="1">
                <a:spLocks noChangeArrowheads="1"/>
              </p:cNvSpPr>
              <p:nvPr/>
            </p:nvSpPr>
            <p:spPr bwMode="auto">
              <a:xfrm>
                <a:off x="4031631" y="3232704"/>
                <a:ext cx="1590987" cy="1157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/>
                  <a:t>KI &lt; 0</a:t>
                </a:r>
                <a:br>
                  <a:rPr lang="en-US" sz="2000" dirty="0"/>
                </a:br>
                <a:r>
                  <a:rPr lang="en-US" sz="2000" dirty="0"/>
                  <a:t>Net capital</a:t>
                </a:r>
                <a:br>
                  <a:rPr lang="en-US" sz="2000" dirty="0"/>
                </a:br>
                <a:r>
                  <a:rPr lang="en-US" sz="2000" dirty="0"/>
                  <a:t>outflows</a:t>
                </a:r>
              </a:p>
            </p:txBody>
          </p:sp>
        </p:grpSp>
        <p:sp>
          <p:nvSpPr>
            <p:cNvPr id="96265" name="TextBox 18"/>
            <p:cNvSpPr txBox="1">
              <a:spLocks noChangeArrowheads="1"/>
            </p:cNvSpPr>
            <p:nvPr/>
          </p:nvSpPr>
          <p:spPr bwMode="auto">
            <a:xfrm>
              <a:off x="7581704" y="3432029"/>
              <a:ext cx="426615" cy="400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KI</a:t>
              </a: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9"/>
          <p:cNvSpPr>
            <a:spLocks noGrp="1"/>
          </p:cNvSpPr>
          <p:nvPr>
            <p:ph type="title" idx="4294967295"/>
          </p:nvPr>
        </p:nvSpPr>
        <p:spPr>
          <a:xfrm>
            <a:off x="685800" y="101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Risk and Capital Inflows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idx="4294967295"/>
          </p:nvPr>
        </p:nvSpPr>
        <p:spPr>
          <a:xfrm>
            <a:off x="685800" y="10414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For a given real interest rate, increase in riskiness of domestic assets decreases capital inflows</a:t>
            </a:r>
          </a:p>
          <a:p>
            <a:pPr lvl="1" eaLnBrk="1" hangingPunct="1"/>
            <a:r>
              <a:rPr lang="en-US"/>
              <a:t>Shifts the capital inflow curve to the left</a:t>
            </a:r>
          </a:p>
          <a:p>
            <a:pPr lvl="1" eaLnBrk="1" hangingPunct="1"/>
            <a:r>
              <a:rPr lang="en-US"/>
              <a:t>Foreigners are less willing to buy domestic assets</a:t>
            </a:r>
          </a:p>
          <a:p>
            <a:pPr lvl="1" eaLnBrk="1" hangingPunct="1"/>
            <a:r>
              <a:rPr lang="en-US"/>
              <a:t>Domestic savers are more </a:t>
            </a:r>
            <a:br>
              <a:rPr lang="en-US"/>
            </a:br>
            <a:r>
              <a:rPr lang="en-US"/>
              <a:t>willing to buy foreign </a:t>
            </a:r>
            <a:br>
              <a:rPr lang="en-US"/>
            </a:br>
            <a:r>
              <a:rPr lang="en-US"/>
              <a:t>assets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413559" y="3195262"/>
            <a:ext cx="3677746" cy="3267183"/>
            <a:chOff x="5134707" y="3157114"/>
            <a:chExt cx="3676844" cy="3267078"/>
          </a:xfrm>
        </p:grpSpPr>
        <p:sp>
          <p:nvSpPr>
            <p:cNvPr id="23" name="Rectangle 22"/>
            <p:cNvSpPr/>
            <p:nvPr/>
          </p:nvSpPr>
          <p:spPr bwMode="auto">
            <a:xfrm>
              <a:off x="5134707" y="3312942"/>
              <a:ext cx="3676844" cy="310896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207532" y="3373383"/>
              <a:ext cx="3531322" cy="298757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" name="Group 15"/>
            <p:cNvGrpSpPr>
              <a:grpSpLocks/>
            </p:cNvGrpSpPr>
            <p:nvPr/>
          </p:nvGrpSpPr>
          <p:grpSpPr bwMode="auto">
            <a:xfrm>
              <a:off x="5225979" y="3157114"/>
              <a:ext cx="3409255" cy="3267078"/>
              <a:chOff x="3387316" y="2610021"/>
              <a:chExt cx="3883714" cy="3722888"/>
            </a:xfrm>
          </p:grpSpPr>
          <p:cxnSp>
            <p:nvCxnSpPr>
              <p:cNvPr id="98318" name="Straight Connector 4"/>
              <p:cNvCxnSpPr>
                <a:cxnSpLocks noChangeShapeType="1"/>
              </p:cNvCxnSpPr>
              <p:nvPr/>
            </p:nvCxnSpPr>
            <p:spPr bwMode="auto">
              <a:xfrm rot="5400000">
                <a:off x="2890911" y="4255477"/>
                <a:ext cx="257438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8319" name="Straight Connector 27"/>
              <p:cNvCxnSpPr>
                <a:cxnSpLocks noChangeShapeType="1"/>
              </p:cNvCxnSpPr>
              <p:nvPr/>
            </p:nvCxnSpPr>
            <p:spPr bwMode="auto">
              <a:xfrm>
                <a:off x="4164037" y="5542671"/>
                <a:ext cx="2940148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9" name="Straight Connector 28"/>
              <p:cNvCxnSpPr/>
              <p:nvPr/>
            </p:nvCxnSpPr>
            <p:spPr bwMode="auto">
              <a:xfrm rot="5400000">
                <a:off x="4132219" y="4252951"/>
                <a:ext cx="2574098" cy="1807"/>
              </a:xfrm>
              <a:prstGeom prst="line">
                <a:avLst/>
              </a:prstGeom>
              <a:ln>
                <a:prstDash val="dash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321" name="TextBox 29"/>
              <p:cNvSpPr txBox="1">
                <a:spLocks noChangeArrowheads="1"/>
              </p:cNvSpPr>
              <p:nvPr/>
            </p:nvSpPr>
            <p:spPr bwMode="auto">
              <a:xfrm rot="16200000">
                <a:off x="1928974" y="4068363"/>
                <a:ext cx="3722888" cy="8062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Domestic  Real </a:t>
                </a:r>
                <a:br>
                  <a:rPr lang="en-US" sz="2000" dirty="0"/>
                </a:br>
                <a:r>
                  <a:rPr lang="en-US" sz="2000" dirty="0"/>
                  <a:t>Interest Rate (r)</a:t>
                </a:r>
              </a:p>
            </p:txBody>
          </p:sp>
          <p:sp>
            <p:nvSpPr>
              <p:cNvPr id="98322" name="TextBox 30"/>
              <p:cNvSpPr txBox="1">
                <a:spLocks noChangeArrowheads="1"/>
              </p:cNvSpPr>
              <p:nvPr/>
            </p:nvSpPr>
            <p:spPr bwMode="auto">
              <a:xfrm>
                <a:off x="4075792" y="5782048"/>
                <a:ext cx="3195238" cy="455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2000" dirty="0"/>
                  <a:t>Net Capital Inflows (KI)</a:t>
                </a:r>
              </a:p>
            </p:txBody>
          </p:sp>
          <p:sp>
            <p:nvSpPr>
              <p:cNvPr id="98323" name="TextBox 31"/>
              <p:cNvSpPr txBox="1">
                <a:spLocks noChangeArrowheads="1"/>
              </p:cNvSpPr>
              <p:nvPr/>
            </p:nvSpPr>
            <p:spPr bwMode="auto">
              <a:xfrm>
                <a:off x="5264027" y="5539602"/>
                <a:ext cx="372797" cy="455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0</a:t>
                </a:r>
              </a:p>
            </p:txBody>
          </p:sp>
          <p:sp>
            <p:nvSpPr>
              <p:cNvPr id="33" name="Freeform 16"/>
              <p:cNvSpPr>
                <a:spLocks/>
              </p:cNvSpPr>
              <p:nvPr/>
            </p:nvSpPr>
            <p:spPr bwMode="auto">
              <a:xfrm rot="4172895">
                <a:off x="4536022" y="3013471"/>
                <a:ext cx="1696770" cy="24606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0" y="128"/>
                  </a:cxn>
                  <a:cxn ang="0">
                    <a:pos x="920" y="280"/>
                  </a:cxn>
                  <a:cxn ang="0">
                    <a:pos x="1240" y="416"/>
                  </a:cxn>
                  <a:cxn ang="0">
                    <a:pos x="1440" y="552"/>
                  </a:cxn>
                  <a:cxn ang="0">
                    <a:pos x="1568" y="664"/>
                  </a:cxn>
                  <a:cxn ang="0">
                    <a:pos x="1712" y="808"/>
                  </a:cxn>
                  <a:cxn ang="0">
                    <a:pos x="1896" y="1048"/>
                  </a:cxn>
                  <a:cxn ang="0">
                    <a:pos x="2158" y="1480"/>
                  </a:cxn>
                  <a:cxn ang="0">
                    <a:pos x="2320" y="1896"/>
                  </a:cxn>
                  <a:cxn ang="0">
                    <a:pos x="2368" y="2152"/>
                  </a:cxn>
                </a:cxnLst>
                <a:rect l="0" t="0" r="r" b="b"/>
                <a:pathLst>
                  <a:path w="2368" h="2152">
                    <a:moveTo>
                      <a:pt x="0" y="0"/>
                    </a:moveTo>
                    <a:cubicBezTo>
                      <a:pt x="80" y="21"/>
                      <a:pt x="327" y="81"/>
                      <a:pt x="480" y="128"/>
                    </a:cubicBezTo>
                    <a:cubicBezTo>
                      <a:pt x="633" y="175"/>
                      <a:pt x="793" y="232"/>
                      <a:pt x="920" y="280"/>
                    </a:cubicBezTo>
                    <a:cubicBezTo>
                      <a:pt x="1047" y="328"/>
                      <a:pt x="1153" y="371"/>
                      <a:pt x="1240" y="416"/>
                    </a:cubicBezTo>
                    <a:cubicBezTo>
                      <a:pt x="1327" y="461"/>
                      <a:pt x="1385" y="511"/>
                      <a:pt x="1440" y="552"/>
                    </a:cubicBezTo>
                    <a:cubicBezTo>
                      <a:pt x="1495" y="593"/>
                      <a:pt x="1523" y="621"/>
                      <a:pt x="1568" y="664"/>
                    </a:cubicBezTo>
                    <a:cubicBezTo>
                      <a:pt x="1613" y="707"/>
                      <a:pt x="1657" y="744"/>
                      <a:pt x="1712" y="808"/>
                    </a:cubicBezTo>
                    <a:cubicBezTo>
                      <a:pt x="1767" y="872"/>
                      <a:pt x="1822" y="936"/>
                      <a:pt x="1896" y="1048"/>
                    </a:cubicBezTo>
                    <a:cubicBezTo>
                      <a:pt x="1970" y="1160"/>
                      <a:pt x="2087" y="1339"/>
                      <a:pt x="2158" y="1480"/>
                    </a:cubicBezTo>
                    <a:cubicBezTo>
                      <a:pt x="2229" y="1621"/>
                      <a:pt x="2285" y="1784"/>
                      <a:pt x="2320" y="1896"/>
                    </a:cubicBezTo>
                    <a:cubicBezTo>
                      <a:pt x="2355" y="2008"/>
                      <a:pt x="2358" y="2099"/>
                      <a:pt x="2368" y="2152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6" name="Freeform 16"/>
              <p:cNvSpPr>
                <a:spLocks/>
              </p:cNvSpPr>
              <p:nvPr/>
            </p:nvSpPr>
            <p:spPr bwMode="auto">
              <a:xfrm rot="4413319">
                <a:off x="4152335" y="2956487"/>
                <a:ext cx="1696770" cy="20647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0" y="128"/>
                  </a:cxn>
                  <a:cxn ang="0">
                    <a:pos x="920" y="280"/>
                  </a:cxn>
                  <a:cxn ang="0">
                    <a:pos x="1240" y="416"/>
                  </a:cxn>
                  <a:cxn ang="0">
                    <a:pos x="1440" y="552"/>
                  </a:cxn>
                  <a:cxn ang="0">
                    <a:pos x="1568" y="664"/>
                  </a:cxn>
                  <a:cxn ang="0">
                    <a:pos x="1712" y="808"/>
                  </a:cxn>
                  <a:cxn ang="0">
                    <a:pos x="1896" y="1048"/>
                  </a:cxn>
                  <a:cxn ang="0">
                    <a:pos x="2158" y="1480"/>
                  </a:cxn>
                  <a:cxn ang="0">
                    <a:pos x="2320" y="1896"/>
                  </a:cxn>
                  <a:cxn ang="0">
                    <a:pos x="2368" y="2152"/>
                  </a:cxn>
                </a:cxnLst>
                <a:rect l="0" t="0" r="r" b="b"/>
                <a:pathLst>
                  <a:path w="2368" h="2152">
                    <a:moveTo>
                      <a:pt x="0" y="0"/>
                    </a:moveTo>
                    <a:cubicBezTo>
                      <a:pt x="80" y="21"/>
                      <a:pt x="327" y="81"/>
                      <a:pt x="480" y="128"/>
                    </a:cubicBezTo>
                    <a:cubicBezTo>
                      <a:pt x="633" y="175"/>
                      <a:pt x="793" y="232"/>
                      <a:pt x="920" y="280"/>
                    </a:cubicBezTo>
                    <a:cubicBezTo>
                      <a:pt x="1047" y="328"/>
                      <a:pt x="1153" y="371"/>
                      <a:pt x="1240" y="416"/>
                    </a:cubicBezTo>
                    <a:cubicBezTo>
                      <a:pt x="1327" y="461"/>
                      <a:pt x="1385" y="511"/>
                      <a:pt x="1440" y="552"/>
                    </a:cubicBezTo>
                    <a:cubicBezTo>
                      <a:pt x="1495" y="593"/>
                      <a:pt x="1523" y="621"/>
                      <a:pt x="1568" y="664"/>
                    </a:cubicBezTo>
                    <a:cubicBezTo>
                      <a:pt x="1613" y="707"/>
                      <a:pt x="1657" y="744"/>
                      <a:pt x="1712" y="808"/>
                    </a:cubicBezTo>
                    <a:cubicBezTo>
                      <a:pt x="1767" y="872"/>
                      <a:pt x="1822" y="936"/>
                      <a:pt x="1896" y="1048"/>
                    </a:cubicBezTo>
                    <a:cubicBezTo>
                      <a:pt x="1970" y="1160"/>
                      <a:pt x="2087" y="1339"/>
                      <a:pt x="2158" y="1480"/>
                    </a:cubicBezTo>
                    <a:cubicBezTo>
                      <a:pt x="2229" y="1621"/>
                      <a:pt x="2285" y="1784"/>
                      <a:pt x="2320" y="1896"/>
                    </a:cubicBezTo>
                    <a:cubicBezTo>
                      <a:pt x="2355" y="2008"/>
                      <a:pt x="2358" y="2099"/>
                      <a:pt x="2368" y="2152"/>
                    </a:cubicBezTo>
                  </a:path>
                </a:pathLst>
              </a:cu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98316" name="TextBox 25"/>
            <p:cNvSpPr txBox="1">
              <a:spLocks noChangeArrowheads="1"/>
            </p:cNvSpPr>
            <p:nvPr/>
          </p:nvSpPr>
          <p:spPr bwMode="auto">
            <a:xfrm>
              <a:off x="7684563" y="3504034"/>
              <a:ext cx="450383" cy="400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KI</a:t>
              </a:r>
            </a:p>
          </p:txBody>
        </p:sp>
        <p:sp>
          <p:nvSpPr>
            <p:cNvPr id="98317" name="TextBox 36"/>
            <p:cNvSpPr txBox="1">
              <a:spLocks noChangeArrowheads="1"/>
            </p:cNvSpPr>
            <p:nvPr/>
          </p:nvSpPr>
          <p:spPr bwMode="auto">
            <a:xfrm>
              <a:off x="7231829" y="3300950"/>
              <a:ext cx="512790" cy="400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KI'</a:t>
              </a:r>
            </a:p>
          </p:txBody>
        </p:sp>
      </p:grpSp>
      <p:sp>
        <p:nvSpPr>
          <p:cNvPr id="39" name="Left Arrow 38"/>
          <p:cNvSpPr/>
          <p:nvPr/>
        </p:nvSpPr>
        <p:spPr bwMode="auto">
          <a:xfrm>
            <a:off x="7463306" y="4255398"/>
            <a:ext cx="295422" cy="253218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 idx="4294967295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Savings, Investment, Capital Inflows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/>
              <a:t>Definition of output</a:t>
            </a:r>
          </a:p>
          <a:p>
            <a:pPr lvl="1" algn="ctr" eaLnBrk="1" hangingPunct="1">
              <a:buFontTx/>
              <a:buNone/>
            </a:pPr>
            <a:r>
              <a:rPr lang="en-US" sz="2600"/>
              <a:t>Y = C + I + G + NX</a:t>
            </a:r>
          </a:p>
          <a:p>
            <a:pPr eaLnBrk="1" hangingPunct="1"/>
            <a:r>
              <a:rPr lang="en-US" sz="2600"/>
              <a:t>Solve for I</a:t>
            </a:r>
          </a:p>
          <a:p>
            <a:pPr algn="ctr" eaLnBrk="1" hangingPunct="1">
              <a:buFontTx/>
              <a:buNone/>
            </a:pPr>
            <a:r>
              <a:rPr lang="en-US" sz="2600"/>
              <a:t>Y – C – G – NX = I</a:t>
            </a:r>
          </a:p>
          <a:p>
            <a:pPr eaLnBrk="1" hangingPunct="1"/>
            <a:r>
              <a:rPr lang="en-US" sz="2600"/>
              <a:t>National savings, S, is (Y – C – G)</a:t>
            </a:r>
          </a:p>
          <a:p>
            <a:pPr algn="ctr" eaLnBrk="1" hangingPunct="1">
              <a:buFontTx/>
              <a:buNone/>
            </a:pPr>
            <a:r>
              <a:rPr lang="en-US" sz="2600"/>
              <a:t>S – NX = I</a:t>
            </a:r>
          </a:p>
          <a:p>
            <a:pPr eaLnBrk="1" hangingPunct="1"/>
            <a:r>
              <a:rPr lang="en-US" sz="2600"/>
              <a:t>Also</a:t>
            </a:r>
          </a:p>
          <a:p>
            <a:pPr algn="ctr" eaLnBrk="1" hangingPunct="1">
              <a:buFontTx/>
              <a:buNone/>
            </a:pPr>
            <a:r>
              <a:rPr lang="en-US" sz="2600"/>
              <a:t>NX + KI = 0   OR     KI = – NX</a:t>
            </a:r>
          </a:p>
          <a:p>
            <a:pPr eaLnBrk="1" hangingPunct="1"/>
            <a:r>
              <a:rPr lang="en-US" sz="2600"/>
              <a:t>So</a:t>
            </a:r>
          </a:p>
          <a:p>
            <a:pPr algn="ctr" eaLnBrk="1" hangingPunct="1">
              <a:buFontTx/>
              <a:buNone/>
            </a:pPr>
            <a:r>
              <a:rPr lang="en-US" sz="2600"/>
              <a:t>S + KI = 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 idx="4294967295"/>
          </p:nvPr>
        </p:nvSpPr>
        <p:spPr>
          <a:xfrm>
            <a:off x="685800" y="15503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 + KI =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1402" y="1403350"/>
            <a:ext cx="7924800" cy="4800600"/>
          </a:xfrm>
        </p:spPr>
        <p:txBody>
          <a:bodyPr/>
          <a:lstStyle/>
          <a:p>
            <a:pPr eaLnBrk="1" hangingPunct="1"/>
            <a:r>
              <a:rPr lang="en-US" sz="2400" dirty="0"/>
              <a:t>Savings plus net capital inflows equals investment in new capital goods</a:t>
            </a:r>
          </a:p>
          <a:p>
            <a:pPr lvl="1" eaLnBrk="1" hangingPunct="1"/>
            <a:r>
              <a:rPr lang="en-US" sz="2400" dirty="0"/>
              <a:t>Foreign savings can supplement domestic savings to create capital goods to </a:t>
            </a:r>
            <a:br>
              <a:rPr lang="en-US" sz="2400" dirty="0"/>
            </a:br>
            <a:r>
              <a:rPr lang="en-US" sz="2400" dirty="0"/>
              <a:t>support economic growth</a:t>
            </a:r>
          </a:p>
          <a:p>
            <a:pPr eaLnBrk="1" hangingPunct="1"/>
            <a:r>
              <a:rPr lang="en-US" sz="2400" dirty="0"/>
              <a:t>In a closed economy,</a:t>
            </a:r>
            <a:br>
              <a:rPr lang="en-US" sz="2400" dirty="0"/>
            </a:br>
            <a:r>
              <a:rPr lang="en-US" sz="2400" dirty="0"/>
              <a:t>S = I</a:t>
            </a:r>
          </a:p>
          <a:p>
            <a:pPr eaLnBrk="1" hangingPunct="1"/>
            <a:r>
              <a:rPr lang="en-US" sz="2700" dirty="0"/>
              <a:t>In an open economy,</a:t>
            </a:r>
            <a:br>
              <a:rPr lang="en-US" sz="2700" dirty="0"/>
            </a:br>
            <a:r>
              <a:rPr lang="en-US" sz="2700" dirty="0"/>
              <a:t>S + KI = I</a:t>
            </a:r>
          </a:p>
          <a:p>
            <a:pPr eaLnBrk="1" hangingPunct="1"/>
            <a:r>
              <a:rPr lang="en-US" sz="2400" dirty="0"/>
              <a:t>Capital inflows mean more </a:t>
            </a:r>
            <a:br>
              <a:rPr lang="en-US" sz="2400" dirty="0"/>
            </a:br>
            <a:r>
              <a:rPr lang="en-US" sz="2400" dirty="0"/>
              <a:t>investment and lower </a:t>
            </a:r>
            <a:br>
              <a:rPr lang="en-US" sz="2400" dirty="0"/>
            </a:br>
            <a:r>
              <a:rPr lang="en-US" sz="2400" dirty="0"/>
              <a:t>interest rates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046663" y="2962275"/>
            <a:ext cx="3886200" cy="3438525"/>
            <a:chOff x="4849089" y="1260763"/>
            <a:chExt cx="3886947" cy="3437845"/>
          </a:xfrm>
        </p:grpSpPr>
        <p:sp>
          <p:nvSpPr>
            <p:cNvPr id="5" name="Rectangle 4"/>
            <p:cNvSpPr/>
            <p:nvPr/>
          </p:nvSpPr>
          <p:spPr bwMode="auto">
            <a:xfrm>
              <a:off x="4849089" y="1260763"/>
              <a:ext cx="3886947" cy="343784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4923715" y="1319489"/>
              <a:ext cx="3737693" cy="3320393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8" name="Text Box 3"/>
            <p:cNvSpPr txBox="1">
              <a:spLocks noChangeArrowheads="1"/>
            </p:cNvSpPr>
            <p:nvPr/>
          </p:nvSpPr>
          <p:spPr bwMode="auto">
            <a:xfrm>
              <a:off x="5257794" y="4268391"/>
              <a:ext cx="3349894" cy="285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Saving and investment</a:t>
              </a:r>
            </a:p>
          </p:txBody>
        </p:sp>
        <p:sp>
          <p:nvSpPr>
            <p:cNvPr id="102409" name="Text Box 4"/>
            <p:cNvSpPr txBox="1">
              <a:spLocks noChangeArrowheads="1"/>
            </p:cNvSpPr>
            <p:nvPr/>
          </p:nvSpPr>
          <p:spPr bwMode="auto">
            <a:xfrm rot="-5400000">
              <a:off x="3764054" y="2614328"/>
              <a:ext cx="2707365" cy="362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Real interest rate (%)</a:t>
              </a:r>
            </a:p>
          </p:txBody>
        </p:sp>
        <p:sp>
          <p:nvSpPr>
            <p:cNvPr id="102410" name="Line 8"/>
            <p:cNvSpPr>
              <a:spLocks noChangeShapeType="1"/>
            </p:cNvSpPr>
            <p:nvPr/>
          </p:nvSpPr>
          <p:spPr bwMode="auto">
            <a:xfrm flipV="1">
              <a:off x="7046996" y="2811893"/>
              <a:ext cx="0" cy="11543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11" name="Line 10"/>
            <p:cNvSpPr>
              <a:spLocks noChangeShapeType="1"/>
            </p:cNvSpPr>
            <p:nvPr/>
          </p:nvSpPr>
          <p:spPr bwMode="auto">
            <a:xfrm>
              <a:off x="5609141" y="2797342"/>
              <a:ext cx="14285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6209838" y="1687717"/>
              <a:ext cx="1443315" cy="1653848"/>
            </a:xfrm>
            <a:custGeom>
              <a:avLst/>
              <a:gdLst/>
              <a:ahLst/>
              <a:cxnLst>
                <a:cxn ang="0">
                  <a:pos x="0" y="1705"/>
                </a:cxn>
                <a:cxn ang="0">
                  <a:pos x="299" y="1585"/>
                </a:cxn>
                <a:cxn ang="0">
                  <a:pos x="614" y="1436"/>
                </a:cxn>
                <a:cxn ang="0">
                  <a:pos x="980" y="1167"/>
                </a:cxn>
                <a:cxn ang="0">
                  <a:pos x="1294" y="801"/>
                </a:cxn>
                <a:cxn ang="0">
                  <a:pos x="1601" y="277"/>
                </a:cxn>
                <a:cxn ang="0">
                  <a:pos x="1706" y="0"/>
                </a:cxn>
              </a:cxnLst>
              <a:rect l="0" t="0" r="r" b="b"/>
              <a:pathLst>
                <a:path w="1706" h="1705">
                  <a:moveTo>
                    <a:pt x="0" y="1705"/>
                  </a:moveTo>
                  <a:cubicBezTo>
                    <a:pt x="98" y="1667"/>
                    <a:pt x="197" y="1630"/>
                    <a:pt x="299" y="1585"/>
                  </a:cubicBezTo>
                  <a:cubicBezTo>
                    <a:pt x="401" y="1540"/>
                    <a:pt x="500" y="1506"/>
                    <a:pt x="614" y="1436"/>
                  </a:cubicBezTo>
                  <a:cubicBezTo>
                    <a:pt x="728" y="1366"/>
                    <a:pt x="867" y="1273"/>
                    <a:pt x="980" y="1167"/>
                  </a:cubicBezTo>
                  <a:cubicBezTo>
                    <a:pt x="1093" y="1061"/>
                    <a:pt x="1190" y="949"/>
                    <a:pt x="1294" y="801"/>
                  </a:cubicBezTo>
                  <a:cubicBezTo>
                    <a:pt x="1398" y="653"/>
                    <a:pt x="1532" y="410"/>
                    <a:pt x="1601" y="277"/>
                  </a:cubicBezTo>
                  <a:cubicBezTo>
                    <a:pt x="1670" y="144"/>
                    <a:pt x="1684" y="58"/>
                    <a:pt x="1706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6219364" y="1362343"/>
              <a:ext cx="1573515" cy="1920495"/>
            </a:xfrm>
            <a:custGeom>
              <a:avLst/>
              <a:gdLst/>
              <a:ahLst/>
              <a:cxnLst>
                <a:cxn ang="0">
                  <a:pos x="1861" y="1980"/>
                </a:cxn>
                <a:cxn ang="0">
                  <a:pos x="1554" y="1861"/>
                </a:cxn>
                <a:cxn ang="0">
                  <a:pos x="1165" y="1629"/>
                </a:cxn>
                <a:cxn ang="0">
                  <a:pos x="761" y="1292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861" h="1980">
                  <a:moveTo>
                    <a:pt x="1861" y="1980"/>
                  </a:moveTo>
                  <a:cubicBezTo>
                    <a:pt x="1811" y="1960"/>
                    <a:pt x="1670" y="1919"/>
                    <a:pt x="1554" y="1861"/>
                  </a:cubicBezTo>
                  <a:cubicBezTo>
                    <a:pt x="1438" y="1803"/>
                    <a:pt x="1297" y="1724"/>
                    <a:pt x="1165" y="1629"/>
                  </a:cubicBezTo>
                  <a:cubicBezTo>
                    <a:pt x="1033" y="1534"/>
                    <a:pt x="886" y="1414"/>
                    <a:pt x="761" y="1292"/>
                  </a:cubicBezTo>
                  <a:cubicBezTo>
                    <a:pt x="636" y="1170"/>
                    <a:pt x="527" y="1063"/>
                    <a:pt x="418" y="899"/>
                  </a:cubicBezTo>
                  <a:cubicBezTo>
                    <a:pt x="309" y="735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102414" name="Text Box 16"/>
            <p:cNvSpPr txBox="1">
              <a:spLocks noChangeArrowheads="1"/>
            </p:cNvSpPr>
            <p:nvPr/>
          </p:nvSpPr>
          <p:spPr bwMode="auto">
            <a:xfrm>
              <a:off x="7589986" y="3162068"/>
              <a:ext cx="569276" cy="397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 I</a:t>
              </a:r>
            </a:p>
          </p:txBody>
        </p:sp>
        <p:sp>
          <p:nvSpPr>
            <p:cNvPr id="102415" name="Text Box 17"/>
            <p:cNvSpPr txBox="1">
              <a:spLocks noChangeArrowheads="1"/>
            </p:cNvSpPr>
            <p:nvPr/>
          </p:nvSpPr>
          <p:spPr bwMode="auto">
            <a:xfrm>
              <a:off x="7431539" y="1649640"/>
              <a:ext cx="1237454" cy="4110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/>
                <a:t>S + KI</a:t>
              </a:r>
            </a:p>
          </p:txBody>
        </p:sp>
        <p:sp>
          <p:nvSpPr>
            <p:cNvPr id="102416" name="Text Box 19"/>
            <p:cNvSpPr txBox="1">
              <a:spLocks noChangeArrowheads="1"/>
            </p:cNvSpPr>
            <p:nvPr/>
          </p:nvSpPr>
          <p:spPr bwMode="auto">
            <a:xfrm>
              <a:off x="6751754" y="3947644"/>
              <a:ext cx="610696" cy="270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S, I</a:t>
              </a:r>
            </a:p>
          </p:txBody>
        </p:sp>
        <p:sp>
          <p:nvSpPr>
            <p:cNvPr id="102417" name="Text Box 20"/>
            <p:cNvSpPr txBox="1">
              <a:spLocks noChangeArrowheads="1"/>
            </p:cNvSpPr>
            <p:nvPr/>
          </p:nvSpPr>
          <p:spPr bwMode="auto">
            <a:xfrm>
              <a:off x="5197111" y="2684817"/>
              <a:ext cx="416258" cy="285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r*</a:t>
              </a:r>
            </a:p>
          </p:txBody>
        </p:sp>
        <p:cxnSp>
          <p:nvCxnSpPr>
            <p:cNvPr id="102418" name="Straight Connector 17"/>
            <p:cNvCxnSpPr>
              <a:cxnSpLocks noChangeShapeType="1"/>
            </p:cNvCxnSpPr>
            <p:nvPr/>
          </p:nvCxnSpPr>
          <p:spPr bwMode="auto">
            <a:xfrm rot="10800000" flipV="1">
              <a:off x="5610831" y="3974104"/>
              <a:ext cx="2946303" cy="87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2419" name="Straight Connector 19"/>
            <p:cNvCxnSpPr>
              <a:cxnSpLocks noChangeShapeType="1"/>
            </p:cNvCxnSpPr>
            <p:nvPr/>
          </p:nvCxnSpPr>
          <p:spPr bwMode="auto">
            <a:xfrm rot="5400000">
              <a:off x="4360498" y="2715064"/>
              <a:ext cx="2504049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20" name="Freeform 12"/>
          <p:cNvSpPr>
            <a:spLocks/>
          </p:cNvSpPr>
          <p:nvPr/>
        </p:nvSpPr>
        <p:spPr bwMode="auto">
          <a:xfrm>
            <a:off x="5969000" y="2998788"/>
            <a:ext cx="1443038" cy="1654175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7372350" y="2970229"/>
            <a:ext cx="3905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3"/>
          <p:cNvSpPr>
            <a:spLocks noGrp="1"/>
          </p:cNvSpPr>
          <p:nvPr>
            <p:ph type="title" idx="4294967295"/>
          </p:nvPr>
        </p:nvSpPr>
        <p:spPr>
          <a:xfrm>
            <a:off x="748864" y="58858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Saving Rate and Trade Deficit</a:t>
            </a:r>
          </a:p>
        </p:txBody>
      </p:sp>
      <p:sp>
        <p:nvSpPr>
          <p:cNvPr id="96258" name="Content Placeholder 4"/>
          <p:cNvSpPr>
            <a:spLocks noGrp="1"/>
          </p:cNvSpPr>
          <p:nvPr>
            <p:ph idx="4294967295"/>
          </p:nvPr>
        </p:nvSpPr>
        <p:spPr>
          <a:xfrm>
            <a:off x="811928" y="2025882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What causes trade deficits?</a:t>
            </a:r>
          </a:p>
          <a:p>
            <a:pPr lvl="1" eaLnBrk="1" hangingPunct="1"/>
            <a:r>
              <a:rPr lang="en-US" dirty="0"/>
              <a:t>Not the production of inferior goods</a:t>
            </a:r>
          </a:p>
          <a:p>
            <a:pPr lvl="1" eaLnBrk="1" hangingPunct="1"/>
            <a:r>
              <a:rPr lang="en-US" dirty="0"/>
              <a:t>Not the result of unfair trade restrictions</a:t>
            </a:r>
          </a:p>
          <a:p>
            <a:pPr lvl="1" eaLnBrk="1" hangingPunct="1"/>
            <a:r>
              <a:rPr lang="en-US" dirty="0"/>
              <a:t>A low rate of national saving is the primary cause</a:t>
            </a:r>
          </a:p>
          <a:p>
            <a:pPr eaLnBrk="1" hangingPunct="1"/>
            <a:r>
              <a:rPr lang="en-US" dirty="0"/>
              <a:t>Recall S – I = NX</a:t>
            </a:r>
          </a:p>
          <a:p>
            <a:pPr lvl="1" eaLnBrk="1" hangingPunct="1"/>
            <a:r>
              <a:rPr lang="en-US" dirty="0"/>
              <a:t>Hold I fixed</a:t>
            </a:r>
          </a:p>
          <a:p>
            <a:pPr lvl="1" eaLnBrk="1" hangingPunct="1"/>
            <a:r>
              <a:rPr lang="en-US" dirty="0"/>
              <a:t>High level of S implies a high level of NX</a:t>
            </a:r>
          </a:p>
          <a:p>
            <a:pPr lvl="1" eaLnBrk="1" hangingPunct="1"/>
            <a:r>
              <a:rPr lang="en-US" dirty="0"/>
              <a:t>Low level of S implies a low level of NX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3"/>
          <p:cNvSpPr>
            <a:spLocks noGrp="1"/>
          </p:cNvSpPr>
          <p:nvPr>
            <p:ph type="title" idx="4294967295"/>
          </p:nvPr>
        </p:nvSpPr>
        <p:spPr>
          <a:xfrm>
            <a:off x="79616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Saving Rate and Trade Deficit</a:t>
            </a:r>
          </a:p>
        </p:txBody>
      </p:sp>
      <p:sp>
        <p:nvSpPr>
          <p:cNvPr id="96258" name="Content Placeholder 4"/>
          <p:cNvSpPr>
            <a:spLocks noGrp="1"/>
          </p:cNvSpPr>
          <p:nvPr>
            <p:ph idx="4294967295"/>
          </p:nvPr>
        </p:nvSpPr>
        <p:spPr>
          <a:xfrm>
            <a:off x="651639" y="1314450"/>
            <a:ext cx="8416162" cy="5362575"/>
          </a:xfrm>
        </p:spPr>
        <p:txBody>
          <a:bodyPr/>
          <a:lstStyle/>
          <a:p>
            <a:pPr eaLnBrk="1" hangingPunct="1"/>
            <a:r>
              <a:rPr lang="en-US" dirty="0"/>
              <a:t>Low rate of national saving is associated with a trade deficit</a:t>
            </a:r>
          </a:p>
          <a:p>
            <a:pPr lvl="1" eaLnBrk="1" hangingPunct="1"/>
            <a:r>
              <a:rPr lang="en-US" dirty="0"/>
              <a:t>Low savings implies high spending</a:t>
            </a:r>
          </a:p>
          <a:p>
            <a:pPr lvl="1" eaLnBrk="1" hangingPunct="1"/>
            <a:r>
              <a:rPr lang="en-US" dirty="0"/>
              <a:t>High spending includes more spent on imports</a:t>
            </a:r>
          </a:p>
          <a:p>
            <a:pPr lvl="1" eaLnBrk="1" hangingPunct="1"/>
            <a:r>
              <a:rPr lang="en-US" dirty="0"/>
              <a:t>High domestic spending leaves less available for export</a:t>
            </a:r>
          </a:p>
          <a:p>
            <a:pPr lvl="1" eaLnBrk="1" hangingPunct="1"/>
            <a:r>
              <a:rPr lang="en-US" dirty="0"/>
              <a:t>High imports and low exports creates trade deficit</a:t>
            </a:r>
          </a:p>
          <a:p>
            <a:pPr eaLnBrk="1" hangingPunct="1"/>
            <a:r>
              <a:rPr lang="en-US" dirty="0"/>
              <a:t>Trade deficit country receives capital inflows</a:t>
            </a:r>
          </a:p>
          <a:p>
            <a:pPr lvl="1" eaLnBrk="1" hangingPunct="1"/>
            <a:r>
              <a:rPr lang="en-US" dirty="0"/>
              <a:t>Lack sufficient saving to finance domestic investment</a:t>
            </a:r>
          </a:p>
          <a:p>
            <a:pPr lvl="1" eaLnBrk="1" hangingPunct="1"/>
            <a:r>
              <a:rPr lang="en-US" dirty="0"/>
              <a:t>Interest rate will rise and attract capital inflows</a:t>
            </a:r>
          </a:p>
          <a:p>
            <a:pPr lvl="1" eaLnBrk="1" hangingPunct="1"/>
            <a:r>
              <a:rPr lang="en-US" sz="2400" dirty="0"/>
              <a:t>Trade deficits are not a problem as long as the economy continues to grow</a:t>
            </a:r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Lecture 12. 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1998</TotalTime>
  <Words>3424</Words>
  <Application>Microsoft Office PowerPoint</Application>
  <PresentationFormat>On-screen Show (4:3)</PresentationFormat>
  <Paragraphs>419</Paragraphs>
  <Slides>46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Symbol</vt:lpstr>
      <vt:lpstr>Times New Roman</vt:lpstr>
      <vt:lpstr>Default Design</vt:lpstr>
      <vt:lpstr>HE5091 Principles of Economics Lecture 12 Exchange Rate, International Trade and Capital Flow</vt:lpstr>
      <vt:lpstr>Topics</vt:lpstr>
      <vt:lpstr>Importance of Exchange Rates</vt:lpstr>
      <vt:lpstr>Nominal Exchange Rates</vt:lpstr>
      <vt:lpstr>PowerPoint Presentation</vt:lpstr>
      <vt:lpstr>U.S. Nominal Exchange Rate, 1973 - 2012</vt:lpstr>
      <vt:lpstr>Changes in Exchange Rates</vt:lpstr>
      <vt:lpstr>Exchange Rates</vt:lpstr>
      <vt:lpstr>Exchange Rate Strategies</vt:lpstr>
      <vt:lpstr>Flexible Exchange Rate in the Short Run</vt:lpstr>
      <vt:lpstr>Supply of U.S. Dollars in Foreign Exchange Market</vt:lpstr>
      <vt:lpstr>Demand for U.S. Dollars in Foreign Exchange Market</vt:lpstr>
      <vt:lpstr>The Dollar – Yen Market</vt:lpstr>
      <vt:lpstr>Supply of U.S. Dollars in Foreign Exchange Market</vt:lpstr>
      <vt:lpstr>An Increase in the Supply of U.S. Dollars</vt:lpstr>
      <vt:lpstr>Demand for U.S. Dollars in Foreign Exchange Market</vt:lpstr>
      <vt:lpstr>Strong Currency</vt:lpstr>
      <vt:lpstr>Monetary Policy and the Exchange Rate</vt:lpstr>
      <vt:lpstr>Tighter Monetary Policy</vt:lpstr>
      <vt:lpstr>Monetary Policy and the Exchange Rate</vt:lpstr>
      <vt:lpstr>Fixed Exchange Rates</vt:lpstr>
      <vt:lpstr>Fixed Exchange Rates</vt:lpstr>
      <vt:lpstr>Exchange Rate and Monetary Policy</vt:lpstr>
      <vt:lpstr>Fixed Exchange Rate System</vt:lpstr>
      <vt:lpstr>Real Exchange Rates</vt:lpstr>
      <vt:lpstr>Real Exchange Rate – An Example</vt:lpstr>
      <vt:lpstr>Real Exchange Rates</vt:lpstr>
      <vt:lpstr>Real Exchange Rate</vt:lpstr>
      <vt:lpstr>Theory of Exchange Rate</vt:lpstr>
      <vt:lpstr>Law of One Price</vt:lpstr>
      <vt:lpstr>PPP – An Example</vt:lpstr>
      <vt:lpstr>Inflation and Currency Depreciation in South America, 1995-2004</vt:lpstr>
      <vt:lpstr>PPP Theory</vt:lpstr>
      <vt:lpstr>International Trade</vt:lpstr>
      <vt:lpstr>Trade Balance</vt:lpstr>
      <vt:lpstr>Capital Flows</vt:lpstr>
      <vt:lpstr>Trade Balance (NX) and Net Capital Inflows (KI)</vt:lpstr>
      <vt:lpstr>International Capital Flows</vt:lpstr>
      <vt:lpstr>Two Roles of International Capital Flows</vt:lpstr>
      <vt:lpstr>International Capital Flows</vt:lpstr>
      <vt:lpstr>Risk and Capital Inflows</vt:lpstr>
      <vt:lpstr>Savings, Investment, Capital Inflows</vt:lpstr>
      <vt:lpstr>S + KI = I</vt:lpstr>
      <vt:lpstr>Saving Rate and Trade Deficit</vt:lpstr>
      <vt:lpstr>Saving Rate and Trade Deficit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160</cp:revision>
  <dcterms:created xsi:type="dcterms:W3CDTF">2010-08-19T13:36:39Z</dcterms:created>
  <dcterms:modified xsi:type="dcterms:W3CDTF">2024-08-07T02:50:22Z</dcterms:modified>
</cp:coreProperties>
</file>