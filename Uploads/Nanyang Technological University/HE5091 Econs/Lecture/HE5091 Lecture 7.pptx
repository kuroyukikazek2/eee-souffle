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7" r:id="rId1"/>
  </p:sldMasterIdLst>
  <p:notesMasterIdLst>
    <p:notesMasterId r:id="rId63"/>
  </p:notesMasterIdLst>
  <p:handoutMasterIdLst>
    <p:handoutMasterId r:id="rId64"/>
  </p:handoutMasterIdLst>
  <p:sldIdLst>
    <p:sldId id="384" r:id="rId2"/>
    <p:sldId id="385" r:id="rId3"/>
    <p:sldId id="388" r:id="rId4"/>
    <p:sldId id="389" r:id="rId5"/>
    <p:sldId id="390" r:id="rId6"/>
    <p:sldId id="392" r:id="rId7"/>
    <p:sldId id="393" r:id="rId8"/>
    <p:sldId id="394" r:id="rId9"/>
    <p:sldId id="395" r:id="rId10"/>
    <p:sldId id="396" r:id="rId11"/>
    <p:sldId id="397" r:id="rId12"/>
    <p:sldId id="398" r:id="rId13"/>
    <p:sldId id="399" r:id="rId14"/>
    <p:sldId id="400" r:id="rId15"/>
    <p:sldId id="401" r:id="rId16"/>
    <p:sldId id="402" r:id="rId17"/>
    <p:sldId id="403" r:id="rId18"/>
    <p:sldId id="404" r:id="rId19"/>
    <p:sldId id="461" r:id="rId20"/>
    <p:sldId id="405" r:id="rId21"/>
    <p:sldId id="406" r:id="rId22"/>
    <p:sldId id="407" r:id="rId23"/>
    <p:sldId id="408" r:id="rId24"/>
    <p:sldId id="409" r:id="rId25"/>
    <p:sldId id="410" r:id="rId26"/>
    <p:sldId id="411" r:id="rId27"/>
    <p:sldId id="412" r:id="rId28"/>
    <p:sldId id="413" r:id="rId29"/>
    <p:sldId id="414" r:id="rId30"/>
    <p:sldId id="415" r:id="rId31"/>
    <p:sldId id="416" r:id="rId32"/>
    <p:sldId id="419" r:id="rId33"/>
    <p:sldId id="420" r:id="rId34"/>
    <p:sldId id="424" r:id="rId35"/>
    <p:sldId id="425" r:id="rId36"/>
    <p:sldId id="426" r:id="rId37"/>
    <p:sldId id="427" r:id="rId38"/>
    <p:sldId id="429" r:id="rId39"/>
    <p:sldId id="430" r:id="rId40"/>
    <p:sldId id="431" r:id="rId41"/>
    <p:sldId id="432" r:id="rId42"/>
    <p:sldId id="434" r:id="rId43"/>
    <p:sldId id="436" r:id="rId44"/>
    <p:sldId id="437" r:id="rId45"/>
    <p:sldId id="439" r:id="rId46"/>
    <p:sldId id="440" r:id="rId47"/>
    <p:sldId id="441" r:id="rId48"/>
    <p:sldId id="442" r:id="rId49"/>
    <p:sldId id="443" r:id="rId50"/>
    <p:sldId id="444" r:id="rId51"/>
    <p:sldId id="447" r:id="rId52"/>
    <p:sldId id="448" r:id="rId53"/>
    <p:sldId id="449" r:id="rId54"/>
    <p:sldId id="451" r:id="rId55"/>
    <p:sldId id="452" r:id="rId56"/>
    <p:sldId id="453" r:id="rId57"/>
    <p:sldId id="455" r:id="rId58"/>
    <p:sldId id="456" r:id="rId59"/>
    <p:sldId id="458" r:id="rId60"/>
    <p:sldId id="459" r:id="rId61"/>
    <p:sldId id="460" r:id="rId62"/>
  </p:sldIdLst>
  <p:sldSz cx="9144000" cy="6858000" type="screen4x3"/>
  <p:notesSz cx="6858000" cy="91170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1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5726">
          <p15:clr>
            <a:srgbClr val="A4A3A4"/>
          </p15:clr>
        </p15:guide>
        <p15:guide id="2" pos="431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6A5218"/>
    <a:srgbClr val="FFFFCC"/>
    <a:srgbClr val="5CBE02"/>
    <a:srgbClr val="C5E3E5"/>
    <a:srgbClr val="CBE2C8"/>
    <a:srgbClr val="AFD3FB"/>
    <a:srgbClr val="F7FFF4"/>
    <a:srgbClr val="F1FFFF"/>
    <a:srgbClr val="F6FF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8" autoAdjust="0"/>
    <p:restoredTop sz="86509" autoAdjust="0"/>
  </p:normalViewPr>
  <p:slideViewPr>
    <p:cSldViewPr snapToGrid="0">
      <p:cViewPr varScale="1">
        <p:scale>
          <a:sx n="58" d="100"/>
          <a:sy n="58" d="100"/>
        </p:scale>
        <p:origin x="816" y="36"/>
      </p:cViewPr>
      <p:guideLst>
        <p:guide orient="horz" pos="4311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-12500"/>
    </p:cViewPr>
  </p:sorterViewPr>
  <p:notesViewPr>
    <p:cSldViewPr snapToGrid="0">
      <p:cViewPr>
        <p:scale>
          <a:sx n="110" d="100"/>
          <a:sy n="110" d="100"/>
        </p:scale>
        <p:origin x="-2320" y="1456"/>
      </p:cViewPr>
      <p:guideLst>
        <p:guide orient="horz" pos="5726"/>
        <p:guide pos="4319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Research\McGraw%20Hill\Revised%20Chapters\Figure%2016.3-4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4928700444852424E-2"/>
          <c:y val="5.527297053874252E-2"/>
          <c:w val="0.89494440908597395"/>
          <c:h val="0.75277726152342905"/>
        </c:manualLayout>
      </c:layout>
      <c:scatterChart>
        <c:scatterStyle val="lineMarker"/>
        <c:varyColors val="0"/>
        <c:ser>
          <c:idx val="0"/>
          <c:order val="0"/>
          <c:spPr>
            <a:ln w="38100">
              <a:solidFill>
                <a:schemeClr val="tx2"/>
              </a:solidFill>
            </a:ln>
          </c:spPr>
          <c:marker>
            <c:symbol val="none"/>
          </c:marker>
          <c:xVal>
            <c:numRef>
              <c:f>'Data 16.3 and 16.4'!$A$5:$A$47</c:f>
              <c:numCache>
                <c:formatCode>General</c:formatCode>
                <c:ptCount val="43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  <c:pt idx="31">
                  <c:v>2001</c:v>
                </c:pt>
                <c:pt idx="32">
                  <c:v>2002</c:v>
                </c:pt>
                <c:pt idx="33">
                  <c:v>2003</c:v>
                </c:pt>
                <c:pt idx="34">
                  <c:v>2004</c:v>
                </c:pt>
                <c:pt idx="35">
                  <c:v>2005</c:v>
                </c:pt>
                <c:pt idx="36">
                  <c:v>2006</c:v>
                </c:pt>
                <c:pt idx="37">
                  <c:v>2007</c:v>
                </c:pt>
                <c:pt idx="38">
                  <c:v>2008</c:v>
                </c:pt>
                <c:pt idx="39">
                  <c:v>2009</c:v>
                </c:pt>
                <c:pt idx="40">
                  <c:v>2010</c:v>
                </c:pt>
                <c:pt idx="41">
                  <c:v>2011</c:v>
                </c:pt>
                <c:pt idx="42">
                  <c:v>2012</c:v>
                </c:pt>
              </c:numCache>
            </c:numRef>
          </c:xVal>
          <c:yVal>
            <c:numRef>
              <c:f>'Data 16.3 and 16.4'!$B$5:$B$47</c:f>
              <c:numCache>
                <c:formatCode>0.0</c:formatCode>
                <c:ptCount val="43"/>
                <c:pt idx="0">
                  <c:v>7.35</c:v>
                </c:pt>
                <c:pt idx="1">
                  <c:v>6.1599999999999975</c:v>
                </c:pt>
                <c:pt idx="2">
                  <c:v>6.21</c:v>
                </c:pt>
                <c:pt idx="3">
                  <c:v>6.85</c:v>
                </c:pt>
                <c:pt idx="4">
                  <c:v>7.56</c:v>
                </c:pt>
                <c:pt idx="5">
                  <c:v>7.99</c:v>
                </c:pt>
                <c:pt idx="6">
                  <c:v>7.6099999999999985</c:v>
                </c:pt>
                <c:pt idx="7">
                  <c:v>7.42</c:v>
                </c:pt>
                <c:pt idx="8">
                  <c:v>8.41</c:v>
                </c:pt>
                <c:pt idx="9">
                  <c:v>9.43</c:v>
                </c:pt>
                <c:pt idx="10">
                  <c:v>11.43</c:v>
                </c:pt>
                <c:pt idx="11">
                  <c:v>13.92</c:v>
                </c:pt>
                <c:pt idx="12">
                  <c:v>13.01</c:v>
                </c:pt>
                <c:pt idx="13">
                  <c:v>11.1</c:v>
                </c:pt>
                <c:pt idx="14">
                  <c:v>12.46</c:v>
                </c:pt>
                <c:pt idx="15">
                  <c:v>10.62</c:v>
                </c:pt>
                <c:pt idx="16">
                  <c:v>7.67</c:v>
                </c:pt>
                <c:pt idx="17">
                  <c:v>8.39</c:v>
                </c:pt>
                <c:pt idx="18">
                  <c:v>8.8500000000000068</c:v>
                </c:pt>
                <c:pt idx="19">
                  <c:v>8.49</c:v>
                </c:pt>
                <c:pt idx="20">
                  <c:v>8.5500000000000007</c:v>
                </c:pt>
                <c:pt idx="21">
                  <c:v>7.8599999999999985</c:v>
                </c:pt>
                <c:pt idx="22">
                  <c:v>7.01</c:v>
                </c:pt>
                <c:pt idx="23">
                  <c:v>5.87</c:v>
                </c:pt>
                <c:pt idx="24">
                  <c:v>7.09</c:v>
                </c:pt>
                <c:pt idx="25">
                  <c:v>6.57</c:v>
                </c:pt>
                <c:pt idx="26">
                  <c:v>6.44</c:v>
                </c:pt>
                <c:pt idx="27">
                  <c:v>6.35</c:v>
                </c:pt>
                <c:pt idx="28">
                  <c:v>5.26</c:v>
                </c:pt>
                <c:pt idx="29">
                  <c:v>5.6499999999999995</c:v>
                </c:pt>
                <c:pt idx="30">
                  <c:v>6.03</c:v>
                </c:pt>
                <c:pt idx="31">
                  <c:v>5.0199999999999996</c:v>
                </c:pt>
                <c:pt idx="32">
                  <c:v>4.6099999999999985</c:v>
                </c:pt>
                <c:pt idx="33">
                  <c:v>4.01</c:v>
                </c:pt>
                <c:pt idx="34">
                  <c:v>4.2699999999999996</c:v>
                </c:pt>
                <c:pt idx="35">
                  <c:v>4.29</c:v>
                </c:pt>
                <c:pt idx="36">
                  <c:v>4.8</c:v>
                </c:pt>
                <c:pt idx="37">
                  <c:v>4.63</c:v>
                </c:pt>
                <c:pt idx="38">
                  <c:v>3.66</c:v>
                </c:pt>
                <c:pt idx="39">
                  <c:v>3.2600000000000002</c:v>
                </c:pt>
                <c:pt idx="40">
                  <c:v>3.22</c:v>
                </c:pt>
                <c:pt idx="41">
                  <c:v>2.7800000000000002</c:v>
                </c:pt>
                <c:pt idx="42">
                  <c:v>1.8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1FC-4B41-B398-678F04E7BDB2}"/>
            </c:ext>
          </c:extLst>
        </c:ser>
        <c:ser>
          <c:idx val="1"/>
          <c:order val="1"/>
          <c:spPr>
            <a:ln>
              <a:solidFill>
                <a:srgbClr val="C00000"/>
              </a:solidFill>
            </a:ln>
          </c:spPr>
          <c:marker>
            <c:symbol val="none"/>
          </c:marker>
          <c:xVal>
            <c:numRef>
              <c:f>'Data 16.3 and 16.4'!$A$5:$A$47</c:f>
              <c:numCache>
                <c:formatCode>General</c:formatCode>
                <c:ptCount val="43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  <c:pt idx="31">
                  <c:v>2001</c:v>
                </c:pt>
                <c:pt idx="32">
                  <c:v>2002</c:v>
                </c:pt>
                <c:pt idx="33">
                  <c:v>2003</c:v>
                </c:pt>
                <c:pt idx="34">
                  <c:v>2004</c:v>
                </c:pt>
                <c:pt idx="35">
                  <c:v>2005</c:v>
                </c:pt>
                <c:pt idx="36">
                  <c:v>2006</c:v>
                </c:pt>
                <c:pt idx="37">
                  <c:v>2007</c:v>
                </c:pt>
                <c:pt idx="38">
                  <c:v>2008</c:v>
                </c:pt>
                <c:pt idx="39">
                  <c:v>2009</c:v>
                </c:pt>
                <c:pt idx="40">
                  <c:v>2010</c:v>
                </c:pt>
                <c:pt idx="41">
                  <c:v>2011</c:v>
                </c:pt>
                <c:pt idx="42">
                  <c:v>2012</c:v>
                </c:pt>
              </c:numCache>
            </c:numRef>
          </c:xVal>
          <c:yVal>
            <c:numRef>
              <c:f>'Data 16.3 and 16.4'!$C$5:$C$47</c:f>
              <c:numCache>
                <c:formatCode>General</c:formatCode>
                <c:ptCount val="43"/>
                <c:pt idx="0">
                  <c:v>5.7</c:v>
                </c:pt>
                <c:pt idx="1">
                  <c:v>4.4000000000000004</c:v>
                </c:pt>
                <c:pt idx="2">
                  <c:v>3.2</c:v>
                </c:pt>
                <c:pt idx="3">
                  <c:v>6.2</c:v>
                </c:pt>
                <c:pt idx="4">
                  <c:v>11</c:v>
                </c:pt>
                <c:pt idx="5">
                  <c:v>9.1</c:v>
                </c:pt>
                <c:pt idx="6">
                  <c:v>5.8</c:v>
                </c:pt>
                <c:pt idx="7">
                  <c:v>6.5</c:v>
                </c:pt>
                <c:pt idx="8">
                  <c:v>7.6</c:v>
                </c:pt>
                <c:pt idx="9">
                  <c:v>11.3</c:v>
                </c:pt>
                <c:pt idx="10">
                  <c:v>13.5</c:v>
                </c:pt>
                <c:pt idx="11">
                  <c:v>10.3</c:v>
                </c:pt>
                <c:pt idx="12">
                  <c:v>6.2</c:v>
                </c:pt>
                <c:pt idx="13">
                  <c:v>3.2</c:v>
                </c:pt>
                <c:pt idx="14">
                  <c:v>4.3</c:v>
                </c:pt>
                <c:pt idx="15">
                  <c:v>3.6</c:v>
                </c:pt>
                <c:pt idx="16">
                  <c:v>1.9</c:v>
                </c:pt>
                <c:pt idx="17">
                  <c:v>3.6</c:v>
                </c:pt>
                <c:pt idx="18">
                  <c:v>4.0999999999999996</c:v>
                </c:pt>
                <c:pt idx="19">
                  <c:v>4.8</c:v>
                </c:pt>
                <c:pt idx="20">
                  <c:v>5.4</c:v>
                </c:pt>
                <c:pt idx="21">
                  <c:v>4.2</c:v>
                </c:pt>
                <c:pt idx="22">
                  <c:v>3</c:v>
                </c:pt>
                <c:pt idx="23">
                  <c:v>3</c:v>
                </c:pt>
                <c:pt idx="24">
                  <c:v>2.6</c:v>
                </c:pt>
                <c:pt idx="25">
                  <c:v>2.8</c:v>
                </c:pt>
                <c:pt idx="26">
                  <c:v>3</c:v>
                </c:pt>
                <c:pt idx="27">
                  <c:v>2.2999999999999998</c:v>
                </c:pt>
                <c:pt idx="28">
                  <c:v>1.6</c:v>
                </c:pt>
                <c:pt idx="29">
                  <c:v>2.2000000000000002</c:v>
                </c:pt>
                <c:pt idx="30">
                  <c:v>3.4</c:v>
                </c:pt>
                <c:pt idx="31">
                  <c:v>2.8</c:v>
                </c:pt>
                <c:pt idx="32">
                  <c:v>1.6</c:v>
                </c:pt>
                <c:pt idx="33">
                  <c:v>2.2999999999999998</c:v>
                </c:pt>
                <c:pt idx="34">
                  <c:v>2.7</c:v>
                </c:pt>
                <c:pt idx="35">
                  <c:v>3.4</c:v>
                </c:pt>
                <c:pt idx="36">
                  <c:v>3.2</c:v>
                </c:pt>
                <c:pt idx="37">
                  <c:v>2.8</c:v>
                </c:pt>
                <c:pt idx="38">
                  <c:v>3.8</c:v>
                </c:pt>
                <c:pt idx="39">
                  <c:v>-0.4</c:v>
                </c:pt>
                <c:pt idx="40">
                  <c:v>1.6</c:v>
                </c:pt>
                <c:pt idx="41">
                  <c:v>3.2</c:v>
                </c:pt>
                <c:pt idx="42">
                  <c:v>2.1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1FC-4B41-B398-678F04E7BD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592384"/>
        <c:axId val="70788224"/>
      </c:scatterChart>
      <c:valAx>
        <c:axId val="70592384"/>
        <c:scaling>
          <c:orientation val="minMax"/>
          <c:max val="2012"/>
          <c:min val="197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Year</a:t>
                </a:r>
              </a:p>
            </c:rich>
          </c:tx>
          <c:layout>
            <c:manualLayout>
              <c:xMode val="edge"/>
              <c:yMode val="edge"/>
              <c:x val="0.50942073066168969"/>
              <c:y val="0.91469223905725316"/>
            </c:manualLayout>
          </c:layout>
          <c:overlay val="0"/>
        </c:title>
        <c:numFmt formatCode="General" sourceLinked="1"/>
        <c:majorTickMark val="none"/>
        <c:minorTickMark val="none"/>
        <c:tickLblPos val="low"/>
        <c:txPr>
          <a:bodyPr rot="-5400000" vert="horz"/>
          <a:lstStyle/>
          <a:p>
            <a:pPr>
              <a:defRPr b="1" i="0" baseline="0"/>
            </a:pPr>
            <a:endParaRPr lang="en-US"/>
          </a:p>
        </c:txPr>
        <c:crossAx val="70788224"/>
        <c:crossesAt val="0"/>
        <c:crossBetween val="midCat"/>
        <c:majorUnit val="5"/>
      </c:valAx>
      <c:valAx>
        <c:axId val="70788224"/>
        <c:scaling>
          <c:orientation val="minMax"/>
          <c:max val="15"/>
          <c:min val="-2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Inflation and interest rates  (%/year)</a:t>
                </a:r>
              </a:p>
            </c:rich>
          </c:tx>
          <c:layout>
            <c:manualLayout>
              <c:xMode val="edge"/>
              <c:yMode val="edge"/>
              <c:x val="8.1923309890938791E-3"/>
              <c:y val="0.16712297445467084"/>
            </c:manualLayout>
          </c:layout>
          <c:overlay val="0"/>
        </c:title>
        <c:numFmt formatCode="#,##0" sourceLinked="0"/>
        <c:majorTickMark val="in"/>
        <c:minorTickMark val="in"/>
        <c:tickLblPos val="low"/>
        <c:txPr>
          <a:bodyPr/>
          <a:lstStyle/>
          <a:p>
            <a:pPr>
              <a:defRPr b="1" i="0" baseline="0"/>
            </a:pPr>
            <a:endParaRPr lang="en-US"/>
          </a:p>
        </c:txPr>
        <c:crossAx val="70592384"/>
        <c:crosses val="autoZero"/>
        <c:crossBetween val="midCat"/>
        <c:majorUnit val="2"/>
        <c:minorUnit val="2"/>
      </c:valAx>
      <c:spPr>
        <a:noFill/>
        <a:ln>
          <a:solidFill>
            <a:schemeClr val="tx1"/>
          </a:solidFill>
        </a:ln>
      </c:spPr>
    </c:plotArea>
    <c:plotVisOnly val="1"/>
    <c:dispBlanksAs val="gap"/>
    <c:showDLblsOverMax val="0"/>
  </c:chart>
  <c:txPr>
    <a:bodyPr/>
    <a:lstStyle/>
    <a:p>
      <a:pPr>
        <a:defRPr sz="1300" baseline="0"/>
      </a:pPr>
      <a:endParaRPr lang="en-US"/>
    </a:p>
  </c:txPr>
  <c:externalData r:id="rId1">
    <c:autoUpdate val="0"/>
  </c:externalData>
  <c:userShapes r:id="rId2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361DE2-6D1D-43FF-96BF-CFF4EF0D69E3}" type="doc">
      <dgm:prSet loTypeId="urn:microsoft.com/office/officeart/2005/8/layout/vProcess5" loCatId="process" qsTypeId="urn:microsoft.com/office/officeart/2005/8/quickstyle/3d2#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2E6ACEC-136B-43CC-B041-1902ECC9C6A4}">
      <dgm:prSet phldrT="[Text]" custT="1"/>
      <dgm:spPr/>
      <dgm:t>
        <a:bodyPr/>
        <a:lstStyle/>
        <a:p>
          <a:r>
            <a:rPr lang="en-US" sz="2400" dirty="0"/>
            <a:t>The market value of </a:t>
          </a:r>
        </a:p>
      </dgm:t>
    </dgm:pt>
    <dgm:pt modelId="{76B1F5F9-C4E0-4E1F-A5CB-C85120C6F1A8}" type="parTrans" cxnId="{84327F74-DD97-44C2-A36D-5406B179FA32}">
      <dgm:prSet/>
      <dgm:spPr/>
      <dgm:t>
        <a:bodyPr/>
        <a:lstStyle/>
        <a:p>
          <a:endParaRPr lang="en-US" sz="2400"/>
        </a:p>
      </dgm:t>
    </dgm:pt>
    <dgm:pt modelId="{546D6A4A-088B-4C98-8B5F-2F5A769AA2DF}" type="sibTrans" cxnId="{84327F74-DD97-44C2-A36D-5406B179FA32}">
      <dgm:prSet custT="1"/>
      <dgm:spPr/>
      <dgm:t>
        <a:bodyPr/>
        <a:lstStyle/>
        <a:p>
          <a:endParaRPr lang="en-US" sz="2400"/>
        </a:p>
      </dgm:t>
    </dgm:pt>
    <dgm:pt modelId="{583C6CDA-4352-4B1C-9B75-CBC6EBBF9ACF}">
      <dgm:prSet phldrT="[Text]" custT="1"/>
      <dgm:spPr/>
      <dgm:t>
        <a:bodyPr/>
        <a:lstStyle/>
        <a:p>
          <a:r>
            <a:rPr lang="en-US" sz="2400" dirty="0"/>
            <a:t>Final goods and services</a:t>
          </a:r>
        </a:p>
      </dgm:t>
    </dgm:pt>
    <dgm:pt modelId="{8C80A96E-1FE5-4EA8-8BD2-D4BC25037B4E}" type="parTrans" cxnId="{A70C6227-1DE0-453D-81A9-5F3B30BA909F}">
      <dgm:prSet/>
      <dgm:spPr/>
      <dgm:t>
        <a:bodyPr/>
        <a:lstStyle/>
        <a:p>
          <a:endParaRPr lang="en-US" sz="2400"/>
        </a:p>
      </dgm:t>
    </dgm:pt>
    <dgm:pt modelId="{30FF9B22-204C-43FF-8124-0DA8343FA831}" type="sibTrans" cxnId="{A70C6227-1DE0-453D-81A9-5F3B30BA909F}">
      <dgm:prSet custT="1"/>
      <dgm:spPr/>
      <dgm:t>
        <a:bodyPr/>
        <a:lstStyle/>
        <a:p>
          <a:endParaRPr lang="en-US" sz="2400"/>
        </a:p>
      </dgm:t>
    </dgm:pt>
    <dgm:pt modelId="{D59B9642-9FE1-4E4F-849C-A8D054D2327A}">
      <dgm:prSet phldrT="[Text]" custT="1"/>
      <dgm:spPr/>
      <dgm:t>
        <a:bodyPr/>
        <a:lstStyle/>
        <a:p>
          <a:r>
            <a:rPr lang="en-US" sz="2400" dirty="0"/>
            <a:t>Produced in a country in a given period of time</a:t>
          </a:r>
        </a:p>
      </dgm:t>
    </dgm:pt>
    <dgm:pt modelId="{B4891408-2F6A-4C3C-8205-CFF0DF4283B8}" type="parTrans" cxnId="{D40701DE-0201-4947-B6A2-B8A34AF04C5F}">
      <dgm:prSet/>
      <dgm:spPr/>
      <dgm:t>
        <a:bodyPr/>
        <a:lstStyle/>
        <a:p>
          <a:endParaRPr lang="en-US" sz="2400"/>
        </a:p>
      </dgm:t>
    </dgm:pt>
    <dgm:pt modelId="{538AEC9B-1A5B-48CE-8A5C-815CAC386F7C}" type="sibTrans" cxnId="{D40701DE-0201-4947-B6A2-B8A34AF04C5F}">
      <dgm:prSet/>
      <dgm:spPr/>
      <dgm:t>
        <a:bodyPr/>
        <a:lstStyle/>
        <a:p>
          <a:endParaRPr lang="en-US" sz="2400"/>
        </a:p>
      </dgm:t>
    </dgm:pt>
    <dgm:pt modelId="{4F1CFE6E-647A-497C-9E63-7DD9CDE9AC6F}">
      <dgm:prSet phldrT="[Text]" custT="1"/>
      <dgm:spPr/>
      <dgm:t>
        <a:bodyPr/>
        <a:lstStyle/>
        <a:p>
          <a:r>
            <a:rPr lang="en-US" sz="2400" b="1" dirty="0"/>
            <a:t>Gross Domestic Product</a:t>
          </a:r>
          <a:r>
            <a:rPr lang="en-US" sz="2400" dirty="0"/>
            <a:t> (GDP) is</a:t>
          </a:r>
        </a:p>
      </dgm:t>
    </dgm:pt>
    <dgm:pt modelId="{57A78606-60DE-4E00-BDD4-E7FE64D8ACBA}" type="sibTrans" cxnId="{E8345F03-32B8-4937-92B1-6F2FAF5D25FD}">
      <dgm:prSet custT="1"/>
      <dgm:spPr/>
      <dgm:t>
        <a:bodyPr/>
        <a:lstStyle/>
        <a:p>
          <a:endParaRPr lang="en-US" sz="2400"/>
        </a:p>
      </dgm:t>
    </dgm:pt>
    <dgm:pt modelId="{DCFBC3A1-C14A-4377-B360-F455ACC36BC6}" type="parTrans" cxnId="{E8345F03-32B8-4937-92B1-6F2FAF5D25FD}">
      <dgm:prSet/>
      <dgm:spPr/>
      <dgm:t>
        <a:bodyPr/>
        <a:lstStyle/>
        <a:p>
          <a:endParaRPr lang="en-US" sz="2400"/>
        </a:p>
      </dgm:t>
    </dgm:pt>
    <dgm:pt modelId="{4EED6663-2A9A-43EF-BF33-B0AEFE5E3E18}" type="pres">
      <dgm:prSet presAssocID="{4B361DE2-6D1D-43FF-96BF-CFF4EF0D69E3}" presName="outerComposite" presStyleCnt="0">
        <dgm:presLayoutVars>
          <dgm:chMax val="5"/>
          <dgm:dir/>
          <dgm:resizeHandles val="exact"/>
        </dgm:presLayoutVars>
      </dgm:prSet>
      <dgm:spPr/>
    </dgm:pt>
    <dgm:pt modelId="{BD5BB55C-1353-42CE-A1EF-9E81D097D7CF}" type="pres">
      <dgm:prSet presAssocID="{4B361DE2-6D1D-43FF-96BF-CFF4EF0D69E3}" presName="dummyMaxCanvas" presStyleCnt="0">
        <dgm:presLayoutVars/>
      </dgm:prSet>
      <dgm:spPr/>
    </dgm:pt>
    <dgm:pt modelId="{36C1BDB8-24FE-42C0-B498-F19FD0B77632}" type="pres">
      <dgm:prSet presAssocID="{4B361DE2-6D1D-43FF-96BF-CFF4EF0D69E3}" presName="FourNodes_1" presStyleLbl="node1" presStyleIdx="0" presStyleCnt="4">
        <dgm:presLayoutVars>
          <dgm:bulletEnabled val="1"/>
        </dgm:presLayoutVars>
      </dgm:prSet>
      <dgm:spPr/>
    </dgm:pt>
    <dgm:pt modelId="{BAD8514C-9B94-4B38-951C-BA62782B8E32}" type="pres">
      <dgm:prSet presAssocID="{4B361DE2-6D1D-43FF-96BF-CFF4EF0D69E3}" presName="FourNodes_2" presStyleLbl="node1" presStyleIdx="1" presStyleCnt="4">
        <dgm:presLayoutVars>
          <dgm:bulletEnabled val="1"/>
        </dgm:presLayoutVars>
      </dgm:prSet>
      <dgm:spPr/>
    </dgm:pt>
    <dgm:pt modelId="{70CA8332-0425-4346-9A1B-E16059A3AB70}" type="pres">
      <dgm:prSet presAssocID="{4B361DE2-6D1D-43FF-96BF-CFF4EF0D69E3}" presName="FourNodes_3" presStyleLbl="node1" presStyleIdx="2" presStyleCnt="4">
        <dgm:presLayoutVars>
          <dgm:bulletEnabled val="1"/>
        </dgm:presLayoutVars>
      </dgm:prSet>
      <dgm:spPr/>
    </dgm:pt>
    <dgm:pt modelId="{6432AB89-5F10-4BC0-B93F-6FA54D66182A}" type="pres">
      <dgm:prSet presAssocID="{4B361DE2-6D1D-43FF-96BF-CFF4EF0D69E3}" presName="FourNodes_4" presStyleLbl="node1" presStyleIdx="3" presStyleCnt="4">
        <dgm:presLayoutVars>
          <dgm:bulletEnabled val="1"/>
        </dgm:presLayoutVars>
      </dgm:prSet>
      <dgm:spPr/>
    </dgm:pt>
    <dgm:pt modelId="{B15207C2-DCC4-478A-BA6C-593F4A3393CD}" type="pres">
      <dgm:prSet presAssocID="{4B361DE2-6D1D-43FF-96BF-CFF4EF0D69E3}" presName="FourConn_1-2" presStyleLbl="fgAccFollowNode1" presStyleIdx="0" presStyleCnt="3">
        <dgm:presLayoutVars>
          <dgm:bulletEnabled val="1"/>
        </dgm:presLayoutVars>
      </dgm:prSet>
      <dgm:spPr/>
    </dgm:pt>
    <dgm:pt modelId="{9016E083-35A9-425A-B0A5-CC7FFF1B67D7}" type="pres">
      <dgm:prSet presAssocID="{4B361DE2-6D1D-43FF-96BF-CFF4EF0D69E3}" presName="FourConn_2-3" presStyleLbl="fgAccFollowNode1" presStyleIdx="1" presStyleCnt="3">
        <dgm:presLayoutVars>
          <dgm:bulletEnabled val="1"/>
        </dgm:presLayoutVars>
      </dgm:prSet>
      <dgm:spPr/>
    </dgm:pt>
    <dgm:pt modelId="{FBF88176-8DDD-430A-BDD9-B0260D7C1101}" type="pres">
      <dgm:prSet presAssocID="{4B361DE2-6D1D-43FF-96BF-CFF4EF0D69E3}" presName="FourConn_3-4" presStyleLbl="fgAccFollowNode1" presStyleIdx="2" presStyleCnt="3">
        <dgm:presLayoutVars>
          <dgm:bulletEnabled val="1"/>
        </dgm:presLayoutVars>
      </dgm:prSet>
      <dgm:spPr/>
    </dgm:pt>
    <dgm:pt modelId="{7E746E13-0D49-4AE1-A2F7-DD3B8C8FC46C}" type="pres">
      <dgm:prSet presAssocID="{4B361DE2-6D1D-43FF-96BF-CFF4EF0D69E3}" presName="FourNodes_1_text" presStyleLbl="node1" presStyleIdx="3" presStyleCnt="4">
        <dgm:presLayoutVars>
          <dgm:bulletEnabled val="1"/>
        </dgm:presLayoutVars>
      </dgm:prSet>
      <dgm:spPr/>
    </dgm:pt>
    <dgm:pt modelId="{7AA10A2B-BD95-4F5F-B47E-864CACD9A360}" type="pres">
      <dgm:prSet presAssocID="{4B361DE2-6D1D-43FF-96BF-CFF4EF0D69E3}" presName="FourNodes_2_text" presStyleLbl="node1" presStyleIdx="3" presStyleCnt="4">
        <dgm:presLayoutVars>
          <dgm:bulletEnabled val="1"/>
        </dgm:presLayoutVars>
      </dgm:prSet>
      <dgm:spPr/>
    </dgm:pt>
    <dgm:pt modelId="{5D25EC43-3587-4194-B4B3-8D2A6AFCDDB3}" type="pres">
      <dgm:prSet presAssocID="{4B361DE2-6D1D-43FF-96BF-CFF4EF0D69E3}" presName="FourNodes_3_text" presStyleLbl="node1" presStyleIdx="3" presStyleCnt="4">
        <dgm:presLayoutVars>
          <dgm:bulletEnabled val="1"/>
        </dgm:presLayoutVars>
      </dgm:prSet>
      <dgm:spPr/>
    </dgm:pt>
    <dgm:pt modelId="{C046872D-2A84-4AA8-B0F4-4C78D9BC3347}" type="pres">
      <dgm:prSet presAssocID="{4B361DE2-6D1D-43FF-96BF-CFF4EF0D69E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8345F03-32B8-4937-92B1-6F2FAF5D25FD}" srcId="{4B361DE2-6D1D-43FF-96BF-CFF4EF0D69E3}" destId="{4F1CFE6E-647A-497C-9E63-7DD9CDE9AC6F}" srcOrd="0" destOrd="0" parTransId="{DCFBC3A1-C14A-4377-B360-F455ACC36BC6}" sibTransId="{57A78606-60DE-4E00-BDD4-E7FE64D8ACBA}"/>
    <dgm:cxn modelId="{FFEB3904-3729-4346-B57A-C571ABFD53A9}" type="presOf" srcId="{4F1CFE6E-647A-497C-9E63-7DD9CDE9AC6F}" destId="{36C1BDB8-24FE-42C0-B498-F19FD0B77632}" srcOrd="0" destOrd="0" presId="urn:microsoft.com/office/officeart/2005/8/layout/vProcess5"/>
    <dgm:cxn modelId="{B41E5E06-D7DA-4343-AA1D-94983644DE37}" type="presOf" srcId="{30FF9B22-204C-43FF-8124-0DA8343FA831}" destId="{FBF88176-8DDD-430A-BDD9-B0260D7C1101}" srcOrd="0" destOrd="0" presId="urn:microsoft.com/office/officeart/2005/8/layout/vProcess5"/>
    <dgm:cxn modelId="{234ADF06-E166-4C50-A28C-671E0991D8B8}" type="presOf" srcId="{D59B9642-9FE1-4E4F-849C-A8D054D2327A}" destId="{C046872D-2A84-4AA8-B0F4-4C78D9BC3347}" srcOrd="1" destOrd="0" presId="urn:microsoft.com/office/officeart/2005/8/layout/vProcess5"/>
    <dgm:cxn modelId="{C3B9ED08-1254-41BE-87A0-FAEF732DAA7B}" type="presOf" srcId="{F2E6ACEC-136B-43CC-B041-1902ECC9C6A4}" destId="{7AA10A2B-BD95-4F5F-B47E-864CACD9A360}" srcOrd="1" destOrd="0" presId="urn:microsoft.com/office/officeart/2005/8/layout/vProcess5"/>
    <dgm:cxn modelId="{54482826-D40E-4DC0-9671-4F2FCDD728E9}" type="presOf" srcId="{4B361DE2-6D1D-43FF-96BF-CFF4EF0D69E3}" destId="{4EED6663-2A9A-43EF-BF33-B0AEFE5E3E18}" srcOrd="0" destOrd="0" presId="urn:microsoft.com/office/officeart/2005/8/layout/vProcess5"/>
    <dgm:cxn modelId="{A70C6227-1DE0-453D-81A9-5F3B30BA909F}" srcId="{4B361DE2-6D1D-43FF-96BF-CFF4EF0D69E3}" destId="{583C6CDA-4352-4B1C-9B75-CBC6EBBF9ACF}" srcOrd="2" destOrd="0" parTransId="{8C80A96E-1FE5-4EA8-8BD2-D4BC25037B4E}" sibTransId="{30FF9B22-204C-43FF-8124-0DA8343FA831}"/>
    <dgm:cxn modelId="{1277FA2A-8315-40C4-975C-648884A1E550}" type="presOf" srcId="{F2E6ACEC-136B-43CC-B041-1902ECC9C6A4}" destId="{BAD8514C-9B94-4B38-951C-BA62782B8E32}" srcOrd="0" destOrd="0" presId="urn:microsoft.com/office/officeart/2005/8/layout/vProcess5"/>
    <dgm:cxn modelId="{DD01C345-F58F-4907-88F5-715541C3BD63}" type="presOf" srcId="{4F1CFE6E-647A-497C-9E63-7DD9CDE9AC6F}" destId="{7E746E13-0D49-4AE1-A2F7-DD3B8C8FC46C}" srcOrd="1" destOrd="0" presId="urn:microsoft.com/office/officeart/2005/8/layout/vProcess5"/>
    <dgm:cxn modelId="{D190B04E-BC61-4F92-99FA-8EAAB818ADA5}" type="presOf" srcId="{D59B9642-9FE1-4E4F-849C-A8D054D2327A}" destId="{6432AB89-5F10-4BC0-B93F-6FA54D66182A}" srcOrd="0" destOrd="0" presId="urn:microsoft.com/office/officeart/2005/8/layout/vProcess5"/>
    <dgm:cxn modelId="{80FD1B4F-4943-4104-9B55-ED3082FC35AE}" type="presOf" srcId="{57A78606-60DE-4E00-BDD4-E7FE64D8ACBA}" destId="{B15207C2-DCC4-478A-BA6C-593F4A3393CD}" srcOrd="0" destOrd="0" presId="urn:microsoft.com/office/officeart/2005/8/layout/vProcess5"/>
    <dgm:cxn modelId="{84327F74-DD97-44C2-A36D-5406B179FA32}" srcId="{4B361DE2-6D1D-43FF-96BF-CFF4EF0D69E3}" destId="{F2E6ACEC-136B-43CC-B041-1902ECC9C6A4}" srcOrd="1" destOrd="0" parTransId="{76B1F5F9-C4E0-4E1F-A5CB-C85120C6F1A8}" sibTransId="{546D6A4A-088B-4C98-8B5F-2F5A769AA2DF}"/>
    <dgm:cxn modelId="{9C83D299-EA88-461A-A42F-CAAC0E98C5A8}" type="presOf" srcId="{583C6CDA-4352-4B1C-9B75-CBC6EBBF9ACF}" destId="{70CA8332-0425-4346-9A1B-E16059A3AB70}" srcOrd="0" destOrd="0" presId="urn:microsoft.com/office/officeart/2005/8/layout/vProcess5"/>
    <dgm:cxn modelId="{CD37FCAA-FC19-4625-9FC9-72F86F2EC93F}" type="presOf" srcId="{546D6A4A-088B-4C98-8B5F-2F5A769AA2DF}" destId="{9016E083-35A9-425A-B0A5-CC7FFF1B67D7}" srcOrd="0" destOrd="0" presId="urn:microsoft.com/office/officeart/2005/8/layout/vProcess5"/>
    <dgm:cxn modelId="{D40701DE-0201-4947-B6A2-B8A34AF04C5F}" srcId="{4B361DE2-6D1D-43FF-96BF-CFF4EF0D69E3}" destId="{D59B9642-9FE1-4E4F-849C-A8D054D2327A}" srcOrd="3" destOrd="0" parTransId="{B4891408-2F6A-4C3C-8205-CFF0DF4283B8}" sibTransId="{538AEC9B-1A5B-48CE-8A5C-815CAC386F7C}"/>
    <dgm:cxn modelId="{071B84FB-2D42-44DF-B8EB-9550D6A31247}" type="presOf" srcId="{583C6CDA-4352-4B1C-9B75-CBC6EBBF9ACF}" destId="{5D25EC43-3587-4194-B4B3-8D2A6AFCDDB3}" srcOrd="1" destOrd="0" presId="urn:microsoft.com/office/officeart/2005/8/layout/vProcess5"/>
    <dgm:cxn modelId="{907363C7-F7C8-433E-9392-5FFA82623B26}" type="presParOf" srcId="{4EED6663-2A9A-43EF-BF33-B0AEFE5E3E18}" destId="{BD5BB55C-1353-42CE-A1EF-9E81D097D7CF}" srcOrd="0" destOrd="0" presId="urn:microsoft.com/office/officeart/2005/8/layout/vProcess5"/>
    <dgm:cxn modelId="{62CEAA9F-0A8F-4E25-A8F9-E60E8C1C2F84}" type="presParOf" srcId="{4EED6663-2A9A-43EF-BF33-B0AEFE5E3E18}" destId="{36C1BDB8-24FE-42C0-B498-F19FD0B77632}" srcOrd="1" destOrd="0" presId="urn:microsoft.com/office/officeart/2005/8/layout/vProcess5"/>
    <dgm:cxn modelId="{08996198-47CE-400A-9D48-36FC328545EA}" type="presParOf" srcId="{4EED6663-2A9A-43EF-BF33-B0AEFE5E3E18}" destId="{BAD8514C-9B94-4B38-951C-BA62782B8E32}" srcOrd="2" destOrd="0" presId="urn:microsoft.com/office/officeart/2005/8/layout/vProcess5"/>
    <dgm:cxn modelId="{59D3E944-7F70-4157-B282-D28129A89970}" type="presParOf" srcId="{4EED6663-2A9A-43EF-BF33-B0AEFE5E3E18}" destId="{70CA8332-0425-4346-9A1B-E16059A3AB70}" srcOrd="3" destOrd="0" presId="urn:microsoft.com/office/officeart/2005/8/layout/vProcess5"/>
    <dgm:cxn modelId="{79BC269A-5C55-43D5-9EA7-F17CC5027710}" type="presParOf" srcId="{4EED6663-2A9A-43EF-BF33-B0AEFE5E3E18}" destId="{6432AB89-5F10-4BC0-B93F-6FA54D66182A}" srcOrd="4" destOrd="0" presId="urn:microsoft.com/office/officeart/2005/8/layout/vProcess5"/>
    <dgm:cxn modelId="{D0B05CC0-F53F-4D70-BB3D-55DBDA044F75}" type="presParOf" srcId="{4EED6663-2A9A-43EF-BF33-B0AEFE5E3E18}" destId="{B15207C2-DCC4-478A-BA6C-593F4A3393CD}" srcOrd="5" destOrd="0" presId="urn:microsoft.com/office/officeart/2005/8/layout/vProcess5"/>
    <dgm:cxn modelId="{DCC6A6D2-A50A-4866-A642-19F6EDFC6DA9}" type="presParOf" srcId="{4EED6663-2A9A-43EF-BF33-B0AEFE5E3E18}" destId="{9016E083-35A9-425A-B0A5-CC7FFF1B67D7}" srcOrd="6" destOrd="0" presId="urn:microsoft.com/office/officeart/2005/8/layout/vProcess5"/>
    <dgm:cxn modelId="{652C1B79-67FA-4343-A3B6-0F8A8A625CEF}" type="presParOf" srcId="{4EED6663-2A9A-43EF-BF33-B0AEFE5E3E18}" destId="{FBF88176-8DDD-430A-BDD9-B0260D7C1101}" srcOrd="7" destOrd="0" presId="urn:microsoft.com/office/officeart/2005/8/layout/vProcess5"/>
    <dgm:cxn modelId="{52D5DCD5-0D55-4286-9F28-6B230837227C}" type="presParOf" srcId="{4EED6663-2A9A-43EF-BF33-B0AEFE5E3E18}" destId="{7E746E13-0D49-4AE1-A2F7-DD3B8C8FC46C}" srcOrd="8" destOrd="0" presId="urn:microsoft.com/office/officeart/2005/8/layout/vProcess5"/>
    <dgm:cxn modelId="{8AFA1C56-016D-46EA-BC13-7F6E2C98C8B9}" type="presParOf" srcId="{4EED6663-2A9A-43EF-BF33-B0AEFE5E3E18}" destId="{7AA10A2B-BD95-4F5F-B47E-864CACD9A360}" srcOrd="9" destOrd="0" presId="urn:microsoft.com/office/officeart/2005/8/layout/vProcess5"/>
    <dgm:cxn modelId="{A8E6E479-F210-4AD6-AC38-A9670484BC77}" type="presParOf" srcId="{4EED6663-2A9A-43EF-BF33-B0AEFE5E3E18}" destId="{5D25EC43-3587-4194-B4B3-8D2A6AFCDDB3}" srcOrd="10" destOrd="0" presId="urn:microsoft.com/office/officeart/2005/8/layout/vProcess5"/>
    <dgm:cxn modelId="{9FA36C2F-8F15-4887-805C-7FC505E32121}" type="presParOf" srcId="{4EED6663-2A9A-43EF-BF33-B0AEFE5E3E18}" destId="{C046872D-2A84-4AA8-B0F4-4C78D9BC334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C1BDB8-24FE-42C0-B498-F19FD0B77632}">
      <dsp:nvSpPr>
        <dsp:cNvPr id="0" name=""/>
        <dsp:cNvSpPr/>
      </dsp:nvSpPr>
      <dsp:spPr>
        <a:xfrm>
          <a:off x="0" y="0"/>
          <a:ext cx="6206092" cy="10226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Gross Domestic Product</a:t>
          </a:r>
          <a:r>
            <a:rPr lang="en-US" sz="2400" kern="1200" dirty="0"/>
            <a:t> (GDP) is</a:t>
          </a:r>
        </a:p>
      </dsp:txBody>
      <dsp:txXfrm>
        <a:off x="0" y="0"/>
        <a:ext cx="5076114" cy="1022604"/>
      </dsp:txXfrm>
    </dsp:sp>
    <dsp:sp modelId="{BAD8514C-9B94-4B38-951C-BA62782B8E32}">
      <dsp:nvSpPr>
        <dsp:cNvPr id="0" name=""/>
        <dsp:cNvSpPr/>
      </dsp:nvSpPr>
      <dsp:spPr>
        <a:xfrm>
          <a:off x="519760" y="1208532"/>
          <a:ext cx="6206092" cy="10226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market value of </a:t>
          </a:r>
        </a:p>
      </dsp:txBody>
      <dsp:txXfrm>
        <a:off x="519760" y="1208532"/>
        <a:ext cx="5021639" cy="1022604"/>
      </dsp:txXfrm>
    </dsp:sp>
    <dsp:sp modelId="{70CA8332-0425-4346-9A1B-E16059A3AB70}">
      <dsp:nvSpPr>
        <dsp:cNvPr id="0" name=""/>
        <dsp:cNvSpPr/>
      </dsp:nvSpPr>
      <dsp:spPr>
        <a:xfrm>
          <a:off x="1031762" y="2417064"/>
          <a:ext cx="6206092" cy="10226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Final goods and services</a:t>
          </a:r>
        </a:p>
      </dsp:txBody>
      <dsp:txXfrm>
        <a:off x="1031762" y="2417064"/>
        <a:ext cx="5029396" cy="1022603"/>
      </dsp:txXfrm>
    </dsp:sp>
    <dsp:sp modelId="{6432AB89-5F10-4BC0-B93F-6FA54D66182A}">
      <dsp:nvSpPr>
        <dsp:cNvPr id="0" name=""/>
        <dsp:cNvSpPr/>
      </dsp:nvSpPr>
      <dsp:spPr>
        <a:xfrm>
          <a:off x="1551522" y="3625596"/>
          <a:ext cx="6206092" cy="10226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Produced in a country in a given period of time</a:t>
          </a:r>
        </a:p>
      </dsp:txBody>
      <dsp:txXfrm>
        <a:off x="1551522" y="3625596"/>
        <a:ext cx="5021639" cy="1022603"/>
      </dsp:txXfrm>
    </dsp:sp>
    <dsp:sp modelId="{B15207C2-DCC4-478A-BA6C-593F4A3393CD}">
      <dsp:nvSpPr>
        <dsp:cNvPr id="0" name=""/>
        <dsp:cNvSpPr/>
      </dsp:nvSpPr>
      <dsp:spPr>
        <a:xfrm>
          <a:off x="5541399" y="783221"/>
          <a:ext cx="664692" cy="66469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541399" y="783221"/>
        <a:ext cx="664692" cy="664692"/>
      </dsp:txXfrm>
    </dsp:sp>
    <dsp:sp modelId="{9016E083-35A9-425A-B0A5-CC7FFF1B67D7}">
      <dsp:nvSpPr>
        <dsp:cNvPr id="0" name=""/>
        <dsp:cNvSpPr/>
      </dsp:nvSpPr>
      <dsp:spPr>
        <a:xfrm>
          <a:off x="6061159" y="1991753"/>
          <a:ext cx="664692" cy="66469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061159" y="1991753"/>
        <a:ext cx="664692" cy="664692"/>
      </dsp:txXfrm>
    </dsp:sp>
    <dsp:sp modelId="{FBF88176-8DDD-430A-BDD9-B0260D7C1101}">
      <dsp:nvSpPr>
        <dsp:cNvPr id="0" name=""/>
        <dsp:cNvSpPr/>
      </dsp:nvSpPr>
      <dsp:spPr>
        <a:xfrm>
          <a:off x="6573162" y="3200285"/>
          <a:ext cx="664692" cy="66469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573162" y="3200285"/>
        <a:ext cx="664692" cy="6646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0.45121</cdr:x>
      <cdr:y>0.23045</cdr:y>
    </cdr:from>
    <cdr:to>
      <cdr:x>0.69024</cdr:x>
      <cdr:y>0.29629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4196847" y="1398948"/>
          <a:ext cx="2223309" cy="3996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GB" sz="1800"/>
            <a:t>Nominal interest rate</a:t>
          </a:r>
        </a:p>
      </cdr:txBody>
    </cdr:sp>
  </cdr:relSizeAnchor>
  <cdr:relSizeAnchor xmlns:cdr="http://schemas.openxmlformats.org/drawingml/2006/chartDrawing">
    <cdr:from>
      <cdr:x>0.24172</cdr:x>
      <cdr:y>0.62277</cdr:y>
    </cdr:from>
    <cdr:to>
      <cdr:x>0.39302</cdr:x>
      <cdr:y>0.68999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2248320" y="3780507"/>
          <a:ext cx="1407281" cy="40802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GB" sz="1800"/>
            <a:t>Inflation rate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fld id="{92F30890-E24B-4E0D-A976-A0E934AD3E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0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30400" y="231775"/>
            <a:ext cx="2994025" cy="224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06400" y="2705100"/>
            <a:ext cx="6032500" cy="5954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effectLst/>
              </a:defRPr>
            </a:lvl1pPr>
          </a:lstStyle>
          <a:p>
            <a:pPr>
              <a:defRPr/>
            </a:pPr>
            <a:fld id="{77CA596C-6E61-41B8-83D6-76FC19BA50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043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buFont typeface="Arial" charset="0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06400" indent="-1778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635000" indent="-1778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800100" indent="-1651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buFont typeface="Arial" charset="0"/>
      <a:buChar char="•"/>
      <a:defRPr sz="1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AA61097-0735-47DE-BF58-C1B945869907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4608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06200B8-3B02-406C-BF24-A45FAA6785B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017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DDD9724-130B-427E-9ADC-8B2F9ECA0BB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632D249-F856-43E5-A410-CEE0A426BCF4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60FE2D5-42F0-4940-935B-246C19BFB5F1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951808-051F-4981-890E-CBF28B810D23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US"/>
          </a:p>
        </p:txBody>
      </p:sp>
      <p:sp>
        <p:nvSpPr>
          <p:cNvPr id="11267" name="Rectangle 5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0F70A70-1ADD-47C1-94DE-8B471DBF252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en-US"/>
          </a:p>
        </p:txBody>
      </p:sp>
      <p:sp>
        <p:nvSpPr>
          <p:cNvPr id="37891" name="Rectangle 5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93D4EDF-FECE-4250-9EC7-D42363817430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51</a:t>
            </a:fld>
            <a:endParaRPr lang="en-US"/>
          </a:p>
        </p:txBody>
      </p:sp>
      <p:sp>
        <p:nvSpPr>
          <p:cNvPr id="60419" name="Rectangle 5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95CFB12-3DED-4AA4-A050-300024C4E42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52</a:t>
            </a:fld>
            <a:endParaRPr lang="en-US"/>
          </a:p>
        </p:txBody>
      </p:sp>
      <p:sp>
        <p:nvSpPr>
          <p:cNvPr id="62467" name="Rectangle 5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29200"/>
            <a:ext cx="9144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6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30375"/>
            <a:ext cx="7772400" cy="1470025"/>
          </a:xfrm>
        </p:spPr>
        <p:txBody>
          <a:bodyPr/>
          <a:lstStyle>
            <a:lvl1pPr algn="l">
              <a:defRPr sz="4200">
                <a:latin typeface="Arial Black" pitchFamily="34" charset="0"/>
              </a:defRPr>
            </a:lvl1pPr>
          </a:lstStyle>
          <a:p>
            <a:endParaRPr lang="en-US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200400"/>
            <a:ext cx="7467600" cy="1676400"/>
          </a:xfrm>
        </p:spPr>
        <p:txBody>
          <a:bodyPr/>
          <a:lstStyle>
            <a:lvl1pPr marL="0" indent="0" algn="ctr">
              <a:buFontTx/>
              <a:buNone/>
              <a:defRPr sz="4800">
                <a:latin typeface="Arial Black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F46E13C4-7005-4115-B010-EAA29903E6C1}" type="datetime1">
              <a:rPr lang="en-US"/>
              <a:pPr>
                <a:defRPr/>
              </a:pPr>
              <a:t>8/7/2024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0E8318A-202A-4F66-B94C-9B952149AB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Frank Brief 2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685800" cy="693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33" name="Rectangle 21"/>
          <p:cNvSpPr>
            <a:spLocks noChangeArrowheads="1"/>
          </p:cNvSpPr>
          <p:nvPr userDrawn="1"/>
        </p:nvSpPr>
        <p:spPr bwMode="auto">
          <a:xfrm>
            <a:off x="6934200" y="64008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r>
              <a:rPr lang="en-US" sz="1000">
                <a:latin typeface="Times New Roman" pitchFamily="18" charset="0"/>
              </a:rPr>
              <a:t>1-</a:t>
            </a:r>
            <a:fld id="{B9D74E89-6214-45AC-BC4B-D378039338D8}" type="slidenum">
              <a:rPr lang="en-US" sz="1000">
                <a:latin typeface="Times New Roman" pitchFamily="18" charset="0"/>
              </a:rPr>
              <a:pPr algn="r">
                <a:defRPr/>
              </a:pPr>
              <a:t>‹#›</a:t>
            </a:fld>
            <a:endParaRPr lang="en-US" sz="10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hayboon@ntu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171574" y="266699"/>
            <a:ext cx="7515225" cy="3724275"/>
          </a:xfrm>
        </p:spPr>
        <p:txBody>
          <a:bodyPr/>
          <a:lstStyle/>
          <a:p>
            <a:r>
              <a:rPr lang="en-US">
                <a:latin typeface="Arial" charset="0"/>
              </a:rPr>
              <a:t>HE5091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Principles of Economics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Lecture 7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Gross Domestic Product (GDP) and Inflation</a:t>
            </a:r>
            <a:endParaRPr lang="en-US" dirty="0"/>
          </a:p>
        </p:txBody>
      </p:sp>
      <p:sp>
        <p:nvSpPr>
          <p:cNvPr id="45056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155700" y="4229100"/>
            <a:ext cx="7721600" cy="1819275"/>
          </a:xfrm>
        </p:spPr>
        <p:txBody>
          <a:bodyPr/>
          <a:lstStyle/>
          <a:p>
            <a:pPr algn="ctr">
              <a:buClr>
                <a:schemeClr val="hlink"/>
              </a:buClr>
              <a:buSzPct val="60000"/>
              <a:buNone/>
            </a:pPr>
            <a:r>
              <a:rPr lang="en-US" dirty="0"/>
              <a:t>Tan Khay Boon</a:t>
            </a:r>
          </a:p>
          <a:p>
            <a:pPr algn="ctr">
              <a:buClr>
                <a:schemeClr val="hlink"/>
              </a:buClr>
              <a:buSzPct val="60000"/>
              <a:buNone/>
            </a:pPr>
            <a:r>
              <a:rPr lang="en-US" dirty="0"/>
              <a:t>Email</a:t>
            </a:r>
            <a:r>
              <a:rPr lang="en-US"/>
              <a:t>: </a:t>
            </a:r>
            <a:r>
              <a:rPr lang="en-US">
                <a:hlinkClick r:id="rId3"/>
              </a:rPr>
              <a:t>khayboon@ntu.edu.sg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Topics</a:t>
            </a:r>
          </a:p>
        </p:txBody>
      </p:sp>
      <p:sp>
        <p:nvSpPr>
          <p:cNvPr id="45056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1028700" y="1752600"/>
            <a:ext cx="7848600" cy="4533900"/>
          </a:xfrm>
        </p:spPr>
        <p:txBody>
          <a:bodyPr/>
          <a:lstStyle/>
          <a:p>
            <a:r>
              <a:rPr lang="en-US" dirty="0"/>
              <a:t>Gross Domestic Product (GDP)</a:t>
            </a:r>
          </a:p>
          <a:p>
            <a:r>
              <a:rPr lang="en-US" dirty="0"/>
              <a:t>The Expenditure Method</a:t>
            </a:r>
          </a:p>
          <a:p>
            <a:r>
              <a:rPr lang="en-US" dirty="0"/>
              <a:t>Nominal and Real GDP</a:t>
            </a:r>
          </a:p>
          <a:p>
            <a:r>
              <a:rPr lang="en-US" dirty="0"/>
              <a:t>Real GDP and Economic Well-Being</a:t>
            </a:r>
          </a:p>
          <a:p>
            <a:r>
              <a:rPr lang="en-US" dirty="0"/>
              <a:t>The Consumer Price Index</a:t>
            </a:r>
          </a:p>
          <a:p>
            <a:r>
              <a:rPr lang="en-US" dirty="0"/>
              <a:t>Adjusting for Inflation</a:t>
            </a:r>
          </a:p>
          <a:p>
            <a:r>
              <a:rPr lang="en-US" dirty="0"/>
              <a:t>Costs of Inflation</a:t>
            </a:r>
          </a:p>
          <a:p>
            <a:r>
              <a:rPr lang="en-US" dirty="0"/>
              <a:t>Reference: FBAH </a:t>
            </a:r>
            <a:r>
              <a:rPr lang="en-US"/>
              <a:t>or FBL, </a:t>
            </a:r>
            <a:r>
              <a:rPr lang="en-US" dirty="0"/>
              <a:t>chapters 15 &amp; 16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463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Macroeconomics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463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Study the economy as a whole</a:t>
            </a:r>
          </a:p>
          <a:p>
            <a:pPr eaLnBrk="1" hangingPunct="1"/>
            <a:r>
              <a:rPr lang="en-US" dirty="0"/>
              <a:t>Focus on issues such as national output, growth, inflation, unemployment, government policies, international trade and exchange rates</a:t>
            </a:r>
          </a:p>
          <a:p>
            <a:pPr eaLnBrk="1" hangingPunct="1"/>
            <a:r>
              <a:rPr lang="en-US" dirty="0" err="1"/>
              <a:t>Analyse</a:t>
            </a:r>
            <a:r>
              <a:rPr lang="en-US" dirty="0"/>
              <a:t> data on output, employment, prices</a:t>
            </a:r>
          </a:p>
          <a:p>
            <a:pPr lvl="1" eaLnBrk="1" hangingPunct="1"/>
            <a:r>
              <a:rPr lang="en-US" dirty="0"/>
              <a:t>Vital signs of the economy</a:t>
            </a:r>
          </a:p>
          <a:p>
            <a:pPr lvl="2" eaLnBrk="1" hangingPunct="1"/>
            <a:r>
              <a:rPr lang="en-US" dirty="0"/>
              <a:t>Employment, unemployment, productivity</a:t>
            </a:r>
          </a:p>
          <a:p>
            <a:pPr lvl="2" eaLnBrk="1" hangingPunct="1"/>
            <a:r>
              <a:rPr lang="en-US" dirty="0"/>
              <a:t>Savings &amp; Investment, Stock and finance</a:t>
            </a:r>
          </a:p>
          <a:p>
            <a:pPr lvl="2" eaLnBrk="1" hangingPunct="1"/>
            <a:r>
              <a:rPr lang="en-US" dirty="0"/>
              <a:t>Prices and inflation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Measuring Output</a:t>
            </a:r>
          </a:p>
        </p:txBody>
      </p:sp>
      <p:graphicFrame>
        <p:nvGraphicFramePr>
          <p:cNvPr id="6" name="Diagram 5"/>
          <p:cNvGraphicFramePr/>
          <p:nvPr/>
        </p:nvGraphicFramePr>
        <p:xfrm>
          <a:off x="1005384" y="1600200"/>
          <a:ext cx="7757615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/>
          <p:cNvSpPr>
            <a:spLocks noGrp="1"/>
          </p:cNvSpPr>
          <p:nvPr>
            <p:ph type="title" idx="4294967295"/>
          </p:nvPr>
        </p:nvSpPr>
        <p:spPr>
          <a:xfrm>
            <a:off x="79616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Market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96162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Aggregate measure of quantities produced</a:t>
            </a:r>
          </a:p>
          <a:p>
            <a:pPr eaLnBrk="1" hangingPunct="1"/>
            <a:r>
              <a:rPr lang="en-US" dirty="0"/>
              <a:t>More expensive items receive a higher weighting</a:t>
            </a:r>
          </a:p>
          <a:p>
            <a:pPr lvl="1" eaLnBrk="1" hangingPunct="1"/>
            <a:r>
              <a:rPr lang="en-US" dirty="0"/>
              <a:t>Willingness to pay is an indication of benefit received from the good</a:t>
            </a:r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eaLnBrk="1" hangingPunct="1"/>
            <a:r>
              <a:rPr lang="en-US" dirty="0" err="1"/>
              <a:t>Orchardia's</a:t>
            </a:r>
            <a:r>
              <a:rPr lang="en-US" dirty="0"/>
              <a:t> GDP is $64</a:t>
            </a:r>
          </a:p>
        </p:txBody>
      </p:sp>
      <p:graphicFrame>
        <p:nvGraphicFramePr>
          <p:cNvPr id="37916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019276"/>
              </p:ext>
            </p:extLst>
          </p:nvPr>
        </p:nvGraphicFramePr>
        <p:xfrm>
          <a:off x="1242250" y="4025900"/>
          <a:ext cx="7442200" cy="1584960"/>
        </p:xfrm>
        <a:graphic>
          <a:graphicData uri="http://schemas.openxmlformats.org/drawingml/2006/table">
            <a:tbl>
              <a:tblPr/>
              <a:tblGrid>
                <a:gridCol w="2255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7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Orchardia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Apples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Bananas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Shoes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$0.25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$0.50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$20.00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Quantity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GDP contribution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$1.00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$3.00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$60.00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/>
          <p:cNvSpPr>
            <a:spLocks noGrp="1"/>
          </p:cNvSpPr>
          <p:nvPr>
            <p:ph type="title" idx="4294967295"/>
          </p:nvPr>
        </p:nvSpPr>
        <p:spPr>
          <a:xfrm>
            <a:off x="84346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Final Goods and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43460" y="1358900"/>
            <a:ext cx="8229600" cy="4525963"/>
          </a:xfrm>
        </p:spPr>
        <p:txBody>
          <a:bodyPr/>
          <a:lstStyle/>
          <a:p>
            <a:pPr eaLnBrk="1" hangingPunct="1"/>
            <a:r>
              <a:rPr lang="en-US" sz="2600" b="1"/>
              <a:t>Final goods and services </a:t>
            </a:r>
            <a:r>
              <a:rPr lang="en-US" sz="2600"/>
              <a:t>are consumed by the ultimate user</a:t>
            </a:r>
          </a:p>
          <a:p>
            <a:pPr lvl="1" eaLnBrk="1" hangingPunct="1"/>
            <a:r>
              <a:rPr lang="en-US" sz="2300"/>
              <a:t>End products of production </a:t>
            </a:r>
          </a:p>
          <a:p>
            <a:pPr lvl="1" eaLnBrk="1" hangingPunct="1"/>
            <a:r>
              <a:rPr lang="en-US" sz="2300"/>
              <a:t>Included in GDP</a:t>
            </a:r>
          </a:p>
          <a:p>
            <a:pPr eaLnBrk="1" hangingPunct="1"/>
            <a:r>
              <a:rPr lang="en-US" sz="2600" b="1"/>
              <a:t>Intermediate goods and services </a:t>
            </a:r>
            <a:r>
              <a:rPr lang="en-US" sz="2600"/>
              <a:t>are used up in the production of final goods</a:t>
            </a:r>
          </a:p>
          <a:p>
            <a:pPr lvl="1" eaLnBrk="1" hangingPunct="1"/>
            <a:r>
              <a:rPr lang="en-US" sz="2300"/>
              <a:t>Not included in GDP to avoid double counting</a:t>
            </a:r>
          </a:p>
          <a:p>
            <a:pPr eaLnBrk="1" hangingPunct="1"/>
            <a:r>
              <a:rPr lang="en-US" sz="2600"/>
              <a:t>A barber's assistant earns $2 per haircut for providing services such as shampooing and sweeping up</a:t>
            </a:r>
          </a:p>
          <a:p>
            <a:pPr lvl="1" eaLnBrk="1" hangingPunct="1"/>
            <a:r>
              <a:rPr lang="en-US" sz="2300"/>
              <a:t>Barber charges $10 per haircut</a:t>
            </a:r>
          </a:p>
          <a:p>
            <a:pPr lvl="1" eaLnBrk="1" hangingPunct="1"/>
            <a:r>
              <a:rPr lang="en-US" sz="2300"/>
              <a:t>Haircut's contribution to GDP is $10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title" idx="4294967295"/>
          </p:nvPr>
        </p:nvSpPr>
        <p:spPr>
          <a:xfrm>
            <a:off x="542925" y="304800"/>
            <a:ext cx="8486775" cy="1143000"/>
          </a:xfrm>
        </p:spPr>
        <p:txBody>
          <a:bodyPr/>
          <a:lstStyle/>
          <a:p>
            <a:pPr eaLnBrk="1" hangingPunct="1"/>
            <a:r>
              <a:rPr lang="en-US" sz="4000" dirty="0"/>
              <a:t>Final, Intermediate &amp; Capital Goods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27694" y="1600200"/>
            <a:ext cx="8229600" cy="4954836"/>
          </a:xfrm>
        </p:spPr>
        <p:txBody>
          <a:bodyPr/>
          <a:lstStyle/>
          <a:p>
            <a:pPr eaLnBrk="1" hangingPunct="1"/>
            <a:r>
              <a:rPr lang="en-US" sz="2600" dirty="0"/>
              <a:t>Milk can be sold as a final product or used as an intermediate good</a:t>
            </a:r>
          </a:p>
          <a:p>
            <a:pPr lvl="1" eaLnBrk="1" hangingPunct="1"/>
            <a:r>
              <a:rPr lang="en-US" sz="2300" dirty="0"/>
              <a:t>Milk in the store (Final Good)</a:t>
            </a:r>
          </a:p>
          <a:p>
            <a:pPr lvl="1" eaLnBrk="1" hangingPunct="1"/>
            <a:r>
              <a:rPr lang="en-US" sz="2300" dirty="0"/>
              <a:t>Milk sold to restaurants (Intermediate Good)</a:t>
            </a:r>
          </a:p>
          <a:p>
            <a:pPr lvl="1" eaLnBrk="1" hangingPunct="1"/>
            <a:r>
              <a:rPr lang="en-US" sz="2300" dirty="0"/>
              <a:t>Count only the final goods</a:t>
            </a:r>
          </a:p>
          <a:p>
            <a:pPr eaLnBrk="1" hangingPunct="1"/>
            <a:r>
              <a:rPr lang="en-US" sz="2600" dirty="0"/>
              <a:t>A</a:t>
            </a:r>
            <a:r>
              <a:rPr lang="en-US" sz="2600" b="1" dirty="0"/>
              <a:t> capital good</a:t>
            </a:r>
            <a:r>
              <a:rPr lang="en-US" sz="2600" dirty="0"/>
              <a:t> is a long-lived good used in the production of other goods and services</a:t>
            </a:r>
          </a:p>
          <a:p>
            <a:pPr lvl="1" eaLnBrk="1" hangingPunct="1"/>
            <a:r>
              <a:rPr lang="en-US" sz="2300" dirty="0"/>
              <a:t>Houses, apartments, and motels</a:t>
            </a:r>
          </a:p>
          <a:p>
            <a:pPr lvl="1" eaLnBrk="1" hangingPunct="1"/>
            <a:r>
              <a:rPr lang="en-US" sz="2300" dirty="0"/>
              <a:t>Machines used in production (computers)</a:t>
            </a:r>
          </a:p>
          <a:p>
            <a:pPr lvl="1" eaLnBrk="1" hangingPunct="1"/>
            <a:r>
              <a:rPr lang="en-US" sz="2300" dirty="0"/>
              <a:t>Delivery vehicles and taxis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 idx="4294967295"/>
          </p:nvPr>
        </p:nvSpPr>
        <p:spPr>
          <a:xfrm>
            <a:off x="780396" y="320566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Value Added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80396" y="1442540"/>
            <a:ext cx="8229600" cy="4525963"/>
          </a:xfrm>
        </p:spPr>
        <p:txBody>
          <a:bodyPr/>
          <a:lstStyle/>
          <a:p>
            <a:pPr eaLnBrk="1" hangingPunct="1"/>
            <a:r>
              <a:rPr lang="en-US" b="1"/>
              <a:t>Value added</a:t>
            </a:r>
            <a:r>
              <a:rPr lang="en-US"/>
              <a:t> is the market value of the product minus the cost of inputs purchased from other firms</a:t>
            </a:r>
          </a:p>
          <a:p>
            <a:pPr lvl="1" eaLnBrk="1" hangingPunct="1"/>
            <a:r>
              <a:rPr lang="en-US"/>
              <a:t>Count value added in the year it is produced</a:t>
            </a:r>
          </a:p>
          <a:p>
            <a:pPr lvl="1" eaLnBrk="1" hangingPunct="1"/>
            <a:r>
              <a:rPr lang="en-US"/>
              <a:t>Hot ‘n’ Fresh buys flour and other inputs to make bread that sells for $2.00</a:t>
            </a:r>
          </a:p>
          <a:p>
            <a:pPr lvl="1" eaLnBrk="1" hangingPunct="1"/>
            <a:endParaRPr lang="en-US"/>
          </a:p>
        </p:txBody>
      </p:sp>
      <p:graphicFrame>
        <p:nvGraphicFramePr>
          <p:cNvPr id="43043" name="Group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128657"/>
              </p:ext>
            </p:extLst>
          </p:nvPr>
        </p:nvGraphicFramePr>
        <p:xfrm>
          <a:off x="1194734" y="4233365"/>
          <a:ext cx="7483475" cy="2124393"/>
        </p:xfrm>
        <a:graphic>
          <a:graphicData uri="http://schemas.openxmlformats.org/drawingml/2006/table">
            <a:tbl>
              <a:tblPr/>
              <a:tblGrid>
                <a:gridCol w="1643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Company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Revenues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Cost of Purchased Inputs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Value</a:t>
                      </a:r>
                      <a:b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 Added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ABC Grain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$0.50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$0.00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$0.50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General Flour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$1.20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$0.50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$0.70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Hot'n'Fresh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$2.00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$1.20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$0.80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Total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$2.00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 bwMode="auto">
          <a:xfrm>
            <a:off x="4176059" y="5828803"/>
            <a:ext cx="3179762" cy="31273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 idx="4294967295"/>
          </p:nvPr>
        </p:nvSpPr>
        <p:spPr>
          <a:xfrm>
            <a:off x="717332" y="572822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Produced in a Country in a Period of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17332" y="2183542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"Domestic" in GDP means the activity is measured within a country's borders</a:t>
            </a:r>
          </a:p>
          <a:p>
            <a:pPr lvl="1" eaLnBrk="1" hangingPunct="1"/>
            <a:r>
              <a:rPr lang="en-US" dirty="0"/>
              <a:t>Nationality of owners or company is not relevant</a:t>
            </a:r>
          </a:p>
          <a:p>
            <a:pPr eaLnBrk="1" hangingPunct="1"/>
            <a:r>
              <a:rPr lang="en-US" dirty="0"/>
              <a:t>Value must be produced in the year considered</a:t>
            </a:r>
          </a:p>
          <a:p>
            <a:pPr lvl="1" eaLnBrk="1" hangingPunct="1"/>
            <a:r>
              <a:rPr lang="en-US" dirty="0"/>
              <a:t>Sell a 20-year old house for $200,000</a:t>
            </a:r>
          </a:p>
          <a:p>
            <a:pPr lvl="2" eaLnBrk="1" hangingPunct="1"/>
            <a:r>
              <a:rPr lang="en-US" dirty="0"/>
              <a:t>Pay $12,000 commission</a:t>
            </a:r>
          </a:p>
          <a:p>
            <a:pPr lvl="2" eaLnBrk="1" hangingPunct="1"/>
            <a:r>
              <a:rPr lang="en-US" dirty="0"/>
              <a:t>Value added is $12,000</a:t>
            </a:r>
          </a:p>
          <a:p>
            <a:pPr lvl="2" eaLnBrk="1" hangingPunct="1"/>
            <a:r>
              <a:rPr lang="en-US" dirty="0"/>
              <a:t>House was not produced in the period of time studied</a:t>
            </a:r>
          </a:p>
          <a:p>
            <a:pPr lvl="2" eaLnBrk="1" hangingPunct="1"/>
            <a:r>
              <a:rPr lang="en-US" dirty="0"/>
              <a:t>Count income generated from the sale of used goods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 idx="4294967295"/>
          </p:nvPr>
        </p:nvSpPr>
        <p:spPr>
          <a:xfrm>
            <a:off x="811928" y="54129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Expenditure Method for Measuring GDP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42950" y="1978584"/>
            <a:ext cx="8298578" cy="4525963"/>
          </a:xfrm>
        </p:spPr>
        <p:txBody>
          <a:bodyPr/>
          <a:lstStyle/>
          <a:p>
            <a:pPr eaLnBrk="1" hangingPunct="1"/>
            <a:r>
              <a:rPr lang="en-US" dirty="0"/>
              <a:t>Four users of final goods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dirty="0"/>
              <a:t>Households	</a:t>
            </a:r>
            <a:r>
              <a:rPr lang="en-US" baseline="20000" dirty="0"/>
              <a:t>■</a:t>
            </a:r>
            <a:r>
              <a:rPr lang="en-US" dirty="0"/>
              <a:t>   Firms</a:t>
            </a:r>
          </a:p>
          <a:p>
            <a:pPr lvl="1" eaLnBrk="1" hangingPunct="1">
              <a:buFont typeface="Wingdings" pitchFamily="2" charset="2"/>
              <a:buChar char="§"/>
            </a:pPr>
            <a:r>
              <a:rPr lang="en-US" dirty="0"/>
              <a:t>Government	</a:t>
            </a:r>
            <a:r>
              <a:rPr lang="en-US" baseline="20000" dirty="0"/>
              <a:t>■</a:t>
            </a:r>
            <a:r>
              <a:rPr lang="en-US" dirty="0"/>
              <a:t>   Foreigners</a:t>
            </a:r>
          </a:p>
          <a:p>
            <a:pPr eaLnBrk="1" hangingPunct="1"/>
            <a:r>
              <a:rPr lang="en-US" dirty="0"/>
              <a:t>All goods produced are purchased by one of these groups in a given year</a:t>
            </a:r>
          </a:p>
          <a:p>
            <a:pPr eaLnBrk="1" hangingPunct="1"/>
            <a:r>
              <a:rPr lang="en-US" dirty="0"/>
              <a:t>Amount spent = market value</a:t>
            </a:r>
          </a:p>
          <a:p>
            <a:pPr eaLnBrk="1" hangingPunct="1"/>
            <a:r>
              <a:rPr lang="en-US" dirty="0"/>
              <a:t>GDP can be measured two ways</a:t>
            </a:r>
          </a:p>
          <a:p>
            <a:pPr lvl="1" eaLnBrk="1" hangingPunct="1"/>
            <a:r>
              <a:rPr lang="en-US" dirty="0"/>
              <a:t>Market value of output</a:t>
            </a:r>
          </a:p>
          <a:p>
            <a:pPr lvl="1" eaLnBrk="1" hangingPunct="1"/>
            <a:r>
              <a:rPr lang="en-US" dirty="0"/>
              <a:t>Total spending for final goods less value of imports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Content Placeholder 6"/>
          <p:cNvSpPr>
            <a:spLocks noGrp="1"/>
          </p:cNvSpPr>
          <p:nvPr>
            <p:ph idx="4294967295"/>
          </p:nvPr>
        </p:nvSpPr>
        <p:spPr>
          <a:xfrm>
            <a:off x="811928" y="1600200"/>
            <a:ext cx="8229600" cy="4525963"/>
          </a:xfrm>
        </p:spPr>
        <p:txBody>
          <a:bodyPr/>
          <a:lstStyle/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US"/>
          </a:p>
        </p:txBody>
      </p:sp>
      <p:graphicFrame>
        <p:nvGraphicFramePr>
          <p:cNvPr id="47164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451887"/>
              </p:ext>
            </p:extLst>
          </p:nvPr>
        </p:nvGraphicFramePr>
        <p:xfrm>
          <a:off x="964328" y="1519238"/>
          <a:ext cx="7924800" cy="1480185"/>
        </p:xfrm>
        <a:graphic>
          <a:graphicData uri="http://schemas.openxmlformats.org/drawingml/2006/table">
            <a:tbl>
              <a:tblPr/>
              <a:tblGrid>
                <a:gridCol w="286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2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2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Consumption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41463" algn="dec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$10,350.6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1775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Durable Goods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97025" algn="dec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          $1,089.3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1775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Non-durable Goods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97025" algn="dec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2,337.4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1775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Services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97025" algn="dec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6,923.9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94060"/>
              </p:ext>
            </p:extLst>
          </p:nvPr>
        </p:nvGraphicFramePr>
        <p:xfrm>
          <a:off x="964328" y="4491038"/>
          <a:ext cx="7924801" cy="3708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860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2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2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tabLst>
                          <a:tab pos="231775" algn="l"/>
                        </a:tabLst>
                      </a:pPr>
                      <a:r>
                        <a:rPr lang="en-US" b="1" dirty="0"/>
                        <a:t>Government Purchases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tabLst>
                          <a:tab pos="1597025" algn="dec"/>
                        </a:tabLst>
                      </a:pP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	3,000.3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165" name="Group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979953"/>
              </p:ext>
            </p:extLst>
          </p:nvPr>
        </p:nvGraphicFramePr>
        <p:xfrm>
          <a:off x="964328" y="2998788"/>
          <a:ext cx="7924800" cy="1485900"/>
        </p:xfrm>
        <a:graphic>
          <a:graphicData uri="http://schemas.openxmlformats.org/drawingml/2006/table">
            <a:tbl>
              <a:tblPr/>
              <a:tblGrid>
                <a:gridCol w="3338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2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1775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Investment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97025" algn="dec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1,822.5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1775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Business Fixed Investment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6175" algn="dec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1,413.2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1775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Residential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6175" algn="dec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 340.4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1775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Inventory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6175" algn="dec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68.9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7166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23303"/>
              </p:ext>
            </p:extLst>
          </p:nvPr>
        </p:nvGraphicFramePr>
        <p:xfrm>
          <a:off x="964328" y="4862513"/>
          <a:ext cx="7924800" cy="1485900"/>
        </p:xfrm>
        <a:graphic>
          <a:graphicData uri="http://schemas.openxmlformats.org/drawingml/2006/table">
            <a:tbl>
              <a:tblPr/>
              <a:tblGrid>
                <a:gridCol w="286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2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2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1775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Net Exports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97025" algn="dec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515.7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1775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Exports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97025" algn="dec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1,838.5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1775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Imports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97025" algn="dec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2,354.1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31775" algn="l"/>
                        </a:tabLst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GDP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97025" algn="dec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$14,657.8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512" name="TextBox 7"/>
          <p:cNvSpPr txBox="1">
            <a:spLocks noChangeArrowheads="1"/>
          </p:cNvSpPr>
          <p:nvPr/>
        </p:nvSpPr>
        <p:spPr bwMode="auto">
          <a:xfrm>
            <a:off x="964328" y="695325"/>
            <a:ext cx="7924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4400" b="1"/>
              <a:t>US GDP, 2010</a:t>
            </a:r>
            <a:r>
              <a:rPr lang="en-US">
                <a:latin typeface="Times New Roman" pitchFamily="18" charset="0"/>
              </a:rPr>
              <a:t> </a:t>
            </a:r>
            <a:r>
              <a:rPr lang="en-US" sz="3200"/>
              <a:t>(billions of dollars)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Consumption Expenditure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11928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b="1" dirty="0"/>
              <a:t>Consumption expenditure </a:t>
            </a:r>
            <a:r>
              <a:rPr lang="en-US" dirty="0"/>
              <a:t>is spending by households for goods and services</a:t>
            </a:r>
          </a:p>
          <a:p>
            <a:pPr lvl="1" eaLnBrk="1" hangingPunct="1"/>
            <a:r>
              <a:rPr lang="en-US" dirty="0"/>
              <a:t>Consumer durables are long-lived consumer goods</a:t>
            </a:r>
          </a:p>
          <a:p>
            <a:pPr lvl="1" eaLnBrk="1" hangingPunct="1"/>
            <a:endParaRPr lang="en-US" dirty="0"/>
          </a:p>
          <a:p>
            <a:pPr lvl="1" eaLnBrk="1" hangingPunct="1"/>
            <a:r>
              <a:rPr lang="en-US" dirty="0"/>
              <a:t>Consumer non-durable goods are shorter-lived goods</a:t>
            </a:r>
          </a:p>
          <a:p>
            <a:pPr lvl="1" eaLnBrk="1" hangingPunct="1"/>
            <a:endParaRPr lang="en-US" dirty="0"/>
          </a:p>
          <a:p>
            <a:pPr lvl="1" eaLnBrk="1" hangingPunct="1"/>
            <a:r>
              <a:rPr lang="en-US" dirty="0"/>
              <a:t>Services are the largest component of consumer spending</a:t>
            </a:r>
          </a:p>
          <a:p>
            <a:pPr lvl="1" eaLnBrk="1" hangingPunct="1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2901950"/>
          <a:ext cx="6856413" cy="4953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4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Furniture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Appliances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4216400"/>
          <a:ext cx="6856413" cy="609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4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Clothing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Food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Drinks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0" y="5513388"/>
          <a:ext cx="6856413" cy="66357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4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3575"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Education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Taxi rides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Haircuts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Investment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50900" y="1393825"/>
            <a:ext cx="8229600" cy="4525963"/>
          </a:xfrm>
        </p:spPr>
        <p:txBody>
          <a:bodyPr/>
          <a:lstStyle/>
          <a:p>
            <a:pPr eaLnBrk="1" hangingPunct="1"/>
            <a:r>
              <a:rPr lang="en-US" b="1"/>
              <a:t>Investment </a:t>
            </a:r>
            <a:r>
              <a:rPr lang="en-US"/>
              <a:t>is spending by firms on final goods and services</a:t>
            </a:r>
          </a:p>
          <a:p>
            <a:pPr eaLnBrk="1" hangingPunct="1"/>
            <a:r>
              <a:rPr lang="en-US"/>
              <a:t>Business fixed investment is purchases of new capital goods</a:t>
            </a:r>
          </a:p>
          <a:p>
            <a:pPr eaLnBrk="1" hangingPunct="1">
              <a:buFontTx/>
              <a:buNone/>
            </a:pPr>
            <a:endParaRPr lang="en-US"/>
          </a:p>
          <a:p>
            <a:pPr eaLnBrk="1" hangingPunct="1"/>
            <a:r>
              <a:rPr lang="en-US"/>
              <a:t>Residential investment is construction of new homes and apartment buildings</a:t>
            </a:r>
          </a:p>
          <a:p>
            <a:pPr eaLnBrk="1" hangingPunct="1"/>
            <a:r>
              <a:rPr lang="en-US"/>
              <a:t>Inventory investment is the change in unsold goods to the company's inventory</a:t>
            </a:r>
          </a:p>
          <a:p>
            <a:pPr lvl="1" eaLnBrk="1" hangingPunct="1"/>
            <a:r>
              <a:rPr lang="en-US"/>
              <a:t>These goods are produced but not yet sold</a:t>
            </a:r>
          </a:p>
          <a:p>
            <a:pPr lvl="1" eaLnBrk="1" hangingPunct="1"/>
            <a:r>
              <a:rPr lang="en-US"/>
              <a:t>This entry can be positive or negative</a:t>
            </a:r>
          </a:p>
        </p:txBody>
      </p:sp>
      <p:graphicFrame>
        <p:nvGraphicFramePr>
          <p:cNvPr id="50184" name="Group 8"/>
          <p:cNvGraphicFramePr>
            <a:graphicFrameLocks noGrp="1"/>
          </p:cNvGraphicFramePr>
          <p:nvPr/>
        </p:nvGraphicFramePr>
        <p:xfrm>
          <a:off x="1327150" y="3251200"/>
          <a:ext cx="7169150" cy="518160"/>
        </p:xfrm>
        <a:graphic>
          <a:graphicData uri="http://schemas.openxmlformats.org/drawingml/2006/table">
            <a:tbl>
              <a:tblPr/>
              <a:tblGrid>
                <a:gridCol w="2389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9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Plant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Property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Equipment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4200"/>
              <a:t>Economic Investment and Financial Investment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Financial investment includes purchases of stocks, bonds, and other financial assets</a:t>
            </a:r>
          </a:p>
          <a:p>
            <a:pPr lvl="1" eaLnBrk="1" hangingPunct="1"/>
            <a:r>
              <a:rPr lang="en-US" dirty="0"/>
              <a:t>Purchase generally transfers ownership of a portion of the firm's </a:t>
            </a:r>
            <a:r>
              <a:rPr lang="en-US" b="1" u="sng" dirty="0"/>
              <a:t>existing</a:t>
            </a:r>
            <a:r>
              <a:rPr lang="en-US" dirty="0"/>
              <a:t> capital stock</a:t>
            </a:r>
          </a:p>
          <a:p>
            <a:pPr lvl="1" eaLnBrk="1" hangingPunct="1"/>
            <a:r>
              <a:rPr lang="en-US" dirty="0"/>
              <a:t>Does not correspond to any increase in physical capital or production capacity, in most cases</a:t>
            </a:r>
          </a:p>
          <a:p>
            <a:pPr lvl="1" eaLnBrk="1" hangingPunct="1"/>
            <a:r>
              <a:rPr lang="en-US" dirty="0"/>
              <a:t>Financial investment is not included in the calculation of GDP</a:t>
            </a:r>
          </a:p>
          <a:p>
            <a:pPr eaLnBrk="1" hangingPunct="1"/>
            <a:r>
              <a:rPr lang="en-US" dirty="0"/>
              <a:t>Economic investment refers to the increase in the capital goods used to produce other goods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Government Purchases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 sz="2500" b="1" dirty="0"/>
              <a:t>Government purchases </a:t>
            </a:r>
            <a:r>
              <a:rPr lang="en-US" sz="2500" dirty="0"/>
              <a:t>are final goods and services bought by central, state, and local governments</a:t>
            </a:r>
          </a:p>
          <a:p>
            <a:pPr eaLnBrk="1" hangingPunct="1"/>
            <a:endParaRPr lang="en-US" sz="2500" dirty="0"/>
          </a:p>
          <a:p>
            <a:pPr eaLnBrk="1" hangingPunct="1"/>
            <a:r>
              <a:rPr lang="en-US" sz="2500" dirty="0"/>
              <a:t>Excludes </a:t>
            </a:r>
            <a:r>
              <a:rPr lang="en-US" sz="2500" b="1" dirty="0"/>
              <a:t>transfer payments</a:t>
            </a:r>
          </a:p>
          <a:p>
            <a:pPr lvl="1" eaLnBrk="1" hangingPunct="1"/>
            <a:r>
              <a:rPr lang="en-US" sz="2300" dirty="0"/>
              <a:t>Transfer payments are made by government but the government receives no current goods or services</a:t>
            </a:r>
          </a:p>
          <a:p>
            <a:pPr lvl="1" eaLnBrk="1" hangingPunct="1"/>
            <a:endParaRPr lang="en-US" sz="2300" dirty="0"/>
          </a:p>
          <a:p>
            <a:pPr lvl="1" eaLnBrk="1" hangingPunct="1"/>
            <a:r>
              <a:rPr lang="en-US" dirty="0"/>
              <a:t>No purchases of final goods and services involved in transfer payments</a:t>
            </a:r>
          </a:p>
          <a:p>
            <a:pPr lvl="1" eaLnBrk="1" hangingPunct="1"/>
            <a:r>
              <a:rPr lang="en-US" dirty="0"/>
              <a:t>Spending by recipients is included in GDP</a:t>
            </a:r>
          </a:p>
        </p:txBody>
      </p:sp>
      <p:graphicFrame>
        <p:nvGraphicFramePr>
          <p:cNvPr id="52236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087866"/>
              </p:ext>
            </p:extLst>
          </p:nvPr>
        </p:nvGraphicFramePr>
        <p:xfrm>
          <a:off x="1446213" y="2443163"/>
          <a:ext cx="7083425" cy="457200"/>
        </p:xfrm>
        <a:graphic>
          <a:graphicData uri="http://schemas.openxmlformats.org/drawingml/2006/table">
            <a:tbl>
              <a:tblPr/>
              <a:tblGrid>
                <a:gridCol w="2360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1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Fighter jets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Teaching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Office supplies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238" name="Group 14"/>
          <p:cNvGraphicFramePr>
            <a:graphicFrameLocks noGrp="1"/>
          </p:cNvGraphicFramePr>
          <p:nvPr/>
        </p:nvGraphicFramePr>
        <p:xfrm>
          <a:off x="1598613" y="4125913"/>
          <a:ext cx="6637337" cy="457200"/>
        </p:xfrm>
        <a:graphic>
          <a:graphicData uri="http://schemas.openxmlformats.org/drawingml/2006/table">
            <a:tbl>
              <a:tblPr/>
              <a:tblGrid>
                <a:gridCol w="3319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Social Security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Vouchers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Net Exports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64630" y="1600200"/>
            <a:ext cx="8229600" cy="5038725"/>
          </a:xfrm>
        </p:spPr>
        <p:txBody>
          <a:bodyPr/>
          <a:lstStyle/>
          <a:p>
            <a:pPr eaLnBrk="1" hangingPunct="1"/>
            <a:r>
              <a:rPr lang="en-US" b="1" dirty="0"/>
              <a:t>Net exports </a:t>
            </a:r>
            <a:r>
              <a:rPr lang="en-US" dirty="0"/>
              <a:t>equal exports minus imports</a:t>
            </a:r>
          </a:p>
          <a:p>
            <a:pPr lvl="1" eaLnBrk="1" hangingPunct="1"/>
            <a:r>
              <a:rPr lang="en-US" dirty="0"/>
              <a:t>Exports are goods and services produced domestically and sold abroad</a:t>
            </a:r>
          </a:p>
          <a:p>
            <a:pPr lvl="2" eaLnBrk="1" hangingPunct="1"/>
            <a:r>
              <a:rPr lang="en-US" dirty="0"/>
              <a:t>Exports reduce the amount available to the domestic economy</a:t>
            </a:r>
          </a:p>
          <a:p>
            <a:pPr lvl="1" eaLnBrk="1" hangingPunct="1"/>
            <a:r>
              <a:rPr lang="en-US" dirty="0"/>
              <a:t>Imports are purchases in the domestic economy of goods and services produced abroad</a:t>
            </a:r>
          </a:p>
          <a:p>
            <a:pPr lvl="2" eaLnBrk="1" hangingPunct="1"/>
            <a:r>
              <a:rPr lang="en-US" dirty="0"/>
              <a:t>Imports can be consumption, investment, or government spending</a:t>
            </a:r>
          </a:p>
          <a:p>
            <a:pPr lvl="2" eaLnBrk="1" hangingPunct="1"/>
            <a:r>
              <a:rPr lang="en-US" dirty="0"/>
              <a:t>Imports increase the amount available to the domestic economy</a:t>
            </a:r>
          </a:p>
          <a:p>
            <a:pPr lvl="2" eaLnBrk="1" hangingPunct="1"/>
            <a:r>
              <a:rPr lang="en-US" dirty="0"/>
              <a:t>Needs to be excluded from the calculation of GDP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3207223" y="5390872"/>
            <a:ext cx="3275463" cy="58685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67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GDP Expenditures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87400" y="457200"/>
            <a:ext cx="8229600" cy="1617663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/>
          </a:p>
          <a:p>
            <a:pPr eaLnBrk="1" hangingPunct="1">
              <a:buFontTx/>
              <a:buNone/>
            </a:pPr>
            <a:endParaRPr lang="en-US"/>
          </a:p>
          <a:p>
            <a:pPr eaLnBrk="1" hangingPunct="1">
              <a:buFontTx/>
              <a:buNone/>
            </a:pPr>
            <a:r>
              <a:rPr lang="en-US"/>
              <a:t>Terminology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r>
              <a:rPr lang="en-US" sz="2600"/>
              <a:t>Expenditure approach to measuring GDP</a:t>
            </a:r>
            <a:br>
              <a:rPr lang="en-US" sz="2600"/>
            </a:br>
            <a:endParaRPr lang="en-US" sz="2600"/>
          </a:p>
          <a:p>
            <a:pPr algn="ctr" eaLnBrk="1" hangingPunct="1">
              <a:buFontTx/>
              <a:buNone/>
            </a:pPr>
            <a:r>
              <a:rPr lang="en-US" b="1">
                <a:solidFill>
                  <a:schemeClr val="bg1"/>
                </a:solidFill>
              </a:rPr>
              <a:t>Y = C + I + G + NX</a:t>
            </a:r>
          </a:p>
          <a:p>
            <a:pPr eaLnBrk="1" hangingPunct="1">
              <a:buFontTx/>
              <a:buNone/>
            </a:pPr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65238" y="2047875"/>
          <a:ext cx="7497762" cy="2590800"/>
        </p:xfrm>
        <a:graphic>
          <a:graphicData uri="http://schemas.openxmlformats.org/drawingml/2006/table">
            <a:tbl>
              <a:tblPr/>
              <a:tblGrid>
                <a:gridCol w="1341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Gross Domestic Product or output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Consumption Expenditure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Investment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Government Purchases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Net Exports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 idx="4294967295"/>
          </p:nvPr>
        </p:nvSpPr>
        <p:spPr>
          <a:xfrm>
            <a:off x="685800" y="381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GDP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1041400"/>
            <a:ext cx="8229600" cy="5435600"/>
          </a:xfrm>
        </p:spPr>
        <p:txBody>
          <a:bodyPr/>
          <a:lstStyle/>
          <a:p>
            <a:pPr eaLnBrk="1" hangingPunct="1"/>
            <a:r>
              <a:rPr lang="en-US" dirty="0"/>
              <a:t>Total production is 1 million cars, $15,000 each</a:t>
            </a:r>
          </a:p>
          <a:p>
            <a:pPr eaLnBrk="1" hangingPunct="1"/>
            <a:r>
              <a:rPr lang="en-US" dirty="0"/>
              <a:t>Production value is 1 million times $15,000 = $15 billion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r>
              <a:rPr lang="en-US" dirty="0"/>
              <a:t>25,000 cars are unsold</a:t>
            </a:r>
          </a:p>
          <a:p>
            <a:pPr lvl="1" eaLnBrk="1" hangingPunct="1"/>
            <a:r>
              <a:rPr lang="en-US" dirty="0"/>
              <a:t>Incorporate in the inventory investment</a:t>
            </a:r>
          </a:p>
        </p:txBody>
      </p:sp>
      <p:graphicFrame>
        <p:nvGraphicFramePr>
          <p:cNvPr id="40009" name="Group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927713"/>
              </p:ext>
            </p:extLst>
          </p:nvPr>
        </p:nvGraphicFramePr>
        <p:xfrm>
          <a:off x="6030913" y="2660650"/>
          <a:ext cx="2457450" cy="2560320"/>
        </p:xfrm>
        <a:graphic>
          <a:graphicData uri="http://schemas.openxmlformats.org/drawingml/2006/table">
            <a:tbl>
              <a:tblPr/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7950" algn="r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GDP Contribution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73088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$10.500 billion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73088" algn="dec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$3.000 billion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1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73088" algn="dec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$0.750 billion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73088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$0.375 billion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73088" algn="dec"/>
                        </a:tabLst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$14.625 billion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7404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834158"/>
              </p:ext>
            </p:extLst>
          </p:nvPr>
        </p:nvGraphicFramePr>
        <p:xfrm>
          <a:off x="1114425" y="2660650"/>
          <a:ext cx="4916488" cy="2439425"/>
        </p:xfrm>
        <a:graphic>
          <a:graphicData uri="http://schemas.openxmlformats.org/drawingml/2006/table">
            <a:tbl>
              <a:tblPr/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9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Sector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795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# Cars Purchased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Consumers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7950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700,000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Businesses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7950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200,000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Government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7950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50,000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Net exports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7950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25,000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795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975,000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 idx="4294967295"/>
          </p:nvPr>
        </p:nvSpPr>
        <p:spPr>
          <a:xfrm>
            <a:off x="685800" y="381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GDP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5800" y="1041400"/>
            <a:ext cx="8229600" cy="5084763"/>
          </a:xfrm>
        </p:spPr>
        <p:txBody>
          <a:bodyPr/>
          <a:lstStyle/>
          <a:p>
            <a:pPr eaLnBrk="1" hangingPunct="1"/>
            <a:r>
              <a:rPr lang="en-US" dirty="0"/>
              <a:t>Total production is 1 million cars, $15,000 each</a:t>
            </a:r>
          </a:p>
          <a:p>
            <a:pPr eaLnBrk="1" hangingPunct="1"/>
            <a:r>
              <a:rPr lang="en-US" dirty="0"/>
              <a:t>Production value is 1 million times $15,000 = $15 billion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r>
              <a:rPr lang="en-US" dirty="0"/>
              <a:t>25,000 cars are unsold</a:t>
            </a:r>
          </a:p>
          <a:p>
            <a:pPr lvl="2" eaLnBrk="1" hangingPunct="1"/>
            <a:r>
              <a:rPr lang="en-US" dirty="0"/>
              <a:t>Investment in inventories increases by $0.375 billion</a:t>
            </a:r>
          </a:p>
        </p:txBody>
      </p:sp>
      <p:graphicFrame>
        <p:nvGraphicFramePr>
          <p:cNvPr id="40009" name="Group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927713"/>
              </p:ext>
            </p:extLst>
          </p:nvPr>
        </p:nvGraphicFramePr>
        <p:xfrm>
          <a:off x="6030913" y="2660650"/>
          <a:ext cx="2457450" cy="2560320"/>
        </p:xfrm>
        <a:graphic>
          <a:graphicData uri="http://schemas.openxmlformats.org/drawingml/2006/table">
            <a:tbl>
              <a:tblPr/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7950" algn="r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GDP Contribution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73088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$10.500 billion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73088" algn="dec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$3.000 billion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1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73088" algn="dec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$0.750 billion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73088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$0.375 billion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73088" algn="dec"/>
                        </a:tabLst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$14.625 billion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7404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834158"/>
              </p:ext>
            </p:extLst>
          </p:nvPr>
        </p:nvGraphicFramePr>
        <p:xfrm>
          <a:off x="1114425" y="2660650"/>
          <a:ext cx="4916488" cy="2439425"/>
        </p:xfrm>
        <a:graphic>
          <a:graphicData uri="http://schemas.openxmlformats.org/drawingml/2006/table">
            <a:tbl>
              <a:tblPr/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9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Sector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795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# Cars Purchased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Consumers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7950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700,000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Businesses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7950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200,000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Government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7950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50,000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Net exports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7950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25,000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7950" algn="r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975,000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0000" name="Group 64"/>
          <p:cNvGraphicFramePr>
            <a:graphicFrameLocks noGrp="1"/>
          </p:cNvGraphicFramePr>
          <p:nvPr/>
        </p:nvGraphicFramePr>
        <p:xfrm>
          <a:off x="1114425" y="3452813"/>
          <a:ext cx="7373938" cy="471488"/>
        </p:xfrm>
        <a:graphic>
          <a:graphicData uri="http://schemas.openxmlformats.org/drawingml/2006/table">
            <a:tbl>
              <a:tblPr/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9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Businesses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7950" algn="r"/>
                        </a:tabLst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225,000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73088" algn="dec"/>
                        </a:tabLst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$3.375 billion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405" name="Group 61"/>
          <p:cNvGraphicFramePr>
            <a:graphicFrameLocks noGrp="1"/>
          </p:cNvGraphicFramePr>
          <p:nvPr/>
        </p:nvGraphicFramePr>
        <p:xfrm>
          <a:off x="1114425" y="4641850"/>
          <a:ext cx="7373938" cy="701040"/>
        </p:xfrm>
        <a:graphic>
          <a:graphicData uri="http://schemas.openxmlformats.org/drawingml/2006/table">
            <a:tbl>
              <a:tblPr/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9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77950" algn="r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1,000,000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73088" algn="dec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$15.000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73088" algn="dec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billion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2A8F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27694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Income Approach to GDP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11928" y="1295400"/>
            <a:ext cx="8229600" cy="5324475"/>
          </a:xfrm>
        </p:spPr>
        <p:txBody>
          <a:bodyPr/>
          <a:lstStyle/>
          <a:p>
            <a:pPr eaLnBrk="1" hangingPunct="1"/>
            <a:r>
              <a:rPr lang="en-US" sz="2600" dirty="0"/>
              <a:t>When a good is sold, its proceeds are distributed to workers or business owners</a:t>
            </a:r>
          </a:p>
          <a:p>
            <a:pPr eaLnBrk="1" hangingPunct="1"/>
            <a:r>
              <a:rPr lang="en-US" sz="2600" dirty="0"/>
              <a:t>GDP = labor income + capital income</a:t>
            </a:r>
          </a:p>
          <a:p>
            <a:pPr eaLnBrk="1" hangingPunct="1"/>
            <a:r>
              <a:rPr lang="en-US" sz="2600" dirty="0"/>
              <a:t>Labor income is wages, salaries, benefits, and incomes of the self-employed</a:t>
            </a:r>
          </a:p>
          <a:p>
            <a:pPr lvl="1" eaLnBrk="1" hangingPunct="1"/>
            <a:r>
              <a:rPr lang="en-US" sz="2600" dirty="0"/>
              <a:t>About ⅔ of GDP</a:t>
            </a:r>
          </a:p>
          <a:p>
            <a:pPr eaLnBrk="1" hangingPunct="1"/>
            <a:r>
              <a:rPr lang="en-US" sz="2600" dirty="0"/>
              <a:t>Capital income pays for physical capital and intangibles</a:t>
            </a:r>
          </a:p>
          <a:p>
            <a:pPr eaLnBrk="1" hangingPunct="1"/>
            <a:endParaRPr lang="en-US" sz="2600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Add up all incomes = GDP in the economy</a:t>
            </a:r>
          </a:p>
        </p:txBody>
      </p:sp>
      <p:graphicFrame>
        <p:nvGraphicFramePr>
          <p:cNvPr id="58377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70169"/>
              </p:ext>
            </p:extLst>
          </p:nvPr>
        </p:nvGraphicFramePr>
        <p:xfrm>
          <a:off x="1419832" y="4910138"/>
          <a:ext cx="7251700" cy="914400"/>
        </p:xfrm>
        <a:graphic>
          <a:graphicData uri="http://schemas.openxmlformats.org/drawingml/2006/table">
            <a:tbl>
              <a:tblPr/>
              <a:tblGrid>
                <a:gridCol w="493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Profits for business owners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Rent for land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Interest for bond holders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31775" marR="0" lvl="0" indent="-2317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Royalties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Three GDP Approaches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3778250" y="1754188"/>
            <a:ext cx="1984375" cy="4548187"/>
            <a:chOff x="3848101" y="1761742"/>
            <a:chExt cx="1984375" cy="4547291"/>
          </a:xfrm>
        </p:grpSpPr>
        <p:sp>
          <p:nvSpPr>
            <p:cNvPr id="166921" name="Rectangle 9"/>
            <p:cNvSpPr>
              <a:spLocks noChangeArrowheads="1"/>
            </p:cNvSpPr>
            <p:nvPr/>
          </p:nvSpPr>
          <p:spPr bwMode="auto">
            <a:xfrm>
              <a:off x="3848101" y="2244148"/>
              <a:ext cx="1984375" cy="4010602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headEnd/>
              <a:tailEnd/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1769" name="Text Box 16"/>
            <p:cNvSpPr txBox="1">
              <a:spLocks noChangeArrowheads="1"/>
            </p:cNvSpPr>
            <p:nvPr/>
          </p:nvSpPr>
          <p:spPr bwMode="auto">
            <a:xfrm>
              <a:off x="3925615" y="1761742"/>
              <a:ext cx="182934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/>
                <a:t>Expenditure</a:t>
              </a:r>
            </a:p>
          </p:txBody>
        </p:sp>
        <p:sp>
          <p:nvSpPr>
            <p:cNvPr id="31770" name="Line 18"/>
            <p:cNvSpPr>
              <a:spLocks noChangeShapeType="1"/>
            </p:cNvSpPr>
            <p:nvPr/>
          </p:nvSpPr>
          <p:spPr bwMode="auto">
            <a:xfrm>
              <a:off x="3848101" y="4527755"/>
              <a:ext cx="19843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1" name="Line 19"/>
            <p:cNvSpPr>
              <a:spLocks noChangeShapeType="1"/>
            </p:cNvSpPr>
            <p:nvPr/>
          </p:nvSpPr>
          <p:spPr bwMode="auto">
            <a:xfrm>
              <a:off x="3848101" y="5057149"/>
              <a:ext cx="1984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2" name="Line 20"/>
            <p:cNvSpPr>
              <a:spLocks noChangeShapeType="1"/>
            </p:cNvSpPr>
            <p:nvPr/>
          </p:nvSpPr>
          <p:spPr bwMode="auto">
            <a:xfrm>
              <a:off x="3848101" y="5963515"/>
              <a:ext cx="19843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3" name="Text Box 22"/>
            <p:cNvSpPr txBox="1">
              <a:spLocks noChangeArrowheads="1"/>
            </p:cNvSpPr>
            <p:nvPr/>
          </p:nvSpPr>
          <p:spPr bwMode="auto">
            <a:xfrm>
              <a:off x="3859213" y="4558939"/>
              <a:ext cx="196215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/>
                <a:t>Investment</a:t>
              </a:r>
            </a:p>
          </p:txBody>
        </p:sp>
        <p:sp>
          <p:nvSpPr>
            <p:cNvPr id="31774" name="Text Box 23"/>
            <p:cNvSpPr txBox="1">
              <a:spLocks noChangeArrowheads="1"/>
            </p:cNvSpPr>
            <p:nvPr/>
          </p:nvSpPr>
          <p:spPr bwMode="auto">
            <a:xfrm>
              <a:off x="3848101" y="3214477"/>
              <a:ext cx="198437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/>
                <a:t>Consumption</a:t>
              </a:r>
            </a:p>
          </p:txBody>
        </p:sp>
        <p:sp>
          <p:nvSpPr>
            <p:cNvPr id="31775" name="Text Box 24"/>
            <p:cNvSpPr txBox="1">
              <a:spLocks noChangeArrowheads="1"/>
            </p:cNvSpPr>
            <p:nvPr/>
          </p:nvSpPr>
          <p:spPr bwMode="auto">
            <a:xfrm>
              <a:off x="3859213" y="5093505"/>
              <a:ext cx="1962150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/>
                <a:t>Government purchases</a:t>
              </a:r>
            </a:p>
          </p:txBody>
        </p:sp>
        <p:sp>
          <p:nvSpPr>
            <p:cNvPr id="31776" name="Text Box 25"/>
            <p:cNvSpPr txBox="1">
              <a:spLocks noChangeArrowheads="1"/>
            </p:cNvSpPr>
            <p:nvPr/>
          </p:nvSpPr>
          <p:spPr bwMode="auto">
            <a:xfrm>
              <a:off x="3859213" y="5908923"/>
              <a:ext cx="196215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Net exports</a:t>
              </a:r>
            </a:p>
          </p:txBody>
        </p:sp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467475" y="1782763"/>
            <a:ext cx="2103438" cy="4562475"/>
            <a:chOff x="6467383" y="1761742"/>
            <a:chExt cx="2103120" cy="4563562"/>
          </a:xfrm>
        </p:grpSpPr>
        <p:sp>
          <p:nvSpPr>
            <p:cNvPr id="166922" name="Rectangle 10"/>
            <p:cNvSpPr>
              <a:spLocks noChangeArrowheads="1"/>
            </p:cNvSpPr>
            <p:nvPr/>
          </p:nvSpPr>
          <p:spPr bwMode="auto">
            <a:xfrm>
              <a:off x="6530502" y="2244148"/>
              <a:ext cx="1984375" cy="4010602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1762" name="Text Box 17"/>
            <p:cNvSpPr txBox="1">
              <a:spLocks noChangeArrowheads="1"/>
            </p:cNvSpPr>
            <p:nvPr/>
          </p:nvSpPr>
          <p:spPr bwMode="auto">
            <a:xfrm>
              <a:off x="6925410" y="1761742"/>
              <a:ext cx="119455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400"/>
                <a:t>Income</a:t>
              </a:r>
            </a:p>
          </p:txBody>
        </p:sp>
        <p:sp>
          <p:nvSpPr>
            <p:cNvPr id="31763" name="Line 21"/>
            <p:cNvSpPr>
              <a:spLocks noChangeShapeType="1"/>
            </p:cNvSpPr>
            <p:nvPr/>
          </p:nvSpPr>
          <p:spPr bwMode="auto">
            <a:xfrm>
              <a:off x="6536852" y="5057149"/>
              <a:ext cx="1971675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64" name="Text Box 26"/>
            <p:cNvSpPr txBox="1">
              <a:spLocks noChangeArrowheads="1"/>
            </p:cNvSpPr>
            <p:nvPr/>
          </p:nvSpPr>
          <p:spPr bwMode="auto">
            <a:xfrm>
              <a:off x="6554682" y="5243959"/>
              <a:ext cx="1936458" cy="8225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/>
                <a:t>Capital Income</a:t>
              </a:r>
            </a:p>
          </p:txBody>
        </p:sp>
        <p:sp>
          <p:nvSpPr>
            <p:cNvPr id="31765" name="Text Box 27"/>
            <p:cNvSpPr txBox="1">
              <a:spLocks noChangeArrowheads="1"/>
            </p:cNvSpPr>
            <p:nvPr/>
          </p:nvSpPr>
          <p:spPr bwMode="auto">
            <a:xfrm>
              <a:off x="6547965" y="3460512"/>
              <a:ext cx="1949450" cy="822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/>
                <a:t>Labor Income</a:t>
              </a:r>
            </a:p>
          </p:txBody>
        </p:sp>
      </p:grp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1036638" y="1774825"/>
            <a:ext cx="1973262" cy="4506913"/>
            <a:chOff x="1036612" y="1748094"/>
            <a:chExt cx="1973089" cy="4506656"/>
          </a:xfrm>
        </p:grpSpPr>
        <p:sp>
          <p:nvSpPr>
            <p:cNvPr id="31755" name="Text Box 15"/>
            <p:cNvSpPr txBox="1">
              <a:spLocks noChangeArrowheads="1"/>
            </p:cNvSpPr>
            <p:nvPr/>
          </p:nvSpPr>
          <p:spPr bwMode="auto">
            <a:xfrm>
              <a:off x="1194243" y="1748094"/>
              <a:ext cx="165782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400"/>
                <a:t>Production</a:t>
              </a:r>
            </a:p>
          </p:txBody>
        </p:sp>
        <p:sp>
          <p:nvSpPr>
            <p:cNvPr id="25" name="Rectangle 24"/>
            <p:cNvSpPr/>
            <p:nvPr/>
          </p:nvSpPr>
          <p:spPr bwMode="auto">
            <a:xfrm>
              <a:off x="1036612" y="2244148"/>
              <a:ext cx="1973089" cy="401060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400" b="1" dirty="0">
                  <a:solidFill>
                    <a:schemeClr val="bg1"/>
                  </a:solidFill>
                </a:rPr>
                <a:t>Market Value of Final Goods and Services</a:t>
              </a:r>
            </a:p>
          </p:txBody>
        </p:sp>
      </p:grpSp>
      <p:sp>
        <p:nvSpPr>
          <p:cNvPr id="24" name="Equal 23"/>
          <p:cNvSpPr/>
          <p:nvPr/>
        </p:nvSpPr>
        <p:spPr bwMode="auto">
          <a:xfrm>
            <a:off x="3097154" y="3605483"/>
            <a:ext cx="593308" cy="846161"/>
          </a:xfrm>
          <a:prstGeom prst="mathEqual">
            <a:avLst>
              <a:gd name="adj1" fmla="val 23520"/>
              <a:gd name="adj2" fmla="val 21437"/>
            </a:avLst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Equal 27"/>
          <p:cNvSpPr/>
          <p:nvPr/>
        </p:nvSpPr>
        <p:spPr bwMode="auto">
          <a:xfrm>
            <a:off x="5849743" y="3605483"/>
            <a:ext cx="593308" cy="846161"/>
          </a:xfrm>
          <a:prstGeom prst="mathEqual">
            <a:avLst>
              <a:gd name="adj1" fmla="val 23520"/>
              <a:gd name="adj2" fmla="val 21437"/>
            </a:avLst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48864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Adjusting for Price Changes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Compare GDP for different years to see how much output has changed</a:t>
            </a:r>
          </a:p>
          <a:p>
            <a:pPr eaLnBrk="1" hangingPunct="1"/>
            <a:r>
              <a:rPr lang="en-US"/>
              <a:t>GDP changes over time because</a:t>
            </a:r>
          </a:p>
          <a:p>
            <a:pPr lvl="1" eaLnBrk="1" hangingPunct="1"/>
            <a:r>
              <a:rPr lang="en-US"/>
              <a:t>Prices change  AND</a:t>
            </a:r>
          </a:p>
          <a:p>
            <a:pPr lvl="1" eaLnBrk="1" hangingPunct="1"/>
            <a:r>
              <a:rPr lang="en-US"/>
              <a:t>Quantity of output changes</a:t>
            </a:r>
          </a:p>
          <a:p>
            <a:pPr eaLnBrk="1" hangingPunct="1"/>
            <a:r>
              <a:rPr lang="en-US"/>
              <a:t>To see how much output has grown, use only the changes in quantities</a:t>
            </a:r>
          </a:p>
          <a:p>
            <a:pPr lvl="1" eaLnBrk="1" hangingPunct="1"/>
            <a:r>
              <a:rPr lang="en-US"/>
              <a:t>Hold prices constant</a:t>
            </a:r>
          </a:p>
          <a:p>
            <a:pPr eaLnBrk="1" hangingPunct="1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The Donut and Cupcake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33098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GDP in 2009 is $175; GDP in 2013 is $420</a:t>
            </a:r>
          </a:p>
          <a:p>
            <a:pPr lvl="1" eaLnBrk="1" hangingPunct="1"/>
            <a:r>
              <a:rPr lang="en-US" dirty="0"/>
              <a:t>GDP in 2013 is 2.4 times the GDP in 2009</a:t>
            </a:r>
          </a:p>
          <a:p>
            <a:pPr eaLnBrk="1" hangingPunct="1"/>
            <a:r>
              <a:rPr lang="en-US" dirty="0"/>
              <a:t>Only twice as many donuts and cupcakes were produced in 2013</a:t>
            </a:r>
          </a:p>
          <a:p>
            <a:pPr lvl="1" eaLnBrk="1" hangingPunct="1"/>
            <a:r>
              <a:rPr lang="en-US" dirty="0"/>
              <a:t>Market value of output grew faster than the physical volume of output</a:t>
            </a:r>
          </a:p>
        </p:txBody>
      </p:sp>
      <p:graphicFrame>
        <p:nvGraphicFramePr>
          <p:cNvPr id="61466" name="Group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40755"/>
              </p:ext>
            </p:extLst>
          </p:nvPr>
        </p:nvGraphicFramePr>
        <p:xfrm>
          <a:off x="885498" y="4435475"/>
          <a:ext cx="7924800" cy="1615440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5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Number of Donuts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Price of Donut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Number of Cupcakes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Price of Cupcake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2009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$5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2013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$6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0396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Real GDP and Nominal GDP 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57225" y="1600200"/>
            <a:ext cx="8429625" cy="4525963"/>
          </a:xfrm>
        </p:spPr>
        <p:txBody>
          <a:bodyPr/>
          <a:lstStyle/>
          <a:p>
            <a:pPr eaLnBrk="1" hangingPunct="1"/>
            <a:r>
              <a:rPr lang="en-US" b="1" dirty="0"/>
              <a:t>Real GDP</a:t>
            </a:r>
            <a:r>
              <a:rPr lang="en-US" dirty="0"/>
              <a:t> values output in the current year using the prices from the base year</a:t>
            </a:r>
          </a:p>
          <a:p>
            <a:pPr lvl="1" eaLnBrk="1" hangingPunct="1"/>
            <a:r>
              <a:rPr lang="en-US" dirty="0"/>
              <a:t>The base year is a reference year that changes infrequently</a:t>
            </a:r>
          </a:p>
          <a:p>
            <a:pPr lvl="1" eaLnBrk="1" hangingPunct="1"/>
            <a:r>
              <a:rPr lang="en-US" dirty="0"/>
              <a:t>Real GDP measures the physical volume of production</a:t>
            </a:r>
          </a:p>
          <a:p>
            <a:pPr eaLnBrk="1" hangingPunct="1"/>
            <a:r>
              <a:rPr lang="en-US" b="1" dirty="0"/>
              <a:t>Nominal GDP</a:t>
            </a:r>
            <a:r>
              <a:rPr lang="en-US" dirty="0"/>
              <a:t> values output in the current year using prices from the current year</a:t>
            </a:r>
          </a:p>
          <a:p>
            <a:pPr lvl="1" eaLnBrk="1" hangingPunct="1"/>
            <a:r>
              <a:rPr lang="en-US" dirty="0"/>
              <a:t>Nominal GDP is the current dollar value of production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Calculating Real GDP for 2013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1000" y="1600200"/>
            <a:ext cx="8677275" cy="4800600"/>
          </a:xfrm>
        </p:spPr>
        <p:txBody>
          <a:bodyPr/>
          <a:lstStyle/>
          <a:p>
            <a:pPr eaLnBrk="1" hangingPunct="1"/>
            <a:r>
              <a:rPr lang="en-US" sz="2600" dirty="0"/>
              <a:t>Use 2009 as the base year</a:t>
            </a:r>
          </a:p>
          <a:p>
            <a:pPr eaLnBrk="1" hangingPunct="1"/>
            <a:r>
              <a:rPr lang="en-US" sz="2600" dirty="0"/>
              <a:t>Nominal GDP for 2009 is $175 and for 2013, $420</a:t>
            </a:r>
          </a:p>
          <a:p>
            <a:pPr eaLnBrk="1" hangingPunct="1"/>
            <a:r>
              <a:rPr lang="en-US" sz="2600" dirty="0"/>
              <a:t>Calculate real GDP using current year quantities and base year prices</a:t>
            </a:r>
          </a:p>
          <a:p>
            <a:pPr lvl="1" eaLnBrk="1" hangingPunct="1">
              <a:buNone/>
            </a:pPr>
            <a:r>
              <a:rPr lang="en-US" sz="2300" dirty="0"/>
              <a:t>Real GDP in 2013=(20 donuts)($10)+(30 cupcakes)(5) =$350</a:t>
            </a:r>
          </a:p>
          <a:p>
            <a:pPr lvl="1" eaLnBrk="1" hangingPunct="1"/>
            <a:r>
              <a:rPr lang="en-US" sz="2200" dirty="0"/>
              <a:t>Real GDP doubled between 2009 and 2013</a:t>
            </a:r>
          </a:p>
        </p:txBody>
      </p:sp>
      <p:graphicFrame>
        <p:nvGraphicFramePr>
          <p:cNvPr id="63514" name="Group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462232"/>
              </p:ext>
            </p:extLst>
          </p:nvPr>
        </p:nvGraphicFramePr>
        <p:xfrm>
          <a:off x="914400" y="4716463"/>
          <a:ext cx="7924800" cy="1493520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5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Number of Donuts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Price of Donut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Number of Cupcakes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Price of Cupcake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2009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$5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2013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$6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4200" dirty="0"/>
              <a:t>Real and Nominal GDP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96162" y="1600200"/>
            <a:ext cx="8229600" cy="5048250"/>
          </a:xfrm>
        </p:spPr>
        <p:txBody>
          <a:bodyPr/>
          <a:lstStyle/>
          <a:p>
            <a:pPr eaLnBrk="1" hangingPunct="1"/>
            <a:r>
              <a:rPr lang="en-US" sz="2600" dirty="0"/>
              <a:t>Usually, nominal and real GDP increase each year</a:t>
            </a:r>
          </a:p>
          <a:p>
            <a:pPr eaLnBrk="1" hangingPunct="1"/>
            <a:r>
              <a:rPr lang="en-US" sz="2600" dirty="0"/>
              <a:t>When prices increase (inflation), Nominal GDP exceeds real GDP</a:t>
            </a:r>
          </a:p>
          <a:p>
            <a:pPr eaLnBrk="1" hangingPunct="1"/>
            <a:r>
              <a:rPr lang="en-US" sz="2600" dirty="0"/>
              <a:t>Nominal GDP exceeds Real GDP even if f</a:t>
            </a:r>
            <a:r>
              <a:rPr lang="en-US" sz="2400" dirty="0"/>
              <a:t>ewer goods and services produced but prices increase faster than output decreased</a:t>
            </a:r>
          </a:p>
          <a:p>
            <a:pPr eaLnBrk="1" hangingPunct="1"/>
            <a:r>
              <a:rPr lang="en-US" sz="2600" dirty="0"/>
              <a:t>Nominal GDP will be smaller than real GDP if the prices in the current year are less than in the base year (deflation)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48864" y="74624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Real GDP and Economic </a:t>
            </a:r>
            <a:br>
              <a:rPr lang="en-US" dirty="0"/>
            </a:br>
            <a:r>
              <a:rPr lang="en-US" dirty="0"/>
              <a:t>Well-Being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2041648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Real GDP is a flawed measure of well-being</a:t>
            </a:r>
          </a:p>
          <a:p>
            <a:pPr lvl="1" eaLnBrk="1" hangingPunct="1"/>
            <a:r>
              <a:rPr lang="en-US" dirty="0"/>
              <a:t>It values only market transactions</a:t>
            </a:r>
          </a:p>
          <a:p>
            <a:pPr lvl="2" eaLnBrk="1" hangingPunct="1"/>
            <a:r>
              <a:rPr lang="en-US" dirty="0"/>
              <a:t>Omits illegal transactions, volunteer work, and household production</a:t>
            </a:r>
          </a:p>
          <a:p>
            <a:pPr eaLnBrk="1" hangingPunct="1"/>
            <a:r>
              <a:rPr lang="en-US" dirty="0"/>
              <a:t>Maximizing GDP will not necessarily maximize national well-being</a:t>
            </a:r>
          </a:p>
          <a:p>
            <a:pPr eaLnBrk="1" hangingPunct="1"/>
            <a:r>
              <a:rPr lang="en-US" dirty="0"/>
              <a:t>GDP does not account for intangibles people value, such as crime rates, traffic congestion, open space and sense of community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GDP Does Not Value Leisure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505604"/>
            <a:ext cx="8229600" cy="5085696"/>
          </a:xfrm>
        </p:spPr>
        <p:txBody>
          <a:bodyPr/>
          <a:lstStyle/>
          <a:p>
            <a:pPr eaLnBrk="1" hangingPunct="1"/>
            <a:r>
              <a:rPr lang="en-US" dirty="0"/>
              <a:t>Over time people consume more leisure time</a:t>
            </a:r>
          </a:p>
          <a:p>
            <a:pPr lvl="1" eaLnBrk="1" hangingPunct="1"/>
            <a:r>
              <a:rPr lang="en-US" dirty="0"/>
              <a:t>Work weeks are shorter </a:t>
            </a:r>
          </a:p>
          <a:p>
            <a:pPr lvl="1" eaLnBrk="1" hangingPunct="1"/>
            <a:r>
              <a:rPr lang="en-US" dirty="0"/>
              <a:t>People enter the labor force at an older age</a:t>
            </a:r>
          </a:p>
          <a:p>
            <a:pPr lvl="1" eaLnBrk="1" hangingPunct="1"/>
            <a:r>
              <a:rPr lang="en-US" dirty="0"/>
              <a:t>People retire earlier</a:t>
            </a:r>
          </a:p>
          <a:p>
            <a:pPr eaLnBrk="1" hangingPunct="1"/>
            <a:r>
              <a:rPr lang="en-US" dirty="0"/>
              <a:t>Leisure produces no goods for market</a:t>
            </a:r>
          </a:p>
          <a:p>
            <a:pPr lvl="1" eaLnBrk="1" hangingPunct="1"/>
            <a:r>
              <a:rPr lang="en-US" dirty="0"/>
              <a:t>GDP places a value of zero on all leisure time</a:t>
            </a:r>
          </a:p>
          <a:p>
            <a:pPr lvl="1" eaLnBrk="1" hangingPunct="1"/>
            <a:r>
              <a:rPr lang="en-US" dirty="0"/>
              <a:t>Opportunity cost of an hour of leisure is your hourly wage</a:t>
            </a:r>
          </a:p>
          <a:p>
            <a:pPr lvl="1" eaLnBrk="1" hangingPunct="1"/>
            <a:r>
              <a:rPr lang="en-US" dirty="0"/>
              <a:t>Omission of the value of leisure time makes GDP seem smaller</a:t>
            </a:r>
          </a:p>
          <a:p>
            <a:pPr eaLnBrk="1" hangingPunct="1"/>
            <a:r>
              <a:rPr lang="en-US" dirty="0"/>
              <a:t>Leisure contributes to well being of people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48864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Nonmarket Economic Activities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600200"/>
            <a:ext cx="8261786" cy="4525963"/>
          </a:xfrm>
        </p:spPr>
        <p:txBody>
          <a:bodyPr/>
          <a:lstStyle/>
          <a:p>
            <a:pPr eaLnBrk="1" hangingPunct="1"/>
            <a:r>
              <a:rPr lang="en-US" dirty="0"/>
              <a:t>GDP omits some services that are not traded in markets</a:t>
            </a:r>
          </a:p>
          <a:p>
            <a:pPr lvl="1" eaLnBrk="1" hangingPunct="1"/>
            <a:r>
              <a:rPr lang="en-US" dirty="0"/>
              <a:t>Household production</a:t>
            </a:r>
          </a:p>
          <a:p>
            <a:pPr lvl="1" eaLnBrk="1" hangingPunct="1"/>
            <a:r>
              <a:rPr lang="en-US" dirty="0"/>
              <a:t>Volunteer services</a:t>
            </a:r>
          </a:p>
          <a:p>
            <a:pPr eaLnBrk="1" hangingPunct="1"/>
            <a:r>
              <a:rPr lang="en-US" dirty="0"/>
              <a:t>Valuing these services would be difficult</a:t>
            </a:r>
          </a:p>
          <a:p>
            <a:pPr eaLnBrk="1" hangingPunct="1"/>
            <a:r>
              <a:rPr lang="en-US" dirty="0"/>
              <a:t>Nonmarket activities are important in poor countries</a:t>
            </a:r>
          </a:p>
          <a:p>
            <a:pPr lvl="1" eaLnBrk="1" hangingPunct="1"/>
            <a:r>
              <a:rPr lang="en-US" dirty="0"/>
              <a:t>Self-sufficient households and bartered goods and services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463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Underground Economy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4630" y="1600200"/>
            <a:ext cx="8229600" cy="5010150"/>
          </a:xfrm>
        </p:spPr>
        <p:txBody>
          <a:bodyPr/>
          <a:lstStyle/>
          <a:p>
            <a:pPr eaLnBrk="1" hangingPunct="1"/>
            <a:r>
              <a:rPr lang="en-US" dirty="0"/>
              <a:t>Underground economy is all unreported transactions, legal and illegal</a:t>
            </a:r>
          </a:p>
          <a:p>
            <a:pPr eaLnBrk="1" hangingPunct="1"/>
            <a:r>
              <a:rPr lang="en-US" dirty="0"/>
              <a:t>Casual labor is often paid in cash</a:t>
            </a:r>
          </a:p>
          <a:p>
            <a:pPr lvl="1" eaLnBrk="1" hangingPunct="1"/>
            <a:r>
              <a:rPr lang="en-US" dirty="0"/>
              <a:t>Failure to report transaction reduces taxes</a:t>
            </a:r>
          </a:p>
          <a:p>
            <a:pPr lvl="1" eaLnBrk="1" hangingPunct="1"/>
            <a:r>
              <a:rPr lang="en-US" dirty="0"/>
              <a:t>Includes baby sitters, tutoring, home repair, etc.</a:t>
            </a:r>
          </a:p>
          <a:p>
            <a:pPr eaLnBrk="1" hangingPunct="1"/>
            <a:r>
              <a:rPr lang="en-US" dirty="0"/>
              <a:t>Some underground activity is illegal</a:t>
            </a:r>
          </a:p>
          <a:p>
            <a:pPr lvl="1" eaLnBrk="1" hangingPunct="1"/>
            <a:r>
              <a:rPr lang="en-US" dirty="0"/>
              <a:t>Goods and services are being produced and consumed but not included in GDP</a:t>
            </a:r>
          </a:p>
          <a:p>
            <a:pPr eaLnBrk="1" hangingPunct="1"/>
            <a:r>
              <a:rPr lang="en-US" dirty="0"/>
              <a:t>Estimates suggest the underground economy is large regardless of national income level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Environmental Quality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Produce more output requires more factories, and extraction of mineral resources</a:t>
            </a:r>
          </a:p>
          <a:p>
            <a:pPr eaLnBrk="1" hangingPunct="1"/>
            <a:r>
              <a:rPr lang="en-US" dirty="0"/>
              <a:t>Contributes to degrading of environmental quality such as pollution, greenhouse effect, congestion</a:t>
            </a:r>
          </a:p>
          <a:p>
            <a:pPr eaLnBrk="1" hangingPunct="1"/>
            <a:r>
              <a:rPr lang="en-US" dirty="0"/>
              <a:t>Depletion of resources may also damage the environment permanently</a:t>
            </a:r>
          </a:p>
          <a:p>
            <a:pPr eaLnBrk="1" hangingPunct="1"/>
            <a:r>
              <a:rPr lang="en-US" dirty="0"/>
              <a:t>Reduce well being of people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71500" y="478226"/>
            <a:ext cx="8530789" cy="1143000"/>
          </a:xfrm>
        </p:spPr>
        <p:txBody>
          <a:bodyPr/>
          <a:lstStyle/>
          <a:p>
            <a:pPr eaLnBrk="1" hangingPunct="1"/>
            <a:r>
              <a:rPr lang="en-US" dirty="0"/>
              <a:t>Poverty and Economic Inequality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773626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GDP does not capture the effects of income inequality</a:t>
            </a:r>
          </a:p>
          <a:p>
            <a:pPr eaLnBrk="1" hangingPunct="1"/>
            <a:r>
              <a:rPr lang="en-US" dirty="0"/>
              <a:t>Income distribution can be very unequal although the GDP value is high</a:t>
            </a:r>
          </a:p>
          <a:p>
            <a:pPr eaLnBrk="1" hangingPunct="1"/>
            <a:r>
              <a:rPr lang="en-US" dirty="0"/>
              <a:t>Most would prefer living in a relatively equal society to one with a few wealthy and many poor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 idx="4294967295"/>
          </p:nvPr>
        </p:nvSpPr>
        <p:spPr>
          <a:xfrm>
            <a:off x="764630" y="22597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GDP as a Welfare Measure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64630" y="1251168"/>
            <a:ext cx="8229600" cy="5387757"/>
          </a:xfrm>
        </p:spPr>
        <p:txBody>
          <a:bodyPr/>
          <a:lstStyle/>
          <a:p>
            <a:pPr eaLnBrk="1" hangingPunct="1"/>
            <a:r>
              <a:rPr lang="en-US" sz="2500" dirty="0"/>
              <a:t>GDP omits and undervalues some goods and services</a:t>
            </a:r>
          </a:p>
          <a:p>
            <a:pPr eaLnBrk="1" hangingPunct="1"/>
            <a:r>
              <a:rPr lang="en-US" sz="2500" dirty="0"/>
              <a:t>GDP per capita is positively associated with several measures of well-being</a:t>
            </a:r>
          </a:p>
          <a:p>
            <a:pPr lvl="1" eaLnBrk="1" hangingPunct="1"/>
            <a:r>
              <a:rPr lang="en-US" dirty="0"/>
              <a:t>Material standard of living:  more goods and services</a:t>
            </a:r>
          </a:p>
          <a:p>
            <a:pPr lvl="1" eaLnBrk="1" hangingPunct="1"/>
            <a:r>
              <a:rPr lang="en-US" dirty="0"/>
              <a:t>Health and life expectancy</a:t>
            </a:r>
          </a:p>
          <a:p>
            <a:pPr lvl="2" eaLnBrk="1" hangingPunct="1"/>
            <a:r>
              <a:rPr lang="en-US" sz="2500" dirty="0"/>
              <a:t>Residents of industrialized countries fare better than residents of developing countries in a range of health measures</a:t>
            </a:r>
          </a:p>
          <a:p>
            <a:pPr lvl="1" eaLnBrk="1" hangingPunct="1"/>
            <a:r>
              <a:rPr lang="en-US" dirty="0"/>
              <a:t>Education</a:t>
            </a:r>
          </a:p>
          <a:p>
            <a:pPr lvl="2" eaLnBrk="1" hangingPunct="1"/>
            <a:r>
              <a:rPr lang="en-US" sz="2500" dirty="0"/>
              <a:t>Literacy and school enrollment rates are higher in high-income countries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Inflation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Prices of goods change over time, creates inflation and erodes the purchasing power of money</a:t>
            </a:r>
          </a:p>
          <a:p>
            <a:pPr eaLnBrk="1" hangingPunct="1"/>
            <a:r>
              <a:rPr lang="en-US" dirty="0"/>
              <a:t>Income needs to increase over time to maintain the standard of living</a:t>
            </a:r>
          </a:p>
          <a:p>
            <a:pPr eaLnBrk="1" hangingPunct="1"/>
            <a:r>
              <a:rPr lang="en-US" dirty="0"/>
              <a:t>Adjust values, incomes, or spending for change in prices for constant purchasing power</a:t>
            </a:r>
          </a:p>
          <a:p>
            <a:pPr eaLnBrk="1" hangingPunct="1"/>
            <a:r>
              <a:rPr lang="en-US" dirty="0"/>
              <a:t>Inflation increases uncertainty when planning for the future and is costly to the society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67864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Measuring the Price Level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800" y="1663264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The </a:t>
            </a:r>
            <a:r>
              <a:rPr lang="en-US" b="1" dirty="0"/>
              <a:t>Consumer Price Index </a:t>
            </a:r>
            <a:r>
              <a:rPr lang="en-US" dirty="0"/>
              <a:t>(CPI) is a measure of the cost of living during a particular period</a:t>
            </a:r>
          </a:p>
          <a:p>
            <a:pPr eaLnBrk="1" hangingPunct="1"/>
            <a:r>
              <a:rPr lang="en-US" dirty="0"/>
              <a:t>The CPI measures</a:t>
            </a:r>
          </a:p>
          <a:p>
            <a:pPr lvl="1" eaLnBrk="1" hangingPunct="1"/>
            <a:r>
              <a:rPr lang="en-US" dirty="0"/>
              <a:t>The cost of a standard basket of goods and services in a given year </a:t>
            </a:r>
          </a:p>
          <a:p>
            <a:pPr lvl="1" eaLnBrk="1" hangingPunct="1"/>
            <a:r>
              <a:rPr lang="en-US" dirty="0"/>
              <a:t>relative to the cost of the same basket of goods and services in the base year</a:t>
            </a:r>
          </a:p>
          <a:p>
            <a:pPr eaLnBrk="1" hangingPunct="1"/>
            <a:r>
              <a:rPr lang="en-US" dirty="0"/>
              <a:t>Base year for the CPI changes periodically, normally it changes every five years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Calculating the CPI</a:t>
            </a:r>
          </a:p>
        </p:txBody>
      </p:sp>
      <p:graphicFrame>
        <p:nvGraphicFramePr>
          <p:cNvPr id="41002" name="Group 42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364019433"/>
              </p:ext>
            </p:extLst>
          </p:nvPr>
        </p:nvGraphicFramePr>
        <p:xfrm>
          <a:off x="800100" y="1600200"/>
          <a:ext cx="8229600" cy="19812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2013 Spending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Monthly Cost in 2013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Rent (2 bedroom apartment)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0" algn="r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$500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Hamburgers (60 at $2 each)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0" algn="r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120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Movie tickets (10 at $6 each)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0" algn="r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60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Monthly expenditures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0" algn="r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$680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1001" name="Group 41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543471705"/>
              </p:ext>
            </p:extLst>
          </p:nvPr>
        </p:nvGraphicFramePr>
        <p:xfrm>
          <a:off x="800100" y="3732213"/>
          <a:ext cx="8229600" cy="1981200"/>
        </p:xfrm>
        <a:graphic>
          <a:graphicData uri="http://schemas.openxmlformats.org/drawingml/2006/table">
            <a:tbl>
              <a:tblPr/>
              <a:tblGrid>
                <a:gridCol w="410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2014 Spending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Monthly Cost in 2014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Rent (2 bedroom apartment)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0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$630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Hamburgers (60 at $2.50 each)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0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150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Movie tickets (10 at $7 each)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0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70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Monthly expenditures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0" algn="r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$850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Calculating the CPI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4294967295"/>
          </p:nvPr>
        </p:nvSpPr>
        <p:spPr>
          <a:xfrm>
            <a:off x="685800" y="1322024"/>
            <a:ext cx="8229600" cy="5310130"/>
          </a:xfrm>
        </p:spPr>
        <p:txBody>
          <a:bodyPr/>
          <a:lstStyle/>
          <a:p>
            <a:pPr eaLnBrk="1" hangingPunct="1"/>
            <a:r>
              <a:rPr lang="en-US" dirty="0"/>
              <a:t>CPI is the ratio of the cost of the basket of goods in the current year to the cost in the base year</a:t>
            </a:r>
          </a:p>
          <a:p>
            <a:pPr lvl="1" eaLnBrk="1" hangingPunct="1"/>
            <a:r>
              <a:rPr lang="en-US" dirty="0"/>
              <a:t>Base year cost $680</a:t>
            </a:r>
          </a:p>
          <a:p>
            <a:pPr lvl="1" eaLnBrk="1" hangingPunct="1"/>
            <a:r>
              <a:rPr lang="en-US" dirty="0"/>
              <a:t>2014 cost  $850</a:t>
            </a:r>
          </a:p>
          <a:p>
            <a:pPr algn="ctr" eaLnBrk="1" hangingPunct="1">
              <a:buFontTx/>
              <a:buNone/>
            </a:pPr>
            <a:r>
              <a:rPr lang="en-US" dirty="0"/>
              <a:t>CPI = (850 / 680) = 1.25</a:t>
            </a:r>
          </a:p>
          <a:p>
            <a:pPr eaLnBrk="1" hangingPunct="1"/>
            <a:r>
              <a:rPr lang="en-US" dirty="0"/>
              <a:t>Cost of living in 2014 is 25% higher than in 2013</a:t>
            </a:r>
          </a:p>
          <a:p>
            <a:pPr lvl="1" eaLnBrk="1" hangingPunct="1"/>
            <a:r>
              <a:rPr lang="en-US" dirty="0"/>
              <a:t>CPI for the base year is always 1</a:t>
            </a:r>
          </a:p>
          <a:p>
            <a:pPr lvl="1" eaLnBrk="1" hangingPunct="1"/>
            <a:r>
              <a:rPr lang="en-US" dirty="0"/>
              <a:t>CPI for a given period is the cost of living in that period relative to what it was in the base year</a:t>
            </a:r>
          </a:p>
          <a:p>
            <a:pPr lvl="1" eaLnBrk="1" hangingPunct="1"/>
            <a:r>
              <a:rPr lang="en-US" dirty="0"/>
              <a:t> Some countries use CPI as a percentage – the ratio times 100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Price Index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600200"/>
            <a:ext cx="8229600" cy="5048250"/>
          </a:xfrm>
        </p:spPr>
        <p:txBody>
          <a:bodyPr/>
          <a:lstStyle/>
          <a:p>
            <a:pPr eaLnBrk="1" hangingPunct="1"/>
            <a:r>
              <a:rPr lang="en-US" dirty="0"/>
              <a:t>A </a:t>
            </a:r>
            <a:r>
              <a:rPr lang="en-US" b="1" dirty="0"/>
              <a:t>price index</a:t>
            </a:r>
            <a:r>
              <a:rPr lang="en-US" dirty="0"/>
              <a:t> measures the average price of a given class of goods and services relative to the price of the same goods and services in a base year</a:t>
            </a:r>
          </a:p>
          <a:p>
            <a:pPr eaLnBrk="1" hangingPunct="1"/>
            <a:r>
              <a:rPr lang="en-US" dirty="0"/>
              <a:t>CPI measures the change in consumer prices</a:t>
            </a:r>
          </a:p>
          <a:p>
            <a:pPr eaLnBrk="1" hangingPunct="1"/>
            <a:r>
              <a:rPr lang="en-US" dirty="0"/>
              <a:t>Other indices</a:t>
            </a:r>
          </a:p>
          <a:p>
            <a:pPr lvl="1" eaLnBrk="1" hangingPunct="1"/>
            <a:r>
              <a:rPr lang="en-US" dirty="0"/>
              <a:t>Producer price index measures price of resources</a:t>
            </a:r>
          </a:p>
          <a:p>
            <a:pPr lvl="1" eaLnBrk="1" hangingPunct="1"/>
            <a:r>
              <a:rPr lang="en-US" dirty="0"/>
              <a:t>Import / export price index measures price of goods and services traded internationally</a:t>
            </a:r>
          </a:p>
          <a:p>
            <a:pPr lvl="1" eaLnBrk="1" hangingPunct="1"/>
            <a:r>
              <a:rPr lang="en-US" dirty="0"/>
              <a:t>GDP deflator measures the prices of goods and services included in the GDP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04801"/>
            <a:ext cx="8105659" cy="532482"/>
          </a:xfrm>
        </p:spPr>
        <p:txBody>
          <a:bodyPr/>
          <a:lstStyle/>
          <a:p>
            <a:pPr eaLnBrk="1" hangingPunct="1"/>
            <a:r>
              <a:rPr lang="en-US" dirty="0"/>
              <a:t>Inflation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837283"/>
            <a:ext cx="8229600" cy="1696598"/>
          </a:xfrm>
        </p:spPr>
        <p:txBody>
          <a:bodyPr/>
          <a:lstStyle/>
          <a:p>
            <a:pPr eaLnBrk="1" hangingPunct="1"/>
            <a:r>
              <a:rPr lang="en-US" sz="2600" dirty="0"/>
              <a:t>The </a:t>
            </a:r>
            <a:r>
              <a:rPr lang="en-US" sz="2600" b="1" dirty="0"/>
              <a:t>rate of inflation </a:t>
            </a:r>
            <a:r>
              <a:rPr lang="en-US" sz="2600" dirty="0"/>
              <a:t>is the annual percentage change in the price level</a:t>
            </a:r>
          </a:p>
          <a:p>
            <a:pPr eaLnBrk="1" hangingPunct="1"/>
            <a:r>
              <a:rPr lang="en-US" sz="2200" dirty="0"/>
              <a:t>Inflation of China in 2012 = (2.68–2.61)/2.61 = 0.0268 = 2.7%</a:t>
            </a:r>
          </a:p>
          <a:p>
            <a:pPr eaLnBrk="1" hangingPunct="1"/>
            <a:r>
              <a:rPr lang="en-US" sz="2200" dirty="0"/>
              <a:t>When inflation rates are negative there is </a:t>
            </a:r>
            <a:r>
              <a:rPr lang="en-US" sz="2200" b="1" dirty="0"/>
              <a:t>deflation</a:t>
            </a:r>
            <a:endParaRPr lang="en-US" sz="2200" dirty="0"/>
          </a:p>
          <a:p>
            <a:pPr eaLnBrk="1" hangingPunct="1"/>
            <a:endParaRPr lang="en-US" sz="2000" dirty="0"/>
          </a:p>
          <a:p>
            <a:pPr marL="0" indent="0" eaLnBrk="1" hangingPunct="1">
              <a:buNone/>
            </a:pPr>
            <a:endParaRPr lang="en-US" sz="26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250219"/>
              </p:ext>
            </p:extLst>
          </p:nvPr>
        </p:nvGraphicFramePr>
        <p:xfrm>
          <a:off x="961698" y="3338110"/>
          <a:ext cx="7877059" cy="3455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5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6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6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36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3499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Year </a:t>
                      </a:r>
                      <a:endParaRPr lang="en-GB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China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Japan 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Singapore 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Thailand 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United States</a:t>
                      </a:r>
                    </a:p>
                  </a:txBody>
                  <a:tcPr marL="6626" marR="6626" marT="6626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499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2008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2.41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1.02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0.99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0.94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2.15</a:t>
                      </a:r>
                    </a:p>
                  </a:txBody>
                  <a:tcPr marL="6626" marR="6626" marT="6626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499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2009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2.40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1.01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1.00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0.93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2.15</a:t>
                      </a:r>
                    </a:p>
                  </a:txBody>
                  <a:tcPr marL="6626" marR="6626" marT="6626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499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2010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2.48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1.00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1.03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0.96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2.18</a:t>
                      </a:r>
                    </a:p>
                  </a:txBody>
                  <a:tcPr marL="6626" marR="6626" marT="6626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499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2011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2.61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1.00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1.08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1.00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2.25</a:t>
                      </a:r>
                    </a:p>
                  </a:txBody>
                  <a:tcPr marL="6626" marR="6626" marT="6626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499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2012</a:t>
                      </a:r>
                      <a:endParaRPr lang="en-GB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2.68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1.00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1.13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1.03</a:t>
                      </a:r>
                    </a:p>
                  </a:txBody>
                  <a:tcPr marL="6626" marR="6626" marT="662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2.30</a:t>
                      </a:r>
                    </a:p>
                  </a:txBody>
                  <a:tcPr marL="6626" marR="6626" marT="6626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016779" y="2720285"/>
            <a:ext cx="7821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CPI of Selected Countries</a:t>
            </a:r>
            <a:endParaRPr lang="en-GB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Adjusting for Inflation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A </a:t>
            </a:r>
            <a:r>
              <a:rPr lang="en-US" b="1"/>
              <a:t>nominal quantity</a:t>
            </a:r>
            <a:r>
              <a:rPr lang="en-US"/>
              <a:t> is measured in terms of its current dollar value</a:t>
            </a:r>
          </a:p>
          <a:p>
            <a:pPr eaLnBrk="1" hangingPunct="1"/>
            <a:r>
              <a:rPr lang="en-US"/>
              <a:t>A </a:t>
            </a:r>
            <a:r>
              <a:rPr lang="en-US" b="1"/>
              <a:t>real quantity</a:t>
            </a:r>
            <a:r>
              <a:rPr lang="en-US"/>
              <a:t> is measured in physical terms</a:t>
            </a:r>
          </a:p>
          <a:p>
            <a:pPr lvl="1" eaLnBrk="1" hangingPunct="1"/>
            <a:r>
              <a:rPr lang="en-US"/>
              <a:t>Quantities of goods and services</a:t>
            </a:r>
          </a:p>
          <a:p>
            <a:pPr eaLnBrk="1" hangingPunct="1"/>
            <a:r>
              <a:rPr lang="en-US"/>
              <a:t>To compare values over time, use real quantities</a:t>
            </a:r>
          </a:p>
          <a:p>
            <a:pPr lvl="1" eaLnBrk="1" hangingPunct="1"/>
            <a:r>
              <a:rPr lang="en-US" b="1"/>
              <a:t>Deflating</a:t>
            </a:r>
            <a:r>
              <a:rPr lang="en-US"/>
              <a:t> a nominal quantity converts it to a real quantity</a:t>
            </a:r>
          </a:p>
          <a:p>
            <a:pPr lvl="2" eaLnBrk="1" hangingPunct="1"/>
            <a:r>
              <a:rPr lang="en-US"/>
              <a:t>Divide a nominal quantity by its price index to express the quantity in real terms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sz="4200" dirty="0">
                <a:solidFill>
                  <a:schemeClr val="tx1"/>
                </a:solidFill>
              </a:rPr>
              <a:t>Family Income in 2013 and 2018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4294967295"/>
          </p:nvPr>
        </p:nvSpPr>
        <p:spPr>
          <a:xfrm>
            <a:off x="733098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sz="2600" dirty="0"/>
              <a:t>Can a family buy more with $40,000 in income in 2013 or with $44,000 in 2017?</a:t>
            </a:r>
          </a:p>
          <a:p>
            <a:pPr lvl="1" eaLnBrk="1" hangingPunct="1"/>
            <a:r>
              <a:rPr lang="en-US" sz="2300" dirty="0"/>
              <a:t>2013 is the base year for the CPI</a:t>
            </a:r>
          </a:p>
          <a:p>
            <a:pPr lvl="1" eaLnBrk="1" hangingPunct="1"/>
            <a:r>
              <a:rPr lang="en-US" sz="2300" dirty="0"/>
              <a:t>Deflate nominal income in both years to get real income</a:t>
            </a:r>
          </a:p>
          <a:p>
            <a:pPr lvl="1" eaLnBrk="1" hangingPunct="1"/>
            <a:r>
              <a:rPr lang="en-US" sz="2300" dirty="0"/>
              <a:t>Compare real income</a:t>
            </a:r>
          </a:p>
          <a:p>
            <a:pPr lvl="1" eaLnBrk="1" hangingPunct="1"/>
            <a:r>
              <a:rPr lang="en-US" sz="2300" dirty="0"/>
              <a:t>$40,000 in 2013 has the greater purchasing power</a:t>
            </a:r>
          </a:p>
        </p:txBody>
      </p:sp>
      <p:graphicFrame>
        <p:nvGraphicFramePr>
          <p:cNvPr id="55336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138786"/>
              </p:ext>
            </p:extLst>
          </p:nvPr>
        </p:nvGraphicFramePr>
        <p:xfrm>
          <a:off x="885498" y="4754563"/>
          <a:ext cx="3179763" cy="1188720"/>
        </p:xfrm>
        <a:graphic>
          <a:graphicData uri="http://schemas.openxmlformats.org/drawingml/2006/table">
            <a:tbl>
              <a:tblPr/>
              <a:tblGrid>
                <a:gridCol w="833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Year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Nominal Income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2013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$40,000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2017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$44,000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5339" name="Group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126142"/>
              </p:ext>
            </p:extLst>
          </p:nvPr>
        </p:nvGraphicFramePr>
        <p:xfrm>
          <a:off x="4065261" y="4754563"/>
          <a:ext cx="998537" cy="1188720"/>
        </p:xfrm>
        <a:graphic>
          <a:graphicData uri="http://schemas.openxmlformats.org/drawingml/2006/table">
            <a:tbl>
              <a:tblPr/>
              <a:tblGrid>
                <a:gridCol w="99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CPI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1.00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1.25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5338" name="Group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235343"/>
              </p:ext>
            </p:extLst>
          </p:nvPr>
        </p:nvGraphicFramePr>
        <p:xfrm>
          <a:off x="5063798" y="4754563"/>
          <a:ext cx="3746500" cy="1188720"/>
        </p:xfrm>
        <a:graphic>
          <a:graphicData uri="http://schemas.openxmlformats.org/drawingml/2006/table">
            <a:tbl>
              <a:tblPr/>
              <a:tblGrid>
                <a:gridCol w="374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Real Income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$40,000/1.00 = $40,000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$44,000/1.25 = $35,200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8762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Real Wages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8" y="1079500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The </a:t>
            </a:r>
            <a:r>
              <a:rPr lang="en-US" b="1"/>
              <a:t>real wage </a:t>
            </a:r>
            <a:r>
              <a:rPr lang="en-US"/>
              <a:t>is the wage paid to the worker measured in terms of purchasing power</a:t>
            </a:r>
          </a:p>
          <a:p>
            <a:pPr lvl="1" eaLnBrk="1" hangingPunct="1"/>
            <a:r>
              <a:rPr lang="en-US" sz="2300"/>
              <a:t>The real wage for any given period is calculated by dividing the nominal wage by the CPI for that period</a:t>
            </a:r>
          </a:p>
          <a:p>
            <a:pPr eaLnBrk="1" hangingPunct="1"/>
            <a:r>
              <a:rPr lang="en-US"/>
              <a:t>US production worker wages</a:t>
            </a:r>
          </a:p>
          <a:p>
            <a:pPr lvl="1" eaLnBrk="1" hangingPunct="1"/>
            <a:r>
              <a:rPr lang="en-US" sz="2300"/>
              <a:t>CPI uses 1982 – 1984 as base year</a:t>
            </a:r>
          </a:p>
          <a:p>
            <a:pPr lvl="1" eaLnBrk="1" hangingPunct="1"/>
            <a:r>
              <a:rPr lang="en-US" sz="2300"/>
              <a:t>Real wages stayed the same between 1970 and 2010 despite the fact that the nominal wage in 2010 was 5.5 times the nominal wage in 1970</a:t>
            </a:r>
          </a:p>
        </p:txBody>
      </p:sp>
      <p:graphicFrame>
        <p:nvGraphicFramePr>
          <p:cNvPr id="59429" name="Group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468220"/>
              </p:ext>
            </p:extLst>
          </p:nvPr>
        </p:nvGraphicFramePr>
        <p:xfrm>
          <a:off x="885498" y="5183188"/>
          <a:ext cx="3179763" cy="1189990"/>
        </p:xfrm>
        <a:graphic>
          <a:graphicData uri="http://schemas.openxmlformats.org/drawingml/2006/table">
            <a:tbl>
              <a:tblPr/>
              <a:tblGrid>
                <a:gridCol w="833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Year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Average Wage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1970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$3.40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$19.00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9431" name="Group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398935"/>
              </p:ext>
            </p:extLst>
          </p:nvPr>
        </p:nvGraphicFramePr>
        <p:xfrm>
          <a:off x="4065261" y="5183188"/>
          <a:ext cx="998537" cy="1189990"/>
        </p:xfrm>
        <a:graphic>
          <a:graphicData uri="http://schemas.openxmlformats.org/drawingml/2006/table">
            <a:tbl>
              <a:tblPr/>
              <a:tblGrid>
                <a:gridCol w="99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CPI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0.39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2.18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9430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381069"/>
              </p:ext>
            </p:extLst>
          </p:nvPr>
        </p:nvGraphicFramePr>
        <p:xfrm>
          <a:off x="5063798" y="5183188"/>
          <a:ext cx="3746500" cy="1189990"/>
        </p:xfrm>
        <a:graphic>
          <a:graphicData uri="http://schemas.openxmlformats.org/drawingml/2006/table">
            <a:tbl>
              <a:tblPr/>
              <a:tblGrid>
                <a:gridCol w="374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Real Average Wage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$3.40 / 0.39 = $8.72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$19.00 / 2.18 = $8.72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178672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Indexing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800" y="1162704"/>
            <a:ext cx="8229600" cy="5466696"/>
          </a:xfrm>
        </p:spPr>
        <p:txBody>
          <a:bodyPr/>
          <a:lstStyle/>
          <a:p>
            <a:pPr eaLnBrk="1" hangingPunct="1"/>
            <a:r>
              <a:rPr lang="en-US" b="1" dirty="0"/>
              <a:t>Indexing</a:t>
            </a:r>
            <a:r>
              <a:rPr lang="en-US" dirty="0"/>
              <a:t> increases a nominal quantity each period by the percentage increase in a specified price index</a:t>
            </a:r>
          </a:p>
          <a:p>
            <a:pPr lvl="1" eaLnBrk="1" hangingPunct="1"/>
            <a:r>
              <a:rPr lang="en-US" dirty="0"/>
              <a:t>Indexing prevents the purchasing power of the nominal quantity from being eroded by inflation</a:t>
            </a:r>
          </a:p>
          <a:p>
            <a:pPr eaLnBrk="1" hangingPunct="1"/>
            <a:r>
              <a:rPr lang="en-US" dirty="0"/>
              <a:t>Indexing automatically adjusts certain values, such as Social Security payments, by the amount of inflation</a:t>
            </a:r>
          </a:p>
          <a:p>
            <a:pPr lvl="1" eaLnBrk="1" hangingPunct="1"/>
            <a:r>
              <a:rPr lang="en-US" dirty="0"/>
              <a:t>If prices increase 3% in a given year, the Social Security recipients receive 3% more</a:t>
            </a:r>
          </a:p>
          <a:p>
            <a:pPr lvl="2" eaLnBrk="1" hangingPunct="1"/>
            <a:r>
              <a:rPr lang="en-US" dirty="0"/>
              <a:t>No action by the government</a:t>
            </a:r>
          </a:p>
          <a:p>
            <a:pPr lvl="1" eaLnBrk="1" hangingPunct="1"/>
            <a:r>
              <a:rPr lang="en-US" dirty="0"/>
              <a:t>Indexing is sometimes included in labor contracts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Adjusting for Inflation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17332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An indexed labor contract</a:t>
            </a:r>
          </a:p>
          <a:p>
            <a:pPr lvl="1" eaLnBrk="1" hangingPunct="1"/>
            <a:r>
              <a:rPr lang="en-US"/>
              <a:t>First year wage is $12 per hour</a:t>
            </a:r>
          </a:p>
          <a:p>
            <a:pPr lvl="2" eaLnBrk="1" hangingPunct="1"/>
            <a:r>
              <a:rPr lang="en-US"/>
              <a:t>Real wages rise by 2% per year for next 2 years</a:t>
            </a:r>
          </a:p>
          <a:p>
            <a:pPr lvl="1" eaLnBrk="1" hangingPunct="1"/>
            <a:r>
              <a:rPr lang="en-US"/>
              <a:t>Relevant price index is 1.00 in first year, 1.05 in the second, and 1.10 in the third</a:t>
            </a:r>
          </a:p>
          <a:p>
            <a:pPr eaLnBrk="1" hangingPunct="1"/>
            <a:r>
              <a:rPr lang="en-US"/>
              <a:t>Nominal wage is real wage times the price index</a:t>
            </a:r>
          </a:p>
        </p:txBody>
      </p:sp>
      <p:graphicFrame>
        <p:nvGraphicFramePr>
          <p:cNvPr id="65580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351374"/>
              </p:ext>
            </p:extLst>
          </p:nvPr>
        </p:nvGraphicFramePr>
        <p:xfrm>
          <a:off x="1187232" y="4451350"/>
          <a:ext cx="2701925" cy="1828800"/>
        </p:xfrm>
        <a:graphic>
          <a:graphicData uri="http://schemas.openxmlformats.org/drawingml/2006/table">
            <a:tbl>
              <a:tblPr/>
              <a:tblGrid>
                <a:gridCol w="95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Year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Real Wage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$12.00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$12.24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$12.48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5581" name="Group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955063"/>
              </p:ext>
            </p:extLst>
          </p:nvPr>
        </p:nvGraphicFramePr>
        <p:xfrm>
          <a:off x="3889157" y="4451350"/>
          <a:ext cx="1924050" cy="1828800"/>
        </p:xfrm>
        <a:graphic>
          <a:graphicData uri="http://schemas.openxmlformats.org/drawingml/2006/table">
            <a:tbl>
              <a:tblPr/>
              <a:tblGrid>
                <a:gridCol w="19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Price Index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1.00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1.05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1.10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5582" name="Group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530409"/>
              </p:ext>
            </p:extLst>
          </p:nvPr>
        </p:nvGraphicFramePr>
        <p:xfrm>
          <a:off x="5813207" y="4451350"/>
          <a:ext cx="2616200" cy="1828800"/>
        </p:xfrm>
        <a:graphic>
          <a:graphicData uri="http://schemas.openxmlformats.org/drawingml/2006/table">
            <a:tbl>
              <a:tblPr/>
              <a:tblGrid>
                <a:gridCol w="261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Nominal Wage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$12.00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$12.85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$13.73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336332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CPI and Inflation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17332" y="1552902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CPI and other indexes influence policy decisions and wage increases</a:t>
            </a:r>
          </a:p>
          <a:p>
            <a:pPr eaLnBrk="1" hangingPunct="1"/>
            <a:r>
              <a:rPr lang="en-US" dirty="0"/>
              <a:t>Wage adjustment is usually based in CPI and </a:t>
            </a:r>
            <a:r>
              <a:rPr lang="en-US" dirty="0" err="1"/>
              <a:t>labour</a:t>
            </a:r>
            <a:r>
              <a:rPr lang="en-US" dirty="0"/>
              <a:t> productivity changes</a:t>
            </a:r>
          </a:p>
          <a:p>
            <a:pPr eaLnBrk="1" hangingPunct="1"/>
            <a:r>
              <a:rPr lang="en-US" dirty="0"/>
              <a:t>CPI tend to overstates inflation by 1 to 2 percentage points a year</a:t>
            </a:r>
          </a:p>
          <a:p>
            <a:pPr lvl="1" eaLnBrk="1" hangingPunct="1"/>
            <a:r>
              <a:rPr lang="en-US" dirty="0"/>
              <a:t>Unnecessarily increases government spending</a:t>
            </a:r>
          </a:p>
          <a:p>
            <a:pPr lvl="1" eaLnBrk="1" hangingPunct="1"/>
            <a:r>
              <a:rPr lang="en-US" dirty="0"/>
              <a:t>Underestimates increase in the standard of living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098" y="1016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CPI Quality Adjustment Bias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33097" y="1143000"/>
            <a:ext cx="8287077" cy="5457825"/>
          </a:xfrm>
        </p:spPr>
        <p:txBody>
          <a:bodyPr/>
          <a:lstStyle/>
          <a:p>
            <a:pPr eaLnBrk="1" hangingPunct="1"/>
            <a:r>
              <a:rPr lang="en-US" dirty="0"/>
              <a:t>One important bias in the CPI is its measurement of price changes but not quality changes</a:t>
            </a:r>
          </a:p>
          <a:p>
            <a:pPr lvl="1" eaLnBrk="1" hangingPunct="1"/>
            <a:r>
              <a:rPr lang="en-US" dirty="0"/>
              <a:t>PC with 20% more memory has 20% higher price</a:t>
            </a:r>
          </a:p>
          <a:p>
            <a:pPr lvl="2" eaLnBrk="1" hangingPunct="1"/>
            <a:r>
              <a:rPr lang="en-US" dirty="0"/>
              <a:t>Not the same PC as the one with less memory</a:t>
            </a:r>
          </a:p>
          <a:p>
            <a:pPr lvl="1" eaLnBrk="1" hangingPunct="1"/>
            <a:r>
              <a:rPr lang="en-US" dirty="0"/>
              <a:t>If no adjustment is made for quality, PC's contribution to the CPI will be 20%</a:t>
            </a:r>
          </a:p>
          <a:p>
            <a:pPr eaLnBrk="1" hangingPunct="1"/>
            <a:r>
              <a:rPr lang="en-US" dirty="0"/>
              <a:t>Adjusting for quality is difficult</a:t>
            </a:r>
          </a:p>
          <a:p>
            <a:pPr lvl="1" eaLnBrk="1" hangingPunct="1"/>
            <a:r>
              <a:rPr lang="en-US" dirty="0"/>
              <a:t>Large numbers of goods</a:t>
            </a:r>
          </a:p>
          <a:p>
            <a:pPr lvl="1" eaLnBrk="1" hangingPunct="1"/>
            <a:r>
              <a:rPr lang="en-US" dirty="0"/>
              <a:t>Subjective differences</a:t>
            </a:r>
          </a:p>
          <a:p>
            <a:pPr eaLnBrk="1" hangingPunct="1"/>
            <a:r>
              <a:rPr lang="en-US" dirty="0"/>
              <a:t>Incorporating new goods is difficult</a:t>
            </a:r>
          </a:p>
          <a:p>
            <a:pPr lvl="1" eaLnBrk="1" hangingPunct="1"/>
            <a:r>
              <a:rPr lang="en-US" dirty="0"/>
              <a:t>No base year price for this year's new goods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 idx="4294967295"/>
          </p:nvPr>
        </p:nvSpPr>
        <p:spPr>
          <a:xfrm>
            <a:off x="764630" y="304800"/>
            <a:ext cx="8079826" cy="1143000"/>
          </a:xfrm>
        </p:spPr>
        <p:txBody>
          <a:bodyPr/>
          <a:lstStyle/>
          <a:p>
            <a:pPr eaLnBrk="1" hangingPunct="1"/>
            <a:r>
              <a:rPr lang="en-US" dirty="0"/>
              <a:t>CPI Substitution Biases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33098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sz="2600"/>
              <a:t>CPI uses a </a:t>
            </a:r>
            <a:r>
              <a:rPr lang="en-US" sz="2600" u="sng"/>
              <a:t>fixed</a:t>
            </a:r>
            <a:r>
              <a:rPr lang="en-US" sz="2600"/>
              <a:t> basket of goods and services</a:t>
            </a:r>
          </a:p>
          <a:p>
            <a:pPr lvl="1" eaLnBrk="1" hangingPunct="1"/>
            <a:r>
              <a:rPr lang="en-US" sz="2300"/>
              <a:t>When the price of a good increases, consumers buy less and substitute other goods</a:t>
            </a:r>
          </a:p>
          <a:p>
            <a:pPr lvl="1" eaLnBrk="1" hangingPunct="1"/>
            <a:r>
              <a:rPr lang="en-US" sz="2300"/>
              <a:t>Failing to account for substitution overstates inflation</a:t>
            </a:r>
          </a:p>
          <a:p>
            <a:pPr eaLnBrk="1" hangingPunct="1"/>
            <a:r>
              <a:rPr lang="en-US" sz="2600"/>
              <a:t>Example:  base year cost of market basket</a:t>
            </a:r>
          </a:p>
        </p:txBody>
      </p:sp>
      <p:graphicFrame>
        <p:nvGraphicFramePr>
          <p:cNvPr id="73756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9635"/>
              </p:ext>
            </p:extLst>
          </p:nvPr>
        </p:nvGraphicFramePr>
        <p:xfrm>
          <a:off x="1123623" y="3922713"/>
          <a:ext cx="7405688" cy="2286000"/>
        </p:xfrm>
        <a:graphic>
          <a:graphicData uri="http://schemas.openxmlformats.org/drawingml/2006/table">
            <a:tbl>
              <a:tblPr/>
              <a:tblGrid>
                <a:gridCol w="2468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Item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2013 price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2013 Spending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Coffee (50 cups)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$1.00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3000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$50.00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Tea (50 cups)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$1.00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3000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$50.00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Donuts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 (100)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$1.00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3000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$100.00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3000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$200.00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 idx="4294967295"/>
          </p:nvPr>
        </p:nvSpPr>
        <p:spPr>
          <a:xfrm>
            <a:off x="733098" y="304800"/>
            <a:ext cx="8016764" cy="1143000"/>
          </a:xfrm>
        </p:spPr>
        <p:txBody>
          <a:bodyPr/>
          <a:lstStyle/>
          <a:p>
            <a:pPr eaLnBrk="1" hangingPunct="1"/>
            <a:r>
              <a:rPr lang="en-US" dirty="0"/>
              <a:t>CPI Substitution Bias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4294967295"/>
          </p:nvPr>
        </p:nvSpPr>
        <p:spPr>
          <a:xfrm>
            <a:off x="733098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In 2014, coffee and donuts are more expensive</a:t>
            </a:r>
          </a:p>
          <a:p>
            <a:pPr lvl="1" eaLnBrk="1" hangingPunct="1"/>
            <a:r>
              <a:rPr lang="en-US" dirty="0"/>
              <a:t>Buying exactly the same basket of goods costs $300, compared to $200 in 2013</a:t>
            </a:r>
          </a:p>
          <a:p>
            <a:pPr lvl="1" eaLnBrk="1" hangingPunct="1"/>
            <a:r>
              <a:rPr lang="en-US" dirty="0"/>
              <a:t>CPI = 300 / 200 = 1.50</a:t>
            </a:r>
          </a:p>
        </p:txBody>
      </p:sp>
      <p:graphicFrame>
        <p:nvGraphicFramePr>
          <p:cNvPr id="75804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996654"/>
              </p:ext>
            </p:extLst>
          </p:nvPr>
        </p:nvGraphicFramePr>
        <p:xfrm>
          <a:off x="885498" y="3694113"/>
          <a:ext cx="7405688" cy="2286000"/>
        </p:xfrm>
        <a:graphic>
          <a:graphicData uri="http://schemas.openxmlformats.org/drawingml/2006/table">
            <a:tbl>
              <a:tblPr/>
              <a:tblGrid>
                <a:gridCol w="2468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Item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2014 price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2014 Spending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Coffee (50 cups)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$2.00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3000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$100.00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Tea (50 cups)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$1.00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3000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$50.00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Donuts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(100)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$1.50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3000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$150.00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3000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$300.00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CPI Substitution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17332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sz="2700" dirty="0"/>
              <a:t>Actually, consumer substitutes tea for coffee</a:t>
            </a:r>
          </a:p>
          <a:p>
            <a:pPr lvl="1" eaLnBrk="1" hangingPunct="1"/>
            <a:r>
              <a:rPr lang="en-US" sz="2400" dirty="0"/>
              <a:t>Donuts purchases constant</a:t>
            </a:r>
          </a:p>
          <a:p>
            <a:pPr eaLnBrk="1" hangingPunct="1"/>
            <a:r>
              <a:rPr lang="en-US" sz="2700" dirty="0"/>
              <a:t>True CPI for consumer is 250 / 200 = 1.25</a:t>
            </a:r>
          </a:p>
          <a:p>
            <a:pPr eaLnBrk="1" hangingPunct="1"/>
            <a:r>
              <a:rPr lang="en-US" sz="2700" dirty="0"/>
              <a:t>CPI estimate of 1.50 is 20% higher than the consumer's experience</a:t>
            </a:r>
          </a:p>
        </p:txBody>
      </p:sp>
      <p:graphicFrame>
        <p:nvGraphicFramePr>
          <p:cNvPr id="77852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873521"/>
              </p:ext>
            </p:extLst>
          </p:nvPr>
        </p:nvGraphicFramePr>
        <p:xfrm>
          <a:off x="1111032" y="3910013"/>
          <a:ext cx="7405688" cy="2286000"/>
        </p:xfrm>
        <a:graphic>
          <a:graphicData uri="http://schemas.openxmlformats.org/drawingml/2006/table">
            <a:tbl>
              <a:tblPr/>
              <a:tblGrid>
                <a:gridCol w="2468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Item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2014 price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2014 Spending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Coffee (00 cups)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$2.00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3000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$0.00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Tea (100 cups)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$1.00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3000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$100.00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Donuts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(100)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$1.50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3000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$150.00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6A5218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143000" algn="dec"/>
                        </a:tabLst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$250.00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4630" y="78830"/>
            <a:ext cx="8001000" cy="1143000"/>
          </a:xfrm>
        </p:spPr>
        <p:txBody>
          <a:bodyPr/>
          <a:lstStyle/>
          <a:p>
            <a:pPr eaLnBrk="1" hangingPunct="1"/>
            <a:r>
              <a:rPr lang="en-US" dirty="0"/>
              <a:t>The Costs of Inflation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133475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Prices transmit information about </a:t>
            </a:r>
          </a:p>
          <a:p>
            <a:pPr lvl="1" eaLnBrk="1" hangingPunct="1"/>
            <a:r>
              <a:rPr lang="en-US" dirty="0"/>
              <a:t>The cost of production and </a:t>
            </a:r>
          </a:p>
          <a:p>
            <a:pPr lvl="1" eaLnBrk="1" hangingPunct="1"/>
            <a:r>
              <a:rPr lang="en-US" dirty="0"/>
              <a:t>The value buyers place on buying an additional unit</a:t>
            </a:r>
          </a:p>
          <a:p>
            <a:pPr eaLnBrk="1" hangingPunct="1"/>
            <a:r>
              <a:rPr lang="en-US" dirty="0"/>
              <a:t>The </a:t>
            </a:r>
            <a:r>
              <a:rPr lang="en-US" b="1" dirty="0"/>
              <a:t>price level</a:t>
            </a:r>
            <a:r>
              <a:rPr lang="en-US" dirty="0"/>
              <a:t> is a measure of the overall level of prices at a particular point in time</a:t>
            </a:r>
          </a:p>
          <a:p>
            <a:pPr lvl="1" eaLnBrk="1" hangingPunct="1"/>
            <a:r>
              <a:rPr lang="en-US" dirty="0"/>
              <a:t>Measured by a price index such as the CPI</a:t>
            </a:r>
          </a:p>
          <a:p>
            <a:pPr eaLnBrk="1" hangingPunct="1"/>
            <a:r>
              <a:rPr lang="en-US" dirty="0"/>
              <a:t>The </a:t>
            </a:r>
            <a:r>
              <a:rPr lang="en-US" b="1" dirty="0"/>
              <a:t>relative price </a:t>
            </a:r>
            <a:r>
              <a:rPr lang="en-US" dirty="0"/>
              <a:t>of a specific good is a</a:t>
            </a:r>
            <a:r>
              <a:rPr lang="en-US" i="1" dirty="0"/>
              <a:t> </a:t>
            </a:r>
            <a:r>
              <a:rPr lang="en-US" dirty="0"/>
              <a:t>comparison of its price to the prices of other goods and services</a:t>
            </a:r>
          </a:p>
          <a:p>
            <a:pPr eaLnBrk="1" hangingPunct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Noisy Prices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17332" y="144254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Inflation creates static in the communication</a:t>
            </a:r>
          </a:p>
          <a:p>
            <a:pPr lvl="1" eaLnBrk="1" hangingPunct="1"/>
            <a:r>
              <a:rPr lang="en-US" dirty="0"/>
              <a:t>Buyers and sellers can't easily tell whether</a:t>
            </a:r>
          </a:p>
          <a:p>
            <a:pPr lvl="2" eaLnBrk="1" hangingPunct="1"/>
            <a:r>
              <a:rPr lang="en-US" dirty="0"/>
              <a:t>The relative price of this good is increasing OR</a:t>
            </a:r>
          </a:p>
          <a:p>
            <a:pPr lvl="2" eaLnBrk="1" hangingPunct="1"/>
            <a:r>
              <a:rPr lang="en-US" dirty="0"/>
              <a:t>Inflation is increasing the price of this good and all others</a:t>
            </a:r>
          </a:p>
          <a:p>
            <a:pPr lvl="1" eaLnBrk="1" hangingPunct="1"/>
            <a:r>
              <a:rPr lang="en-US" dirty="0"/>
              <a:t>Deciding these issues requires market participants gather information – at a cost</a:t>
            </a:r>
          </a:p>
          <a:p>
            <a:pPr lvl="1" eaLnBrk="1" hangingPunct="1"/>
            <a:r>
              <a:rPr lang="en-US" dirty="0"/>
              <a:t>Response to changing prices is tentative and slow.</a:t>
            </a:r>
          </a:p>
          <a:p>
            <a:pPr lvl="1" eaLnBrk="1" hangingPunct="1"/>
            <a:r>
              <a:rPr lang="en-US" dirty="0"/>
              <a:t>Information transmitted by prices ae incorrect and reduce the efficiency of the market system.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Indexing Avoids Distortions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199" y="1600200"/>
            <a:ext cx="8543925" cy="5124450"/>
          </a:xfrm>
        </p:spPr>
        <p:txBody>
          <a:bodyPr/>
          <a:lstStyle/>
          <a:p>
            <a:pPr eaLnBrk="1" hangingPunct="1"/>
            <a:r>
              <a:rPr lang="en-US" dirty="0"/>
              <a:t>Index Income taxes to avoid bracket creep</a:t>
            </a:r>
          </a:p>
          <a:p>
            <a:pPr lvl="1" eaLnBrk="1" hangingPunct="1"/>
            <a:r>
              <a:rPr lang="en-US" dirty="0"/>
              <a:t>Bracket creep occurs when a household is moved into a higher tax bracket due to increases in nominal but not real income</a:t>
            </a:r>
          </a:p>
          <a:p>
            <a:pPr lvl="2" eaLnBrk="1" hangingPunct="1"/>
            <a:r>
              <a:rPr lang="en-US" dirty="0"/>
              <a:t>Higher tax brackets have a higher tax rate</a:t>
            </a:r>
          </a:p>
          <a:p>
            <a:pPr eaLnBrk="1" hangingPunct="1"/>
            <a:r>
              <a:rPr lang="en-US" dirty="0"/>
              <a:t>Indexing income taxes matches tax rates to the real income level</a:t>
            </a:r>
          </a:p>
          <a:p>
            <a:pPr lvl="1" eaLnBrk="1" hangingPunct="1"/>
            <a:r>
              <a:rPr lang="en-US" dirty="0"/>
              <a:t>Suppose the tax rate on $50,000 is 25% in 2010</a:t>
            </a:r>
          </a:p>
          <a:p>
            <a:pPr lvl="1" eaLnBrk="1" hangingPunct="1"/>
            <a:r>
              <a:rPr lang="en-US" dirty="0"/>
              <a:t>CPI is 1 for 2010, 1.25 for 2014</a:t>
            </a:r>
          </a:p>
          <a:p>
            <a:pPr lvl="1" eaLnBrk="1" hangingPunct="1"/>
            <a:r>
              <a:rPr lang="en-US" dirty="0"/>
              <a:t>Nominal income of $62,500 is taxed 25% in 2014</a:t>
            </a:r>
          </a:p>
          <a:p>
            <a:pPr eaLnBrk="1" hangingPunct="1"/>
            <a:r>
              <a:rPr lang="en-US" dirty="0"/>
              <a:t>Not all taxes are indexed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/>
          <p:cNvSpPr>
            <a:spLocks noGrp="1"/>
          </p:cNvSpPr>
          <p:nvPr>
            <p:ph type="title" idx="4294967295"/>
          </p:nvPr>
        </p:nvSpPr>
        <p:spPr>
          <a:xfrm>
            <a:off x="685800" y="177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Distortions Caused by Taxes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52476" y="1168399"/>
            <a:ext cx="8267700" cy="5565775"/>
          </a:xfrm>
        </p:spPr>
        <p:txBody>
          <a:bodyPr/>
          <a:lstStyle/>
          <a:p>
            <a:pPr eaLnBrk="1" hangingPunct="1"/>
            <a:r>
              <a:rPr lang="en-US" dirty="0"/>
              <a:t>Capital depreciation allowance encourages purchase of capital goods</a:t>
            </a:r>
          </a:p>
          <a:p>
            <a:pPr lvl="1" eaLnBrk="1" hangingPunct="1"/>
            <a:r>
              <a:rPr lang="en-US" dirty="0"/>
              <a:t>Allows firms to deduct a share of the purchase price as a business expense</a:t>
            </a:r>
          </a:p>
          <a:p>
            <a:pPr lvl="1" eaLnBrk="1" hangingPunct="1"/>
            <a:r>
              <a:rPr lang="en-US" dirty="0"/>
              <a:t>Machine cost is $1,000 and its useful life is 10 years</a:t>
            </a:r>
          </a:p>
          <a:p>
            <a:pPr lvl="2" eaLnBrk="1" hangingPunct="1"/>
            <a:r>
              <a:rPr lang="en-US" dirty="0"/>
              <a:t>Capital depreciation allowance of $100 per year</a:t>
            </a:r>
          </a:p>
          <a:p>
            <a:pPr lvl="2" eaLnBrk="1" hangingPunct="1"/>
            <a:r>
              <a:rPr lang="en-US" dirty="0"/>
              <a:t>$100 in year 1 is worth more than $100 in year 10 because of inflation</a:t>
            </a:r>
          </a:p>
          <a:p>
            <a:pPr eaLnBrk="1" hangingPunct="1"/>
            <a:r>
              <a:rPr lang="en-US" dirty="0"/>
              <a:t>High inflation decreases investment in plant and equipment.  Taxes that are not indexed distort the tax incentives for work, save, and invest</a:t>
            </a:r>
          </a:p>
          <a:p>
            <a:pPr lvl="1" eaLnBrk="1" hangingPunct="1"/>
            <a:r>
              <a:rPr lang="en-US" dirty="0"/>
              <a:t>Lower savings and investment means lower economic growth – a real cost of inflation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4200" dirty="0"/>
              <a:t>Shoe Leather and Menu Cost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800" y="1663700"/>
            <a:ext cx="8229600" cy="5051425"/>
          </a:xfrm>
        </p:spPr>
        <p:txBody>
          <a:bodyPr/>
          <a:lstStyle/>
          <a:p>
            <a:pPr eaLnBrk="1" hangingPunct="1"/>
            <a:r>
              <a:rPr lang="en-US" sz="2600" dirty="0"/>
              <a:t>If there is no inflation, cash holds its value over time</a:t>
            </a:r>
          </a:p>
          <a:p>
            <a:pPr lvl="1" eaLnBrk="1" hangingPunct="1"/>
            <a:r>
              <a:rPr lang="en-US" sz="2300" dirty="0"/>
              <a:t>Some cash will be held for convenience</a:t>
            </a:r>
          </a:p>
          <a:p>
            <a:pPr eaLnBrk="1" hangingPunct="1"/>
            <a:r>
              <a:rPr lang="en-US" sz="2600" dirty="0"/>
              <a:t>When inflation is high, cash loses value over time</a:t>
            </a:r>
          </a:p>
          <a:p>
            <a:pPr eaLnBrk="1" hangingPunct="1"/>
            <a:r>
              <a:rPr lang="en-US" sz="2600" dirty="0"/>
              <a:t>Manage cash balances to limit losses</a:t>
            </a:r>
          </a:p>
          <a:p>
            <a:pPr lvl="1" eaLnBrk="1" hangingPunct="1"/>
            <a:r>
              <a:rPr lang="en-US" sz="2300" dirty="0"/>
              <a:t>More frequent, smaller withdrawals cost consumers and businesses time, travel – a real cost of inflation</a:t>
            </a:r>
          </a:p>
          <a:p>
            <a:pPr lvl="1" eaLnBrk="1" hangingPunct="1"/>
            <a:r>
              <a:rPr lang="en-US" sz="2300" dirty="0"/>
              <a:t>Banks process more transactions, increasing costs – another real cost of inflation</a:t>
            </a:r>
          </a:p>
          <a:p>
            <a:pPr lvl="1" eaLnBrk="1" hangingPunct="1"/>
            <a:r>
              <a:rPr lang="en-US" sz="2300" dirty="0"/>
              <a:t>Cost of frequent trips to the bank - "shoe leather" costs,</a:t>
            </a:r>
          </a:p>
          <a:p>
            <a:pPr eaLnBrk="1" hangingPunct="1"/>
            <a:r>
              <a:rPr lang="en-US" sz="2600" dirty="0"/>
              <a:t>Sellers have adjust price list (menu) frequently</a:t>
            </a:r>
          </a:p>
          <a:p>
            <a:pPr lvl="1" eaLnBrk="1" hangingPunct="1"/>
            <a:r>
              <a:rPr lang="en-US" sz="2300" dirty="0"/>
              <a:t>Menu cost - Resources consumed in updating </a:t>
            </a:r>
            <a:r>
              <a:rPr lang="en-US" sz="2300"/>
              <a:t>the prices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Unexpected Redistribution of Wealth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Unexpected inflation redistributes wealth</a:t>
            </a:r>
          </a:p>
          <a:p>
            <a:pPr eaLnBrk="1" hangingPunct="1"/>
            <a:r>
              <a:rPr lang="en-US"/>
              <a:t>Suppose workers' salaries are not indexed and inflation is higher than anticipated</a:t>
            </a:r>
          </a:p>
          <a:p>
            <a:pPr lvl="1" eaLnBrk="1" hangingPunct="1"/>
            <a:r>
              <a:rPr lang="en-US"/>
              <a:t>Salaries lose purchasing power</a:t>
            </a:r>
          </a:p>
          <a:p>
            <a:pPr lvl="1" eaLnBrk="1" hangingPunct="1"/>
            <a:r>
              <a:rPr lang="en-US"/>
              <a:t>Employers gain at the expense of workers</a:t>
            </a:r>
          </a:p>
          <a:p>
            <a:pPr eaLnBrk="1" hangingPunct="1"/>
            <a:r>
              <a:rPr lang="en-US"/>
              <a:t>Similarly, unexpectedly high inflation benefits borrowers at the expense of lenders</a:t>
            </a:r>
          </a:p>
          <a:p>
            <a:pPr lvl="1" eaLnBrk="1" hangingPunct="1"/>
            <a:r>
              <a:rPr lang="en-US"/>
              <a:t>Borrowers repay with dollars worth less than anticipated</a:t>
            </a:r>
          </a:p>
          <a:p>
            <a:pPr eaLnBrk="1" hangingPunct="1"/>
            <a:r>
              <a:rPr lang="en-US"/>
              <a:t>Unexpected inflation confuses incentives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Interference with Long-Term Planning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Some decisions have a long time horizon</a:t>
            </a:r>
          </a:p>
          <a:p>
            <a:pPr lvl="1" eaLnBrk="1" hangingPunct="1"/>
            <a:r>
              <a:rPr lang="en-US"/>
              <a:t>Erratic inflation makes planning risky</a:t>
            </a:r>
          </a:p>
          <a:p>
            <a:pPr eaLnBrk="1" hangingPunct="1"/>
            <a:r>
              <a:rPr lang="en-US"/>
              <a:t>Retirement planning requires an estimated cost for your desired life-style</a:t>
            </a:r>
          </a:p>
          <a:p>
            <a:pPr lvl="1" eaLnBrk="1" hangingPunct="1"/>
            <a:r>
              <a:rPr lang="en-US"/>
              <a:t>Save too little and you live less well in the future</a:t>
            </a:r>
          </a:p>
          <a:p>
            <a:pPr lvl="1" eaLnBrk="1" hangingPunct="1"/>
            <a:r>
              <a:rPr lang="en-US"/>
              <a:t>Save too much and you live less well now</a:t>
            </a:r>
          </a:p>
          <a:p>
            <a:pPr eaLnBrk="1" hangingPunct="1"/>
            <a:r>
              <a:rPr lang="en-US"/>
              <a:t>Given the costs of inflation, most economists agree that low and stable inflation promotes a healthy economy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Inflation and Interest Rates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5800" y="1104900"/>
            <a:ext cx="8229600" cy="4525963"/>
          </a:xfrm>
        </p:spPr>
        <p:txBody>
          <a:bodyPr/>
          <a:lstStyle/>
          <a:p>
            <a:pPr eaLnBrk="1" hangingPunct="1"/>
            <a:r>
              <a:rPr lang="en-US"/>
              <a:t>Unanticipated inflation helps borrowers and hurts lenders</a:t>
            </a:r>
          </a:p>
          <a:p>
            <a:pPr eaLnBrk="1" hangingPunct="1"/>
            <a:r>
              <a:rPr lang="en-US"/>
              <a:t>The </a:t>
            </a:r>
            <a:r>
              <a:rPr lang="en-US" b="1"/>
              <a:t>real interest rate</a:t>
            </a:r>
            <a:r>
              <a:rPr lang="en-US"/>
              <a:t> is the annual percentage increase in the purchasing power of financial assets</a:t>
            </a:r>
          </a:p>
          <a:p>
            <a:pPr lvl="1" eaLnBrk="1" hangingPunct="1"/>
            <a:r>
              <a:rPr lang="en-US"/>
              <a:t>Real interest rate = nominal interest rate </a:t>
            </a:r>
            <a:r>
              <a:rPr lang="en-US">
                <a:cs typeface="Arial" charset="0"/>
              </a:rPr>
              <a:t>–</a:t>
            </a:r>
            <a:r>
              <a:rPr lang="en-US"/>
              <a:t> inflation</a:t>
            </a:r>
          </a:p>
          <a:p>
            <a:pPr lvl="1" algn="ctr" eaLnBrk="1" hangingPunct="1">
              <a:buFontTx/>
              <a:buNone/>
            </a:pPr>
            <a:r>
              <a:rPr lang="en-US"/>
              <a:t>r = i - </a:t>
            </a:r>
            <a:r>
              <a:rPr lang="en-US">
                <a:sym typeface="Symbol" pitchFamily="18" charset="2"/>
              </a:rPr>
              <a:t></a:t>
            </a:r>
            <a:endParaRPr lang="en-US"/>
          </a:p>
          <a:p>
            <a:pPr eaLnBrk="1" hangingPunct="1"/>
            <a:r>
              <a:rPr lang="en-US"/>
              <a:t>The </a:t>
            </a:r>
            <a:r>
              <a:rPr lang="en-US" b="1"/>
              <a:t>nominal interest rate </a:t>
            </a:r>
            <a:r>
              <a:rPr lang="en-US"/>
              <a:t>is the annual percentage increase in the dollar value of an asset</a:t>
            </a:r>
          </a:p>
          <a:p>
            <a:pPr lvl="1" eaLnBrk="1" hangingPunct="1"/>
            <a:r>
              <a:rPr lang="en-US"/>
              <a:t>Nominal interest rates are the most commonly stated rates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Inflation and Interest Rates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4294967295"/>
          </p:nvPr>
        </p:nvSpPr>
        <p:spPr>
          <a:xfrm>
            <a:off x="748840" y="1531976"/>
            <a:ext cx="3954463" cy="4406900"/>
          </a:xfrm>
        </p:spPr>
        <p:txBody>
          <a:bodyPr/>
          <a:lstStyle/>
          <a:p>
            <a:pPr eaLnBrk="1" hangingPunct="1"/>
            <a:r>
              <a:rPr lang="en-US" sz="2400" dirty="0"/>
              <a:t>Nominal interest rates and inflation vary</a:t>
            </a:r>
          </a:p>
          <a:p>
            <a:pPr marL="511175" lvl="2" indent="-225425" eaLnBrk="1" hangingPunct="1">
              <a:buClr>
                <a:srgbClr val="6A5218"/>
              </a:buClr>
            </a:pPr>
            <a:r>
              <a:rPr lang="en-US" sz="2100" dirty="0"/>
              <a:t>Nominal interest rate range is 1.8% to 11.4%</a:t>
            </a:r>
          </a:p>
          <a:p>
            <a:pPr marL="511175" lvl="2" indent="-225425" eaLnBrk="1" hangingPunct="1">
              <a:buClr>
                <a:srgbClr val="6A5218"/>
              </a:buClr>
            </a:pPr>
            <a:r>
              <a:rPr lang="en-US" sz="2100" dirty="0"/>
              <a:t>Inflation rate range is 1.6% to 13.5%</a:t>
            </a:r>
          </a:p>
          <a:p>
            <a:pPr marL="285750" lvl="1" eaLnBrk="1" hangingPunct="1"/>
            <a:r>
              <a:rPr lang="en-US" sz="2100" dirty="0"/>
              <a:t>Real interest rate is nominal interest rate minus inflation</a:t>
            </a:r>
          </a:p>
          <a:p>
            <a:pPr marL="511175" lvl="2" indent="-225425" eaLnBrk="1" hangingPunct="1">
              <a:buClr>
                <a:srgbClr val="6A5218"/>
              </a:buClr>
            </a:pPr>
            <a:r>
              <a:rPr lang="en-US" sz="2100" dirty="0"/>
              <a:t>Real interest rate was highest in 1985, 7.0%</a:t>
            </a:r>
          </a:p>
          <a:p>
            <a:pPr marL="511175" lvl="2" indent="-225425" eaLnBrk="1" hangingPunct="1">
              <a:buClr>
                <a:srgbClr val="6A5218"/>
              </a:buClr>
            </a:pPr>
            <a:r>
              <a:rPr lang="en-US" sz="2100" dirty="0"/>
              <a:t>Real interest rate was lowest in 1980, </a:t>
            </a:r>
            <a:r>
              <a:rPr lang="en-US" sz="2100" dirty="0">
                <a:cs typeface="Arial" charset="0"/>
              </a:rPr>
              <a:t>–</a:t>
            </a:r>
            <a:r>
              <a:rPr lang="en-US" sz="2100" dirty="0"/>
              <a:t> 2.1%</a:t>
            </a:r>
          </a:p>
        </p:txBody>
      </p:sp>
      <p:graphicFrame>
        <p:nvGraphicFramePr>
          <p:cNvPr id="87085" name="Group 45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558405136"/>
              </p:ext>
            </p:extLst>
          </p:nvPr>
        </p:nvGraphicFramePr>
        <p:xfrm>
          <a:off x="4960938" y="1890390"/>
          <a:ext cx="3954462" cy="4267200"/>
        </p:xfrm>
        <a:graphic>
          <a:graphicData uri="http://schemas.openxmlformats.org/drawingml/2006/table">
            <a:tbl>
              <a:tblPr/>
              <a:tblGrid>
                <a:gridCol w="1319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9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Year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Interest Rate (%)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Inflation Rate (%)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1975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8.0%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9.1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1980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11.4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13.5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1985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10.6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dec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3.6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1990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8.6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dec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5.4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1995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6.6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dec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2.8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6.0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dec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3.4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2005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4.3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3.4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2010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3.2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A5218"/>
                          </a:solidFill>
                          <a:effectLst/>
                          <a:latin typeface="Arial" charset="0"/>
                        </a:rPr>
                        <a:t>	1.6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1.8 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dec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2.1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/>
              <a:t>Inflation and Interest Rates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Unexpected inflation benefits borrowers and hurts lenders</a:t>
            </a:r>
          </a:p>
          <a:p>
            <a:pPr lvl="1" eaLnBrk="1" hangingPunct="1"/>
            <a:r>
              <a:rPr lang="en-US" dirty="0"/>
              <a:t>For a given nominal interest rate, the higher the inflation rate, the lower the real interest rate</a:t>
            </a:r>
          </a:p>
          <a:p>
            <a:pPr eaLnBrk="1" hangingPunct="1"/>
            <a:r>
              <a:rPr lang="en-US" dirty="0"/>
              <a:t>Expected inflation may not hurt lenders if they can adjust the nominal interest rates</a:t>
            </a:r>
          </a:p>
          <a:p>
            <a:pPr lvl="1" eaLnBrk="1" hangingPunct="1"/>
            <a:r>
              <a:rPr lang="en-US" dirty="0"/>
              <a:t>Inflation-protected bonds pay a real rate of interest plus the inflation rate</a:t>
            </a:r>
          </a:p>
          <a:p>
            <a:pPr eaLnBrk="1" hangingPunct="1"/>
            <a:r>
              <a:rPr lang="en-US" dirty="0"/>
              <a:t>The </a:t>
            </a:r>
            <a:r>
              <a:rPr lang="en-US" b="1" dirty="0"/>
              <a:t>Fisher effect </a:t>
            </a:r>
            <a:r>
              <a:rPr lang="en-US" dirty="0"/>
              <a:t>is the tendency for nominal interest rates to be high when inflation is high and low when inflation is low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869732" y="1600200"/>
            <a:ext cx="8077200" cy="483268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28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945932" y="1676400"/>
            <a:ext cx="7924800" cy="4679950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397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17332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US Inflation and Interest Rates, 1960 - 2012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05686"/>
              </p:ext>
            </p:extLst>
          </p:nvPr>
        </p:nvGraphicFramePr>
        <p:xfrm>
          <a:off x="1177285" y="1676400"/>
          <a:ext cx="7524521" cy="4756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/>
              <a:t>Thank You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8864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This is the end of </a:t>
            </a:r>
            <a:r>
              <a:rPr lang="en-US"/>
              <a:t>Lecture 7.  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Thank you for your participation.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Please send your query to me via my email at khayboon@ntu.edu.sg.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01" y="-1"/>
            <a:ext cx="757941" cy="688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3193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1757</TotalTime>
  <Words>4060</Words>
  <Application>Microsoft Office PowerPoint</Application>
  <PresentationFormat>On-screen Show (4:3)</PresentationFormat>
  <Paragraphs>766</Paragraphs>
  <Slides>61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Arial</vt:lpstr>
      <vt:lpstr>Arial Black</vt:lpstr>
      <vt:lpstr>Symbol</vt:lpstr>
      <vt:lpstr>Times New Roman</vt:lpstr>
      <vt:lpstr>Wingdings</vt:lpstr>
      <vt:lpstr>Default Design</vt:lpstr>
      <vt:lpstr>HE5091 Principles of Economics Lecture 7 Gross Domestic Product (GDP) and Inflation</vt:lpstr>
      <vt:lpstr>Topics</vt:lpstr>
      <vt:lpstr>Macroeconomics</vt:lpstr>
      <vt:lpstr>Measuring Output</vt:lpstr>
      <vt:lpstr>Market Value</vt:lpstr>
      <vt:lpstr>Final Goods and Services</vt:lpstr>
      <vt:lpstr>Final, Intermediate &amp; Capital Goods</vt:lpstr>
      <vt:lpstr>Value Added </vt:lpstr>
      <vt:lpstr>Produced in a Country in a Period of Time</vt:lpstr>
      <vt:lpstr>Expenditure Method for Measuring GDP</vt:lpstr>
      <vt:lpstr>PowerPoint Presentation</vt:lpstr>
      <vt:lpstr>Consumption Expenditure</vt:lpstr>
      <vt:lpstr>Investment</vt:lpstr>
      <vt:lpstr>Economic Investment and Financial Investment</vt:lpstr>
      <vt:lpstr>Government Purchases</vt:lpstr>
      <vt:lpstr>Net Exports</vt:lpstr>
      <vt:lpstr>GDP Expenditures Equation</vt:lpstr>
      <vt:lpstr>GDP Example</vt:lpstr>
      <vt:lpstr>GDP Example</vt:lpstr>
      <vt:lpstr>Income Approach to GDP</vt:lpstr>
      <vt:lpstr>Three GDP Approaches</vt:lpstr>
      <vt:lpstr>Adjusting for Price Changes</vt:lpstr>
      <vt:lpstr>The Donut and Cupcake Economy</vt:lpstr>
      <vt:lpstr>Real GDP and Nominal GDP </vt:lpstr>
      <vt:lpstr>Calculating Real GDP for 2013</vt:lpstr>
      <vt:lpstr>Real and Nominal GDP</vt:lpstr>
      <vt:lpstr>Real GDP and Economic  Well-Being</vt:lpstr>
      <vt:lpstr>GDP Does Not Value Leisure</vt:lpstr>
      <vt:lpstr>Nonmarket Economic Activities</vt:lpstr>
      <vt:lpstr>Underground Economy</vt:lpstr>
      <vt:lpstr>Environmental Quality</vt:lpstr>
      <vt:lpstr>Poverty and Economic Inequality</vt:lpstr>
      <vt:lpstr>GDP as a Welfare Measure</vt:lpstr>
      <vt:lpstr>Inflation</vt:lpstr>
      <vt:lpstr>Measuring the Price Level</vt:lpstr>
      <vt:lpstr>Calculating the CPI</vt:lpstr>
      <vt:lpstr>Calculating the CPI</vt:lpstr>
      <vt:lpstr>Price Index</vt:lpstr>
      <vt:lpstr>Inflation</vt:lpstr>
      <vt:lpstr>Adjusting for Inflation</vt:lpstr>
      <vt:lpstr>Family Income in 2013 and 2018</vt:lpstr>
      <vt:lpstr>Real Wages</vt:lpstr>
      <vt:lpstr>Indexing</vt:lpstr>
      <vt:lpstr>Adjusting for Inflation</vt:lpstr>
      <vt:lpstr>CPI and Inflation</vt:lpstr>
      <vt:lpstr>CPI Quality Adjustment Bias</vt:lpstr>
      <vt:lpstr>CPI Substitution Biases</vt:lpstr>
      <vt:lpstr>CPI Substitution Bias</vt:lpstr>
      <vt:lpstr>CPI Substitution Bias</vt:lpstr>
      <vt:lpstr>The Costs of Inflation</vt:lpstr>
      <vt:lpstr>Noisy Prices</vt:lpstr>
      <vt:lpstr>Indexing Avoids Distortions</vt:lpstr>
      <vt:lpstr>Distortions Caused by Taxes</vt:lpstr>
      <vt:lpstr>Shoe Leather and Menu Cost</vt:lpstr>
      <vt:lpstr>Unexpected Redistribution of Wealth</vt:lpstr>
      <vt:lpstr>Interference with Long-Term Planning</vt:lpstr>
      <vt:lpstr>Inflation and Interest Rates</vt:lpstr>
      <vt:lpstr>Inflation and Interest Rates</vt:lpstr>
      <vt:lpstr>Inflation and Interest Rates</vt:lpstr>
      <vt:lpstr>US Inflation and Interest Rates, 1960 - 2012</vt:lpstr>
      <vt:lpstr>Thank You</vt:lpstr>
    </vt:vector>
  </TitlesOfParts>
  <Company>UNC Charlotte</Company>
  <LinksUpToDate>false</LinksUpToDate>
  <SharedDoc>false</SharedDoc>
  <HyperlinkBase>assets/\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Carol Swartz</dc:creator>
  <cp:lastModifiedBy>Dr Tan Khay Boon</cp:lastModifiedBy>
  <cp:revision>151</cp:revision>
  <dcterms:created xsi:type="dcterms:W3CDTF">2010-08-19T13:36:39Z</dcterms:created>
  <dcterms:modified xsi:type="dcterms:W3CDTF">2024-08-07T02:39:25Z</dcterms:modified>
</cp:coreProperties>
</file>