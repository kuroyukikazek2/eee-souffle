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1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7" r:id="rId1"/>
  </p:sldMasterIdLst>
  <p:notesMasterIdLst>
    <p:notesMasterId r:id="rId57"/>
  </p:notesMasterIdLst>
  <p:handoutMasterIdLst>
    <p:handoutMasterId r:id="rId58"/>
  </p:handoutMasterIdLst>
  <p:sldIdLst>
    <p:sldId id="384" r:id="rId2"/>
    <p:sldId id="385" r:id="rId3"/>
    <p:sldId id="393" r:id="rId4"/>
    <p:sldId id="394" r:id="rId5"/>
    <p:sldId id="395" r:id="rId6"/>
    <p:sldId id="396" r:id="rId7"/>
    <p:sldId id="397" r:id="rId8"/>
    <p:sldId id="398" r:id="rId9"/>
    <p:sldId id="399" r:id="rId10"/>
    <p:sldId id="400" r:id="rId11"/>
    <p:sldId id="401" r:id="rId12"/>
    <p:sldId id="402" r:id="rId13"/>
    <p:sldId id="403" r:id="rId14"/>
    <p:sldId id="404" r:id="rId15"/>
    <p:sldId id="407" r:id="rId16"/>
    <p:sldId id="408" r:id="rId17"/>
    <p:sldId id="409" r:id="rId18"/>
    <p:sldId id="410" r:id="rId19"/>
    <p:sldId id="411" r:id="rId20"/>
    <p:sldId id="412" r:id="rId21"/>
    <p:sldId id="462" r:id="rId22"/>
    <p:sldId id="413" r:id="rId23"/>
    <p:sldId id="414" r:id="rId24"/>
    <p:sldId id="415" r:id="rId25"/>
    <p:sldId id="416" r:id="rId26"/>
    <p:sldId id="418" r:id="rId27"/>
    <p:sldId id="419" r:id="rId28"/>
    <p:sldId id="420" r:id="rId29"/>
    <p:sldId id="421" r:id="rId30"/>
    <p:sldId id="422" r:id="rId31"/>
    <p:sldId id="423" r:id="rId32"/>
    <p:sldId id="428" r:id="rId33"/>
    <p:sldId id="430" r:id="rId34"/>
    <p:sldId id="431" r:id="rId35"/>
    <p:sldId id="432" r:id="rId36"/>
    <p:sldId id="433" r:id="rId37"/>
    <p:sldId id="434" r:id="rId38"/>
    <p:sldId id="435" r:id="rId39"/>
    <p:sldId id="436" r:id="rId40"/>
    <p:sldId id="437" r:id="rId41"/>
    <p:sldId id="440" r:id="rId42"/>
    <p:sldId id="441" r:id="rId43"/>
    <p:sldId id="442" r:id="rId44"/>
    <p:sldId id="443" r:id="rId45"/>
    <p:sldId id="447" r:id="rId46"/>
    <p:sldId id="448" r:id="rId47"/>
    <p:sldId id="450" r:id="rId48"/>
    <p:sldId id="452" r:id="rId49"/>
    <p:sldId id="454" r:id="rId50"/>
    <p:sldId id="455" r:id="rId51"/>
    <p:sldId id="456" r:id="rId52"/>
    <p:sldId id="457" r:id="rId53"/>
    <p:sldId id="458" r:id="rId54"/>
    <p:sldId id="459" r:id="rId55"/>
    <p:sldId id="460" r:id="rId56"/>
  </p:sldIdLst>
  <p:sldSz cx="9144000" cy="6858000" type="screen4x3"/>
  <p:notesSz cx="6858000" cy="91170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1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5726">
          <p15:clr>
            <a:srgbClr val="A4A3A4"/>
          </p15:clr>
        </p15:guide>
        <p15:guide id="2" pos="431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  <a:srgbClr val="6A5218"/>
    <a:srgbClr val="FFFFCC"/>
    <a:srgbClr val="5CBE02"/>
    <a:srgbClr val="C5E3E5"/>
    <a:srgbClr val="CBE2C8"/>
    <a:srgbClr val="AFD3FB"/>
    <a:srgbClr val="F7FFF4"/>
    <a:srgbClr val="F1FFFF"/>
    <a:srgbClr val="F6FF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8" autoAdjust="0"/>
    <p:restoredTop sz="96408" autoAdjust="0"/>
  </p:normalViewPr>
  <p:slideViewPr>
    <p:cSldViewPr snapToGrid="0">
      <p:cViewPr varScale="1">
        <p:scale>
          <a:sx n="59" d="100"/>
          <a:sy n="59" d="100"/>
        </p:scale>
        <p:origin x="796" y="52"/>
      </p:cViewPr>
      <p:guideLst>
        <p:guide orient="horz" pos="4311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-5900"/>
    </p:cViewPr>
  </p:sorterViewPr>
  <p:notesViewPr>
    <p:cSldViewPr snapToGrid="0">
      <p:cViewPr>
        <p:scale>
          <a:sx n="110" d="100"/>
          <a:sy n="110" d="100"/>
        </p:scale>
        <p:origin x="-2320" y="1456"/>
      </p:cViewPr>
      <p:guideLst>
        <p:guide orient="horz" pos="5726"/>
        <p:guide pos="4319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Research\McGraw%20Hill\Revised%20Chapters\Figure%2017.8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8593526640142329E-2"/>
          <c:y val="3.3198503170801648E-2"/>
          <c:w val="0.87330052000163216"/>
          <c:h val="0.80484160284715645"/>
        </c:manualLayout>
      </c:layout>
      <c:scatterChart>
        <c:scatterStyle val="lineMarker"/>
        <c:varyColors val="0"/>
        <c:ser>
          <c:idx val="0"/>
          <c:order val="0"/>
          <c:spPr>
            <a:ln w="38100">
              <a:solidFill>
                <a:srgbClr val="C00000"/>
              </a:solidFill>
            </a:ln>
          </c:spPr>
          <c:marker>
            <c:symbol val="none"/>
          </c:marker>
          <c:xVal>
            <c:numRef>
              <c:f>'Data 17.8'!$A$5:$A$57</c:f>
              <c:numCache>
                <c:formatCode>General</c:formatCode>
                <c:ptCount val="53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  <c:pt idx="15">
                  <c:v>1975</c:v>
                </c:pt>
                <c:pt idx="16">
                  <c:v>1976</c:v>
                </c:pt>
                <c:pt idx="17">
                  <c:v>1977</c:v>
                </c:pt>
                <c:pt idx="18">
                  <c:v>1978</c:v>
                </c:pt>
                <c:pt idx="19">
                  <c:v>1979</c:v>
                </c:pt>
                <c:pt idx="20">
                  <c:v>1980</c:v>
                </c:pt>
                <c:pt idx="21">
                  <c:v>1981</c:v>
                </c:pt>
                <c:pt idx="22">
                  <c:v>1982</c:v>
                </c:pt>
                <c:pt idx="23">
                  <c:v>1983</c:v>
                </c:pt>
                <c:pt idx="24">
                  <c:v>1984</c:v>
                </c:pt>
                <c:pt idx="25">
                  <c:v>1985</c:v>
                </c:pt>
                <c:pt idx="26">
                  <c:v>1986</c:v>
                </c:pt>
                <c:pt idx="27">
                  <c:v>1987</c:v>
                </c:pt>
                <c:pt idx="28">
                  <c:v>1988</c:v>
                </c:pt>
                <c:pt idx="29">
                  <c:v>1989</c:v>
                </c:pt>
                <c:pt idx="30">
                  <c:v>1990</c:v>
                </c:pt>
                <c:pt idx="31">
                  <c:v>1991</c:v>
                </c:pt>
                <c:pt idx="32">
                  <c:v>1992</c:v>
                </c:pt>
                <c:pt idx="33">
                  <c:v>1993</c:v>
                </c:pt>
                <c:pt idx="34">
                  <c:v>1994</c:v>
                </c:pt>
                <c:pt idx="35">
                  <c:v>1995</c:v>
                </c:pt>
                <c:pt idx="36">
                  <c:v>1996</c:v>
                </c:pt>
                <c:pt idx="37">
                  <c:v>1997</c:v>
                </c:pt>
                <c:pt idx="38">
                  <c:v>1998</c:v>
                </c:pt>
                <c:pt idx="39">
                  <c:v>1999</c:v>
                </c:pt>
                <c:pt idx="40">
                  <c:v>2000</c:v>
                </c:pt>
                <c:pt idx="41">
                  <c:v>2001</c:v>
                </c:pt>
                <c:pt idx="42">
                  <c:v>2002</c:v>
                </c:pt>
                <c:pt idx="43">
                  <c:v>2003</c:v>
                </c:pt>
                <c:pt idx="44">
                  <c:v>2004</c:v>
                </c:pt>
                <c:pt idx="45">
                  <c:v>2005</c:v>
                </c:pt>
                <c:pt idx="46">
                  <c:v>2006</c:v>
                </c:pt>
                <c:pt idx="47">
                  <c:v>2007</c:v>
                </c:pt>
                <c:pt idx="48">
                  <c:v>2008</c:v>
                </c:pt>
                <c:pt idx="49">
                  <c:v>2009</c:v>
                </c:pt>
                <c:pt idx="50">
                  <c:v>2010</c:v>
                </c:pt>
                <c:pt idx="51">
                  <c:v>2011</c:v>
                </c:pt>
                <c:pt idx="52">
                  <c:v>2012</c:v>
                </c:pt>
              </c:numCache>
            </c:numRef>
          </c:xVal>
          <c:yVal>
            <c:numRef>
              <c:f>'Data 17.8'!$B$5:$B$57</c:f>
              <c:numCache>
                <c:formatCode>General</c:formatCode>
                <c:ptCount val="53"/>
                <c:pt idx="0">
                  <c:v>5.5</c:v>
                </c:pt>
                <c:pt idx="1">
                  <c:v>6.7</c:v>
                </c:pt>
                <c:pt idx="2">
                  <c:v>5.5</c:v>
                </c:pt>
                <c:pt idx="3">
                  <c:v>5.7</c:v>
                </c:pt>
                <c:pt idx="4">
                  <c:v>5.2</c:v>
                </c:pt>
                <c:pt idx="5">
                  <c:v>4.5</c:v>
                </c:pt>
                <c:pt idx="6">
                  <c:v>3.8</c:v>
                </c:pt>
                <c:pt idx="7">
                  <c:v>3.8</c:v>
                </c:pt>
                <c:pt idx="8">
                  <c:v>3.6</c:v>
                </c:pt>
                <c:pt idx="9">
                  <c:v>3.5</c:v>
                </c:pt>
                <c:pt idx="10">
                  <c:v>4.9000000000000004</c:v>
                </c:pt>
                <c:pt idx="11">
                  <c:v>5.9</c:v>
                </c:pt>
                <c:pt idx="12">
                  <c:v>5.6</c:v>
                </c:pt>
                <c:pt idx="13">
                  <c:v>4.9000000000000004</c:v>
                </c:pt>
                <c:pt idx="14">
                  <c:v>5.6</c:v>
                </c:pt>
                <c:pt idx="15">
                  <c:v>8.5</c:v>
                </c:pt>
                <c:pt idx="16">
                  <c:v>7.7</c:v>
                </c:pt>
                <c:pt idx="17">
                  <c:v>7.1</c:v>
                </c:pt>
                <c:pt idx="18">
                  <c:v>6.1</c:v>
                </c:pt>
                <c:pt idx="19">
                  <c:v>5.8</c:v>
                </c:pt>
                <c:pt idx="20">
                  <c:v>7.1</c:v>
                </c:pt>
                <c:pt idx="21">
                  <c:v>7.6</c:v>
                </c:pt>
                <c:pt idx="22">
                  <c:v>9.7000000000000011</c:v>
                </c:pt>
                <c:pt idx="23">
                  <c:v>9.6</c:v>
                </c:pt>
                <c:pt idx="24">
                  <c:v>7.5</c:v>
                </c:pt>
                <c:pt idx="25">
                  <c:v>7.2</c:v>
                </c:pt>
                <c:pt idx="26">
                  <c:v>7</c:v>
                </c:pt>
                <c:pt idx="27">
                  <c:v>6.2</c:v>
                </c:pt>
                <c:pt idx="28">
                  <c:v>5.5</c:v>
                </c:pt>
                <c:pt idx="29">
                  <c:v>5.3</c:v>
                </c:pt>
                <c:pt idx="30">
                  <c:v>5.6</c:v>
                </c:pt>
                <c:pt idx="31">
                  <c:v>6.8</c:v>
                </c:pt>
                <c:pt idx="32">
                  <c:v>7.5</c:v>
                </c:pt>
                <c:pt idx="33">
                  <c:v>6.9</c:v>
                </c:pt>
                <c:pt idx="34">
                  <c:v>6.1</c:v>
                </c:pt>
                <c:pt idx="35">
                  <c:v>5.6</c:v>
                </c:pt>
                <c:pt idx="36">
                  <c:v>5.4</c:v>
                </c:pt>
                <c:pt idx="37">
                  <c:v>4.9000000000000004</c:v>
                </c:pt>
                <c:pt idx="38">
                  <c:v>4.5</c:v>
                </c:pt>
                <c:pt idx="39">
                  <c:v>4.2</c:v>
                </c:pt>
                <c:pt idx="40">
                  <c:v>4</c:v>
                </c:pt>
                <c:pt idx="41">
                  <c:v>4.7</c:v>
                </c:pt>
                <c:pt idx="42">
                  <c:v>5.8</c:v>
                </c:pt>
                <c:pt idx="43">
                  <c:v>6</c:v>
                </c:pt>
                <c:pt idx="44">
                  <c:v>5.5</c:v>
                </c:pt>
                <c:pt idx="45">
                  <c:v>5.0999999999999996</c:v>
                </c:pt>
                <c:pt idx="46">
                  <c:v>4.5999999999999996</c:v>
                </c:pt>
                <c:pt idx="47">
                  <c:v>4.5999999999999996</c:v>
                </c:pt>
                <c:pt idx="48">
                  <c:v>5.8</c:v>
                </c:pt>
                <c:pt idx="49">
                  <c:v>9.3000000000000007</c:v>
                </c:pt>
                <c:pt idx="50">
                  <c:v>9.6</c:v>
                </c:pt>
                <c:pt idx="51">
                  <c:v>8.9</c:v>
                </c:pt>
                <c:pt idx="52">
                  <c:v>8.1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647-43EB-AD5E-9F62D53344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0745088"/>
        <c:axId val="70788992"/>
      </c:scatterChart>
      <c:valAx>
        <c:axId val="70745088"/>
        <c:scaling>
          <c:orientation val="minMax"/>
          <c:max val="2012"/>
          <c:min val="196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Year</a:t>
                </a:r>
              </a:p>
            </c:rich>
          </c:tx>
          <c:layout>
            <c:manualLayout>
              <c:xMode val="edge"/>
              <c:yMode val="edge"/>
              <c:x val="0.50914864049234831"/>
              <c:y val="0.96400538739707564"/>
            </c:manualLayout>
          </c:layout>
          <c:overlay val="0"/>
        </c:title>
        <c:numFmt formatCode="General" sourceLinked="1"/>
        <c:majorTickMark val="in"/>
        <c:minorTickMark val="none"/>
        <c:tickLblPos val="nextTo"/>
        <c:txPr>
          <a:bodyPr rot="-5400000" vert="horz"/>
          <a:lstStyle/>
          <a:p>
            <a:pPr>
              <a:defRPr sz="1200" b="1" i="0" baseline="0"/>
            </a:pPr>
            <a:endParaRPr lang="en-US"/>
          </a:p>
        </c:txPr>
        <c:crossAx val="70788992"/>
        <c:crosses val="autoZero"/>
        <c:crossBetween val="midCat"/>
        <c:majorUnit val="5"/>
      </c:valAx>
      <c:valAx>
        <c:axId val="70788992"/>
        <c:scaling>
          <c:orientation val="minMax"/>
          <c:max val="12"/>
          <c:min val="0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Unemployment Rate (%)</a:t>
                </a:r>
              </a:p>
            </c:rich>
          </c:tx>
          <c:overlay val="0"/>
        </c:title>
        <c:numFmt formatCode="#,##0" sourceLinked="0"/>
        <c:majorTickMark val="in"/>
        <c:minorTickMark val="none"/>
        <c:tickLblPos val="nextTo"/>
        <c:txPr>
          <a:bodyPr/>
          <a:lstStyle/>
          <a:p>
            <a:pPr>
              <a:defRPr sz="1200" b="1" i="0" baseline="0"/>
            </a:pPr>
            <a:endParaRPr lang="en-US"/>
          </a:p>
        </c:txPr>
        <c:crossAx val="70745088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300" baseline="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>
              <a:defRPr/>
            </a:pPr>
            <a:fld id="{92F30890-E24B-4E0D-A976-A0E934AD3E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00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930400" y="231775"/>
            <a:ext cx="2994025" cy="224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06400" y="2705100"/>
            <a:ext cx="6032500" cy="5954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effectLst/>
              </a:defRPr>
            </a:lvl1pPr>
          </a:lstStyle>
          <a:p>
            <a:pPr>
              <a:defRPr/>
            </a:pPr>
            <a:fld id="{77CA596C-6E61-41B8-83D6-76FC19BA500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6043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buFont typeface="Arial" charset="0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06400" indent="-177800" algn="l" rtl="0" eaLnBrk="0" fontAlgn="base" hangingPunct="0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635000" indent="-177800" algn="l" rtl="0" eaLnBrk="0" fontAlgn="base" hangingPunct="0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800100" indent="-165100" algn="l" rtl="0" eaLnBrk="0" fontAlgn="base" hangingPunct="0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buFont typeface="Arial" charset="0"/>
      <a:buChar char="•"/>
      <a:defRPr sz="1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843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843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30581"/>
            <a:ext cx="5486400" cy="410265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30581"/>
            <a:ext cx="5486400" cy="410265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30581"/>
            <a:ext cx="5486400" cy="410265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30581"/>
            <a:ext cx="5486400" cy="410265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30581"/>
            <a:ext cx="5486400" cy="410265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30581"/>
            <a:ext cx="5486400" cy="410265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30581"/>
            <a:ext cx="5486400" cy="410265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30581"/>
            <a:ext cx="5486400" cy="410265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330581"/>
            <a:ext cx="5486400" cy="410265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49155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841FAFC-D364-42A0-A6D0-C852C0B249E9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30581"/>
            <a:ext cx="5486400" cy="410265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330581"/>
            <a:ext cx="5486400" cy="410265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5222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20A2526-8D91-4C50-A72C-69543E6370F3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30581"/>
            <a:ext cx="5486400" cy="410265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30581"/>
            <a:ext cx="5486400" cy="410265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330581"/>
            <a:ext cx="5486400" cy="410265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baseline="-25000" dirty="0">
              <a:latin typeface="Arial" charset="0"/>
              <a:cs typeface="Arial" charset="0"/>
            </a:endParaRPr>
          </a:p>
        </p:txBody>
      </p:sp>
      <p:sp>
        <p:nvSpPr>
          <p:cNvPr id="58371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33EF0C9-5092-4E5D-9EB4-9F10533C4B3B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9D0D473-45C5-45A0-A948-90409D41D95E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US"/>
          </a:p>
        </p:txBody>
      </p:sp>
      <p:sp>
        <p:nvSpPr>
          <p:cNvPr id="522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30581"/>
            <a:ext cx="5486400" cy="410265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30581"/>
            <a:ext cx="5486400" cy="410265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30581"/>
            <a:ext cx="5486400" cy="410265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30581"/>
            <a:ext cx="5486400" cy="410265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30581"/>
            <a:ext cx="5486400" cy="410265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30581"/>
            <a:ext cx="5486400" cy="410265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30581"/>
            <a:ext cx="5486400" cy="410265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30581"/>
            <a:ext cx="5486400" cy="410265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30581"/>
            <a:ext cx="5486400" cy="410265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30581"/>
            <a:ext cx="5486400" cy="410265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30581"/>
            <a:ext cx="5486400" cy="410265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30581"/>
            <a:ext cx="5486400" cy="410265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30581"/>
            <a:ext cx="5486400" cy="410265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30581"/>
            <a:ext cx="5486400" cy="410265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30581"/>
            <a:ext cx="5486400" cy="410265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2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3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3B9B943-DEC6-4033-A98C-56AC9F938799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51</a:t>
            </a:fld>
            <a:endParaRPr lang="en-US"/>
          </a:p>
        </p:txBody>
      </p:sp>
      <p:sp>
        <p:nvSpPr>
          <p:cNvPr id="68611" name="Rectangle 5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1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FFD6E7A-1AA1-41CD-8F29-5AE4884754ED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52</a:t>
            </a:fld>
            <a:endParaRPr lang="en-US"/>
          </a:p>
        </p:txBody>
      </p:sp>
      <p:sp>
        <p:nvSpPr>
          <p:cNvPr id="70659" name="Rectangle 5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4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029200"/>
            <a:ext cx="9144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69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30375"/>
            <a:ext cx="7772400" cy="1470025"/>
          </a:xfrm>
        </p:spPr>
        <p:txBody>
          <a:bodyPr/>
          <a:lstStyle>
            <a:lvl1pPr algn="l">
              <a:defRPr sz="4200">
                <a:latin typeface="Arial Black" pitchFamily="34" charset="0"/>
              </a:defRPr>
            </a:lvl1pPr>
          </a:lstStyle>
          <a:p>
            <a:endParaRPr lang="en-US"/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200400"/>
            <a:ext cx="7467600" cy="1676400"/>
          </a:xfrm>
        </p:spPr>
        <p:txBody>
          <a:bodyPr/>
          <a:lstStyle>
            <a:lvl1pPr marL="0" indent="0" algn="ctr">
              <a:buFontTx/>
              <a:buNone/>
              <a:defRPr sz="4800">
                <a:latin typeface="Arial Black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F46E13C4-7005-4115-B010-EAA29903E6C1}" type="datetime1">
              <a:rPr lang="en-US"/>
              <a:pPr>
                <a:defRPr/>
              </a:pPr>
              <a:t>3/2/2025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0E8318A-202A-4F66-B94C-9B952149AB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Frank Brief 2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685800" cy="693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4533" name="Rectangle 21"/>
          <p:cNvSpPr>
            <a:spLocks noChangeArrowheads="1"/>
          </p:cNvSpPr>
          <p:nvPr userDrawn="1"/>
        </p:nvSpPr>
        <p:spPr bwMode="auto">
          <a:xfrm>
            <a:off x="6934200" y="64008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r>
              <a:rPr lang="en-US" sz="1000">
                <a:latin typeface="Times New Roman" pitchFamily="18" charset="0"/>
              </a:rPr>
              <a:t>1-</a:t>
            </a:r>
            <a:fld id="{B9D74E89-6214-45AC-BC4B-D378039338D8}" type="slidenum">
              <a:rPr lang="en-US" sz="1000">
                <a:latin typeface="Times New Roman" pitchFamily="18" charset="0"/>
              </a:rPr>
              <a:pPr algn="r">
                <a:defRPr/>
              </a:pPr>
              <a:t>‹#›</a:t>
            </a:fld>
            <a:endParaRPr lang="en-US" sz="1000"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khayboon@ntu.edu.s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171574" y="266699"/>
            <a:ext cx="7515225" cy="3629025"/>
          </a:xfrm>
        </p:spPr>
        <p:txBody>
          <a:bodyPr/>
          <a:lstStyle/>
          <a:p>
            <a:r>
              <a:rPr lang="en-US">
                <a:latin typeface="Arial" charset="0"/>
              </a:rPr>
              <a:t>HE5091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Principles of Economics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Lecture 8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Unemployment and Economic Growth</a:t>
            </a:r>
            <a:endParaRPr lang="en-US" dirty="0"/>
          </a:p>
        </p:txBody>
      </p:sp>
      <p:sp>
        <p:nvSpPr>
          <p:cNvPr id="45056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1155700" y="4229100"/>
            <a:ext cx="7721600" cy="1819275"/>
          </a:xfrm>
        </p:spPr>
        <p:txBody>
          <a:bodyPr/>
          <a:lstStyle/>
          <a:p>
            <a:pPr algn="ctr">
              <a:buClr>
                <a:schemeClr val="hlink"/>
              </a:buClr>
              <a:buSzPct val="60000"/>
              <a:buNone/>
            </a:pPr>
            <a:r>
              <a:rPr lang="en-US" dirty="0"/>
              <a:t>Tan Khay Boon</a:t>
            </a:r>
          </a:p>
          <a:p>
            <a:pPr algn="ctr">
              <a:buClr>
                <a:schemeClr val="hlink"/>
              </a:buClr>
              <a:buSzPct val="60000"/>
              <a:buNone/>
            </a:pPr>
            <a:r>
              <a:rPr lang="en-US" dirty="0"/>
              <a:t>Email</a:t>
            </a:r>
            <a:r>
              <a:rPr lang="en-US"/>
              <a:t>: </a:t>
            </a:r>
            <a:r>
              <a:rPr lang="en-US">
                <a:hlinkClick r:id="rId3"/>
              </a:rPr>
              <a:t>khayboon@ntu.edu.sg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Topics</a:t>
            </a:r>
          </a:p>
        </p:txBody>
      </p:sp>
      <p:sp>
        <p:nvSpPr>
          <p:cNvPr id="45056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1155700" y="1752599"/>
            <a:ext cx="7721600" cy="4562475"/>
          </a:xfrm>
        </p:spPr>
        <p:txBody>
          <a:bodyPr/>
          <a:lstStyle/>
          <a:p>
            <a:r>
              <a:rPr lang="en-US" dirty="0"/>
              <a:t>Demand and Supply in </a:t>
            </a:r>
            <a:r>
              <a:rPr lang="en-US" dirty="0" err="1"/>
              <a:t>Labour</a:t>
            </a:r>
            <a:r>
              <a:rPr lang="en-US" dirty="0"/>
              <a:t> Market</a:t>
            </a:r>
          </a:p>
          <a:p>
            <a:r>
              <a:rPr lang="en-US" dirty="0"/>
              <a:t>Measuring Unemployment</a:t>
            </a:r>
          </a:p>
          <a:p>
            <a:r>
              <a:rPr lang="en-US" dirty="0"/>
              <a:t>Types of Unemployment</a:t>
            </a:r>
          </a:p>
          <a:p>
            <a:r>
              <a:rPr lang="en-US" dirty="0"/>
              <a:t>Impediments to Full Employment</a:t>
            </a:r>
          </a:p>
          <a:p>
            <a:r>
              <a:rPr lang="en-US" dirty="0"/>
              <a:t>Economic Growth and </a:t>
            </a:r>
            <a:r>
              <a:rPr lang="en-US" dirty="0" err="1"/>
              <a:t>Labour</a:t>
            </a:r>
            <a:r>
              <a:rPr lang="en-US" dirty="0"/>
              <a:t> Productivity</a:t>
            </a:r>
          </a:p>
          <a:p>
            <a:r>
              <a:rPr lang="en-US" dirty="0"/>
              <a:t>Determinants of Average </a:t>
            </a:r>
            <a:r>
              <a:rPr lang="en-US" dirty="0" err="1"/>
              <a:t>Labour</a:t>
            </a:r>
            <a:r>
              <a:rPr lang="en-US" dirty="0"/>
              <a:t> Productivity</a:t>
            </a:r>
          </a:p>
          <a:p>
            <a:r>
              <a:rPr lang="en-US" dirty="0"/>
              <a:t>Policies to Promote Economic Growth</a:t>
            </a:r>
          </a:p>
          <a:p>
            <a:r>
              <a:rPr lang="en-US" dirty="0"/>
              <a:t>Reference: FBAH </a:t>
            </a:r>
            <a:r>
              <a:rPr lang="en-US"/>
              <a:t>or FBL, </a:t>
            </a:r>
            <a:r>
              <a:rPr lang="en-US" dirty="0"/>
              <a:t>chapters 17 &amp; 18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The Labor Market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748840" y="1417661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Supply and demand analysis can be used to find the price of labor (real wages) and the quantity (employment)</a:t>
            </a:r>
          </a:p>
          <a:p>
            <a:pPr eaLnBrk="1" hangingPunct="1"/>
            <a:r>
              <a:rPr lang="en-US" dirty="0"/>
              <a:t>Labor market is an input market</a:t>
            </a:r>
          </a:p>
          <a:p>
            <a:pPr lvl="1" eaLnBrk="1" hangingPunct="1"/>
            <a:r>
              <a:rPr lang="en-US" dirty="0"/>
              <a:t>Firms hire labor to produce goods and services</a:t>
            </a:r>
          </a:p>
          <a:p>
            <a:pPr lvl="1" eaLnBrk="1" hangingPunct="1"/>
            <a:r>
              <a:rPr lang="en-US" dirty="0"/>
              <a:t>Demand for </a:t>
            </a:r>
            <a:r>
              <a:rPr lang="en-US" dirty="0" err="1"/>
              <a:t>labour</a:t>
            </a:r>
            <a:r>
              <a:rPr lang="en-US" dirty="0"/>
              <a:t> is a derived demand</a:t>
            </a:r>
          </a:p>
          <a:p>
            <a:pPr eaLnBrk="1" hangingPunct="1"/>
            <a:r>
              <a:rPr lang="en-US" dirty="0"/>
              <a:t>Macroeconomics look at aggregate levels of employment and real wages</a:t>
            </a:r>
          </a:p>
          <a:p>
            <a:pPr lvl="1" eaLnBrk="1" hangingPunct="1"/>
            <a:r>
              <a:rPr lang="en-US" dirty="0"/>
              <a:t>Focus on the factors that causes unemployment and how to reduce unemployment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40392" y="181592"/>
            <a:ext cx="8076062" cy="1128594"/>
          </a:xfrm>
        </p:spPr>
        <p:txBody>
          <a:bodyPr/>
          <a:lstStyle/>
          <a:p>
            <a:pPr eaLnBrk="1" hangingPunct="1"/>
            <a:r>
              <a:rPr lang="en-US" dirty="0"/>
              <a:t>Wages and Demand for Labor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27692" y="1422400"/>
            <a:ext cx="8229600" cy="4525963"/>
          </a:xfrm>
        </p:spPr>
        <p:txBody>
          <a:bodyPr/>
          <a:lstStyle/>
          <a:p>
            <a:pPr eaLnBrk="1" hangingPunct="1"/>
            <a:r>
              <a:rPr lang="en-US"/>
              <a:t>The demand for labor depends upon:</a:t>
            </a:r>
          </a:p>
          <a:p>
            <a:pPr lvl="1" eaLnBrk="1" hangingPunct="1"/>
            <a:r>
              <a:rPr lang="en-US"/>
              <a:t>The productivity of workers</a:t>
            </a:r>
          </a:p>
          <a:p>
            <a:pPr lvl="2" eaLnBrk="1" hangingPunct="1"/>
            <a:r>
              <a:rPr lang="en-US"/>
              <a:t>Greater productivity increases employment</a:t>
            </a:r>
          </a:p>
          <a:p>
            <a:pPr lvl="1" eaLnBrk="1" hangingPunct="1"/>
            <a:r>
              <a:rPr lang="en-US"/>
              <a:t>The price of the worker’s output</a:t>
            </a:r>
          </a:p>
          <a:p>
            <a:pPr lvl="2" eaLnBrk="1" hangingPunct="1"/>
            <a:r>
              <a:rPr lang="en-US"/>
              <a:t>A higher real price increases employment</a:t>
            </a:r>
          </a:p>
          <a:p>
            <a:pPr eaLnBrk="1" hangingPunct="1"/>
            <a:r>
              <a:rPr lang="en-US" b="1"/>
              <a:t>Diminishing returns to labor </a:t>
            </a:r>
          </a:p>
          <a:p>
            <a:pPr lvl="1" eaLnBrk="1" hangingPunct="1"/>
            <a:r>
              <a:rPr lang="en-US"/>
              <a:t>Assumes non-labor inputs are held constant</a:t>
            </a:r>
          </a:p>
          <a:p>
            <a:pPr lvl="1" eaLnBrk="1" hangingPunct="1"/>
            <a:r>
              <a:rPr lang="en-US"/>
              <a:t>Adding one worker increases output but by less than the previous worker added</a:t>
            </a:r>
          </a:p>
          <a:p>
            <a:pPr eaLnBrk="1" hangingPunct="1"/>
            <a:r>
              <a:rPr lang="en-US" b="1"/>
              <a:t>Value of Marginal Product</a:t>
            </a:r>
            <a:r>
              <a:rPr lang="en-US"/>
              <a:t> (VMP) is extra revenue that an added worker generates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sp>
        <p:nvSpPr>
          <p:cNvPr id="2252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13096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Banana Computers (BCC)</a:t>
            </a:r>
          </a:p>
        </p:txBody>
      </p:sp>
      <p:graphicFrame>
        <p:nvGraphicFramePr>
          <p:cNvPr id="49234" name="Group 82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186395140"/>
              </p:ext>
            </p:extLst>
          </p:nvPr>
        </p:nvGraphicFramePr>
        <p:xfrm>
          <a:off x="713096" y="2108200"/>
          <a:ext cx="3729038" cy="4092258"/>
        </p:xfrm>
        <a:graphic>
          <a:graphicData uri="http://schemas.openxmlformats.org/drawingml/2006/table">
            <a:tbl>
              <a:tblPr/>
              <a:tblGrid>
                <a:gridCol w="1754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2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Number of Workers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Computers per Year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25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48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69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88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105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120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133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144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561" name="TextBox 12"/>
          <p:cNvSpPr txBox="1">
            <a:spLocks noChangeArrowheads="1"/>
          </p:cNvSpPr>
          <p:nvPr/>
        </p:nvSpPr>
        <p:spPr bwMode="auto">
          <a:xfrm>
            <a:off x="865496" y="1579563"/>
            <a:ext cx="8101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buClr>
                <a:schemeClr val="tx1"/>
              </a:buClr>
              <a:buFontTx/>
              <a:buChar char="•"/>
            </a:pPr>
            <a:r>
              <a:rPr lang="en-US" sz="2400"/>
              <a:t>BCC can sell all its computers for $3,000 each</a:t>
            </a:r>
          </a:p>
        </p:txBody>
      </p:sp>
      <p:graphicFrame>
        <p:nvGraphicFramePr>
          <p:cNvPr id="49240" name="Group 88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192645872"/>
              </p:ext>
            </p:extLst>
          </p:nvPr>
        </p:nvGraphicFramePr>
        <p:xfrm>
          <a:off x="6623359" y="2109788"/>
          <a:ext cx="2343150" cy="4086543"/>
        </p:xfrm>
        <a:graphic>
          <a:graphicData uri="http://schemas.openxmlformats.org/drawingml/2006/table">
            <a:tbl>
              <a:tblPr/>
              <a:tblGrid>
                <a:gridCol w="234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12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Value of Marginal Product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71600" algn="r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$75,000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71600" algn="r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69,000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71600" algn="r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63,000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71600" algn="r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57,000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71600" algn="r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51,000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71600" algn="r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45,000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71600" algn="r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39,000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71600" algn="r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33,000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49235" name="Group 8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714264466"/>
              </p:ext>
            </p:extLst>
          </p:nvPr>
        </p:nvGraphicFramePr>
        <p:xfrm>
          <a:off x="4442134" y="2108200"/>
          <a:ext cx="2251075" cy="4092258"/>
        </p:xfrm>
        <a:graphic>
          <a:graphicData uri="http://schemas.openxmlformats.org/drawingml/2006/table">
            <a:tbl>
              <a:tblPr/>
              <a:tblGrid>
                <a:gridCol w="225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22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Marginal Product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/>
        </p:nvSpPr>
        <p:spPr bwMode="auto">
          <a:xfrm>
            <a:off x="4641280" y="1496286"/>
            <a:ext cx="4391891" cy="4807527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4724400" y="1573213"/>
            <a:ext cx="4225925" cy="4654550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Demand Curve for Labor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idx="4294967295"/>
          </p:nvPr>
        </p:nvSpPr>
        <p:spPr>
          <a:xfrm>
            <a:off x="684213" y="1616075"/>
            <a:ext cx="7924800" cy="4648200"/>
          </a:xfrm>
        </p:spPr>
        <p:txBody>
          <a:bodyPr/>
          <a:lstStyle/>
          <a:p>
            <a:pPr eaLnBrk="1" hangingPunct="1"/>
            <a:r>
              <a:rPr lang="en-US" sz="2500"/>
              <a:t>Hire an extra worker if </a:t>
            </a:r>
            <a:br>
              <a:rPr lang="en-US" sz="2500"/>
            </a:br>
            <a:r>
              <a:rPr lang="en-US" sz="2500"/>
              <a:t>and only if the VMP </a:t>
            </a:r>
            <a:br>
              <a:rPr lang="en-US" sz="2500"/>
            </a:br>
            <a:r>
              <a:rPr lang="en-US" sz="2500"/>
              <a:t>exceeds the wage paid</a:t>
            </a:r>
          </a:p>
          <a:p>
            <a:pPr eaLnBrk="1" hangingPunct="1"/>
            <a:r>
              <a:rPr lang="en-US" sz="2500"/>
              <a:t>If wage is $60,000, </a:t>
            </a:r>
            <a:br>
              <a:rPr lang="en-US" sz="2500"/>
            </a:br>
            <a:r>
              <a:rPr lang="en-US" sz="2500"/>
              <a:t>BCC will hire 3 </a:t>
            </a:r>
            <a:br>
              <a:rPr lang="en-US" sz="2500"/>
            </a:br>
            <a:r>
              <a:rPr lang="en-US" sz="2500"/>
              <a:t>workers</a:t>
            </a:r>
          </a:p>
          <a:p>
            <a:pPr lvl="1" eaLnBrk="1" hangingPunct="1"/>
            <a:r>
              <a:rPr lang="en-US"/>
              <a:t>At $50,000, BCC</a:t>
            </a:r>
            <a:br>
              <a:rPr lang="en-US"/>
            </a:br>
            <a:r>
              <a:rPr lang="en-US"/>
              <a:t>hires 5 workers</a:t>
            </a:r>
          </a:p>
          <a:p>
            <a:pPr eaLnBrk="1" hangingPunct="1"/>
            <a:r>
              <a:rPr lang="en-US" sz="2500"/>
              <a:t>The lower the wage, the </a:t>
            </a:r>
            <a:br>
              <a:rPr lang="en-US" sz="2500"/>
            </a:br>
            <a:r>
              <a:rPr lang="en-US" sz="2500"/>
              <a:t>more workers employed</a:t>
            </a:r>
          </a:p>
        </p:txBody>
      </p:sp>
      <p:sp>
        <p:nvSpPr>
          <p:cNvPr id="24583" name="Line 3"/>
          <p:cNvSpPr>
            <a:spLocks noChangeShapeType="1"/>
          </p:cNvSpPr>
          <p:nvPr/>
        </p:nvSpPr>
        <p:spPr bwMode="auto">
          <a:xfrm>
            <a:off x="5686425" y="1690688"/>
            <a:ext cx="0" cy="36798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4" name="Line 4"/>
          <p:cNvSpPr>
            <a:spLocks noChangeShapeType="1"/>
          </p:cNvSpPr>
          <p:nvPr/>
        </p:nvSpPr>
        <p:spPr bwMode="auto">
          <a:xfrm rot="-5400000">
            <a:off x="7131844" y="3912394"/>
            <a:ext cx="0" cy="28622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5" name="Text Box 5"/>
          <p:cNvSpPr txBox="1">
            <a:spLocks noChangeArrowheads="1"/>
          </p:cNvSpPr>
          <p:nvPr/>
        </p:nvSpPr>
        <p:spPr bwMode="auto">
          <a:xfrm>
            <a:off x="5680075" y="5637213"/>
            <a:ext cx="2873375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/>
              <a:t>Employment</a:t>
            </a:r>
          </a:p>
        </p:txBody>
      </p:sp>
      <p:sp>
        <p:nvSpPr>
          <p:cNvPr id="24586" name="Text Box 6"/>
          <p:cNvSpPr txBox="1">
            <a:spLocks noChangeArrowheads="1"/>
          </p:cNvSpPr>
          <p:nvPr/>
        </p:nvSpPr>
        <p:spPr bwMode="auto">
          <a:xfrm rot="-5400000">
            <a:off x="4070351" y="3333750"/>
            <a:ext cx="19177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Wage ($000s)</a:t>
            </a:r>
          </a:p>
        </p:txBody>
      </p:sp>
      <p:sp>
        <p:nvSpPr>
          <p:cNvPr id="24587" name="Text Box 9"/>
          <p:cNvSpPr txBox="1">
            <a:spLocks noChangeArrowheads="1"/>
          </p:cNvSpPr>
          <p:nvPr/>
        </p:nvSpPr>
        <p:spPr bwMode="auto">
          <a:xfrm>
            <a:off x="7754938" y="4545013"/>
            <a:ext cx="1060450" cy="83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/>
              <a:t>Labor </a:t>
            </a:r>
            <a:br>
              <a:rPr lang="en-US" sz="2000"/>
            </a:br>
            <a:r>
              <a:rPr lang="en-US" sz="2000"/>
              <a:t>Demand</a:t>
            </a:r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5076826" y="3141663"/>
            <a:ext cx="1111249" cy="2586623"/>
            <a:chOff x="4980079" y="3140894"/>
            <a:chExt cx="1111712" cy="2587811"/>
          </a:xfrm>
        </p:grpSpPr>
        <p:cxnSp>
          <p:nvCxnSpPr>
            <p:cNvPr id="24595" name="Straight Connector 19"/>
            <p:cNvCxnSpPr>
              <a:cxnSpLocks noChangeShapeType="1"/>
            </p:cNvCxnSpPr>
            <p:nvPr/>
          </p:nvCxnSpPr>
          <p:spPr bwMode="auto">
            <a:xfrm rot="10800000">
              <a:off x="5583105" y="3388492"/>
              <a:ext cx="267059" cy="187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24596" name="Text Box 5"/>
            <p:cNvSpPr txBox="1">
              <a:spLocks noChangeArrowheads="1"/>
            </p:cNvSpPr>
            <p:nvPr/>
          </p:nvSpPr>
          <p:spPr bwMode="auto">
            <a:xfrm>
              <a:off x="5659411" y="5359203"/>
              <a:ext cx="432380" cy="3695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 dirty="0"/>
                <a:t>3</a:t>
              </a:r>
            </a:p>
          </p:txBody>
        </p:sp>
        <p:sp>
          <p:nvSpPr>
            <p:cNvPr id="24597" name="Text Box 5"/>
            <p:cNvSpPr txBox="1">
              <a:spLocks noChangeArrowheads="1"/>
            </p:cNvSpPr>
            <p:nvPr/>
          </p:nvSpPr>
          <p:spPr bwMode="auto">
            <a:xfrm>
              <a:off x="4980079" y="3140894"/>
              <a:ext cx="609854" cy="3695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/>
              <a:r>
                <a:rPr lang="en-US" sz="1800" dirty="0"/>
                <a:t>60</a:t>
              </a:r>
            </a:p>
          </p:txBody>
        </p:sp>
        <p:cxnSp>
          <p:nvCxnSpPr>
            <p:cNvPr id="24598" name="Straight Connector 39"/>
            <p:cNvCxnSpPr>
              <a:cxnSpLocks noChangeShapeType="1"/>
            </p:cNvCxnSpPr>
            <p:nvPr/>
          </p:nvCxnSpPr>
          <p:spPr bwMode="auto">
            <a:xfrm rot="5400000">
              <a:off x="4875738" y="4369171"/>
              <a:ext cx="1993627" cy="145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</p:grp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5257798" y="3783014"/>
            <a:ext cx="1185865" cy="1945176"/>
            <a:chOff x="5160034" y="3782989"/>
            <a:chExt cx="1186092" cy="1945633"/>
          </a:xfrm>
        </p:grpSpPr>
        <p:sp>
          <p:nvSpPr>
            <p:cNvPr id="24591" name="Text Box 5"/>
            <p:cNvSpPr txBox="1">
              <a:spLocks noChangeArrowheads="1"/>
            </p:cNvSpPr>
            <p:nvPr/>
          </p:nvSpPr>
          <p:spPr bwMode="auto">
            <a:xfrm>
              <a:off x="5160034" y="3782989"/>
              <a:ext cx="504921" cy="3694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/>
              <a:r>
                <a:rPr lang="en-US" sz="1800" dirty="0"/>
                <a:t>50</a:t>
              </a:r>
            </a:p>
          </p:txBody>
        </p:sp>
        <p:sp>
          <p:nvSpPr>
            <p:cNvPr id="24592" name="Text Box 5"/>
            <p:cNvSpPr txBox="1">
              <a:spLocks noChangeArrowheads="1"/>
            </p:cNvSpPr>
            <p:nvPr/>
          </p:nvSpPr>
          <p:spPr bwMode="auto">
            <a:xfrm>
              <a:off x="5913746" y="5359203"/>
              <a:ext cx="432380" cy="3694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 dirty="0"/>
                <a:t>5</a:t>
              </a:r>
            </a:p>
          </p:txBody>
        </p:sp>
        <p:cxnSp>
          <p:nvCxnSpPr>
            <p:cNvPr id="24593" name="Straight Connector 27"/>
            <p:cNvCxnSpPr>
              <a:cxnSpLocks noChangeShapeType="1"/>
            </p:cNvCxnSpPr>
            <p:nvPr/>
          </p:nvCxnSpPr>
          <p:spPr bwMode="auto">
            <a:xfrm rot="10800000">
              <a:off x="5584236" y="3960434"/>
              <a:ext cx="521399" cy="187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cxnSp>
          <p:nvCxnSpPr>
            <p:cNvPr id="24594" name="Straight Connector 41"/>
            <p:cNvCxnSpPr>
              <a:cxnSpLocks noChangeShapeType="1"/>
            </p:cNvCxnSpPr>
            <p:nvPr/>
          </p:nvCxnSpPr>
          <p:spPr bwMode="auto">
            <a:xfrm rot="5400000">
              <a:off x="5419940" y="4655142"/>
              <a:ext cx="1389002" cy="145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</p:grpSp>
      <p:sp>
        <p:nvSpPr>
          <p:cNvPr id="176136" name="Freeform 8"/>
          <p:cNvSpPr>
            <a:spLocks/>
          </p:cNvSpPr>
          <p:nvPr/>
        </p:nvSpPr>
        <p:spPr bwMode="auto">
          <a:xfrm>
            <a:off x="5849938" y="2317750"/>
            <a:ext cx="1931987" cy="24177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7" y="504"/>
              </a:cxn>
              <a:cxn ang="0">
                <a:pos x="284" y="1073"/>
              </a:cxn>
              <a:cxn ang="0">
                <a:pos x="686" y="1428"/>
              </a:cxn>
              <a:cxn ang="0">
                <a:pos x="1278" y="1633"/>
              </a:cxn>
              <a:cxn ang="0">
                <a:pos x="1720" y="1672"/>
              </a:cxn>
            </a:cxnLst>
            <a:rect l="0" t="0" r="r" b="b"/>
            <a:pathLst>
              <a:path w="1720" h="1674">
                <a:moveTo>
                  <a:pt x="0" y="0"/>
                </a:moveTo>
                <a:cubicBezTo>
                  <a:pt x="8" y="84"/>
                  <a:pt x="0" y="325"/>
                  <a:pt x="47" y="504"/>
                </a:cubicBezTo>
                <a:cubicBezTo>
                  <a:pt x="94" y="683"/>
                  <a:pt x="177" y="919"/>
                  <a:pt x="284" y="1073"/>
                </a:cubicBezTo>
                <a:cubicBezTo>
                  <a:pt x="391" y="1227"/>
                  <a:pt x="520" y="1335"/>
                  <a:pt x="686" y="1428"/>
                </a:cubicBezTo>
                <a:cubicBezTo>
                  <a:pt x="852" y="1521"/>
                  <a:pt x="1106" y="1592"/>
                  <a:pt x="1278" y="1633"/>
                </a:cubicBezTo>
                <a:cubicBezTo>
                  <a:pt x="1450" y="1674"/>
                  <a:pt x="1628" y="1664"/>
                  <a:pt x="1720" y="1672"/>
                </a:cubicBezTo>
              </a:path>
            </a:pathLst>
          </a:cu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26744" y="304800"/>
            <a:ext cx="7884993" cy="1141863"/>
          </a:xfrm>
        </p:spPr>
        <p:txBody>
          <a:bodyPr/>
          <a:lstStyle/>
          <a:p>
            <a:pPr eaLnBrk="1" hangingPunct="1"/>
            <a:r>
              <a:rPr lang="en-US" dirty="0"/>
              <a:t>Shifting Demand for Labor</a:t>
            </a:r>
          </a:p>
        </p:txBody>
      </p:sp>
      <p:sp>
        <p:nvSpPr>
          <p:cNvPr id="1781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26744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Demand shifts when the value of the marginal product of a worker changes</a:t>
            </a:r>
          </a:p>
          <a:p>
            <a:pPr eaLnBrk="1" hangingPunct="1"/>
            <a:r>
              <a:rPr lang="en-US" dirty="0"/>
              <a:t>Two factors determine the demand (</a:t>
            </a:r>
            <a:r>
              <a:rPr lang="en-US" i="1" dirty="0"/>
              <a:t>VMP</a:t>
            </a:r>
            <a:r>
              <a:rPr lang="en-US" dirty="0"/>
              <a:t>) for labor</a:t>
            </a:r>
          </a:p>
          <a:p>
            <a:pPr lvl="1" eaLnBrk="1" hangingPunct="1"/>
            <a:r>
              <a:rPr lang="en-US" dirty="0"/>
              <a:t>The price of the company’s output</a:t>
            </a:r>
          </a:p>
          <a:p>
            <a:pPr lvl="2" eaLnBrk="1" hangingPunct="1"/>
            <a:r>
              <a:rPr lang="en-US" dirty="0"/>
              <a:t>An increase in market demand</a:t>
            </a:r>
          </a:p>
          <a:p>
            <a:pPr lvl="1" eaLnBrk="1" hangingPunct="1"/>
            <a:r>
              <a:rPr lang="en-US" dirty="0"/>
              <a:t>The productivity of the workers</a:t>
            </a:r>
          </a:p>
          <a:p>
            <a:pPr lvl="2" eaLnBrk="1" hangingPunct="1"/>
            <a:r>
              <a:rPr lang="en-US" dirty="0"/>
              <a:t>Greater quantity of non-labor inputs</a:t>
            </a:r>
          </a:p>
          <a:p>
            <a:pPr lvl="2" eaLnBrk="1" hangingPunct="1"/>
            <a:r>
              <a:rPr lang="en-US" dirty="0"/>
              <a:t>Organizational change</a:t>
            </a:r>
          </a:p>
          <a:p>
            <a:pPr lvl="2" eaLnBrk="1" hangingPunct="1"/>
            <a:r>
              <a:rPr lang="en-US" dirty="0"/>
              <a:t>Training and education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/>
          <p:cNvSpPr/>
          <p:nvPr/>
        </p:nvSpPr>
        <p:spPr bwMode="auto">
          <a:xfrm>
            <a:off x="4434329" y="2175149"/>
            <a:ext cx="4553769" cy="410094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4518025" y="2251075"/>
            <a:ext cx="4395788" cy="3948113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4800"/>
              <a:t>Price of Output Increases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idx="4294967295"/>
          </p:nvPr>
        </p:nvSpPr>
        <p:spPr>
          <a:xfrm>
            <a:off x="715609" y="1522413"/>
            <a:ext cx="8229600" cy="5002212"/>
          </a:xfrm>
        </p:spPr>
        <p:txBody>
          <a:bodyPr/>
          <a:lstStyle/>
          <a:p>
            <a:pPr eaLnBrk="1" hangingPunct="1"/>
            <a:r>
              <a:rPr lang="en-US" sz="2500" dirty="0"/>
              <a:t>If the price of computers increases, demand for labor shifts to the right</a:t>
            </a:r>
          </a:p>
          <a:p>
            <a:pPr lvl="1" eaLnBrk="1" hangingPunct="1"/>
            <a:r>
              <a:rPr lang="en-US" sz="2300" dirty="0"/>
              <a:t>There is a separate </a:t>
            </a:r>
            <a:br>
              <a:rPr lang="en-US" sz="2300" dirty="0"/>
            </a:br>
            <a:r>
              <a:rPr lang="en-US" sz="2300" dirty="0"/>
              <a:t>demand for labor </a:t>
            </a:r>
            <a:br>
              <a:rPr lang="en-US" sz="2300" dirty="0"/>
            </a:br>
            <a:r>
              <a:rPr lang="en-US" sz="2300" dirty="0"/>
              <a:t>curve for each </a:t>
            </a:r>
            <a:br>
              <a:rPr lang="en-US" sz="2300" dirty="0"/>
            </a:br>
            <a:r>
              <a:rPr lang="en-US" sz="2300" dirty="0"/>
              <a:t>possible output price</a:t>
            </a:r>
          </a:p>
          <a:p>
            <a:pPr eaLnBrk="1" hangingPunct="1"/>
            <a:r>
              <a:rPr lang="en-US" sz="2500" dirty="0"/>
              <a:t>An increase in the </a:t>
            </a:r>
            <a:br>
              <a:rPr lang="en-US" sz="2500" dirty="0"/>
            </a:br>
            <a:r>
              <a:rPr lang="en-US" sz="2500" dirty="0"/>
              <a:t>price of workers' output</a:t>
            </a:r>
            <a:br>
              <a:rPr lang="en-US" sz="2500" dirty="0"/>
            </a:br>
            <a:r>
              <a:rPr lang="en-US" sz="2500" dirty="0"/>
              <a:t>increases the demand </a:t>
            </a:r>
            <a:br>
              <a:rPr lang="en-US" sz="2500" dirty="0"/>
            </a:br>
            <a:r>
              <a:rPr lang="en-US" sz="2500" dirty="0"/>
              <a:t>for labor</a:t>
            </a:r>
          </a:p>
        </p:txBody>
      </p:sp>
      <p:grpSp>
        <p:nvGrpSpPr>
          <p:cNvPr id="2" name="Group 63"/>
          <p:cNvGrpSpPr>
            <a:grpSpLocks/>
          </p:cNvGrpSpPr>
          <p:nvPr/>
        </p:nvGrpSpPr>
        <p:grpSpPr bwMode="auto">
          <a:xfrm>
            <a:off x="4554538" y="2371725"/>
            <a:ext cx="4398962" cy="3708400"/>
            <a:chOff x="4379784" y="2772828"/>
            <a:chExt cx="4494391" cy="3707600"/>
          </a:xfrm>
        </p:grpSpPr>
        <p:sp>
          <p:nvSpPr>
            <p:cNvPr id="28680" name="Line 3"/>
            <p:cNvSpPr>
              <a:spLocks noChangeShapeType="1"/>
            </p:cNvSpPr>
            <p:nvPr/>
          </p:nvSpPr>
          <p:spPr bwMode="auto">
            <a:xfrm>
              <a:off x="5075771" y="2772828"/>
              <a:ext cx="0" cy="30981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81" name="Line 4"/>
            <p:cNvSpPr>
              <a:spLocks noChangeShapeType="1"/>
            </p:cNvSpPr>
            <p:nvPr/>
          </p:nvSpPr>
          <p:spPr bwMode="auto">
            <a:xfrm rot="16200000" flipH="1">
              <a:off x="6878863" y="4070842"/>
              <a:ext cx="45719" cy="362557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82" name="Text Box 5"/>
            <p:cNvSpPr txBox="1">
              <a:spLocks noChangeArrowheads="1"/>
            </p:cNvSpPr>
            <p:nvPr/>
          </p:nvSpPr>
          <p:spPr bwMode="auto">
            <a:xfrm>
              <a:off x="5595578" y="6111096"/>
              <a:ext cx="146706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/>
                <a:t>Employment</a:t>
              </a:r>
            </a:p>
          </p:txBody>
        </p:sp>
        <p:sp>
          <p:nvSpPr>
            <p:cNvPr id="28683" name="Text Box 6"/>
            <p:cNvSpPr txBox="1">
              <a:spLocks noChangeArrowheads="1"/>
            </p:cNvSpPr>
            <p:nvPr/>
          </p:nvSpPr>
          <p:spPr bwMode="auto">
            <a:xfrm rot="16200000">
              <a:off x="3482551" y="4112906"/>
              <a:ext cx="216379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dirty="0"/>
                <a:t>Real Wage ($000s)</a:t>
              </a:r>
            </a:p>
          </p:txBody>
        </p:sp>
        <p:sp>
          <p:nvSpPr>
            <p:cNvPr id="187401" name="Text Box 9"/>
            <p:cNvSpPr txBox="1">
              <a:spLocks noChangeArrowheads="1"/>
            </p:cNvSpPr>
            <p:nvPr/>
          </p:nvSpPr>
          <p:spPr bwMode="auto">
            <a:xfrm>
              <a:off x="7046258" y="5175456"/>
              <a:ext cx="1540806" cy="584775"/>
            </a:xfrm>
            <a:prstGeom prst="rect">
              <a:avLst/>
            </a:prstGeom>
            <a:noFill/>
            <a:ln>
              <a:noFill/>
              <a:headEnd/>
              <a:tailEnd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1"/>
                  </a:solidFill>
                </a:rPr>
                <a:t>Labor Demand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1"/>
                  </a:solidFill>
                </a:rPr>
                <a:t>(P = $3,000)</a:t>
              </a:r>
            </a:p>
          </p:txBody>
        </p:sp>
        <p:sp>
          <p:nvSpPr>
            <p:cNvPr id="28687" name="Text Box 5"/>
            <p:cNvSpPr txBox="1">
              <a:spLocks noChangeArrowheads="1"/>
            </p:cNvSpPr>
            <p:nvPr/>
          </p:nvSpPr>
          <p:spPr bwMode="auto">
            <a:xfrm>
              <a:off x="4700804" y="3631132"/>
              <a:ext cx="450716" cy="369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800" dirty="0"/>
                <a:t>60</a:t>
              </a:r>
            </a:p>
          </p:txBody>
        </p:sp>
        <p:sp>
          <p:nvSpPr>
            <p:cNvPr id="28688" name="Text Box 5"/>
            <p:cNvSpPr txBox="1">
              <a:spLocks noChangeArrowheads="1"/>
            </p:cNvSpPr>
            <p:nvPr/>
          </p:nvSpPr>
          <p:spPr bwMode="auto">
            <a:xfrm>
              <a:off x="4994391" y="5816403"/>
              <a:ext cx="432380" cy="369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 dirty="0"/>
                <a:t>3</a:t>
              </a:r>
            </a:p>
          </p:txBody>
        </p:sp>
        <p:cxnSp>
          <p:nvCxnSpPr>
            <p:cNvPr id="28689" name="Straight Connector 35"/>
            <p:cNvCxnSpPr>
              <a:cxnSpLocks noChangeShapeType="1"/>
            </p:cNvCxnSpPr>
            <p:nvPr/>
          </p:nvCxnSpPr>
          <p:spPr bwMode="auto">
            <a:xfrm rot="5400000">
              <a:off x="4266140" y="4854081"/>
              <a:ext cx="1993627" cy="145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28690" name="Text Box 5"/>
            <p:cNvSpPr txBox="1">
              <a:spLocks noChangeArrowheads="1"/>
            </p:cNvSpPr>
            <p:nvPr/>
          </p:nvSpPr>
          <p:spPr bwMode="auto">
            <a:xfrm>
              <a:off x="4665558" y="4299651"/>
              <a:ext cx="485962" cy="369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sz="1800" dirty="0"/>
                <a:t>50</a:t>
              </a:r>
            </a:p>
          </p:txBody>
        </p:sp>
        <p:sp>
          <p:nvSpPr>
            <p:cNvPr id="28691" name="Text Box 5"/>
            <p:cNvSpPr txBox="1">
              <a:spLocks noChangeArrowheads="1"/>
            </p:cNvSpPr>
            <p:nvPr/>
          </p:nvSpPr>
          <p:spPr bwMode="auto">
            <a:xfrm>
              <a:off x="5317980" y="5816403"/>
              <a:ext cx="432380" cy="369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 dirty="0"/>
                <a:t>5</a:t>
              </a:r>
            </a:p>
          </p:txBody>
        </p:sp>
        <p:cxnSp>
          <p:nvCxnSpPr>
            <p:cNvPr id="28692" name="Straight Connector 40"/>
            <p:cNvCxnSpPr>
              <a:cxnSpLocks noChangeShapeType="1"/>
            </p:cNvCxnSpPr>
            <p:nvPr/>
          </p:nvCxnSpPr>
          <p:spPr bwMode="auto">
            <a:xfrm rot="5400000">
              <a:off x="4768759" y="5167777"/>
              <a:ext cx="1389002" cy="145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cxnSp>
          <p:nvCxnSpPr>
            <p:cNvPr id="28693" name="Straight Connector 44"/>
            <p:cNvCxnSpPr>
              <a:cxnSpLocks noChangeShapeType="1"/>
            </p:cNvCxnSpPr>
            <p:nvPr/>
          </p:nvCxnSpPr>
          <p:spPr bwMode="auto">
            <a:xfrm rot="10800000">
              <a:off x="5056909" y="3837709"/>
              <a:ext cx="193964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cxnSp>
          <p:nvCxnSpPr>
            <p:cNvPr id="28694" name="Straight Connector 49"/>
            <p:cNvCxnSpPr>
              <a:cxnSpLocks noChangeShapeType="1"/>
            </p:cNvCxnSpPr>
            <p:nvPr/>
          </p:nvCxnSpPr>
          <p:spPr bwMode="auto">
            <a:xfrm>
              <a:off x="5070764" y="4487863"/>
              <a:ext cx="401781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grpSp>
          <p:nvGrpSpPr>
            <p:cNvPr id="3" name="Group 59"/>
            <p:cNvGrpSpPr>
              <a:grpSpLocks/>
            </p:cNvGrpSpPr>
            <p:nvPr/>
          </p:nvGrpSpPr>
          <p:grpSpPr bwMode="auto">
            <a:xfrm>
              <a:off x="5264727" y="3837709"/>
              <a:ext cx="787522" cy="2348026"/>
              <a:chOff x="5264727" y="3837709"/>
              <a:chExt cx="787522" cy="2348026"/>
            </a:xfrm>
          </p:grpSpPr>
          <p:cxnSp>
            <p:nvCxnSpPr>
              <p:cNvPr id="28707" name="Straight Connector 47"/>
              <p:cNvCxnSpPr>
                <a:cxnSpLocks noChangeShapeType="1"/>
              </p:cNvCxnSpPr>
              <p:nvPr/>
            </p:nvCxnSpPr>
            <p:spPr bwMode="auto">
              <a:xfrm>
                <a:off x="5264727" y="3837709"/>
                <a:ext cx="540328" cy="1588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</p:cxnSp>
          <p:cxnSp>
            <p:nvCxnSpPr>
              <p:cNvPr id="28708" name="Straight Connector 53"/>
              <p:cNvCxnSpPr>
                <a:cxnSpLocks noChangeShapeType="1"/>
              </p:cNvCxnSpPr>
              <p:nvPr/>
            </p:nvCxnSpPr>
            <p:spPr bwMode="auto">
              <a:xfrm rot="5400000">
                <a:off x="4799879" y="4856018"/>
                <a:ext cx="2036618" cy="1588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</p:cxnSp>
          <p:sp>
            <p:nvSpPr>
              <p:cNvPr id="28709" name="Text Box 5"/>
              <p:cNvSpPr txBox="1">
                <a:spLocks noChangeArrowheads="1"/>
              </p:cNvSpPr>
              <p:nvPr/>
            </p:nvSpPr>
            <p:spPr bwMode="auto">
              <a:xfrm>
                <a:off x="5619869" y="5816403"/>
                <a:ext cx="43238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800" dirty="0"/>
                  <a:t>7</a:t>
                </a:r>
              </a:p>
            </p:txBody>
          </p:sp>
        </p:grpSp>
        <p:grpSp>
          <p:nvGrpSpPr>
            <p:cNvPr id="4" name="Group 60"/>
            <p:cNvGrpSpPr>
              <a:grpSpLocks/>
            </p:cNvGrpSpPr>
            <p:nvPr/>
          </p:nvGrpSpPr>
          <p:grpSpPr bwMode="auto">
            <a:xfrm>
              <a:off x="5472545" y="4487863"/>
              <a:ext cx="1055698" cy="1697872"/>
              <a:chOff x="5472545" y="4487863"/>
              <a:chExt cx="1055698" cy="1697872"/>
            </a:xfrm>
          </p:grpSpPr>
          <p:cxnSp>
            <p:nvCxnSpPr>
              <p:cNvPr id="28704" name="Straight Connector 51"/>
              <p:cNvCxnSpPr>
                <a:cxnSpLocks noChangeShapeType="1"/>
              </p:cNvCxnSpPr>
              <p:nvPr/>
            </p:nvCxnSpPr>
            <p:spPr bwMode="auto">
              <a:xfrm>
                <a:off x="5472545" y="4487863"/>
                <a:ext cx="872837" cy="1588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</p:cxnSp>
          <p:cxnSp>
            <p:nvCxnSpPr>
              <p:cNvPr id="28705" name="Straight Connector 55"/>
              <p:cNvCxnSpPr>
                <a:cxnSpLocks noChangeShapeType="1"/>
              </p:cNvCxnSpPr>
              <p:nvPr/>
            </p:nvCxnSpPr>
            <p:spPr bwMode="auto">
              <a:xfrm rot="5400000">
                <a:off x="5595794" y="5195454"/>
                <a:ext cx="1413163" cy="1588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</p:cxnSp>
          <p:sp>
            <p:nvSpPr>
              <p:cNvPr id="28706" name="Text Box 5"/>
              <p:cNvSpPr txBox="1">
                <a:spLocks noChangeArrowheads="1"/>
              </p:cNvSpPr>
              <p:nvPr/>
            </p:nvSpPr>
            <p:spPr bwMode="auto">
              <a:xfrm>
                <a:off x="6095863" y="5816403"/>
                <a:ext cx="43238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800" dirty="0"/>
                  <a:t>8</a:t>
                </a:r>
              </a:p>
            </p:txBody>
          </p:sp>
        </p:grpSp>
        <p:sp>
          <p:nvSpPr>
            <p:cNvPr id="28697" name="Freeform 8"/>
            <p:cNvSpPr>
              <a:spLocks/>
            </p:cNvSpPr>
            <p:nvPr/>
          </p:nvSpPr>
          <p:spPr bwMode="auto">
            <a:xfrm>
              <a:off x="5224773" y="3300531"/>
              <a:ext cx="1886940" cy="2035424"/>
            </a:xfrm>
            <a:custGeom>
              <a:avLst/>
              <a:gdLst>
                <a:gd name="T0" fmla="*/ 0 w 1720"/>
                <a:gd name="T1" fmla="*/ 0 h 1674"/>
                <a:gd name="T2" fmla="*/ 2147483647 w 1720"/>
                <a:gd name="T3" fmla="*/ 2147483647 h 1674"/>
                <a:gd name="T4" fmla="*/ 2147483647 w 1720"/>
                <a:gd name="T5" fmla="*/ 2147483647 h 1674"/>
                <a:gd name="T6" fmla="*/ 2147483647 w 1720"/>
                <a:gd name="T7" fmla="*/ 2147483647 h 1674"/>
                <a:gd name="T8" fmla="*/ 2147483647 w 1720"/>
                <a:gd name="T9" fmla="*/ 2147483647 h 1674"/>
                <a:gd name="T10" fmla="*/ 2147483647 w 1720"/>
                <a:gd name="T11" fmla="*/ 2147483647 h 16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20"/>
                <a:gd name="T19" fmla="*/ 0 h 1674"/>
                <a:gd name="T20" fmla="*/ 1720 w 1720"/>
                <a:gd name="T21" fmla="*/ 1674 h 167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20" h="1674">
                  <a:moveTo>
                    <a:pt x="0" y="0"/>
                  </a:moveTo>
                  <a:cubicBezTo>
                    <a:pt x="8" y="84"/>
                    <a:pt x="0" y="325"/>
                    <a:pt x="47" y="504"/>
                  </a:cubicBezTo>
                  <a:cubicBezTo>
                    <a:pt x="94" y="683"/>
                    <a:pt x="177" y="919"/>
                    <a:pt x="284" y="1073"/>
                  </a:cubicBezTo>
                  <a:cubicBezTo>
                    <a:pt x="391" y="1227"/>
                    <a:pt x="520" y="1335"/>
                    <a:pt x="686" y="1428"/>
                  </a:cubicBezTo>
                  <a:cubicBezTo>
                    <a:pt x="852" y="1521"/>
                    <a:pt x="1106" y="1592"/>
                    <a:pt x="1278" y="1633"/>
                  </a:cubicBezTo>
                  <a:cubicBezTo>
                    <a:pt x="1450" y="1674"/>
                    <a:pt x="1628" y="1664"/>
                    <a:pt x="1720" y="1672"/>
                  </a:cubicBezTo>
                </a:path>
              </a:pathLst>
            </a:custGeom>
            <a:noFill/>
            <a:ln w="57150">
              <a:solidFill>
                <a:srgbClr val="00B0F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roup 58"/>
            <p:cNvGrpSpPr>
              <a:grpSpLocks/>
            </p:cNvGrpSpPr>
            <p:nvPr/>
          </p:nvGrpSpPr>
          <p:grpSpPr bwMode="auto">
            <a:xfrm>
              <a:off x="5640558" y="2792284"/>
              <a:ext cx="3233617" cy="2361606"/>
              <a:chOff x="5640558" y="2792284"/>
              <a:chExt cx="3233617" cy="2361606"/>
            </a:xfrm>
          </p:grpSpPr>
          <p:sp>
            <p:nvSpPr>
              <p:cNvPr id="28699" name="Text Box 13"/>
              <p:cNvSpPr txBox="1">
                <a:spLocks noChangeArrowheads="1"/>
              </p:cNvSpPr>
              <p:nvPr/>
            </p:nvSpPr>
            <p:spPr bwMode="auto">
              <a:xfrm>
                <a:off x="7479636" y="4291906"/>
                <a:ext cx="1394539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600" dirty="0"/>
                  <a:t>Labor </a:t>
                </a:r>
                <a:br>
                  <a:rPr lang="en-US" sz="1600" dirty="0"/>
                </a:br>
                <a:r>
                  <a:rPr lang="en-US" sz="1600" dirty="0"/>
                  <a:t>Demand</a:t>
                </a:r>
              </a:p>
              <a:p>
                <a:r>
                  <a:rPr lang="en-US" sz="1600" dirty="0"/>
                  <a:t>(P = $5,000)</a:t>
                </a:r>
              </a:p>
            </p:txBody>
          </p:sp>
          <p:sp>
            <p:nvSpPr>
              <p:cNvPr id="28700" name="Freeform 12"/>
              <p:cNvSpPr>
                <a:spLocks/>
              </p:cNvSpPr>
              <p:nvPr/>
            </p:nvSpPr>
            <p:spPr bwMode="auto">
              <a:xfrm>
                <a:off x="5640558" y="2792284"/>
                <a:ext cx="1886940" cy="2035423"/>
              </a:xfrm>
              <a:custGeom>
                <a:avLst/>
                <a:gdLst>
                  <a:gd name="T0" fmla="*/ 0 w 1720"/>
                  <a:gd name="T1" fmla="*/ 0 h 1674"/>
                  <a:gd name="T2" fmla="*/ 2147483647 w 1720"/>
                  <a:gd name="T3" fmla="*/ 2147483647 h 1674"/>
                  <a:gd name="T4" fmla="*/ 2147483647 w 1720"/>
                  <a:gd name="T5" fmla="*/ 2147483647 h 1674"/>
                  <a:gd name="T6" fmla="*/ 2147483647 w 1720"/>
                  <a:gd name="T7" fmla="*/ 2147483647 h 1674"/>
                  <a:gd name="T8" fmla="*/ 2147483647 w 1720"/>
                  <a:gd name="T9" fmla="*/ 2147483647 h 1674"/>
                  <a:gd name="T10" fmla="*/ 2147483647 w 1720"/>
                  <a:gd name="T11" fmla="*/ 2147483647 h 167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720"/>
                  <a:gd name="T19" fmla="*/ 0 h 1674"/>
                  <a:gd name="T20" fmla="*/ 1720 w 1720"/>
                  <a:gd name="T21" fmla="*/ 1674 h 167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720" h="1674">
                    <a:moveTo>
                      <a:pt x="0" y="0"/>
                    </a:moveTo>
                    <a:cubicBezTo>
                      <a:pt x="8" y="84"/>
                      <a:pt x="0" y="325"/>
                      <a:pt x="47" y="504"/>
                    </a:cubicBezTo>
                    <a:cubicBezTo>
                      <a:pt x="94" y="683"/>
                      <a:pt x="177" y="919"/>
                      <a:pt x="284" y="1073"/>
                    </a:cubicBezTo>
                    <a:cubicBezTo>
                      <a:pt x="391" y="1227"/>
                      <a:pt x="520" y="1335"/>
                      <a:pt x="686" y="1428"/>
                    </a:cubicBezTo>
                    <a:cubicBezTo>
                      <a:pt x="852" y="1521"/>
                      <a:pt x="1106" y="1592"/>
                      <a:pt x="1278" y="1633"/>
                    </a:cubicBezTo>
                    <a:cubicBezTo>
                      <a:pt x="1450" y="1674"/>
                      <a:pt x="1628" y="1664"/>
                      <a:pt x="1720" y="1672"/>
                    </a:cubicBezTo>
                  </a:path>
                </a:pathLst>
              </a:custGeom>
              <a:noFill/>
              <a:ln w="57150">
                <a:solidFill>
                  <a:srgbClr val="00B0F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406" name="AutoShape 14"/>
              <p:cNvSpPr>
                <a:spLocks noChangeArrowheads="1"/>
              </p:cNvSpPr>
              <p:nvPr/>
            </p:nvSpPr>
            <p:spPr bwMode="auto">
              <a:xfrm>
                <a:off x="6248400" y="4861481"/>
                <a:ext cx="779141" cy="292409"/>
              </a:xfrm>
              <a:prstGeom prst="rightArrow">
                <a:avLst>
                  <a:gd name="adj1" fmla="val 43463"/>
                  <a:gd name="adj2" fmla="val 51899"/>
                </a:avLst>
              </a:prstGeom>
              <a:ln>
                <a:headEnd/>
                <a:tailEnd/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</p:grpSp>
      </p:grpSp>
      <p:pic>
        <p:nvPicPr>
          <p:cNvPr id="33" name="Picture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 bwMode="auto">
          <a:xfrm>
            <a:off x="954125" y="1801080"/>
            <a:ext cx="6750627" cy="43434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1025525" y="1887538"/>
            <a:ext cx="7499350" cy="4170362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Higher Productivity</a:t>
            </a:r>
          </a:p>
        </p:txBody>
      </p:sp>
      <p:sp>
        <p:nvSpPr>
          <p:cNvPr id="182282" name="Text Box 10"/>
          <p:cNvSpPr txBox="1">
            <a:spLocks noChangeArrowheads="1"/>
          </p:cNvSpPr>
          <p:nvPr/>
        </p:nvSpPr>
        <p:spPr bwMode="auto">
          <a:xfrm>
            <a:off x="4485697" y="1387033"/>
            <a:ext cx="4325793" cy="1938992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marL="234950" indent="-234950" fontAlgn="auto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itchFamily="2" charset="2"/>
              <a:buChar char="§"/>
              <a:defRPr/>
            </a:pPr>
            <a:r>
              <a:rPr lang="en-US" sz="2400" b="1" dirty="0">
                <a:solidFill>
                  <a:schemeClr val="bg1"/>
                </a:solidFill>
              </a:rPr>
              <a:t>Increases in productivity increase VMP</a:t>
            </a:r>
          </a:p>
          <a:p>
            <a:pPr marL="234950" indent="-234950" fontAlgn="auto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itchFamily="2" charset="2"/>
              <a:buChar char="§"/>
              <a:defRPr/>
            </a:pPr>
            <a:r>
              <a:rPr lang="en-US" sz="2400" b="1" dirty="0">
                <a:solidFill>
                  <a:schemeClr val="bg1"/>
                </a:solidFill>
              </a:rPr>
              <a:t>Demand curve shifts right</a:t>
            </a:r>
          </a:p>
          <a:p>
            <a:pPr marL="234950" indent="-234950" fontAlgn="auto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itchFamily="2" charset="2"/>
              <a:buChar char="§"/>
              <a:defRPr/>
            </a:pPr>
            <a:r>
              <a:rPr lang="en-US" sz="2400" b="1" dirty="0">
                <a:solidFill>
                  <a:schemeClr val="bg1"/>
                </a:solidFill>
              </a:rPr>
              <a:t>Employers hire more workers at any given wage</a:t>
            </a:r>
          </a:p>
        </p:txBody>
      </p:sp>
      <p:sp>
        <p:nvSpPr>
          <p:cNvPr id="30729" name="Line 3"/>
          <p:cNvSpPr>
            <a:spLocks noChangeShapeType="1"/>
          </p:cNvSpPr>
          <p:nvPr/>
        </p:nvSpPr>
        <p:spPr bwMode="auto">
          <a:xfrm>
            <a:off x="1663700" y="2055813"/>
            <a:ext cx="0" cy="35385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30" name="Line 4"/>
          <p:cNvSpPr>
            <a:spLocks noChangeShapeType="1"/>
          </p:cNvSpPr>
          <p:nvPr/>
        </p:nvSpPr>
        <p:spPr bwMode="auto">
          <a:xfrm rot="-5400000">
            <a:off x="3425825" y="3822700"/>
            <a:ext cx="0" cy="3492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31" name="Text Box 5"/>
          <p:cNvSpPr txBox="1">
            <a:spLocks noChangeArrowheads="1"/>
          </p:cNvSpPr>
          <p:nvPr/>
        </p:nvSpPr>
        <p:spPr bwMode="auto">
          <a:xfrm>
            <a:off x="2538413" y="5568950"/>
            <a:ext cx="1343025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Employment</a:t>
            </a:r>
          </a:p>
        </p:txBody>
      </p:sp>
      <p:sp>
        <p:nvSpPr>
          <p:cNvPr id="30732" name="Text Box 6"/>
          <p:cNvSpPr txBox="1">
            <a:spLocks noChangeArrowheads="1"/>
          </p:cNvSpPr>
          <p:nvPr/>
        </p:nvSpPr>
        <p:spPr bwMode="auto">
          <a:xfrm rot="-5400000">
            <a:off x="711994" y="3612357"/>
            <a:ext cx="13176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Real Wage</a:t>
            </a:r>
          </a:p>
        </p:txBody>
      </p:sp>
      <p:sp>
        <p:nvSpPr>
          <p:cNvPr id="182280" name="Freeform 8"/>
          <p:cNvSpPr>
            <a:spLocks/>
          </p:cNvSpPr>
          <p:nvPr/>
        </p:nvSpPr>
        <p:spPr bwMode="auto">
          <a:xfrm>
            <a:off x="2074863" y="2659063"/>
            <a:ext cx="2357437" cy="2324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7" y="504"/>
              </a:cxn>
              <a:cxn ang="0">
                <a:pos x="284" y="1073"/>
              </a:cxn>
              <a:cxn ang="0">
                <a:pos x="686" y="1428"/>
              </a:cxn>
              <a:cxn ang="0">
                <a:pos x="1278" y="1633"/>
              </a:cxn>
              <a:cxn ang="0">
                <a:pos x="1720" y="1672"/>
              </a:cxn>
            </a:cxnLst>
            <a:rect l="0" t="0" r="r" b="b"/>
            <a:pathLst>
              <a:path w="1720" h="1674">
                <a:moveTo>
                  <a:pt x="0" y="0"/>
                </a:moveTo>
                <a:cubicBezTo>
                  <a:pt x="8" y="84"/>
                  <a:pt x="0" y="325"/>
                  <a:pt x="47" y="504"/>
                </a:cubicBezTo>
                <a:cubicBezTo>
                  <a:pt x="94" y="683"/>
                  <a:pt x="177" y="919"/>
                  <a:pt x="284" y="1073"/>
                </a:cubicBezTo>
                <a:cubicBezTo>
                  <a:pt x="391" y="1227"/>
                  <a:pt x="520" y="1335"/>
                  <a:pt x="686" y="1428"/>
                </a:cubicBezTo>
                <a:cubicBezTo>
                  <a:pt x="852" y="1521"/>
                  <a:pt x="1106" y="1592"/>
                  <a:pt x="1278" y="1633"/>
                </a:cubicBezTo>
                <a:cubicBezTo>
                  <a:pt x="1450" y="1674"/>
                  <a:pt x="1628" y="1664"/>
                  <a:pt x="1720" y="1672"/>
                </a:cubicBezTo>
              </a:path>
            </a:pathLst>
          </a:cu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0734" name="Text Box 9"/>
          <p:cNvSpPr txBox="1">
            <a:spLocks noChangeArrowheads="1"/>
          </p:cNvSpPr>
          <p:nvPr/>
        </p:nvSpPr>
        <p:spPr bwMode="auto">
          <a:xfrm>
            <a:off x="4386263" y="4911725"/>
            <a:ext cx="415690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Labor Demand</a:t>
            </a:r>
          </a:p>
          <a:p>
            <a:r>
              <a:rPr lang="en-US" sz="2400" dirty="0"/>
              <a:t>(before productivity increase)</a:t>
            </a: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2459038" y="2078038"/>
            <a:ext cx="6427787" cy="2692146"/>
            <a:chOff x="2459536" y="2078600"/>
            <a:chExt cx="6426441" cy="2692157"/>
          </a:xfrm>
        </p:grpSpPr>
        <p:sp>
          <p:nvSpPr>
            <p:cNvPr id="182287" name="Freeform 15"/>
            <p:cNvSpPr>
              <a:spLocks/>
            </p:cNvSpPr>
            <p:nvPr/>
          </p:nvSpPr>
          <p:spPr bwMode="auto">
            <a:xfrm>
              <a:off x="2594445" y="2078600"/>
              <a:ext cx="2356944" cy="232411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7" y="504"/>
                </a:cxn>
                <a:cxn ang="0">
                  <a:pos x="284" y="1073"/>
                </a:cxn>
                <a:cxn ang="0">
                  <a:pos x="686" y="1428"/>
                </a:cxn>
                <a:cxn ang="0">
                  <a:pos x="1278" y="1633"/>
                </a:cxn>
                <a:cxn ang="0">
                  <a:pos x="1720" y="1672"/>
                </a:cxn>
              </a:cxnLst>
              <a:rect l="0" t="0" r="r" b="b"/>
              <a:pathLst>
                <a:path w="1720" h="1674">
                  <a:moveTo>
                    <a:pt x="0" y="0"/>
                  </a:moveTo>
                  <a:cubicBezTo>
                    <a:pt x="8" y="84"/>
                    <a:pt x="0" y="325"/>
                    <a:pt x="47" y="504"/>
                  </a:cubicBezTo>
                  <a:cubicBezTo>
                    <a:pt x="94" y="683"/>
                    <a:pt x="177" y="919"/>
                    <a:pt x="284" y="1073"/>
                  </a:cubicBezTo>
                  <a:cubicBezTo>
                    <a:pt x="391" y="1227"/>
                    <a:pt x="520" y="1335"/>
                    <a:pt x="686" y="1428"/>
                  </a:cubicBezTo>
                  <a:cubicBezTo>
                    <a:pt x="852" y="1521"/>
                    <a:pt x="1106" y="1592"/>
                    <a:pt x="1278" y="1633"/>
                  </a:cubicBezTo>
                  <a:cubicBezTo>
                    <a:pt x="1450" y="1674"/>
                    <a:pt x="1628" y="1664"/>
                    <a:pt x="1720" y="1672"/>
                  </a:cubicBezTo>
                </a:path>
              </a:pathLst>
            </a:cu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30737" name="Text Box 16"/>
            <p:cNvSpPr txBox="1">
              <a:spLocks noChangeArrowheads="1"/>
            </p:cNvSpPr>
            <p:nvPr/>
          </p:nvSpPr>
          <p:spPr bwMode="auto">
            <a:xfrm>
              <a:off x="4572056" y="3939757"/>
              <a:ext cx="4313921" cy="83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2400" dirty="0"/>
                <a:t>Labor Demand</a:t>
              </a:r>
            </a:p>
            <a:p>
              <a:r>
                <a:rPr lang="en-US" sz="2400" dirty="0"/>
                <a:t>(after productivity increase)</a:t>
              </a:r>
            </a:p>
          </p:txBody>
        </p:sp>
        <p:sp>
          <p:nvSpPr>
            <p:cNvPr id="182291" name="AutoShape 19"/>
            <p:cNvSpPr>
              <a:spLocks noChangeArrowheads="1"/>
            </p:cNvSpPr>
            <p:nvPr/>
          </p:nvSpPr>
          <p:spPr bwMode="auto">
            <a:xfrm>
              <a:off x="2459536" y="3664491"/>
              <a:ext cx="515457" cy="288849"/>
            </a:xfrm>
            <a:prstGeom prst="rightArrow">
              <a:avLst>
                <a:gd name="adj1" fmla="val 50000"/>
                <a:gd name="adj2" fmla="val 56733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Individual Labor Supply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457199" y="1600200"/>
            <a:ext cx="8543925" cy="4525963"/>
          </a:xfrm>
        </p:spPr>
        <p:txBody>
          <a:bodyPr/>
          <a:lstStyle/>
          <a:p>
            <a:pPr eaLnBrk="1" hangingPunct="1"/>
            <a:r>
              <a:rPr lang="en-US" b="1" dirty="0"/>
              <a:t>Reservation wage</a:t>
            </a:r>
            <a:r>
              <a:rPr lang="en-US" dirty="0"/>
              <a:t> is the lowest wage a worker would accept for a given job</a:t>
            </a:r>
          </a:p>
          <a:p>
            <a:pPr lvl="1" eaLnBrk="1" hangingPunct="1"/>
            <a:r>
              <a:rPr lang="en-US" dirty="0"/>
              <a:t>Opportunity cost of working is your leisure activity</a:t>
            </a:r>
          </a:p>
          <a:p>
            <a:pPr lvl="1" eaLnBrk="1" hangingPunct="1"/>
            <a:r>
              <a:rPr lang="en-US" dirty="0"/>
              <a:t>Work compensates you for lost leisure</a:t>
            </a:r>
          </a:p>
          <a:p>
            <a:pPr lvl="1" eaLnBrk="1" hangingPunct="1"/>
            <a:r>
              <a:rPr lang="en-US" dirty="0"/>
              <a:t>If working conditions are unpleasant or dangerous, a premium for that would be included in the wage</a:t>
            </a:r>
          </a:p>
          <a:p>
            <a:pPr eaLnBrk="1" hangingPunct="1"/>
            <a:r>
              <a:rPr lang="en-US" dirty="0"/>
              <a:t>Other things equal, higher wage induces individual to supply longer working hours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Aggregate Labor Supply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Macroeconomic determinants of labor supply</a:t>
            </a:r>
          </a:p>
          <a:p>
            <a:pPr lvl="1" eaLnBrk="1" hangingPunct="1"/>
            <a:r>
              <a:rPr lang="en-US"/>
              <a:t>Size of the working age population</a:t>
            </a:r>
          </a:p>
          <a:p>
            <a:pPr lvl="2" eaLnBrk="1" hangingPunct="1"/>
            <a:r>
              <a:rPr lang="en-US"/>
              <a:t>Domestic birthrate</a:t>
            </a:r>
          </a:p>
          <a:p>
            <a:pPr lvl="2" eaLnBrk="1" hangingPunct="1"/>
            <a:r>
              <a:rPr lang="en-US"/>
              <a:t>Immigration and emigration</a:t>
            </a:r>
          </a:p>
          <a:p>
            <a:pPr lvl="2" eaLnBrk="1" hangingPunct="1"/>
            <a:r>
              <a:rPr lang="en-US"/>
              <a:t>Ages when people enter and retire from the workforce</a:t>
            </a:r>
          </a:p>
          <a:p>
            <a:pPr lvl="1" eaLnBrk="1" hangingPunct="1"/>
            <a:r>
              <a:rPr lang="en-US"/>
              <a:t>Share of working-age population willing to work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 bwMode="auto">
          <a:xfrm>
            <a:off x="1011382" y="1676400"/>
            <a:ext cx="5430982" cy="428105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093788" y="1758950"/>
            <a:ext cx="5265737" cy="4114800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The Supply of Labor</a:t>
            </a:r>
          </a:p>
        </p:txBody>
      </p:sp>
      <p:sp>
        <p:nvSpPr>
          <p:cNvPr id="36870" name="Text Box 3"/>
          <p:cNvSpPr txBox="1">
            <a:spLocks noChangeArrowheads="1"/>
          </p:cNvSpPr>
          <p:nvPr/>
        </p:nvSpPr>
        <p:spPr bwMode="auto">
          <a:xfrm>
            <a:off x="2524125" y="5427663"/>
            <a:ext cx="2763838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Employment</a:t>
            </a:r>
          </a:p>
        </p:txBody>
      </p:sp>
      <p:sp>
        <p:nvSpPr>
          <p:cNvPr id="36871" name="Text Box 4"/>
          <p:cNvSpPr txBox="1">
            <a:spLocks noChangeArrowheads="1"/>
          </p:cNvSpPr>
          <p:nvPr/>
        </p:nvSpPr>
        <p:spPr bwMode="auto">
          <a:xfrm rot="-5400000">
            <a:off x="393700" y="3476625"/>
            <a:ext cx="21018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Real Wage</a:t>
            </a:r>
          </a:p>
        </p:txBody>
      </p:sp>
      <p:sp>
        <p:nvSpPr>
          <p:cNvPr id="36872" name="Line 5"/>
          <p:cNvSpPr>
            <a:spLocks noChangeShapeType="1"/>
          </p:cNvSpPr>
          <p:nvPr/>
        </p:nvSpPr>
        <p:spPr bwMode="auto">
          <a:xfrm>
            <a:off x="1674813" y="5387975"/>
            <a:ext cx="4533900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73" name="Line 6"/>
          <p:cNvSpPr>
            <a:spLocks noChangeShapeType="1"/>
          </p:cNvSpPr>
          <p:nvPr/>
        </p:nvSpPr>
        <p:spPr bwMode="auto">
          <a:xfrm>
            <a:off x="1682750" y="1892300"/>
            <a:ext cx="1588" cy="3495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2509838" y="1935163"/>
            <a:ext cx="3203575" cy="2949575"/>
            <a:chOff x="2510198" y="1934800"/>
            <a:chExt cx="3202487" cy="2950325"/>
          </a:xfrm>
        </p:grpSpPr>
        <p:sp>
          <p:nvSpPr>
            <p:cNvPr id="36878" name="Text Box 7"/>
            <p:cNvSpPr txBox="1">
              <a:spLocks noChangeArrowheads="1"/>
            </p:cNvSpPr>
            <p:nvPr/>
          </p:nvSpPr>
          <p:spPr bwMode="auto">
            <a:xfrm>
              <a:off x="4598967" y="1934800"/>
              <a:ext cx="1113718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Labor Supply</a:t>
              </a:r>
            </a:p>
          </p:txBody>
        </p:sp>
        <p:sp>
          <p:nvSpPr>
            <p:cNvPr id="183304" name="Freeform 8"/>
            <p:cNvSpPr>
              <a:spLocks/>
            </p:cNvSpPr>
            <p:nvPr/>
          </p:nvSpPr>
          <p:spPr bwMode="auto">
            <a:xfrm>
              <a:off x="2510198" y="2199979"/>
              <a:ext cx="2158267" cy="2685146"/>
            </a:xfrm>
            <a:custGeom>
              <a:avLst/>
              <a:gdLst/>
              <a:ahLst/>
              <a:cxnLst>
                <a:cxn ang="0">
                  <a:pos x="1728" y="0"/>
                </a:cxn>
                <a:cxn ang="0">
                  <a:pos x="1698" y="367"/>
                </a:cxn>
                <a:cxn ang="0">
                  <a:pos x="1652" y="609"/>
                </a:cxn>
                <a:cxn ang="0">
                  <a:pos x="1523" y="1005"/>
                </a:cxn>
                <a:cxn ang="0">
                  <a:pos x="1291" y="1372"/>
                </a:cxn>
                <a:cxn ang="0">
                  <a:pos x="1066" y="1626"/>
                </a:cxn>
                <a:cxn ang="0">
                  <a:pos x="754" y="1862"/>
                </a:cxn>
                <a:cxn ang="0">
                  <a:pos x="367" y="2052"/>
                </a:cxn>
                <a:cxn ang="0">
                  <a:pos x="0" y="2150"/>
                </a:cxn>
              </a:cxnLst>
              <a:rect l="0" t="0" r="r" b="b"/>
              <a:pathLst>
                <a:path w="1728" h="2150">
                  <a:moveTo>
                    <a:pt x="1728" y="0"/>
                  </a:moveTo>
                  <a:cubicBezTo>
                    <a:pt x="1724" y="61"/>
                    <a:pt x="1711" y="266"/>
                    <a:pt x="1698" y="367"/>
                  </a:cubicBezTo>
                  <a:cubicBezTo>
                    <a:pt x="1685" y="468"/>
                    <a:pt x="1681" y="503"/>
                    <a:pt x="1652" y="609"/>
                  </a:cubicBezTo>
                  <a:cubicBezTo>
                    <a:pt x="1623" y="715"/>
                    <a:pt x="1583" y="878"/>
                    <a:pt x="1523" y="1005"/>
                  </a:cubicBezTo>
                  <a:cubicBezTo>
                    <a:pt x="1463" y="1132"/>
                    <a:pt x="1367" y="1269"/>
                    <a:pt x="1291" y="1372"/>
                  </a:cubicBezTo>
                  <a:cubicBezTo>
                    <a:pt x="1215" y="1475"/>
                    <a:pt x="1156" y="1544"/>
                    <a:pt x="1066" y="1626"/>
                  </a:cubicBezTo>
                  <a:cubicBezTo>
                    <a:pt x="976" y="1708"/>
                    <a:pt x="870" y="1791"/>
                    <a:pt x="754" y="1862"/>
                  </a:cubicBezTo>
                  <a:cubicBezTo>
                    <a:pt x="638" y="1933"/>
                    <a:pt x="493" y="2004"/>
                    <a:pt x="367" y="2052"/>
                  </a:cubicBezTo>
                  <a:cubicBezTo>
                    <a:pt x="242" y="2100"/>
                    <a:pt x="61" y="2134"/>
                    <a:pt x="0" y="2150"/>
                  </a:cubicBezTo>
                </a:path>
              </a:pathLst>
            </a:cu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dirty="0"/>
            </a:p>
          </p:txBody>
        </p:sp>
      </p:grpSp>
      <p:sp>
        <p:nvSpPr>
          <p:cNvPr id="183305" name="Text Box 9"/>
          <p:cNvSpPr txBox="1">
            <a:spLocks noChangeArrowheads="1"/>
          </p:cNvSpPr>
          <p:nvPr/>
        </p:nvSpPr>
        <p:spPr bwMode="auto">
          <a:xfrm>
            <a:off x="5541818" y="3243984"/>
            <a:ext cx="3519631" cy="1938992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</a:rPr>
              <a:t>The labor supply curve slopes up because at a higher real wage, more people are willing to work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Shifts in Labor Supply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A shift in labor supply is caused by any change in the number of workers willing to work at each wage</a:t>
            </a:r>
          </a:p>
          <a:p>
            <a:pPr lvl="1" eaLnBrk="1" hangingPunct="1"/>
            <a:r>
              <a:rPr lang="en-US"/>
              <a:t>Increase in the working-age population</a:t>
            </a:r>
          </a:p>
          <a:p>
            <a:pPr lvl="2" eaLnBrk="1" hangingPunct="1"/>
            <a:r>
              <a:rPr lang="en-US"/>
              <a:t>Baby Boom</a:t>
            </a:r>
          </a:p>
          <a:p>
            <a:pPr lvl="2" eaLnBrk="1" hangingPunct="1"/>
            <a:r>
              <a:rPr lang="en-US"/>
              <a:t>Higher net immigration</a:t>
            </a:r>
          </a:p>
          <a:p>
            <a:pPr lvl="2" eaLnBrk="1" hangingPunct="1"/>
            <a:r>
              <a:rPr lang="en-US"/>
              <a:t>Increasing age at retirement</a:t>
            </a:r>
          </a:p>
          <a:p>
            <a:pPr lvl="1" eaLnBrk="1" hangingPunct="1"/>
            <a:r>
              <a:rPr lang="en-US"/>
              <a:t>Increase in the share of working-age population willing to work</a:t>
            </a:r>
          </a:p>
          <a:p>
            <a:pPr lvl="2" eaLnBrk="1" hangingPunct="1"/>
            <a:r>
              <a:rPr lang="en-US"/>
              <a:t>Women's participation in the labor force has increased in the last 50 years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4200" dirty="0"/>
              <a:t>Effect of Productivity Change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85800" y="1485900"/>
            <a:ext cx="8229600" cy="4525963"/>
          </a:xfrm>
        </p:spPr>
        <p:txBody>
          <a:bodyPr/>
          <a:lstStyle/>
          <a:p>
            <a:pPr eaLnBrk="1" hangingPunct="1"/>
            <a:r>
              <a:rPr lang="en-US"/>
              <a:t>Industrialized countries have had sustained growth in productivity in the 20</a:t>
            </a:r>
            <a:r>
              <a:rPr lang="en-US" baseline="30000"/>
              <a:t>th</a:t>
            </a:r>
            <a:r>
              <a:rPr lang="en-US"/>
              <a:t> century</a:t>
            </a:r>
          </a:p>
          <a:p>
            <a:pPr lvl="1" eaLnBrk="1" hangingPunct="1"/>
            <a:r>
              <a:rPr lang="en-US"/>
              <a:t>Increases demand for labor</a:t>
            </a:r>
          </a:p>
          <a:p>
            <a:pPr lvl="1" eaLnBrk="1" hangingPunct="1"/>
            <a:r>
              <a:rPr lang="en-US"/>
              <a:t>Both real wages and </a:t>
            </a:r>
            <a:br>
              <a:rPr lang="en-US"/>
            </a:br>
            <a:r>
              <a:rPr lang="en-US"/>
              <a:t>employment increased</a:t>
            </a:r>
          </a:p>
          <a:p>
            <a:pPr eaLnBrk="1" hangingPunct="1"/>
            <a:r>
              <a:rPr lang="en-US"/>
              <a:t>Productivity increases </a:t>
            </a:r>
            <a:br>
              <a:rPr lang="en-US"/>
            </a:br>
            <a:r>
              <a:rPr lang="en-US"/>
              <a:t>were due to</a:t>
            </a:r>
          </a:p>
          <a:p>
            <a:pPr lvl="1" eaLnBrk="1" hangingPunct="1"/>
            <a:r>
              <a:rPr lang="en-US"/>
              <a:t>Technological progress</a:t>
            </a:r>
          </a:p>
          <a:p>
            <a:pPr lvl="1" eaLnBrk="1" hangingPunct="1"/>
            <a:r>
              <a:rPr lang="en-US"/>
              <a:t>Increases in capital 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4849129" y="2826313"/>
            <a:ext cx="4114800" cy="356061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4926013" y="2909888"/>
            <a:ext cx="3962400" cy="3394075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967" name="Text Box 3"/>
          <p:cNvSpPr txBox="1">
            <a:spLocks noChangeArrowheads="1"/>
          </p:cNvSpPr>
          <p:nvPr/>
        </p:nvSpPr>
        <p:spPr bwMode="auto">
          <a:xfrm>
            <a:off x="6067425" y="5816600"/>
            <a:ext cx="22669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/>
              <a:t>Employment</a:t>
            </a:r>
          </a:p>
        </p:txBody>
      </p:sp>
      <p:sp>
        <p:nvSpPr>
          <p:cNvPr id="40968" name="Text Box 4"/>
          <p:cNvSpPr txBox="1">
            <a:spLocks noChangeArrowheads="1"/>
          </p:cNvSpPr>
          <p:nvPr/>
        </p:nvSpPr>
        <p:spPr bwMode="auto">
          <a:xfrm rot="-5400000">
            <a:off x="4167982" y="4359602"/>
            <a:ext cx="213042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/>
              <a:t>Real Wage</a:t>
            </a:r>
          </a:p>
        </p:txBody>
      </p:sp>
      <p:sp>
        <p:nvSpPr>
          <p:cNvPr id="40969" name="Line 5"/>
          <p:cNvSpPr>
            <a:spLocks noChangeShapeType="1"/>
          </p:cNvSpPr>
          <p:nvPr/>
        </p:nvSpPr>
        <p:spPr bwMode="auto">
          <a:xfrm>
            <a:off x="5749925" y="5556250"/>
            <a:ext cx="2614613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0" name="Line 6"/>
          <p:cNvSpPr>
            <a:spLocks noChangeShapeType="1"/>
          </p:cNvSpPr>
          <p:nvPr/>
        </p:nvSpPr>
        <p:spPr bwMode="auto">
          <a:xfrm>
            <a:off x="5756275" y="3024188"/>
            <a:ext cx="0" cy="25320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1" name="Text Box 7"/>
          <p:cNvSpPr txBox="1">
            <a:spLocks noChangeArrowheads="1"/>
          </p:cNvSpPr>
          <p:nvPr/>
        </p:nvSpPr>
        <p:spPr bwMode="auto">
          <a:xfrm>
            <a:off x="7796213" y="3035300"/>
            <a:ext cx="438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S</a:t>
            </a:r>
          </a:p>
        </p:txBody>
      </p:sp>
      <p:sp>
        <p:nvSpPr>
          <p:cNvPr id="40972" name="Line 10"/>
          <p:cNvSpPr>
            <a:spLocks noChangeShapeType="1"/>
          </p:cNvSpPr>
          <p:nvPr/>
        </p:nvSpPr>
        <p:spPr bwMode="auto">
          <a:xfrm>
            <a:off x="5761038" y="4443413"/>
            <a:ext cx="112871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3" name="Line 11"/>
          <p:cNvSpPr>
            <a:spLocks noChangeShapeType="1"/>
          </p:cNvSpPr>
          <p:nvPr/>
        </p:nvSpPr>
        <p:spPr bwMode="auto">
          <a:xfrm flipV="1">
            <a:off x="6900863" y="4445000"/>
            <a:ext cx="0" cy="1103313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12"/>
          <p:cNvSpPr>
            <a:spLocks/>
          </p:cNvSpPr>
          <p:nvPr/>
        </p:nvSpPr>
        <p:spPr bwMode="auto">
          <a:xfrm>
            <a:off x="6181725" y="3246438"/>
            <a:ext cx="1543050" cy="1543050"/>
          </a:xfrm>
          <a:custGeom>
            <a:avLst/>
            <a:gdLst/>
            <a:ahLst/>
            <a:cxnLst>
              <a:cxn ang="0">
                <a:pos x="0" y="1705"/>
              </a:cxn>
              <a:cxn ang="0">
                <a:pos x="299" y="1585"/>
              </a:cxn>
              <a:cxn ang="0">
                <a:pos x="614" y="1436"/>
              </a:cxn>
              <a:cxn ang="0">
                <a:pos x="980" y="1167"/>
              </a:cxn>
              <a:cxn ang="0">
                <a:pos x="1294" y="801"/>
              </a:cxn>
              <a:cxn ang="0">
                <a:pos x="1601" y="277"/>
              </a:cxn>
              <a:cxn ang="0">
                <a:pos x="1706" y="0"/>
              </a:cxn>
            </a:cxnLst>
            <a:rect l="0" t="0" r="r" b="b"/>
            <a:pathLst>
              <a:path w="1706" h="1705">
                <a:moveTo>
                  <a:pt x="0" y="1705"/>
                </a:moveTo>
                <a:cubicBezTo>
                  <a:pt x="98" y="1667"/>
                  <a:pt x="197" y="1630"/>
                  <a:pt x="299" y="1585"/>
                </a:cubicBezTo>
                <a:cubicBezTo>
                  <a:pt x="401" y="1540"/>
                  <a:pt x="500" y="1506"/>
                  <a:pt x="614" y="1436"/>
                </a:cubicBezTo>
                <a:cubicBezTo>
                  <a:pt x="728" y="1366"/>
                  <a:pt x="867" y="1273"/>
                  <a:pt x="980" y="1167"/>
                </a:cubicBezTo>
                <a:cubicBezTo>
                  <a:pt x="1093" y="1061"/>
                  <a:pt x="1190" y="949"/>
                  <a:pt x="1294" y="801"/>
                </a:cubicBezTo>
                <a:cubicBezTo>
                  <a:pt x="1398" y="653"/>
                  <a:pt x="1532" y="410"/>
                  <a:pt x="1601" y="277"/>
                </a:cubicBezTo>
                <a:cubicBezTo>
                  <a:pt x="1670" y="144"/>
                  <a:pt x="1684" y="58"/>
                  <a:pt x="1706" y="0"/>
                </a:cubicBezTo>
              </a:path>
            </a:pathLst>
          </a:custGeom>
          <a:ln>
            <a:solidFill>
              <a:srgbClr val="FF000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Freeform 13"/>
          <p:cNvSpPr>
            <a:spLocks/>
          </p:cNvSpPr>
          <p:nvPr/>
        </p:nvSpPr>
        <p:spPr bwMode="auto">
          <a:xfrm>
            <a:off x="6108700" y="3160713"/>
            <a:ext cx="1562100" cy="1825625"/>
          </a:xfrm>
          <a:custGeom>
            <a:avLst/>
            <a:gdLst/>
            <a:ahLst/>
            <a:cxnLst>
              <a:cxn ang="0">
                <a:pos x="1727" y="2019"/>
              </a:cxn>
              <a:cxn ang="0">
                <a:pos x="1421" y="1869"/>
              </a:cxn>
              <a:cxn ang="0">
                <a:pos x="1084" y="1652"/>
              </a:cxn>
              <a:cxn ang="0">
                <a:pos x="736" y="1310"/>
              </a:cxn>
              <a:cxn ang="0">
                <a:pos x="418" y="899"/>
              </a:cxn>
              <a:cxn ang="0">
                <a:pos x="106" y="311"/>
              </a:cxn>
              <a:cxn ang="0">
                <a:pos x="0" y="0"/>
              </a:cxn>
            </a:cxnLst>
            <a:rect l="0" t="0" r="r" b="b"/>
            <a:pathLst>
              <a:path w="1727" h="2019">
                <a:moveTo>
                  <a:pt x="1727" y="2019"/>
                </a:moveTo>
                <a:cubicBezTo>
                  <a:pt x="1676" y="1995"/>
                  <a:pt x="1528" y="1930"/>
                  <a:pt x="1421" y="1869"/>
                </a:cubicBezTo>
                <a:cubicBezTo>
                  <a:pt x="1314" y="1808"/>
                  <a:pt x="1198" y="1745"/>
                  <a:pt x="1084" y="1652"/>
                </a:cubicBezTo>
                <a:cubicBezTo>
                  <a:pt x="970" y="1559"/>
                  <a:pt x="847" y="1436"/>
                  <a:pt x="736" y="1310"/>
                </a:cubicBezTo>
                <a:cubicBezTo>
                  <a:pt x="625" y="1184"/>
                  <a:pt x="523" y="1065"/>
                  <a:pt x="418" y="899"/>
                </a:cubicBezTo>
                <a:cubicBezTo>
                  <a:pt x="312" y="733"/>
                  <a:pt x="176" y="460"/>
                  <a:pt x="106" y="311"/>
                </a:cubicBezTo>
                <a:cubicBezTo>
                  <a:pt x="36" y="162"/>
                  <a:pt x="22" y="65"/>
                  <a:pt x="0" y="0"/>
                </a:cubicBezTo>
              </a:path>
            </a:pathLst>
          </a:cu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0976" name="Text Box 16"/>
          <p:cNvSpPr txBox="1">
            <a:spLocks noChangeArrowheads="1"/>
          </p:cNvSpPr>
          <p:nvPr/>
        </p:nvSpPr>
        <p:spPr bwMode="auto">
          <a:xfrm>
            <a:off x="7281863" y="4881563"/>
            <a:ext cx="10207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D</a:t>
            </a:r>
          </a:p>
        </p:txBody>
      </p:sp>
      <p:sp>
        <p:nvSpPr>
          <p:cNvPr id="40977" name="Text Box 20"/>
          <p:cNvSpPr txBox="1">
            <a:spLocks noChangeArrowheads="1"/>
          </p:cNvSpPr>
          <p:nvPr/>
        </p:nvSpPr>
        <p:spPr bwMode="auto">
          <a:xfrm>
            <a:off x="5413375" y="4352925"/>
            <a:ext cx="304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800" dirty="0"/>
              <a:t>W</a:t>
            </a:r>
          </a:p>
        </p:txBody>
      </p:sp>
      <p:sp>
        <p:nvSpPr>
          <p:cNvPr id="40978" name="Text Box 21"/>
          <p:cNvSpPr txBox="1">
            <a:spLocks noChangeArrowheads="1"/>
          </p:cNvSpPr>
          <p:nvPr/>
        </p:nvSpPr>
        <p:spPr bwMode="auto">
          <a:xfrm>
            <a:off x="6750050" y="5554663"/>
            <a:ext cx="2841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 dirty="0"/>
              <a:t>N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5232400" y="4083049"/>
            <a:ext cx="2349499" cy="1841436"/>
            <a:chOff x="5232917" y="4083078"/>
            <a:chExt cx="2349449" cy="1841117"/>
          </a:xfrm>
        </p:grpSpPr>
        <p:sp>
          <p:nvSpPr>
            <p:cNvPr id="40986" name="Line 8"/>
            <p:cNvSpPr>
              <a:spLocks noChangeShapeType="1"/>
            </p:cNvSpPr>
            <p:nvPr/>
          </p:nvSpPr>
          <p:spPr bwMode="auto">
            <a:xfrm flipV="1">
              <a:off x="7178985" y="4174448"/>
              <a:ext cx="0" cy="13741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87" name="Line 9"/>
            <p:cNvSpPr>
              <a:spLocks noChangeShapeType="1"/>
            </p:cNvSpPr>
            <p:nvPr/>
          </p:nvSpPr>
          <p:spPr bwMode="auto">
            <a:xfrm>
              <a:off x="5761416" y="4180781"/>
              <a:ext cx="141304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AutoShape 15"/>
            <p:cNvSpPr>
              <a:spLocks noChangeArrowheads="1"/>
            </p:cNvSpPr>
            <p:nvPr/>
          </p:nvSpPr>
          <p:spPr bwMode="auto">
            <a:xfrm>
              <a:off x="6909319" y="5150217"/>
              <a:ext cx="277066" cy="236778"/>
            </a:xfrm>
            <a:prstGeom prst="rightArrow">
              <a:avLst>
                <a:gd name="adj1" fmla="val 50000"/>
                <a:gd name="adj2" fmla="val 80357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0991" name="Text Box 18"/>
            <p:cNvSpPr txBox="1">
              <a:spLocks noChangeArrowheads="1"/>
            </p:cNvSpPr>
            <p:nvPr/>
          </p:nvSpPr>
          <p:spPr bwMode="auto">
            <a:xfrm>
              <a:off x="5232917" y="4083078"/>
              <a:ext cx="615937" cy="369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1800" dirty="0"/>
                <a:t>W'</a:t>
              </a:r>
            </a:p>
          </p:txBody>
        </p:sp>
        <p:sp>
          <p:nvSpPr>
            <p:cNvPr id="40992" name="Text Box 19"/>
            <p:cNvSpPr txBox="1">
              <a:spLocks noChangeArrowheads="1"/>
            </p:cNvSpPr>
            <p:nvPr/>
          </p:nvSpPr>
          <p:spPr bwMode="auto">
            <a:xfrm>
              <a:off x="6982890" y="5554927"/>
              <a:ext cx="599476" cy="369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/>
                <a:t>N'</a:t>
              </a:r>
            </a:p>
          </p:txBody>
        </p:sp>
        <p:sp>
          <p:nvSpPr>
            <p:cNvPr id="29" name="AutoShape 22"/>
            <p:cNvSpPr>
              <a:spLocks noChangeArrowheads="1"/>
            </p:cNvSpPr>
            <p:nvPr/>
          </p:nvSpPr>
          <p:spPr bwMode="auto">
            <a:xfrm rot="16200000">
              <a:off x="5836331" y="4201919"/>
              <a:ext cx="221082" cy="206930"/>
            </a:xfrm>
            <a:prstGeom prst="rightArrow">
              <a:avLst>
                <a:gd name="adj1" fmla="val 50000"/>
                <a:gd name="adj2" fmla="val 80357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6530975" y="3011488"/>
            <a:ext cx="2233613" cy="2105025"/>
            <a:chOff x="6531264" y="3011986"/>
            <a:chExt cx="2233552" cy="2104431"/>
          </a:xfrm>
        </p:grpSpPr>
        <p:sp>
          <p:nvSpPr>
            <p:cNvPr id="24" name="Freeform 14"/>
            <p:cNvSpPr>
              <a:spLocks/>
            </p:cNvSpPr>
            <p:nvPr/>
          </p:nvSpPr>
          <p:spPr bwMode="auto">
            <a:xfrm>
              <a:off x="6531264" y="3011986"/>
              <a:ext cx="1582695" cy="1785433"/>
            </a:xfrm>
            <a:custGeom>
              <a:avLst/>
              <a:gdLst/>
              <a:ahLst/>
              <a:cxnLst>
                <a:cxn ang="0">
                  <a:pos x="1750" y="1973"/>
                </a:cxn>
                <a:cxn ang="0">
                  <a:pos x="1503" y="1869"/>
                </a:cxn>
                <a:cxn ang="0">
                  <a:pos x="1121" y="1652"/>
                </a:cxn>
                <a:cxn ang="0">
                  <a:pos x="736" y="1310"/>
                </a:cxn>
                <a:cxn ang="0">
                  <a:pos x="418" y="899"/>
                </a:cxn>
                <a:cxn ang="0">
                  <a:pos x="106" y="311"/>
                </a:cxn>
                <a:cxn ang="0">
                  <a:pos x="0" y="0"/>
                </a:cxn>
              </a:cxnLst>
              <a:rect l="0" t="0" r="r" b="b"/>
              <a:pathLst>
                <a:path w="1750" h="1973">
                  <a:moveTo>
                    <a:pt x="1750" y="1973"/>
                  </a:moveTo>
                  <a:cubicBezTo>
                    <a:pt x="1710" y="1954"/>
                    <a:pt x="1608" y="1922"/>
                    <a:pt x="1503" y="1869"/>
                  </a:cubicBezTo>
                  <a:cubicBezTo>
                    <a:pt x="1398" y="1816"/>
                    <a:pt x="1249" y="1745"/>
                    <a:pt x="1121" y="1652"/>
                  </a:cubicBezTo>
                  <a:cubicBezTo>
                    <a:pt x="993" y="1559"/>
                    <a:pt x="853" y="1435"/>
                    <a:pt x="736" y="1310"/>
                  </a:cubicBezTo>
                  <a:cubicBezTo>
                    <a:pt x="619" y="1185"/>
                    <a:pt x="523" y="1065"/>
                    <a:pt x="418" y="899"/>
                  </a:cubicBezTo>
                  <a:cubicBezTo>
                    <a:pt x="312" y="733"/>
                    <a:pt x="176" y="460"/>
                    <a:pt x="106" y="311"/>
                  </a:cubicBezTo>
                  <a:cubicBezTo>
                    <a:pt x="36" y="162"/>
                    <a:pt x="22" y="65"/>
                    <a:pt x="0" y="0"/>
                  </a:cubicBezTo>
                </a:path>
              </a:pathLst>
            </a:cu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0982" name="Text Box 17"/>
            <p:cNvSpPr txBox="1">
              <a:spLocks noChangeArrowheads="1"/>
            </p:cNvSpPr>
            <p:nvPr/>
          </p:nvSpPr>
          <p:spPr bwMode="auto">
            <a:xfrm>
              <a:off x="7743478" y="4747085"/>
              <a:ext cx="102133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D'</a:t>
              </a:r>
            </a:p>
          </p:txBody>
        </p:sp>
        <p:sp>
          <p:nvSpPr>
            <p:cNvPr id="30" name="AutoShape 23"/>
            <p:cNvSpPr>
              <a:spLocks noChangeArrowheads="1"/>
            </p:cNvSpPr>
            <p:nvPr/>
          </p:nvSpPr>
          <p:spPr bwMode="auto">
            <a:xfrm>
              <a:off x="7264020" y="4526761"/>
              <a:ext cx="448861" cy="214897"/>
            </a:xfrm>
            <a:prstGeom prst="rightArrow">
              <a:avLst>
                <a:gd name="adj1" fmla="val 50000"/>
                <a:gd name="adj2" fmla="val 144892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pic>
        <p:nvPicPr>
          <p:cNvPr id="33" name="Picture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Effect of Globalization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22280" y="1600200"/>
            <a:ext cx="8229600" cy="4981575"/>
          </a:xfrm>
        </p:spPr>
        <p:txBody>
          <a:bodyPr/>
          <a:lstStyle/>
          <a:p>
            <a:pPr eaLnBrk="1" hangingPunct="1"/>
            <a:r>
              <a:rPr lang="en-US" dirty="0"/>
              <a:t>Globalization results in an expansion of many markets to worldwide supply</a:t>
            </a:r>
          </a:p>
          <a:p>
            <a:pPr lvl="1" eaLnBrk="1" hangingPunct="1"/>
            <a:r>
              <a:rPr lang="en-US" dirty="0"/>
              <a:t>Increasing ease of goods and services crossing national borders</a:t>
            </a:r>
          </a:p>
          <a:p>
            <a:pPr eaLnBrk="1" hangingPunct="1"/>
            <a:r>
              <a:rPr lang="en-US" dirty="0"/>
              <a:t>Benefit of globalization is increased specialization and efficiency</a:t>
            </a:r>
          </a:p>
          <a:p>
            <a:pPr lvl="1" eaLnBrk="1" hangingPunct="1"/>
            <a:r>
              <a:rPr lang="en-US" i="1" dirty="0"/>
              <a:t>Countries specialize in producing goods which they can produce efficiently</a:t>
            </a:r>
          </a:p>
          <a:p>
            <a:pPr eaLnBrk="1" hangingPunct="1"/>
            <a:r>
              <a:rPr lang="en-US" dirty="0"/>
              <a:t>Globalization also means that some goods produced domestically are no longer competitive</a:t>
            </a:r>
          </a:p>
          <a:p>
            <a:pPr lvl="1" eaLnBrk="1" hangingPunct="1"/>
            <a:r>
              <a:rPr lang="en-US" dirty="0"/>
              <a:t>Some domestic sectors shrink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/>
          <p:cNvSpPr/>
          <p:nvPr/>
        </p:nvSpPr>
        <p:spPr bwMode="auto">
          <a:xfrm>
            <a:off x="872420" y="1759527"/>
            <a:ext cx="8035636" cy="451658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955984" y="1835150"/>
            <a:ext cx="7869237" cy="4364038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15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13096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Effect of Globalization</a:t>
            </a:r>
          </a:p>
        </p:txBody>
      </p:sp>
      <p:sp>
        <p:nvSpPr>
          <p:cNvPr id="49158" name="Text Box 3"/>
          <p:cNvSpPr txBox="1">
            <a:spLocks noChangeArrowheads="1"/>
          </p:cNvSpPr>
          <p:nvPr/>
        </p:nvSpPr>
        <p:spPr bwMode="auto">
          <a:xfrm>
            <a:off x="2213284" y="5386388"/>
            <a:ext cx="23304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Employment</a:t>
            </a:r>
          </a:p>
        </p:txBody>
      </p:sp>
      <p:sp>
        <p:nvSpPr>
          <p:cNvPr id="49159" name="Text Box 4"/>
          <p:cNvSpPr txBox="1">
            <a:spLocks noChangeArrowheads="1"/>
          </p:cNvSpPr>
          <p:nvPr/>
        </p:nvSpPr>
        <p:spPr bwMode="auto">
          <a:xfrm rot="-5400000">
            <a:off x="199540" y="3091984"/>
            <a:ext cx="217328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/>
              <a:t>Real Wage</a:t>
            </a:r>
          </a:p>
        </p:txBody>
      </p:sp>
      <p:sp>
        <p:nvSpPr>
          <p:cNvPr id="49160" name="Line 5"/>
          <p:cNvSpPr>
            <a:spLocks noChangeShapeType="1"/>
          </p:cNvSpPr>
          <p:nvPr/>
        </p:nvSpPr>
        <p:spPr bwMode="auto">
          <a:xfrm>
            <a:off x="1895784" y="4951413"/>
            <a:ext cx="3040062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61" name="Line 6"/>
          <p:cNvSpPr>
            <a:spLocks noChangeShapeType="1"/>
          </p:cNvSpPr>
          <p:nvPr/>
        </p:nvSpPr>
        <p:spPr bwMode="auto">
          <a:xfrm>
            <a:off x="1902134" y="2247900"/>
            <a:ext cx="0" cy="27035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62" name="Text Box 24"/>
          <p:cNvSpPr txBox="1">
            <a:spLocks noChangeArrowheads="1"/>
          </p:cNvSpPr>
          <p:nvPr/>
        </p:nvSpPr>
        <p:spPr bwMode="auto">
          <a:xfrm>
            <a:off x="5850246" y="5408613"/>
            <a:ext cx="2328863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/>
              <a:t>Employment</a:t>
            </a:r>
          </a:p>
        </p:txBody>
      </p:sp>
      <p:sp>
        <p:nvSpPr>
          <p:cNvPr id="49163" name="Line 25"/>
          <p:cNvSpPr>
            <a:spLocks noChangeShapeType="1"/>
          </p:cNvSpPr>
          <p:nvPr/>
        </p:nvSpPr>
        <p:spPr bwMode="auto">
          <a:xfrm>
            <a:off x="5496234" y="4951413"/>
            <a:ext cx="3040062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64" name="Line 26"/>
          <p:cNvSpPr>
            <a:spLocks noChangeShapeType="1"/>
          </p:cNvSpPr>
          <p:nvPr/>
        </p:nvSpPr>
        <p:spPr bwMode="auto">
          <a:xfrm>
            <a:off x="5502584" y="2247900"/>
            <a:ext cx="0" cy="27035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65" name="Text Box 7"/>
          <p:cNvSpPr txBox="1">
            <a:spLocks noChangeArrowheads="1"/>
          </p:cNvSpPr>
          <p:nvPr/>
        </p:nvSpPr>
        <p:spPr bwMode="auto">
          <a:xfrm>
            <a:off x="3699184" y="2430463"/>
            <a:ext cx="522287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S</a:t>
            </a:r>
            <a:r>
              <a:rPr lang="en-US" baseline="-25000"/>
              <a:t>T</a:t>
            </a:r>
            <a:endParaRPr lang="en-US"/>
          </a:p>
        </p:txBody>
      </p:sp>
      <p:sp>
        <p:nvSpPr>
          <p:cNvPr id="49166" name="Line 10"/>
          <p:cNvSpPr>
            <a:spLocks noChangeShapeType="1"/>
          </p:cNvSpPr>
          <p:nvPr/>
        </p:nvSpPr>
        <p:spPr bwMode="auto">
          <a:xfrm>
            <a:off x="1906896" y="3763963"/>
            <a:ext cx="362267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67" name="Line 11"/>
          <p:cNvSpPr>
            <a:spLocks noChangeShapeType="1"/>
          </p:cNvSpPr>
          <p:nvPr/>
        </p:nvSpPr>
        <p:spPr bwMode="auto">
          <a:xfrm flipV="1">
            <a:off x="3232459" y="3765550"/>
            <a:ext cx="0" cy="11779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5356" name="Freeform 12"/>
          <p:cNvSpPr>
            <a:spLocks/>
          </p:cNvSpPr>
          <p:nvPr/>
        </p:nvSpPr>
        <p:spPr bwMode="auto">
          <a:xfrm>
            <a:off x="2089459" y="2749550"/>
            <a:ext cx="1795462" cy="1646238"/>
          </a:xfrm>
          <a:custGeom>
            <a:avLst/>
            <a:gdLst/>
            <a:ahLst/>
            <a:cxnLst>
              <a:cxn ang="0">
                <a:pos x="0" y="1705"/>
              </a:cxn>
              <a:cxn ang="0">
                <a:pos x="299" y="1585"/>
              </a:cxn>
              <a:cxn ang="0">
                <a:pos x="614" y="1436"/>
              </a:cxn>
              <a:cxn ang="0">
                <a:pos x="980" y="1167"/>
              </a:cxn>
              <a:cxn ang="0">
                <a:pos x="1294" y="801"/>
              </a:cxn>
              <a:cxn ang="0">
                <a:pos x="1601" y="277"/>
              </a:cxn>
              <a:cxn ang="0">
                <a:pos x="1706" y="0"/>
              </a:cxn>
            </a:cxnLst>
            <a:rect l="0" t="0" r="r" b="b"/>
            <a:pathLst>
              <a:path w="1706" h="1705">
                <a:moveTo>
                  <a:pt x="0" y="1705"/>
                </a:moveTo>
                <a:cubicBezTo>
                  <a:pt x="98" y="1667"/>
                  <a:pt x="197" y="1630"/>
                  <a:pt x="299" y="1585"/>
                </a:cubicBezTo>
                <a:cubicBezTo>
                  <a:pt x="401" y="1540"/>
                  <a:pt x="500" y="1506"/>
                  <a:pt x="614" y="1436"/>
                </a:cubicBezTo>
                <a:cubicBezTo>
                  <a:pt x="728" y="1366"/>
                  <a:pt x="867" y="1273"/>
                  <a:pt x="980" y="1167"/>
                </a:cubicBezTo>
                <a:cubicBezTo>
                  <a:pt x="1093" y="1061"/>
                  <a:pt x="1190" y="949"/>
                  <a:pt x="1294" y="801"/>
                </a:cubicBezTo>
                <a:cubicBezTo>
                  <a:pt x="1398" y="653"/>
                  <a:pt x="1532" y="410"/>
                  <a:pt x="1601" y="277"/>
                </a:cubicBezTo>
                <a:cubicBezTo>
                  <a:pt x="1670" y="144"/>
                  <a:pt x="1684" y="58"/>
                  <a:pt x="1706" y="0"/>
                </a:cubicBezTo>
              </a:path>
            </a:pathLst>
          </a:custGeom>
          <a:ln>
            <a:solidFill>
              <a:srgbClr val="FF0000"/>
            </a:solidFill>
            <a:headEnd/>
            <a:tailEnd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5358" name="Freeform 14"/>
          <p:cNvSpPr>
            <a:spLocks/>
          </p:cNvSpPr>
          <p:nvPr/>
        </p:nvSpPr>
        <p:spPr bwMode="auto">
          <a:xfrm>
            <a:off x="2446646" y="2498725"/>
            <a:ext cx="1841500" cy="1906588"/>
          </a:xfrm>
          <a:custGeom>
            <a:avLst/>
            <a:gdLst/>
            <a:ahLst/>
            <a:cxnLst>
              <a:cxn ang="0">
                <a:pos x="1750" y="1973"/>
              </a:cxn>
              <a:cxn ang="0">
                <a:pos x="1503" y="1869"/>
              </a:cxn>
              <a:cxn ang="0">
                <a:pos x="1121" y="1652"/>
              </a:cxn>
              <a:cxn ang="0">
                <a:pos x="736" y="1310"/>
              </a:cxn>
              <a:cxn ang="0">
                <a:pos x="418" y="899"/>
              </a:cxn>
              <a:cxn ang="0">
                <a:pos x="106" y="311"/>
              </a:cxn>
              <a:cxn ang="0">
                <a:pos x="0" y="0"/>
              </a:cxn>
            </a:cxnLst>
            <a:rect l="0" t="0" r="r" b="b"/>
            <a:pathLst>
              <a:path w="1750" h="1973">
                <a:moveTo>
                  <a:pt x="1750" y="1973"/>
                </a:moveTo>
                <a:cubicBezTo>
                  <a:pt x="1710" y="1954"/>
                  <a:pt x="1608" y="1922"/>
                  <a:pt x="1503" y="1869"/>
                </a:cubicBezTo>
                <a:cubicBezTo>
                  <a:pt x="1398" y="1816"/>
                  <a:pt x="1249" y="1745"/>
                  <a:pt x="1121" y="1652"/>
                </a:cubicBezTo>
                <a:cubicBezTo>
                  <a:pt x="993" y="1559"/>
                  <a:pt x="853" y="1435"/>
                  <a:pt x="736" y="1310"/>
                </a:cubicBezTo>
                <a:cubicBezTo>
                  <a:pt x="619" y="1185"/>
                  <a:pt x="523" y="1065"/>
                  <a:pt x="418" y="899"/>
                </a:cubicBezTo>
                <a:cubicBezTo>
                  <a:pt x="312" y="733"/>
                  <a:pt x="176" y="460"/>
                  <a:pt x="106" y="311"/>
                </a:cubicBezTo>
                <a:cubicBezTo>
                  <a:pt x="36" y="162"/>
                  <a:pt x="22" y="65"/>
                  <a:pt x="0" y="0"/>
                </a:cubicBezTo>
              </a:path>
            </a:pathLst>
          </a:cu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9170" name="Text Box 16"/>
          <p:cNvSpPr txBox="1">
            <a:spLocks noChangeArrowheads="1"/>
          </p:cNvSpPr>
          <p:nvPr/>
        </p:nvSpPr>
        <p:spPr bwMode="auto">
          <a:xfrm>
            <a:off x="4023034" y="4287838"/>
            <a:ext cx="1189037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D</a:t>
            </a:r>
            <a:r>
              <a:rPr lang="en-US" baseline="-25000"/>
              <a:t>T</a:t>
            </a:r>
            <a:endParaRPr lang="en-US"/>
          </a:p>
        </p:txBody>
      </p:sp>
      <p:sp>
        <p:nvSpPr>
          <p:cNvPr id="49171" name="Text Box 17"/>
          <p:cNvSpPr txBox="1">
            <a:spLocks noChangeArrowheads="1"/>
          </p:cNvSpPr>
          <p:nvPr/>
        </p:nvSpPr>
        <p:spPr bwMode="auto">
          <a:xfrm>
            <a:off x="1446521" y="3551238"/>
            <a:ext cx="5251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800" dirty="0"/>
              <a:t>W</a:t>
            </a:r>
          </a:p>
        </p:txBody>
      </p:sp>
      <p:sp>
        <p:nvSpPr>
          <p:cNvPr id="49172" name="Text Box 18"/>
          <p:cNvSpPr txBox="1">
            <a:spLocks noChangeArrowheads="1"/>
          </p:cNvSpPr>
          <p:nvPr/>
        </p:nvSpPr>
        <p:spPr bwMode="auto">
          <a:xfrm>
            <a:off x="3037195" y="4972050"/>
            <a:ext cx="62992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 dirty="0"/>
              <a:t>N</a:t>
            </a:r>
            <a:r>
              <a:rPr lang="en-US" sz="1800" baseline="-25000" dirty="0"/>
              <a:t>T</a:t>
            </a:r>
          </a:p>
        </p:txBody>
      </p:sp>
      <p:sp>
        <p:nvSpPr>
          <p:cNvPr id="49173" name="Text Box 27"/>
          <p:cNvSpPr txBox="1">
            <a:spLocks noChangeArrowheads="1"/>
          </p:cNvSpPr>
          <p:nvPr/>
        </p:nvSpPr>
        <p:spPr bwMode="auto">
          <a:xfrm>
            <a:off x="7633009" y="2259013"/>
            <a:ext cx="830262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S</a:t>
            </a:r>
            <a:r>
              <a:rPr lang="en-US" baseline="-25000"/>
              <a:t>S</a:t>
            </a:r>
            <a:endParaRPr lang="en-US"/>
          </a:p>
        </p:txBody>
      </p:sp>
      <p:sp>
        <p:nvSpPr>
          <p:cNvPr id="49174" name="Line 30"/>
          <p:cNvSpPr>
            <a:spLocks noChangeShapeType="1"/>
          </p:cNvSpPr>
          <p:nvPr/>
        </p:nvSpPr>
        <p:spPr bwMode="auto">
          <a:xfrm>
            <a:off x="5507346" y="3763963"/>
            <a:ext cx="13144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75" name="Line 31"/>
          <p:cNvSpPr>
            <a:spLocks noChangeShapeType="1"/>
          </p:cNvSpPr>
          <p:nvPr/>
        </p:nvSpPr>
        <p:spPr bwMode="auto">
          <a:xfrm flipV="1">
            <a:off x="6834496" y="3765550"/>
            <a:ext cx="0" cy="11779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5376" name="Freeform 32"/>
          <p:cNvSpPr>
            <a:spLocks/>
          </p:cNvSpPr>
          <p:nvPr/>
        </p:nvSpPr>
        <p:spPr bwMode="auto">
          <a:xfrm>
            <a:off x="5996296" y="2486025"/>
            <a:ext cx="1795463" cy="1646238"/>
          </a:xfrm>
          <a:custGeom>
            <a:avLst/>
            <a:gdLst/>
            <a:ahLst/>
            <a:cxnLst>
              <a:cxn ang="0">
                <a:pos x="0" y="1705"/>
              </a:cxn>
              <a:cxn ang="0">
                <a:pos x="299" y="1585"/>
              </a:cxn>
              <a:cxn ang="0">
                <a:pos x="614" y="1436"/>
              </a:cxn>
              <a:cxn ang="0">
                <a:pos x="980" y="1167"/>
              </a:cxn>
              <a:cxn ang="0">
                <a:pos x="1294" y="801"/>
              </a:cxn>
              <a:cxn ang="0">
                <a:pos x="1601" y="277"/>
              </a:cxn>
              <a:cxn ang="0">
                <a:pos x="1706" y="0"/>
              </a:cxn>
            </a:cxnLst>
            <a:rect l="0" t="0" r="r" b="b"/>
            <a:pathLst>
              <a:path w="1706" h="1705">
                <a:moveTo>
                  <a:pt x="0" y="1705"/>
                </a:moveTo>
                <a:cubicBezTo>
                  <a:pt x="98" y="1667"/>
                  <a:pt x="197" y="1630"/>
                  <a:pt x="299" y="1585"/>
                </a:cubicBezTo>
                <a:cubicBezTo>
                  <a:pt x="401" y="1540"/>
                  <a:pt x="500" y="1506"/>
                  <a:pt x="614" y="1436"/>
                </a:cubicBezTo>
                <a:cubicBezTo>
                  <a:pt x="728" y="1366"/>
                  <a:pt x="867" y="1273"/>
                  <a:pt x="980" y="1167"/>
                </a:cubicBezTo>
                <a:cubicBezTo>
                  <a:pt x="1093" y="1061"/>
                  <a:pt x="1190" y="949"/>
                  <a:pt x="1294" y="801"/>
                </a:cubicBezTo>
                <a:cubicBezTo>
                  <a:pt x="1398" y="653"/>
                  <a:pt x="1532" y="410"/>
                  <a:pt x="1601" y="277"/>
                </a:cubicBezTo>
                <a:cubicBezTo>
                  <a:pt x="1670" y="144"/>
                  <a:pt x="1684" y="58"/>
                  <a:pt x="1706" y="0"/>
                </a:cubicBezTo>
              </a:path>
            </a:pathLst>
          </a:custGeom>
          <a:ln>
            <a:solidFill>
              <a:srgbClr val="FF0000"/>
            </a:solidFill>
            <a:headEnd/>
            <a:tailEnd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5377" name="Freeform 33"/>
          <p:cNvSpPr>
            <a:spLocks/>
          </p:cNvSpPr>
          <p:nvPr/>
        </p:nvSpPr>
        <p:spPr bwMode="auto">
          <a:xfrm>
            <a:off x="5912159" y="2393950"/>
            <a:ext cx="1817687" cy="1949450"/>
          </a:xfrm>
          <a:custGeom>
            <a:avLst/>
            <a:gdLst/>
            <a:ahLst/>
            <a:cxnLst>
              <a:cxn ang="0">
                <a:pos x="1727" y="2019"/>
              </a:cxn>
              <a:cxn ang="0">
                <a:pos x="1421" y="1869"/>
              </a:cxn>
              <a:cxn ang="0">
                <a:pos x="1084" y="1652"/>
              </a:cxn>
              <a:cxn ang="0">
                <a:pos x="736" y="1310"/>
              </a:cxn>
              <a:cxn ang="0">
                <a:pos x="418" y="899"/>
              </a:cxn>
              <a:cxn ang="0">
                <a:pos x="106" y="311"/>
              </a:cxn>
              <a:cxn ang="0">
                <a:pos x="0" y="0"/>
              </a:cxn>
            </a:cxnLst>
            <a:rect l="0" t="0" r="r" b="b"/>
            <a:pathLst>
              <a:path w="1727" h="2019">
                <a:moveTo>
                  <a:pt x="1727" y="2019"/>
                </a:moveTo>
                <a:cubicBezTo>
                  <a:pt x="1676" y="1995"/>
                  <a:pt x="1528" y="1930"/>
                  <a:pt x="1421" y="1869"/>
                </a:cubicBezTo>
                <a:cubicBezTo>
                  <a:pt x="1314" y="1808"/>
                  <a:pt x="1198" y="1745"/>
                  <a:pt x="1084" y="1652"/>
                </a:cubicBezTo>
                <a:cubicBezTo>
                  <a:pt x="970" y="1559"/>
                  <a:pt x="847" y="1436"/>
                  <a:pt x="736" y="1310"/>
                </a:cubicBezTo>
                <a:cubicBezTo>
                  <a:pt x="625" y="1184"/>
                  <a:pt x="523" y="1065"/>
                  <a:pt x="418" y="899"/>
                </a:cubicBezTo>
                <a:cubicBezTo>
                  <a:pt x="312" y="733"/>
                  <a:pt x="176" y="460"/>
                  <a:pt x="106" y="311"/>
                </a:cubicBezTo>
                <a:cubicBezTo>
                  <a:pt x="36" y="162"/>
                  <a:pt x="22" y="65"/>
                  <a:pt x="0" y="0"/>
                </a:cubicBezTo>
              </a:path>
            </a:pathLst>
          </a:cu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9178" name="Text Box 35"/>
          <p:cNvSpPr txBox="1">
            <a:spLocks noChangeArrowheads="1"/>
          </p:cNvSpPr>
          <p:nvPr/>
        </p:nvSpPr>
        <p:spPr bwMode="auto">
          <a:xfrm>
            <a:off x="7723496" y="4314825"/>
            <a:ext cx="4873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D</a:t>
            </a:r>
            <a:r>
              <a:rPr lang="en-US" baseline="-25000"/>
              <a:t>S</a:t>
            </a:r>
            <a:endParaRPr lang="en-US"/>
          </a:p>
        </p:txBody>
      </p:sp>
      <p:sp>
        <p:nvSpPr>
          <p:cNvPr id="49179" name="Text Box 39"/>
          <p:cNvSpPr txBox="1">
            <a:spLocks noChangeArrowheads="1"/>
          </p:cNvSpPr>
          <p:nvPr/>
        </p:nvSpPr>
        <p:spPr bwMode="auto">
          <a:xfrm>
            <a:off x="6210300" y="4949825"/>
            <a:ext cx="8004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 dirty="0"/>
              <a:t>N</a:t>
            </a:r>
            <a:r>
              <a:rPr lang="en-US" sz="1800" baseline="-25000" dirty="0"/>
              <a:t>S</a:t>
            </a:r>
            <a:endParaRPr lang="en-US" sz="1800" dirty="0"/>
          </a:p>
        </p:txBody>
      </p:sp>
      <p:grpSp>
        <p:nvGrpSpPr>
          <p:cNvPr id="2" name="Group 59"/>
          <p:cNvGrpSpPr>
            <a:grpSpLocks/>
          </p:cNvGrpSpPr>
          <p:nvPr/>
        </p:nvGrpSpPr>
        <p:grpSpPr bwMode="auto">
          <a:xfrm>
            <a:off x="2005321" y="2657475"/>
            <a:ext cx="2552700" cy="2301875"/>
            <a:chOff x="1977778" y="2657375"/>
            <a:chExt cx="2552936" cy="2302092"/>
          </a:xfrm>
        </p:grpSpPr>
        <p:sp>
          <p:nvSpPr>
            <p:cNvPr id="185357" name="Freeform 13"/>
            <p:cNvSpPr>
              <a:spLocks/>
            </p:cNvSpPr>
            <p:nvPr/>
          </p:nvSpPr>
          <p:spPr bwMode="auto">
            <a:xfrm>
              <a:off x="1977778" y="2657375"/>
              <a:ext cx="1817856" cy="1949634"/>
            </a:xfrm>
            <a:custGeom>
              <a:avLst/>
              <a:gdLst/>
              <a:ahLst/>
              <a:cxnLst>
                <a:cxn ang="0">
                  <a:pos x="1727" y="2019"/>
                </a:cxn>
                <a:cxn ang="0">
                  <a:pos x="1421" y="1869"/>
                </a:cxn>
                <a:cxn ang="0">
                  <a:pos x="1084" y="1652"/>
                </a:cxn>
                <a:cxn ang="0">
                  <a:pos x="736" y="1310"/>
                </a:cxn>
                <a:cxn ang="0">
                  <a:pos x="418" y="899"/>
                </a:cxn>
                <a:cxn ang="0">
                  <a:pos x="106" y="311"/>
                </a:cxn>
                <a:cxn ang="0">
                  <a:pos x="0" y="0"/>
                </a:cxn>
              </a:cxnLst>
              <a:rect l="0" t="0" r="r" b="b"/>
              <a:pathLst>
                <a:path w="1727" h="2019">
                  <a:moveTo>
                    <a:pt x="1727" y="2019"/>
                  </a:moveTo>
                  <a:cubicBezTo>
                    <a:pt x="1676" y="1995"/>
                    <a:pt x="1528" y="1930"/>
                    <a:pt x="1421" y="1869"/>
                  </a:cubicBezTo>
                  <a:cubicBezTo>
                    <a:pt x="1314" y="1808"/>
                    <a:pt x="1198" y="1745"/>
                    <a:pt x="1084" y="1652"/>
                  </a:cubicBezTo>
                  <a:cubicBezTo>
                    <a:pt x="970" y="1559"/>
                    <a:pt x="847" y="1436"/>
                    <a:pt x="736" y="1310"/>
                  </a:cubicBezTo>
                  <a:cubicBezTo>
                    <a:pt x="625" y="1184"/>
                    <a:pt x="523" y="1065"/>
                    <a:pt x="418" y="899"/>
                  </a:cubicBezTo>
                  <a:cubicBezTo>
                    <a:pt x="312" y="733"/>
                    <a:pt x="176" y="460"/>
                    <a:pt x="106" y="311"/>
                  </a:cubicBezTo>
                  <a:cubicBezTo>
                    <a:pt x="36" y="162"/>
                    <a:pt x="22" y="65"/>
                    <a:pt x="0" y="0"/>
                  </a:cubicBezTo>
                </a:path>
              </a:pathLst>
            </a:cu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9212" name="Text Box 15"/>
            <p:cNvSpPr txBox="1">
              <a:spLocks noChangeArrowheads="1"/>
            </p:cNvSpPr>
            <p:nvPr/>
          </p:nvSpPr>
          <p:spPr bwMode="auto">
            <a:xfrm>
              <a:off x="3342438" y="4588651"/>
              <a:ext cx="1188276" cy="3708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D'</a:t>
              </a:r>
              <a:r>
                <a:rPr lang="en-US" baseline="-25000"/>
                <a:t>T</a:t>
              </a:r>
              <a:endParaRPr lang="en-US"/>
            </a:p>
          </p:txBody>
        </p:sp>
        <p:sp>
          <p:nvSpPr>
            <p:cNvPr id="185366" name="AutoShape 22"/>
            <p:cNvSpPr>
              <a:spLocks noChangeArrowheads="1"/>
            </p:cNvSpPr>
            <p:nvPr/>
          </p:nvSpPr>
          <p:spPr bwMode="auto">
            <a:xfrm flipH="1">
              <a:off x="3321219" y="4226634"/>
              <a:ext cx="567614" cy="259640"/>
            </a:xfrm>
            <a:prstGeom prst="rightArrow">
              <a:avLst>
                <a:gd name="adj1" fmla="val 50000"/>
                <a:gd name="adj2" fmla="val 144595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grpSp>
        <p:nvGrpSpPr>
          <p:cNvPr id="3" name="Group 60"/>
          <p:cNvGrpSpPr>
            <a:grpSpLocks/>
          </p:cNvGrpSpPr>
          <p:nvPr/>
        </p:nvGrpSpPr>
        <p:grpSpPr bwMode="auto">
          <a:xfrm>
            <a:off x="1181100" y="3781423"/>
            <a:ext cx="2019299" cy="1558939"/>
            <a:chOff x="1154028" y="3782005"/>
            <a:chExt cx="2019861" cy="1558558"/>
          </a:xfrm>
        </p:grpSpPr>
        <p:sp>
          <p:nvSpPr>
            <p:cNvPr id="49201" name="Line 8"/>
            <p:cNvSpPr>
              <a:spLocks noChangeShapeType="1"/>
            </p:cNvSpPr>
            <p:nvPr/>
          </p:nvSpPr>
          <p:spPr bwMode="auto">
            <a:xfrm flipV="1">
              <a:off x="2855723" y="4022775"/>
              <a:ext cx="0" cy="9200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202" name="Line 9"/>
            <p:cNvSpPr>
              <a:spLocks noChangeShapeType="1"/>
            </p:cNvSpPr>
            <p:nvPr/>
          </p:nvSpPr>
          <p:spPr bwMode="auto">
            <a:xfrm>
              <a:off x="1879639" y="4038596"/>
              <a:ext cx="9999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203" name="Text Box 19"/>
            <p:cNvSpPr txBox="1">
              <a:spLocks noChangeArrowheads="1"/>
            </p:cNvSpPr>
            <p:nvPr/>
          </p:nvSpPr>
          <p:spPr bwMode="auto">
            <a:xfrm>
              <a:off x="1154028" y="3864576"/>
              <a:ext cx="857488" cy="369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1800" dirty="0"/>
                <a:t>W’</a:t>
              </a:r>
              <a:r>
                <a:rPr lang="en-US" sz="1800" baseline="-25000" dirty="0"/>
                <a:t>T</a:t>
              </a:r>
              <a:endParaRPr lang="en-US" sz="1800" dirty="0"/>
            </a:p>
          </p:txBody>
        </p:sp>
        <p:sp>
          <p:nvSpPr>
            <p:cNvPr id="49204" name="Text Box 20"/>
            <p:cNvSpPr txBox="1">
              <a:spLocks noChangeArrowheads="1"/>
            </p:cNvSpPr>
            <p:nvPr/>
          </p:nvSpPr>
          <p:spPr bwMode="auto">
            <a:xfrm>
              <a:off x="2438399" y="4971321"/>
              <a:ext cx="735490" cy="369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/>
                <a:t>N'</a:t>
              </a:r>
              <a:r>
                <a:rPr lang="en-US" sz="1800" baseline="-25000" dirty="0"/>
                <a:t>T</a:t>
              </a:r>
              <a:endParaRPr lang="en-US" sz="1800" dirty="0"/>
            </a:p>
          </p:txBody>
        </p:sp>
        <p:sp>
          <p:nvSpPr>
            <p:cNvPr id="185365" name="AutoShape 21"/>
            <p:cNvSpPr>
              <a:spLocks noChangeArrowheads="1"/>
            </p:cNvSpPr>
            <p:nvPr/>
          </p:nvSpPr>
          <p:spPr bwMode="auto">
            <a:xfrm rot="5400000" flipV="1">
              <a:off x="1945387" y="3777804"/>
              <a:ext cx="226516" cy="234918"/>
            </a:xfrm>
            <a:prstGeom prst="rightArrow">
              <a:avLst>
                <a:gd name="adj1" fmla="val 50000"/>
                <a:gd name="adj2" fmla="val 54167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85367" name="AutoShape 23"/>
            <p:cNvSpPr>
              <a:spLocks noChangeArrowheads="1"/>
            </p:cNvSpPr>
            <p:nvPr/>
          </p:nvSpPr>
          <p:spPr bwMode="auto">
            <a:xfrm rot="10800000" flipV="1">
              <a:off x="2882126" y="4588980"/>
              <a:ext cx="277780" cy="191170"/>
            </a:xfrm>
            <a:prstGeom prst="rightArrow">
              <a:avLst>
                <a:gd name="adj1" fmla="val 50000"/>
                <a:gd name="adj2" fmla="val 67284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grpSp>
        <p:nvGrpSpPr>
          <p:cNvPr id="4" name="Group 61"/>
          <p:cNvGrpSpPr>
            <a:grpSpLocks/>
          </p:cNvGrpSpPr>
          <p:nvPr/>
        </p:nvGrpSpPr>
        <p:grpSpPr bwMode="auto">
          <a:xfrm>
            <a:off x="6353484" y="2235200"/>
            <a:ext cx="2319337" cy="2095500"/>
            <a:chOff x="6326390" y="2235099"/>
            <a:chExt cx="2318844" cy="2095686"/>
          </a:xfrm>
        </p:grpSpPr>
        <p:sp>
          <p:nvSpPr>
            <p:cNvPr id="185378" name="Freeform 34"/>
            <p:cNvSpPr>
              <a:spLocks/>
            </p:cNvSpPr>
            <p:nvPr/>
          </p:nvSpPr>
          <p:spPr bwMode="auto">
            <a:xfrm>
              <a:off x="6326390" y="2235099"/>
              <a:ext cx="1841109" cy="1905169"/>
            </a:xfrm>
            <a:custGeom>
              <a:avLst/>
              <a:gdLst/>
              <a:ahLst/>
              <a:cxnLst>
                <a:cxn ang="0">
                  <a:pos x="1750" y="1973"/>
                </a:cxn>
                <a:cxn ang="0">
                  <a:pos x="1503" y="1869"/>
                </a:cxn>
                <a:cxn ang="0">
                  <a:pos x="1121" y="1652"/>
                </a:cxn>
                <a:cxn ang="0">
                  <a:pos x="736" y="1310"/>
                </a:cxn>
                <a:cxn ang="0">
                  <a:pos x="418" y="899"/>
                </a:cxn>
                <a:cxn ang="0">
                  <a:pos x="106" y="311"/>
                </a:cxn>
                <a:cxn ang="0">
                  <a:pos x="0" y="0"/>
                </a:cxn>
              </a:cxnLst>
              <a:rect l="0" t="0" r="r" b="b"/>
              <a:pathLst>
                <a:path w="1750" h="1973">
                  <a:moveTo>
                    <a:pt x="1750" y="1973"/>
                  </a:moveTo>
                  <a:cubicBezTo>
                    <a:pt x="1710" y="1954"/>
                    <a:pt x="1608" y="1922"/>
                    <a:pt x="1503" y="1869"/>
                  </a:cubicBezTo>
                  <a:cubicBezTo>
                    <a:pt x="1398" y="1816"/>
                    <a:pt x="1249" y="1745"/>
                    <a:pt x="1121" y="1652"/>
                  </a:cubicBezTo>
                  <a:cubicBezTo>
                    <a:pt x="993" y="1559"/>
                    <a:pt x="853" y="1435"/>
                    <a:pt x="736" y="1310"/>
                  </a:cubicBezTo>
                  <a:cubicBezTo>
                    <a:pt x="619" y="1185"/>
                    <a:pt x="523" y="1065"/>
                    <a:pt x="418" y="899"/>
                  </a:cubicBezTo>
                  <a:cubicBezTo>
                    <a:pt x="312" y="733"/>
                    <a:pt x="176" y="460"/>
                    <a:pt x="106" y="311"/>
                  </a:cubicBezTo>
                  <a:cubicBezTo>
                    <a:pt x="36" y="162"/>
                    <a:pt x="22" y="65"/>
                    <a:pt x="0" y="0"/>
                  </a:cubicBezTo>
                </a:path>
              </a:pathLst>
            </a:cu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9197" name="Text Box 36"/>
            <p:cNvSpPr txBox="1">
              <a:spLocks noChangeArrowheads="1"/>
            </p:cNvSpPr>
            <p:nvPr/>
          </p:nvSpPr>
          <p:spPr bwMode="auto">
            <a:xfrm>
              <a:off x="8056981" y="3959969"/>
              <a:ext cx="588253" cy="3708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D'</a:t>
              </a:r>
              <a:r>
                <a:rPr lang="en-US" baseline="-25000"/>
                <a:t>S</a:t>
              </a:r>
              <a:endParaRPr lang="en-US"/>
            </a:p>
          </p:txBody>
        </p:sp>
        <p:sp>
          <p:nvSpPr>
            <p:cNvPr id="185385" name="AutoShape 41"/>
            <p:cNvSpPr>
              <a:spLocks noChangeArrowheads="1"/>
            </p:cNvSpPr>
            <p:nvPr/>
          </p:nvSpPr>
          <p:spPr bwMode="auto">
            <a:xfrm>
              <a:off x="7228207" y="3930509"/>
              <a:ext cx="629918" cy="255729"/>
            </a:xfrm>
            <a:prstGeom prst="rightArrow">
              <a:avLst>
                <a:gd name="adj1" fmla="val 50000"/>
                <a:gd name="adj2" fmla="val 144595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grpSp>
        <p:nvGrpSpPr>
          <p:cNvPr id="5" name="Group 62"/>
          <p:cNvGrpSpPr>
            <a:grpSpLocks/>
          </p:cNvGrpSpPr>
          <p:nvPr/>
        </p:nvGrpSpPr>
        <p:grpSpPr bwMode="auto">
          <a:xfrm>
            <a:off x="4676776" y="3362325"/>
            <a:ext cx="2971800" cy="1957479"/>
            <a:chOff x="4649763" y="3361979"/>
            <a:chExt cx="2971747" cy="1957420"/>
          </a:xfrm>
        </p:grpSpPr>
        <p:sp>
          <p:nvSpPr>
            <p:cNvPr id="49186" name="Line 28"/>
            <p:cNvSpPr>
              <a:spLocks noChangeShapeType="1"/>
            </p:cNvSpPr>
            <p:nvPr/>
          </p:nvSpPr>
          <p:spPr bwMode="auto">
            <a:xfrm flipV="1">
              <a:off x="7130068" y="3476372"/>
              <a:ext cx="0" cy="146640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187" name="Line 29"/>
            <p:cNvSpPr>
              <a:spLocks noChangeShapeType="1"/>
            </p:cNvSpPr>
            <p:nvPr/>
          </p:nvSpPr>
          <p:spPr bwMode="auto">
            <a:xfrm>
              <a:off x="5480274" y="3482456"/>
              <a:ext cx="164448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188" name="Text Box 37"/>
            <p:cNvSpPr txBox="1">
              <a:spLocks noChangeArrowheads="1"/>
            </p:cNvSpPr>
            <p:nvPr/>
          </p:nvSpPr>
          <p:spPr bwMode="auto">
            <a:xfrm>
              <a:off x="4649763" y="3361979"/>
              <a:ext cx="829185" cy="3693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1800" dirty="0"/>
                <a:t>W'</a:t>
              </a:r>
              <a:r>
                <a:rPr lang="en-US" sz="1800" baseline="-25000" dirty="0"/>
                <a:t>S</a:t>
              </a:r>
              <a:endParaRPr lang="en-US" sz="1800" dirty="0"/>
            </a:p>
          </p:txBody>
        </p:sp>
        <p:sp>
          <p:nvSpPr>
            <p:cNvPr id="49189" name="Text Box 38"/>
            <p:cNvSpPr txBox="1">
              <a:spLocks noChangeArrowheads="1"/>
            </p:cNvSpPr>
            <p:nvPr/>
          </p:nvSpPr>
          <p:spPr bwMode="auto">
            <a:xfrm>
              <a:off x="6875181" y="4950078"/>
              <a:ext cx="746329" cy="3693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/>
                <a:t>N'</a:t>
              </a:r>
              <a:r>
                <a:rPr lang="en-US" sz="1800" baseline="-25000" dirty="0"/>
                <a:t>S</a:t>
              </a:r>
              <a:endParaRPr lang="en-US" sz="1800" dirty="0"/>
            </a:p>
          </p:txBody>
        </p:sp>
        <p:sp>
          <p:nvSpPr>
            <p:cNvPr id="185384" name="AutoShape 40"/>
            <p:cNvSpPr>
              <a:spLocks noChangeArrowheads="1"/>
            </p:cNvSpPr>
            <p:nvPr/>
          </p:nvSpPr>
          <p:spPr bwMode="auto">
            <a:xfrm rot="16200000">
              <a:off x="5837406" y="3512690"/>
              <a:ext cx="222034" cy="210022"/>
            </a:xfrm>
            <a:prstGeom prst="rightArrow">
              <a:avLst>
                <a:gd name="adj1" fmla="val 50000"/>
                <a:gd name="adj2" fmla="val 45000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85386" name="AutoShape 42"/>
            <p:cNvSpPr>
              <a:spLocks noChangeArrowheads="1"/>
            </p:cNvSpPr>
            <p:nvPr/>
          </p:nvSpPr>
          <p:spPr bwMode="auto">
            <a:xfrm flipV="1">
              <a:off x="6858439" y="4673946"/>
              <a:ext cx="271388" cy="212399"/>
            </a:xfrm>
            <a:prstGeom prst="rightArrow">
              <a:avLst>
                <a:gd name="adj1" fmla="val 50000"/>
                <a:gd name="adj2" fmla="val 67284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49184" name="Text Box 3"/>
          <p:cNvSpPr txBox="1">
            <a:spLocks noChangeArrowheads="1"/>
          </p:cNvSpPr>
          <p:nvPr/>
        </p:nvSpPr>
        <p:spPr bwMode="auto">
          <a:xfrm>
            <a:off x="5489884" y="1978025"/>
            <a:ext cx="3049587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u="sng"/>
              <a:t>Software</a:t>
            </a:r>
          </a:p>
        </p:txBody>
      </p:sp>
      <p:sp>
        <p:nvSpPr>
          <p:cNvPr id="49185" name="Text Box 3"/>
          <p:cNvSpPr txBox="1">
            <a:spLocks noChangeArrowheads="1"/>
          </p:cNvSpPr>
          <p:nvPr/>
        </p:nvSpPr>
        <p:spPr bwMode="auto">
          <a:xfrm>
            <a:off x="1906896" y="1992313"/>
            <a:ext cx="2941638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u="sng"/>
              <a:t>Textiles</a:t>
            </a:r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92767" y="1685925"/>
            <a:ext cx="8403608" cy="4953000"/>
          </a:xfrm>
        </p:spPr>
        <p:txBody>
          <a:bodyPr/>
          <a:lstStyle/>
          <a:p>
            <a:pPr eaLnBrk="1" hangingPunct="1"/>
            <a:r>
              <a:rPr lang="en-US" sz="2600" dirty="0"/>
              <a:t>When wages in importing industries fall and wages in exporting industries rise, wage inequality increases</a:t>
            </a:r>
          </a:p>
          <a:p>
            <a:pPr lvl="1" eaLnBrk="1" hangingPunct="1"/>
            <a:r>
              <a:rPr lang="en-US" sz="2300" dirty="0"/>
              <a:t>Low-skill industries face the toughest international competition</a:t>
            </a:r>
          </a:p>
          <a:p>
            <a:pPr lvl="1" eaLnBrk="1" hangingPunct="1"/>
            <a:r>
              <a:rPr lang="en-US" sz="2300" dirty="0"/>
              <a:t>Political resistance to free trade grows</a:t>
            </a:r>
          </a:p>
          <a:p>
            <a:pPr eaLnBrk="1" hangingPunct="1"/>
            <a:r>
              <a:rPr lang="en-US" sz="2600" b="1" dirty="0"/>
              <a:t>Worker mobility</a:t>
            </a:r>
            <a:r>
              <a:rPr lang="en-US" sz="2600" dirty="0"/>
              <a:t> is the movement of workers between jobs, firms, and industries</a:t>
            </a:r>
          </a:p>
          <a:p>
            <a:pPr lvl="1" eaLnBrk="1" hangingPunct="1"/>
            <a:r>
              <a:rPr lang="en-US" sz="2300" dirty="0"/>
              <a:t>Market incentives move workers out of textiles and into software</a:t>
            </a:r>
          </a:p>
          <a:p>
            <a:pPr lvl="1" eaLnBrk="1" hangingPunct="1"/>
            <a:r>
              <a:rPr lang="en-US" sz="2300" dirty="0"/>
              <a:t>Transition aid by government can assist workers to make the change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85800" y="3048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kern="0" dirty="0"/>
              <a:t>Effect of Globalization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13096" y="1600200"/>
            <a:ext cx="8229600" cy="5095875"/>
          </a:xfrm>
        </p:spPr>
        <p:txBody>
          <a:bodyPr/>
          <a:lstStyle/>
          <a:p>
            <a:pPr eaLnBrk="1" hangingPunct="1"/>
            <a:r>
              <a:rPr lang="en-US" dirty="0"/>
              <a:t>Technological change can be a source of increasing wage inequality</a:t>
            </a:r>
          </a:p>
          <a:p>
            <a:pPr lvl="1" eaLnBrk="1" hangingPunct="1"/>
            <a:r>
              <a:rPr lang="en-US" dirty="0"/>
              <a:t>Occurs if technical change favors higher-skilled or better-educated workers</a:t>
            </a:r>
          </a:p>
          <a:p>
            <a:pPr eaLnBrk="1" hangingPunct="1"/>
            <a:r>
              <a:rPr lang="en-US" dirty="0"/>
              <a:t>Some innovation renders old skills less valuable</a:t>
            </a:r>
          </a:p>
          <a:p>
            <a:pPr lvl="1" eaLnBrk="1" hangingPunct="1"/>
            <a:r>
              <a:rPr lang="en-US" dirty="0"/>
              <a:t>Addition and the calculator and computer</a:t>
            </a:r>
          </a:p>
          <a:p>
            <a:pPr eaLnBrk="1" hangingPunct="1"/>
            <a:r>
              <a:rPr lang="en-US" b="1" dirty="0"/>
              <a:t>Skill-biased technological change</a:t>
            </a:r>
            <a:r>
              <a:rPr lang="en-US" dirty="0"/>
              <a:t> affects the marginal products of higher skilled workers differently from those of lower-skilled workers</a:t>
            </a:r>
          </a:p>
          <a:p>
            <a:pPr lvl="1" eaLnBrk="1" hangingPunct="1"/>
            <a:r>
              <a:rPr lang="en-US" dirty="0"/>
              <a:t>Recent changes favor higher skilled workers</a:t>
            </a:r>
          </a:p>
          <a:p>
            <a:pPr lvl="1" eaLnBrk="1" hangingPunct="1"/>
            <a:r>
              <a:rPr lang="en-US" dirty="0"/>
              <a:t>Automobile production lines increasingly use robots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713096" y="3048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kern="0" dirty="0"/>
              <a:t>Effect of Technological Change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/>
          <p:cNvSpPr/>
          <p:nvPr/>
        </p:nvSpPr>
        <p:spPr bwMode="auto">
          <a:xfrm>
            <a:off x="840674" y="1615040"/>
            <a:ext cx="8108868" cy="442751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917575" y="1690688"/>
            <a:ext cx="7956550" cy="4275137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30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57225" y="276225"/>
            <a:ext cx="8201025" cy="993775"/>
          </a:xfrm>
        </p:spPr>
        <p:txBody>
          <a:bodyPr/>
          <a:lstStyle/>
          <a:p>
            <a:pPr eaLnBrk="1" hangingPunct="1"/>
            <a:r>
              <a:rPr lang="en-US" sz="4000" dirty="0"/>
              <a:t>Skill-Biased Technological Change</a:t>
            </a:r>
          </a:p>
        </p:txBody>
      </p:sp>
      <p:sp>
        <p:nvSpPr>
          <p:cNvPr id="55302" name="Line 6"/>
          <p:cNvSpPr>
            <a:spLocks noChangeShapeType="1"/>
          </p:cNvSpPr>
          <p:nvPr/>
        </p:nvSpPr>
        <p:spPr bwMode="auto">
          <a:xfrm flipH="1">
            <a:off x="1830388" y="2249488"/>
            <a:ext cx="4762" cy="2897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303" name="Text Box 3"/>
          <p:cNvSpPr txBox="1">
            <a:spLocks noChangeArrowheads="1"/>
          </p:cNvSpPr>
          <p:nvPr/>
        </p:nvSpPr>
        <p:spPr bwMode="auto">
          <a:xfrm>
            <a:off x="1847850" y="5457825"/>
            <a:ext cx="32639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Employment</a:t>
            </a:r>
          </a:p>
        </p:txBody>
      </p:sp>
      <p:sp>
        <p:nvSpPr>
          <p:cNvPr id="55304" name="Text Box 4"/>
          <p:cNvSpPr txBox="1">
            <a:spLocks noChangeArrowheads="1"/>
          </p:cNvSpPr>
          <p:nvPr/>
        </p:nvSpPr>
        <p:spPr bwMode="auto">
          <a:xfrm rot="-5400000">
            <a:off x="246063" y="3370263"/>
            <a:ext cx="193675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Real Wage</a:t>
            </a:r>
          </a:p>
        </p:txBody>
      </p:sp>
      <p:sp>
        <p:nvSpPr>
          <p:cNvPr id="55305" name="Line 5"/>
          <p:cNvSpPr>
            <a:spLocks noChangeShapeType="1"/>
          </p:cNvSpPr>
          <p:nvPr/>
        </p:nvSpPr>
        <p:spPr bwMode="auto">
          <a:xfrm>
            <a:off x="1841500" y="5143500"/>
            <a:ext cx="3263900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306" name="Text Box 10"/>
          <p:cNvSpPr txBox="1">
            <a:spLocks noChangeArrowheads="1"/>
          </p:cNvSpPr>
          <p:nvPr/>
        </p:nvSpPr>
        <p:spPr bwMode="auto">
          <a:xfrm>
            <a:off x="2132013" y="1800225"/>
            <a:ext cx="25003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u="sng"/>
              <a:t>Unskilled Workers</a:t>
            </a:r>
          </a:p>
        </p:txBody>
      </p:sp>
      <p:sp>
        <p:nvSpPr>
          <p:cNvPr id="55307" name="Line 31"/>
          <p:cNvSpPr>
            <a:spLocks noChangeShapeType="1"/>
          </p:cNvSpPr>
          <p:nvPr/>
        </p:nvSpPr>
        <p:spPr bwMode="auto">
          <a:xfrm>
            <a:off x="1854200" y="4056063"/>
            <a:ext cx="10731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65"/>
          <p:cNvGrpSpPr>
            <a:grpSpLocks/>
          </p:cNvGrpSpPr>
          <p:nvPr/>
        </p:nvGrpSpPr>
        <p:grpSpPr bwMode="auto">
          <a:xfrm>
            <a:off x="1208088" y="3779838"/>
            <a:ext cx="2047875" cy="1760537"/>
            <a:chOff x="1207813" y="3779811"/>
            <a:chExt cx="2048204" cy="1761127"/>
          </a:xfrm>
        </p:grpSpPr>
        <p:sp>
          <p:nvSpPr>
            <p:cNvPr id="201766" name="AutoShape 38"/>
            <p:cNvSpPr>
              <a:spLocks noChangeArrowheads="1"/>
            </p:cNvSpPr>
            <p:nvPr/>
          </p:nvSpPr>
          <p:spPr bwMode="auto">
            <a:xfrm flipH="1">
              <a:off x="2945780" y="4849372"/>
              <a:ext cx="310237" cy="175428"/>
            </a:xfrm>
            <a:prstGeom prst="rightArrow">
              <a:avLst>
                <a:gd name="adj1" fmla="val 50000"/>
                <a:gd name="adj2" fmla="val 67284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/>
            </a:p>
          </p:txBody>
        </p:sp>
        <p:sp>
          <p:nvSpPr>
            <p:cNvPr id="55355" name="Line 30"/>
            <p:cNvSpPr>
              <a:spLocks noChangeShapeType="1"/>
            </p:cNvSpPr>
            <p:nvPr/>
          </p:nvSpPr>
          <p:spPr bwMode="auto">
            <a:xfrm flipV="1">
              <a:off x="2902293" y="4037662"/>
              <a:ext cx="0" cy="10959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356" name="Text Box 34"/>
            <p:cNvSpPr txBox="1">
              <a:spLocks noChangeArrowheads="1"/>
            </p:cNvSpPr>
            <p:nvPr/>
          </p:nvSpPr>
          <p:spPr bwMode="auto">
            <a:xfrm>
              <a:off x="1207813" y="3849210"/>
              <a:ext cx="667329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000"/>
                <a:t>W'</a:t>
              </a:r>
              <a:r>
                <a:rPr lang="en-US" sz="2000" baseline="-25000"/>
                <a:t>S</a:t>
              </a:r>
            </a:p>
          </p:txBody>
        </p:sp>
        <p:sp>
          <p:nvSpPr>
            <p:cNvPr id="55357" name="Text Box 35"/>
            <p:cNvSpPr txBox="1">
              <a:spLocks noChangeArrowheads="1"/>
            </p:cNvSpPr>
            <p:nvPr/>
          </p:nvSpPr>
          <p:spPr bwMode="auto">
            <a:xfrm>
              <a:off x="2534965" y="5140828"/>
              <a:ext cx="59492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000"/>
                <a:t>N'</a:t>
              </a:r>
              <a:r>
                <a:rPr lang="en-US" sz="2000" baseline="-25000"/>
                <a:t>U</a:t>
              </a:r>
              <a:endParaRPr lang="en-US" sz="2000"/>
            </a:p>
          </p:txBody>
        </p:sp>
        <p:sp>
          <p:nvSpPr>
            <p:cNvPr id="201764" name="AutoShape 36"/>
            <p:cNvSpPr>
              <a:spLocks noChangeArrowheads="1"/>
            </p:cNvSpPr>
            <p:nvPr/>
          </p:nvSpPr>
          <p:spPr bwMode="auto">
            <a:xfrm rot="5400000" flipV="1">
              <a:off x="1961740" y="3780508"/>
              <a:ext cx="243912" cy="242517"/>
            </a:xfrm>
            <a:prstGeom prst="rightArrow">
              <a:avLst>
                <a:gd name="adj1" fmla="val 45463"/>
                <a:gd name="adj2" fmla="val 42861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/>
            </a:p>
          </p:txBody>
        </p:sp>
      </p:grpSp>
      <p:sp>
        <p:nvSpPr>
          <p:cNvPr id="55309" name="Text Box 13"/>
          <p:cNvSpPr txBox="1">
            <a:spLocks noChangeArrowheads="1"/>
          </p:cNvSpPr>
          <p:nvPr/>
        </p:nvSpPr>
        <p:spPr bwMode="auto">
          <a:xfrm>
            <a:off x="3608388" y="2190750"/>
            <a:ext cx="12747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S</a:t>
            </a:r>
            <a:r>
              <a:rPr lang="en-US" sz="2000" baseline="-25000"/>
              <a:t>U</a:t>
            </a:r>
            <a:endParaRPr lang="en-US" sz="2000"/>
          </a:p>
        </p:txBody>
      </p:sp>
      <p:sp>
        <p:nvSpPr>
          <p:cNvPr id="55310" name="Line 14"/>
          <p:cNvSpPr>
            <a:spLocks noChangeShapeType="1"/>
          </p:cNvSpPr>
          <p:nvPr/>
        </p:nvSpPr>
        <p:spPr bwMode="auto">
          <a:xfrm>
            <a:off x="1854200" y="3729038"/>
            <a:ext cx="13843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311" name="Line 15"/>
          <p:cNvSpPr>
            <a:spLocks noChangeShapeType="1"/>
          </p:cNvSpPr>
          <p:nvPr/>
        </p:nvSpPr>
        <p:spPr bwMode="auto">
          <a:xfrm flipV="1">
            <a:off x="3278188" y="3730625"/>
            <a:ext cx="0" cy="14033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1744" name="Freeform 16"/>
          <p:cNvSpPr>
            <a:spLocks/>
          </p:cNvSpPr>
          <p:nvPr/>
        </p:nvSpPr>
        <p:spPr bwMode="auto">
          <a:xfrm>
            <a:off x="2051050" y="2520950"/>
            <a:ext cx="1925638" cy="1962150"/>
          </a:xfrm>
          <a:custGeom>
            <a:avLst/>
            <a:gdLst/>
            <a:ahLst/>
            <a:cxnLst>
              <a:cxn ang="0">
                <a:pos x="0" y="1705"/>
              </a:cxn>
              <a:cxn ang="0">
                <a:pos x="299" y="1585"/>
              </a:cxn>
              <a:cxn ang="0">
                <a:pos x="614" y="1436"/>
              </a:cxn>
              <a:cxn ang="0">
                <a:pos x="980" y="1167"/>
              </a:cxn>
              <a:cxn ang="0">
                <a:pos x="1294" y="801"/>
              </a:cxn>
              <a:cxn ang="0">
                <a:pos x="1601" y="277"/>
              </a:cxn>
              <a:cxn ang="0">
                <a:pos x="1706" y="0"/>
              </a:cxn>
            </a:cxnLst>
            <a:rect l="0" t="0" r="r" b="b"/>
            <a:pathLst>
              <a:path w="1706" h="1705">
                <a:moveTo>
                  <a:pt x="0" y="1705"/>
                </a:moveTo>
                <a:cubicBezTo>
                  <a:pt x="98" y="1667"/>
                  <a:pt x="197" y="1630"/>
                  <a:pt x="299" y="1585"/>
                </a:cubicBezTo>
                <a:cubicBezTo>
                  <a:pt x="401" y="1540"/>
                  <a:pt x="500" y="1506"/>
                  <a:pt x="614" y="1436"/>
                </a:cubicBezTo>
                <a:cubicBezTo>
                  <a:pt x="728" y="1366"/>
                  <a:pt x="867" y="1273"/>
                  <a:pt x="980" y="1167"/>
                </a:cubicBezTo>
                <a:cubicBezTo>
                  <a:pt x="1093" y="1061"/>
                  <a:pt x="1190" y="949"/>
                  <a:pt x="1294" y="801"/>
                </a:cubicBezTo>
                <a:cubicBezTo>
                  <a:pt x="1398" y="653"/>
                  <a:pt x="1532" y="410"/>
                  <a:pt x="1601" y="277"/>
                </a:cubicBezTo>
                <a:cubicBezTo>
                  <a:pt x="1670" y="144"/>
                  <a:pt x="1684" y="58"/>
                  <a:pt x="1706" y="0"/>
                </a:cubicBezTo>
              </a:path>
            </a:pathLst>
          </a:custGeom>
          <a:ln>
            <a:solidFill>
              <a:srgbClr val="FF0000"/>
            </a:solidFill>
            <a:headEnd/>
            <a:tailEnd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00"/>
          </a:p>
        </p:txBody>
      </p:sp>
      <p:sp>
        <p:nvSpPr>
          <p:cNvPr id="201745" name="Freeform 17"/>
          <p:cNvSpPr>
            <a:spLocks/>
          </p:cNvSpPr>
          <p:nvPr/>
        </p:nvSpPr>
        <p:spPr bwMode="auto">
          <a:xfrm>
            <a:off x="2433638" y="2222500"/>
            <a:ext cx="1976437" cy="2270125"/>
          </a:xfrm>
          <a:custGeom>
            <a:avLst/>
            <a:gdLst/>
            <a:ahLst/>
            <a:cxnLst>
              <a:cxn ang="0">
                <a:pos x="1750" y="1973"/>
              </a:cxn>
              <a:cxn ang="0">
                <a:pos x="1503" y="1869"/>
              </a:cxn>
              <a:cxn ang="0">
                <a:pos x="1121" y="1652"/>
              </a:cxn>
              <a:cxn ang="0">
                <a:pos x="736" y="1310"/>
              </a:cxn>
              <a:cxn ang="0">
                <a:pos x="418" y="899"/>
              </a:cxn>
              <a:cxn ang="0">
                <a:pos x="106" y="311"/>
              </a:cxn>
              <a:cxn ang="0">
                <a:pos x="0" y="0"/>
              </a:cxn>
            </a:cxnLst>
            <a:rect l="0" t="0" r="r" b="b"/>
            <a:pathLst>
              <a:path w="1750" h="1973">
                <a:moveTo>
                  <a:pt x="1750" y="1973"/>
                </a:moveTo>
                <a:cubicBezTo>
                  <a:pt x="1710" y="1954"/>
                  <a:pt x="1608" y="1922"/>
                  <a:pt x="1503" y="1869"/>
                </a:cubicBezTo>
                <a:cubicBezTo>
                  <a:pt x="1398" y="1816"/>
                  <a:pt x="1249" y="1745"/>
                  <a:pt x="1121" y="1652"/>
                </a:cubicBezTo>
                <a:cubicBezTo>
                  <a:pt x="993" y="1559"/>
                  <a:pt x="853" y="1435"/>
                  <a:pt x="736" y="1310"/>
                </a:cubicBezTo>
                <a:cubicBezTo>
                  <a:pt x="619" y="1185"/>
                  <a:pt x="523" y="1065"/>
                  <a:pt x="418" y="899"/>
                </a:cubicBezTo>
                <a:cubicBezTo>
                  <a:pt x="312" y="733"/>
                  <a:pt x="176" y="460"/>
                  <a:pt x="106" y="311"/>
                </a:cubicBezTo>
                <a:cubicBezTo>
                  <a:pt x="36" y="162"/>
                  <a:pt x="22" y="65"/>
                  <a:pt x="0" y="0"/>
                </a:cubicBezTo>
              </a:path>
            </a:pathLst>
          </a:cu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00"/>
          </a:p>
        </p:txBody>
      </p:sp>
      <p:sp>
        <p:nvSpPr>
          <p:cNvPr id="55314" name="Text Box 18"/>
          <p:cNvSpPr txBox="1">
            <a:spLocks noChangeArrowheads="1"/>
          </p:cNvSpPr>
          <p:nvPr/>
        </p:nvSpPr>
        <p:spPr bwMode="auto">
          <a:xfrm>
            <a:off x="4271963" y="4376738"/>
            <a:ext cx="71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D</a:t>
            </a:r>
            <a:r>
              <a:rPr lang="en-US" sz="2000" baseline="-25000"/>
              <a:t>U</a:t>
            </a:r>
            <a:endParaRPr lang="en-US" sz="2000"/>
          </a:p>
        </p:txBody>
      </p:sp>
      <p:sp>
        <p:nvSpPr>
          <p:cNvPr id="55315" name="Text Box 20"/>
          <p:cNvSpPr txBox="1">
            <a:spLocks noChangeArrowheads="1"/>
          </p:cNvSpPr>
          <p:nvPr/>
        </p:nvSpPr>
        <p:spPr bwMode="auto">
          <a:xfrm>
            <a:off x="3089275" y="5141913"/>
            <a:ext cx="5191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/>
              <a:t>N</a:t>
            </a:r>
            <a:r>
              <a:rPr lang="en-US" sz="2000" baseline="-25000"/>
              <a:t>U</a:t>
            </a:r>
          </a:p>
        </p:txBody>
      </p:sp>
      <p:sp>
        <p:nvSpPr>
          <p:cNvPr id="55316" name="Text Box 51"/>
          <p:cNvSpPr txBox="1">
            <a:spLocks noChangeArrowheads="1"/>
          </p:cNvSpPr>
          <p:nvPr/>
        </p:nvSpPr>
        <p:spPr bwMode="auto">
          <a:xfrm>
            <a:off x="1255713" y="3540125"/>
            <a:ext cx="6191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/>
              <a:t>W</a:t>
            </a:r>
            <a:r>
              <a:rPr lang="en-US" sz="2000" baseline="-25000"/>
              <a:t>S</a:t>
            </a:r>
            <a:endParaRPr lang="en-US" sz="2000"/>
          </a:p>
        </p:txBody>
      </p:sp>
      <p:sp>
        <p:nvSpPr>
          <p:cNvPr id="55317" name="Text Box 7"/>
          <p:cNvSpPr txBox="1">
            <a:spLocks noChangeArrowheads="1"/>
          </p:cNvSpPr>
          <p:nvPr/>
        </p:nvSpPr>
        <p:spPr bwMode="auto">
          <a:xfrm>
            <a:off x="5707063" y="5457825"/>
            <a:ext cx="30654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Employment</a:t>
            </a:r>
          </a:p>
        </p:txBody>
      </p:sp>
      <p:sp>
        <p:nvSpPr>
          <p:cNvPr id="55318" name="Line 8"/>
          <p:cNvSpPr>
            <a:spLocks noChangeShapeType="1"/>
          </p:cNvSpPr>
          <p:nvPr/>
        </p:nvSpPr>
        <p:spPr bwMode="auto">
          <a:xfrm>
            <a:off x="5716588" y="5141913"/>
            <a:ext cx="3000375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319" name="Line 9"/>
          <p:cNvSpPr>
            <a:spLocks noChangeShapeType="1"/>
          </p:cNvSpPr>
          <p:nvPr/>
        </p:nvSpPr>
        <p:spPr bwMode="auto">
          <a:xfrm>
            <a:off x="5722938" y="2179638"/>
            <a:ext cx="0" cy="2962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320" name="Text Box 11"/>
          <p:cNvSpPr txBox="1">
            <a:spLocks noChangeArrowheads="1"/>
          </p:cNvSpPr>
          <p:nvPr/>
        </p:nvSpPr>
        <p:spPr bwMode="auto">
          <a:xfrm>
            <a:off x="5729288" y="1800225"/>
            <a:ext cx="28448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u="sng"/>
              <a:t>Skilled Workers</a:t>
            </a:r>
          </a:p>
        </p:txBody>
      </p:sp>
      <p:grpSp>
        <p:nvGrpSpPr>
          <p:cNvPr id="3" name="Group 62"/>
          <p:cNvGrpSpPr>
            <a:grpSpLocks/>
          </p:cNvGrpSpPr>
          <p:nvPr/>
        </p:nvGrpSpPr>
        <p:grpSpPr bwMode="auto">
          <a:xfrm>
            <a:off x="6564313" y="2166938"/>
            <a:ext cx="2208212" cy="2087562"/>
            <a:chOff x="6563726" y="2167093"/>
            <a:chExt cx="2208682" cy="2087873"/>
          </a:xfrm>
        </p:grpSpPr>
        <p:sp>
          <p:nvSpPr>
            <p:cNvPr id="201771" name="Freeform 43"/>
            <p:cNvSpPr>
              <a:spLocks/>
            </p:cNvSpPr>
            <p:nvPr/>
          </p:nvSpPr>
          <p:spPr bwMode="auto">
            <a:xfrm>
              <a:off x="6563726" y="2167093"/>
              <a:ext cx="1816487" cy="2087873"/>
            </a:xfrm>
            <a:custGeom>
              <a:avLst/>
              <a:gdLst/>
              <a:ahLst/>
              <a:cxnLst>
                <a:cxn ang="0">
                  <a:pos x="1750" y="1973"/>
                </a:cxn>
                <a:cxn ang="0">
                  <a:pos x="1503" y="1869"/>
                </a:cxn>
                <a:cxn ang="0">
                  <a:pos x="1121" y="1652"/>
                </a:cxn>
                <a:cxn ang="0">
                  <a:pos x="736" y="1310"/>
                </a:cxn>
                <a:cxn ang="0">
                  <a:pos x="418" y="899"/>
                </a:cxn>
                <a:cxn ang="0">
                  <a:pos x="106" y="311"/>
                </a:cxn>
                <a:cxn ang="0">
                  <a:pos x="0" y="0"/>
                </a:cxn>
              </a:cxnLst>
              <a:rect l="0" t="0" r="r" b="b"/>
              <a:pathLst>
                <a:path w="1750" h="1973">
                  <a:moveTo>
                    <a:pt x="1750" y="1973"/>
                  </a:moveTo>
                  <a:cubicBezTo>
                    <a:pt x="1710" y="1954"/>
                    <a:pt x="1608" y="1922"/>
                    <a:pt x="1503" y="1869"/>
                  </a:cubicBezTo>
                  <a:cubicBezTo>
                    <a:pt x="1398" y="1816"/>
                    <a:pt x="1249" y="1745"/>
                    <a:pt x="1121" y="1652"/>
                  </a:cubicBezTo>
                  <a:cubicBezTo>
                    <a:pt x="993" y="1559"/>
                    <a:pt x="853" y="1435"/>
                    <a:pt x="736" y="1310"/>
                  </a:cubicBezTo>
                  <a:cubicBezTo>
                    <a:pt x="619" y="1185"/>
                    <a:pt x="523" y="1065"/>
                    <a:pt x="418" y="899"/>
                  </a:cubicBezTo>
                  <a:cubicBezTo>
                    <a:pt x="312" y="733"/>
                    <a:pt x="176" y="460"/>
                    <a:pt x="106" y="311"/>
                  </a:cubicBezTo>
                  <a:cubicBezTo>
                    <a:pt x="36" y="162"/>
                    <a:pt x="22" y="65"/>
                    <a:pt x="0" y="0"/>
                  </a:cubicBezTo>
                </a:path>
              </a:pathLst>
            </a:cu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/>
            </a:p>
          </p:txBody>
        </p:sp>
        <p:sp>
          <p:nvSpPr>
            <p:cNvPr id="55348" name="Text Box 44"/>
            <p:cNvSpPr txBox="1">
              <a:spLocks noChangeArrowheads="1"/>
            </p:cNvSpPr>
            <p:nvPr/>
          </p:nvSpPr>
          <p:spPr bwMode="auto">
            <a:xfrm>
              <a:off x="7852560" y="3793162"/>
              <a:ext cx="91984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D'</a:t>
              </a:r>
              <a:r>
                <a:rPr lang="en-US" sz="2000" baseline="-25000"/>
                <a:t>S</a:t>
              </a:r>
            </a:p>
          </p:txBody>
        </p:sp>
        <p:sp>
          <p:nvSpPr>
            <p:cNvPr id="201776" name="AutoShape 48"/>
            <p:cNvSpPr>
              <a:spLocks noChangeArrowheads="1"/>
            </p:cNvSpPr>
            <p:nvPr/>
          </p:nvSpPr>
          <p:spPr bwMode="auto">
            <a:xfrm>
              <a:off x="7384965" y="3936514"/>
              <a:ext cx="560021" cy="318452"/>
            </a:xfrm>
            <a:prstGeom prst="rightArrow">
              <a:avLst>
                <a:gd name="adj1" fmla="val 50000"/>
                <a:gd name="adj2" fmla="val 107304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/>
            </a:p>
          </p:txBody>
        </p:sp>
      </p:grpSp>
      <p:sp>
        <p:nvSpPr>
          <p:cNvPr id="55322" name="Text Box 21"/>
          <p:cNvSpPr txBox="1">
            <a:spLocks noChangeArrowheads="1"/>
          </p:cNvSpPr>
          <p:nvPr/>
        </p:nvSpPr>
        <p:spPr bwMode="auto">
          <a:xfrm>
            <a:off x="7826375" y="2193925"/>
            <a:ext cx="8191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S</a:t>
            </a:r>
            <a:r>
              <a:rPr lang="en-US" sz="2000" baseline="-25000"/>
              <a:t>S</a:t>
            </a:r>
            <a:endParaRPr lang="en-US" sz="2000"/>
          </a:p>
        </p:txBody>
      </p:sp>
      <p:sp>
        <p:nvSpPr>
          <p:cNvPr id="55323" name="Line 22"/>
          <p:cNvSpPr>
            <a:spLocks noChangeShapeType="1"/>
          </p:cNvSpPr>
          <p:nvPr/>
        </p:nvSpPr>
        <p:spPr bwMode="auto">
          <a:xfrm>
            <a:off x="5729288" y="3841750"/>
            <a:ext cx="1296987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324" name="Line 23"/>
          <p:cNvSpPr>
            <a:spLocks noChangeShapeType="1"/>
          </p:cNvSpPr>
          <p:nvPr/>
        </p:nvSpPr>
        <p:spPr bwMode="auto">
          <a:xfrm flipV="1">
            <a:off x="7037388" y="3841750"/>
            <a:ext cx="0" cy="12906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1752" name="Freeform 24"/>
          <p:cNvSpPr>
            <a:spLocks/>
          </p:cNvSpPr>
          <p:nvPr/>
        </p:nvSpPr>
        <p:spPr bwMode="auto">
          <a:xfrm>
            <a:off x="6211888" y="2441575"/>
            <a:ext cx="1770062" cy="1803400"/>
          </a:xfrm>
          <a:custGeom>
            <a:avLst/>
            <a:gdLst/>
            <a:ahLst/>
            <a:cxnLst>
              <a:cxn ang="0">
                <a:pos x="0" y="1705"/>
              </a:cxn>
              <a:cxn ang="0">
                <a:pos x="299" y="1585"/>
              </a:cxn>
              <a:cxn ang="0">
                <a:pos x="614" y="1436"/>
              </a:cxn>
              <a:cxn ang="0">
                <a:pos x="980" y="1167"/>
              </a:cxn>
              <a:cxn ang="0">
                <a:pos x="1294" y="801"/>
              </a:cxn>
              <a:cxn ang="0">
                <a:pos x="1601" y="277"/>
              </a:cxn>
              <a:cxn ang="0">
                <a:pos x="1706" y="0"/>
              </a:cxn>
            </a:cxnLst>
            <a:rect l="0" t="0" r="r" b="b"/>
            <a:pathLst>
              <a:path w="1706" h="1705">
                <a:moveTo>
                  <a:pt x="0" y="1705"/>
                </a:moveTo>
                <a:cubicBezTo>
                  <a:pt x="98" y="1667"/>
                  <a:pt x="197" y="1630"/>
                  <a:pt x="299" y="1585"/>
                </a:cubicBezTo>
                <a:cubicBezTo>
                  <a:pt x="401" y="1540"/>
                  <a:pt x="500" y="1506"/>
                  <a:pt x="614" y="1436"/>
                </a:cubicBezTo>
                <a:cubicBezTo>
                  <a:pt x="728" y="1366"/>
                  <a:pt x="867" y="1273"/>
                  <a:pt x="980" y="1167"/>
                </a:cubicBezTo>
                <a:cubicBezTo>
                  <a:pt x="1093" y="1061"/>
                  <a:pt x="1190" y="949"/>
                  <a:pt x="1294" y="801"/>
                </a:cubicBezTo>
                <a:cubicBezTo>
                  <a:pt x="1398" y="653"/>
                  <a:pt x="1532" y="410"/>
                  <a:pt x="1601" y="277"/>
                </a:cubicBezTo>
                <a:cubicBezTo>
                  <a:pt x="1670" y="144"/>
                  <a:pt x="1684" y="58"/>
                  <a:pt x="1706" y="0"/>
                </a:cubicBezTo>
              </a:path>
            </a:pathLst>
          </a:custGeom>
          <a:ln>
            <a:solidFill>
              <a:srgbClr val="FF0000"/>
            </a:solidFill>
            <a:headEnd/>
            <a:tailEnd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00"/>
          </a:p>
        </p:txBody>
      </p:sp>
      <p:sp>
        <p:nvSpPr>
          <p:cNvPr id="201753" name="Freeform 25"/>
          <p:cNvSpPr>
            <a:spLocks/>
          </p:cNvSpPr>
          <p:nvPr/>
        </p:nvSpPr>
        <p:spPr bwMode="auto">
          <a:xfrm>
            <a:off x="6127750" y="2339975"/>
            <a:ext cx="1793875" cy="2135188"/>
          </a:xfrm>
          <a:custGeom>
            <a:avLst/>
            <a:gdLst/>
            <a:ahLst/>
            <a:cxnLst>
              <a:cxn ang="0">
                <a:pos x="1727" y="2019"/>
              </a:cxn>
              <a:cxn ang="0">
                <a:pos x="1421" y="1869"/>
              </a:cxn>
              <a:cxn ang="0">
                <a:pos x="1084" y="1652"/>
              </a:cxn>
              <a:cxn ang="0">
                <a:pos x="736" y="1310"/>
              </a:cxn>
              <a:cxn ang="0">
                <a:pos x="418" y="899"/>
              </a:cxn>
              <a:cxn ang="0">
                <a:pos x="106" y="311"/>
              </a:cxn>
              <a:cxn ang="0">
                <a:pos x="0" y="0"/>
              </a:cxn>
            </a:cxnLst>
            <a:rect l="0" t="0" r="r" b="b"/>
            <a:pathLst>
              <a:path w="1727" h="2019">
                <a:moveTo>
                  <a:pt x="1727" y="2019"/>
                </a:moveTo>
                <a:cubicBezTo>
                  <a:pt x="1676" y="1995"/>
                  <a:pt x="1528" y="1930"/>
                  <a:pt x="1421" y="1869"/>
                </a:cubicBezTo>
                <a:cubicBezTo>
                  <a:pt x="1314" y="1808"/>
                  <a:pt x="1198" y="1745"/>
                  <a:pt x="1084" y="1652"/>
                </a:cubicBezTo>
                <a:cubicBezTo>
                  <a:pt x="970" y="1559"/>
                  <a:pt x="847" y="1436"/>
                  <a:pt x="736" y="1310"/>
                </a:cubicBezTo>
                <a:cubicBezTo>
                  <a:pt x="625" y="1184"/>
                  <a:pt x="523" y="1065"/>
                  <a:pt x="418" y="899"/>
                </a:cubicBezTo>
                <a:cubicBezTo>
                  <a:pt x="312" y="733"/>
                  <a:pt x="176" y="460"/>
                  <a:pt x="106" y="311"/>
                </a:cubicBezTo>
                <a:cubicBezTo>
                  <a:pt x="36" y="162"/>
                  <a:pt x="22" y="65"/>
                  <a:pt x="0" y="0"/>
                </a:cubicBezTo>
              </a:path>
            </a:pathLst>
          </a:cu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00"/>
          </a:p>
        </p:txBody>
      </p:sp>
      <p:sp>
        <p:nvSpPr>
          <p:cNvPr id="55327" name="Text Box 27"/>
          <p:cNvSpPr txBox="1">
            <a:spLocks noChangeArrowheads="1"/>
          </p:cNvSpPr>
          <p:nvPr/>
        </p:nvSpPr>
        <p:spPr bwMode="auto">
          <a:xfrm>
            <a:off x="6754813" y="5160963"/>
            <a:ext cx="5715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/>
              <a:t>N</a:t>
            </a:r>
            <a:r>
              <a:rPr lang="en-US" sz="2000" baseline="-25000"/>
              <a:t>S</a:t>
            </a:r>
            <a:endParaRPr lang="en-US" sz="2000"/>
          </a:p>
        </p:txBody>
      </p:sp>
      <p:sp>
        <p:nvSpPr>
          <p:cNvPr id="55328" name="Text Box 53"/>
          <p:cNvSpPr txBox="1">
            <a:spLocks noChangeArrowheads="1"/>
          </p:cNvSpPr>
          <p:nvPr/>
        </p:nvSpPr>
        <p:spPr bwMode="auto">
          <a:xfrm>
            <a:off x="5076825" y="3686175"/>
            <a:ext cx="6397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/>
              <a:t>W</a:t>
            </a:r>
            <a:r>
              <a:rPr lang="en-US" sz="2000" baseline="-25000"/>
              <a:t>S</a:t>
            </a:r>
            <a:endParaRPr lang="en-US" sz="2000"/>
          </a:p>
        </p:txBody>
      </p:sp>
      <p:sp>
        <p:nvSpPr>
          <p:cNvPr id="55329" name="Text Box 55"/>
          <p:cNvSpPr txBox="1">
            <a:spLocks noChangeArrowheads="1"/>
          </p:cNvSpPr>
          <p:nvPr/>
        </p:nvSpPr>
        <p:spPr bwMode="auto">
          <a:xfrm>
            <a:off x="7851775" y="4392613"/>
            <a:ext cx="5588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D</a:t>
            </a:r>
            <a:r>
              <a:rPr lang="en-US" sz="2000" baseline="-25000"/>
              <a:t>S</a:t>
            </a:r>
            <a:endParaRPr lang="en-US" sz="2000"/>
          </a:p>
        </p:txBody>
      </p:sp>
      <p:grpSp>
        <p:nvGrpSpPr>
          <p:cNvPr id="4" name="Group 64"/>
          <p:cNvGrpSpPr>
            <a:grpSpLocks/>
          </p:cNvGrpSpPr>
          <p:nvPr/>
        </p:nvGrpSpPr>
        <p:grpSpPr bwMode="auto">
          <a:xfrm>
            <a:off x="1960563" y="2411413"/>
            <a:ext cx="2738437" cy="2700337"/>
            <a:chOff x="1960197" y="2411181"/>
            <a:chExt cx="2739477" cy="2700667"/>
          </a:xfrm>
        </p:grpSpPr>
        <p:sp>
          <p:nvSpPr>
            <p:cNvPr id="201760" name="Freeform 32"/>
            <p:cNvSpPr>
              <a:spLocks/>
            </p:cNvSpPr>
            <p:nvPr/>
          </p:nvSpPr>
          <p:spPr bwMode="auto">
            <a:xfrm>
              <a:off x="1960197" y="2411181"/>
              <a:ext cx="1951778" cy="2322796"/>
            </a:xfrm>
            <a:custGeom>
              <a:avLst/>
              <a:gdLst/>
              <a:ahLst/>
              <a:cxnLst>
                <a:cxn ang="0">
                  <a:pos x="1727" y="2019"/>
                </a:cxn>
                <a:cxn ang="0">
                  <a:pos x="1421" y="1869"/>
                </a:cxn>
                <a:cxn ang="0">
                  <a:pos x="1084" y="1652"/>
                </a:cxn>
                <a:cxn ang="0">
                  <a:pos x="736" y="1310"/>
                </a:cxn>
                <a:cxn ang="0">
                  <a:pos x="418" y="899"/>
                </a:cxn>
                <a:cxn ang="0">
                  <a:pos x="106" y="311"/>
                </a:cxn>
                <a:cxn ang="0">
                  <a:pos x="0" y="0"/>
                </a:cxn>
              </a:cxnLst>
              <a:rect l="0" t="0" r="r" b="b"/>
              <a:pathLst>
                <a:path w="1727" h="2019">
                  <a:moveTo>
                    <a:pt x="1727" y="2019"/>
                  </a:moveTo>
                  <a:cubicBezTo>
                    <a:pt x="1676" y="1995"/>
                    <a:pt x="1528" y="1930"/>
                    <a:pt x="1421" y="1869"/>
                  </a:cubicBezTo>
                  <a:cubicBezTo>
                    <a:pt x="1314" y="1808"/>
                    <a:pt x="1198" y="1745"/>
                    <a:pt x="1084" y="1652"/>
                  </a:cubicBezTo>
                  <a:cubicBezTo>
                    <a:pt x="970" y="1559"/>
                    <a:pt x="847" y="1436"/>
                    <a:pt x="736" y="1310"/>
                  </a:cubicBezTo>
                  <a:cubicBezTo>
                    <a:pt x="625" y="1184"/>
                    <a:pt x="523" y="1065"/>
                    <a:pt x="418" y="899"/>
                  </a:cubicBezTo>
                  <a:cubicBezTo>
                    <a:pt x="312" y="733"/>
                    <a:pt x="176" y="460"/>
                    <a:pt x="106" y="311"/>
                  </a:cubicBezTo>
                  <a:cubicBezTo>
                    <a:pt x="36" y="162"/>
                    <a:pt x="22" y="65"/>
                    <a:pt x="0" y="0"/>
                  </a:cubicBezTo>
                </a:path>
              </a:pathLst>
            </a:cu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/>
            </a:p>
          </p:txBody>
        </p:sp>
        <p:sp>
          <p:nvSpPr>
            <p:cNvPr id="55343" name="Text Box 33"/>
            <p:cNvSpPr txBox="1">
              <a:spLocks noChangeArrowheads="1"/>
            </p:cNvSpPr>
            <p:nvPr/>
          </p:nvSpPr>
          <p:spPr bwMode="auto">
            <a:xfrm>
              <a:off x="3424572" y="4711738"/>
              <a:ext cx="1275102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D'</a:t>
              </a:r>
              <a:r>
                <a:rPr lang="en-US" sz="2000" baseline="-25000"/>
                <a:t>U</a:t>
              </a:r>
              <a:endParaRPr lang="en-US" sz="2000"/>
            </a:p>
          </p:txBody>
        </p:sp>
        <p:sp>
          <p:nvSpPr>
            <p:cNvPr id="57" name="AutoShape 48"/>
            <p:cNvSpPr>
              <a:spLocks noChangeArrowheads="1"/>
            </p:cNvSpPr>
            <p:nvPr/>
          </p:nvSpPr>
          <p:spPr bwMode="auto">
            <a:xfrm flipH="1">
              <a:off x="3151140" y="4077038"/>
              <a:ext cx="560021" cy="318452"/>
            </a:xfrm>
            <a:prstGeom prst="rightArrow">
              <a:avLst>
                <a:gd name="adj1" fmla="val 50000"/>
                <a:gd name="adj2" fmla="val 107304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/>
            </a:p>
          </p:txBody>
        </p:sp>
      </p:grpSp>
      <p:grpSp>
        <p:nvGrpSpPr>
          <p:cNvPr id="5" name="Group 63"/>
          <p:cNvGrpSpPr>
            <a:grpSpLocks/>
          </p:cNvGrpSpPr>
          <p:nvPr/>
        </p:nvGrpSpPr>
        <p:grpSpPr bwMode="auto">
          <a:xfrm>
            <a:off x="5111750" y="3328988"/>
            <a:ext cx="2727325" cy="2232025"/>
            <a:chOff x="5111762" y="3329333"/>
            <a:chExt cx="2727987" cy="2231385"/>
          </a:xfrm>
        </p:grpSpPr>
        <p:sp>
          <p:nvSpPr>
            <p:cNvPr id="55332" name="Line 41"/>
            <p:cNvSpPr>
              <a:spLocks noChangeShapeType="1"/>
            </p:cNvSpPr>
            <p:nvPr/>
          </p:nvSpPr>
          <p:spPr bwMode="auto">
            <a:xfrm flipV="1">
              <a:off x="7356653" y="3526593"/>
              <a:ext cx="0" cy="16060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333" name="Line 42"/>
            <p:cNvSpPr>
              <a:spLocks noChangeShapeType="1"/>
            </p:cNvSpPr>
            <p:nvPr/>
          </p:nvSpPr>
          <p:spPr bwMode="auto">
            <a:xfrm>
              <a:off x="5728929" y="3533258"/>
              <a:ext cx="16224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334" name="Text Box 46"/>
            <p:cNvSpPr txBox="1">
              <a:spLocks noChangeArrowheads="1"/>
            </p:cNvSpPr>
            <p:nvPr/>
          </p:nvSpPr>
          <p:spPr bwMode="auto">
            <a:xfrm>
              <a:off x="7147606" y="5160608"/>
              <a:ext cx="69214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N'</a:t>
              </a:r>
              <a:r>
                <a:rPr lang="en-US" sz="2000" baseline="-25000"/>
                <a:t>S</a:t>
              </a:r>
              <a:endParaRPr lang="en-US" sz="2000"/>
            </a:p>
          </p:txBody>
        </p:sp>
        <p:sp>
          <p:nvSpPr>
            <p:cNvPr id="55335" name="Text Box 52"/>
            <p:cNvSpPr txBox="1">
              <a:spLocks noChangeArrowheads="1"/>
            </p:cNvSpPr>
            <p:nvPr/>
          </p:nvSpPr>
          <p:spPr bwMode="auto">
            <a:xfrm>
              <a:off x="5111762" y="3329333"/>
              <a:ext cx="60539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000"/>
                <a:t>W'</a:t>
              </a:r>
              <a:r>
                <a:rPr lang="en-US" sz="2000" baseline="-25000"/>
                <a:t>S</a:t>
              </a:r>
              <a:endParaRPr lang="en-US" sz="2000"/>
            </a:p>
          </p:txBody>
        </p:sp>
        <p:sp>
          <p:nvSpPr>
            <p:cNvPr id="201782" name="AutoShape 54"/>
            <p:cNvSpPr>
              <a:spLocks noChangeArrowheads="1"/>
            </p:cNvSpPr>
            <p:nvPr/>
          </p:nvSpPr>
          <p:spPr bwMode="auto">
            <a:xfrm rot="16200000">
              <a:off x="5809350" y="3572523"/>
              <a:ext cx="208185" cy="217100"/>
            </a:xfrm>
            <a:prstGeom prst="rightArrow">
              <a:avLst>
                <a:gd name="adj1" fmla="val 45463"/>
                <a:gd name="adj2" fmla="val 42861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/>
            </a:p>
          </p:txBody>
        </p:sp>
        <p:sp>
          <p:nvSpPr>
            <p:cNvPr id="58" name="AutoShape 38"/>
            <p:cNvSpPr>
              <a:spLocks noChangeArrowheads="1"/>
            </p:cNvSpPr>
            <p:nvPr/>
          </p:nvSpPr>
          <p:spPr bwMode="auto">
            <a:xfrm>
              <a:off x="7047482" y="4906769"/>
              <a:ext cx="310237" cy="175428"/>
            </a:xfrm>
            <a:prstGeom prst="rightArrow">
              <a:avLst>
                <a:gd name="adj1" fmla="val 50000"/>
                <a:gd name="adj2" fmla="val 67284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/>
            </a:p>
          </p:txBody>
        </p:sp>
      </p:grpSp>
      <p:pic>
        <p:nvPicPr>
          <p:cNvPr id="52" name="Picture 5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2159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Unemployment</a:t>
            </a:r>
          </a:p>
        </p:txBody>
      </p:sp>
      <p:sp>
        <p:nvSpPr>
          <p:cNvPr id="20480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85800" y="1409700"/>
            <a:ext cx="8229600" cy="5238750"/>
          </a:xfrm>
        </p:spPr>
        <p:txBody>
          <a:bodyPr/>
          <a:lstStyle/>
          <a:p>
            <a:pPr eaLnBrk="1" hangingPunct="1"/>
            <a:r>
              <a:rPr lang="en-US" dirty="0"/>
              <a:t>Working age population can be classified into employed, unemployed and out of </a:t>
            </a:r>
            <a:r>
              <a:rPr lang="en-US" dirty="0" err="1"/>
              <a:t>labour</a:t>
            </a:r>
            <a:r>
              <a:rPr lang="en-US" dirty="0"/>
              <a:t> force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Unemployed refers to people who are willing to work, able to work and had spent some time searching for job yet still unable to find one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1939636" y="2439549"/>
            <a:ext cx="6040582" cy="2160520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Population Age 16</a:t>
            </a:r>
            <a:r>
              <a:rPr lang="en-US" sz="2400" b="1" u="sng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</a:p>
        </p:txBody>
      </p:sp>
      <p:cxnSp>
        <p:nvCxnSpPr>
          <p:cNvPr id="15" name="Straight Connector 14"/>
          <p:cNvCxnSpPr>
            <a:cxnSpLocks noChangeShapeType="1"/>
          </p:cNvCxnSpPr>
          <p:nvPr/>
        </p:nvCxnSpPr>
        <p:spPr bwMode="auto">
          <a:xfrm rot="16200000" flipH="1">
            <a:off x="4947444" y="3532982"/>
            <a:ext cx="2160587" cy="0"/>
          </a:xfrm>
          <a:prstGeom prst="line">
            <a:avLst/>
          </a:prstGeom>
          <a:noFill/>
          <a:ln w="38100" algn="ctr">
            <a:solidFill>
              <a:schemeClr val="bg1"/>
            </a:solidFill>
            <a:prstDash val="dash"/>
            <a:round/>
            <a:headEnd/>
            <a:tailEnd/>
          </a:ln>
        </p:spPr>
      </p:cxnSp>
      <p:cxnSp>
        <p:nvCxnSpPr>
          <p:cNvPr id="16" name="Straight Connector 15"/>
          <p:cNvCxnSpPr>
            <a:cxnSpLocks noChangeShapeType="1"/>
          </p:cNvCxnSpPr>
          <p:nvPr/>
        </p:nvCxnSpPr>
        <p:spPr bwMode="auto">
          <a:xfrm rot="16200000" flipH="1">
            <a:off x="4018756" y="3532982"/>
            <a:ext cx="2160587" cy="0"/>
          </a:xfrm>
          <a:prstGeom prst="line">
            <a:avLst/>
          </a:prstGeom>
          <a:noFill/>
          <a:ln w="38100" algn="ctr">
            <a:solidFill>
              <a:schemeClr val="bg1"/>
            </a:solidFill>
            <a:prstDash val="dash"/>
            <a:round/>
            <a:headEnd/>
            <a:tailEnd/>
          </a:ln>
        </p:spPr>
      </p:cxn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2617788" y="3321050"/>
            <a:ext cx="17653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>
                <a:solidFill>
                  <a:schemeClr val="bg1"/>
                </a:solidFill>
              </a:rPr>
              <a:t>Employed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 rot="-5400000">
            <a:off x="4542631" y="3309145"/>
            <a:ext cx="20923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>
                <a:solidFill>
                  <a:schemeClr val="bg1"/>
                </a:solidFill>
              </a:rPr>
              <a:t>Unemployed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303963" y="2767013"/>
            <a:ext cx="1417637" cy="157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Out of the Labor Force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2159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/>
              <a:t>Labour</a:t>
            </a:r>
            <a:r>
              <a:rPr lang="en-US" dirty="0"/>
              <a:t> Force Statistics</a:t>
            </a:r>
          </a:p>
        </p:txBody>
      </p:sp>
      <p:sp>
        <p:nvSpPr>
          <p:cNvPr id="20480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42900" y="1409700"/>
            <a:ext cx="8686800" cy="5238750"/>
          </a:xfrm>
        </p:spPr>
        <p:txBody>
          <a:bodyPr/>
          <a:lstStyle/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b="1" dirty="0"/>
              <a:t>Labor force</a:t>
            </a:r>
            <a:r>
              <a:rPr lang="en-US" dirty="0"/>
              <a:t> = employed + unemployed</a:t>
            </a:r>
          </a:p>
          <a:p>
            <a:pPr eaLnBrk="1" hangingPunct="1"/>
            <a:r>
              <a:rPr lang="en-US" b="1" dirty="0"/>
              <a:t>Unemployment rate</a:t>
            </a:r>
            <a:r>
              <a:rPr lang="en-US" dirty="0"/>
              <a:t> = </a:t>
            </a:r>
            <a:r>
              <a:rPr lang="en-US" u="sng" dirty="0"/>
              <a:t>unemployed</a:t>
            </a:r>
            <a:r>
              <a:rPr lang="en-US" dirty="0"/>
              <a:t>   X 100%</a:t>
            </a:r>
            <a:endParaRPr lang="en-US" u="sng" dirty="0"/>
          </a:p>
          <a:p>
            <a:pPr eaLnBrk="1" hangingPunct="1"/>
            <a:r>
              <a:rPr lang="en-US" dirty="0"/>
              <a:t>                                        labor force</a:t>
            </a:r>
          </a:p>
          <a:p>
            <a:pPr eaLnBrk="1" hangingPunct="1"/>
            <a:r>
              <a:rPr lang="en-US" b="1" dirty="0"/>
              <a:t>Participation rate</a:t>
            </a:r>
            <a:r>
              <a:rPr lang="en-US" dirty="0"/>
              <a:t> = .</a:t>
            </a:r>
            <a:r>
              <a:rPr lang="en-US" u="sng" dirty="0"/>
              <a:t>     labor force           .</a:t>
            </a:r>
            <a:r>
              <a:rPr lang="en-US" dirty="0"/>
              <a:t> X 100%</a:t>
            </a:r>
            <a:endParaRPr lang="en-US" u="sng" dirty="0"/>
          </a:p>
          <a:p>
            <a:pPr eaLnBrk="1" hangingPunct="1"/>
            <a:r>
              <a:rPr lang="en-US" dirty="0"/>
              <a:t>                                 Working age population</a:t>
            </a:r>
            <a:endParaRPr lang="en-US" baseline="30000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1958686" y="1648974"/>
            <a:ext cx="6040582" cy="2160520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Population Age 16</a:t>
            </a:r>
            <a:r>
              <a:rPr lang="en-US" sz="2400" b="1" u="sng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</a:p>
        </p:txBody>
      </p:sp>
      <p:cxnSp>
        <p:nvCxnSpPr>
          <p:cNvPr id="15" name="Straight Connector 14"/>
          <p:cNvCxnSpPr>
            <a:cxnSpLocks noChangeShapeType="1"/>
          </p:cNvCxnSpPr>
          <p:nvPr/>
        </p:nvCxnSpPr>
        <p:spPr bwMode="auto">
          <a:xfrm rot="16200000" flipH="1">
            <a:off x="4909346" y="2694783"/>
            <a:ext cx="2160587" cy="0"/>
          </a:xfrm>
          <a:prstGeom prst="line">
            <a:avLst/>
          </a:prstGeom>
          <a:noFill/>
          <a:ln w="38100" algn="ctr">
            <a:solidFill>
              <a:schemeClr val="bg1"/>
            </a:solidFill>
            <a:prstDash val="dash"/>
            <a:round/>
            <a:headEnd/>
            <a:tailEnd/>
          </a:ln>
        </p:spPr>
      </p:cxnSp>
      <p:cxnSp>
        <p:nvCxnSpPr>
          <p:cNvPr id="16" name="Straight Connector 15"/>
          <p:cNvCxnSpPr>
            <a:cxnSpLocks noChangeShapeType="1"/>
          </p:cNvCxnSpPr>
          <p:nvPr/>
        </p:nvCxnSpPr>
        <p:spPr bwMode="auto">
          <a:xfrm rot="16200000" flipH="1">
            <a:off x="3971133" y="2723358"/>
            <a:ext cx="2160587" cy="0"/>
          </a:xfrm>
          <a:prstGeom prst="line">
            <a:avLst/>
          </a:prstGeom>
          <a:noFill/>
          <a:ln w="38100" algn="ctr">
            <a:solidFill>
              <a:schemeClr val="bg1"/>
            </a:solidFill>
            <a:prstDash val="dash"/>
            <a:round/>
            <a:headEnd/>
            <a:tailEnd/>
          </a:ln>
        </p:spPr>
      </p:cxn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2503488" y="2568575"/>
            <a:ext cx="17653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Employed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 rot="-5400000">
            <a:off x="4485482" y="2461420"/>
            <a:ext cx="20923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Unemployed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323013" y="1804988"/>
            <a:ext cx="1417637" cy="157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Out of the Labor Force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U.S. Employment Data, 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</a:rPr>
              <a:t>June 2013</a:t>
            </a:r>
          </a:p>
        </p:txBody>
      </p:sp>
      <p:graphicFrame>
        <p:nvGraphicFramePr>
          <p:cNvPr id="86045" name="Group 29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926354466"/>
              </p:ext>
            </p:extLst>
          </p:nvPr>
        </p:nvGraphicFramePr>
        <p:xfrm>
          <a:off x="784225" y="1957388"/>
          <a:ext cx="8229600" cy="36271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Employed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06550" algn="dec"/>
                        </a:tabLst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144.84 million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Unemployed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06550" algn="dec"/>
                        </a:tabLst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12.25 million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Labor Force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06550" algn="dec"/>
                        </a:tabLst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157.09 million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Not in the Labor Force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06550" algn="dec"/>
                        </a:tabLst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88.46 million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Working-Age Population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06550" algn="dec"/>
                        </a:tabLst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245.55 million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Unemployment Rate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06550" algn="dec"/>
                        </a:tabLst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7.8%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Participation rate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06550" algn="dec"/>
                        </a:tabLst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64.0%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auto">
          <a:xfrm>
            <a:off x="1046743" y="1541692"/>
            <a:ext cx="7519273" cy="483102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444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US Unemployment Rate</a:t>
            </a:r>
            <a:br>
              <a:rPr lang="en-US" dirty="0"/>
            </a:br>
            <a:r>
              <a:rPr lang="en-US" dirty="0"/>
              <a:t>1960 - </a:t>
            </a:r>
            <a:r>
              <a:rPr lang="en-US" dirty="0">
                <a:solidFill>
                  <a:schemeClr val="tx1"/>
                </a:solidFill>
              </a:rPr>
              <a:t>2012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1122363" y="1617663"/>
            <a:ext cx="7367587" cy="4678362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719551"/>
              </p:ext>
            </p:extLst>
          </p:nvPr>
        </p:nvGraphicFramePr>
        <p:xfrm>
          <a:off x="1122363" y="1696825"/>
          <a:ext cx="7229785" cy="4599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Costs of Unemployment</a:t>
            </a:r>
          </a:p>
        </p:txBody>
      </p:sp>
      <p:sp>
        <p:nvSpPr>
          <p:cNvPr id="20582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54040" y="1559256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Economic costs</a:t>
            </a:r>
          </a:p>
          <a:p>
            <a:pPr lvl="1" eaLnBrk="1" hangingPunct="1"/>
            <a:r>
              <a:rPr lang="en-US" dirty="0"/>
              <a:t>Lost wages and production</a:t>
            </a:r>
          </a:p>
          <a:p>
            <a:pPr lvl="1" eaLnBrk="1" hangingPunct="1"/>
            <a:r>
              <a:rPr lang="en-US" dirty="0"/>
              <a:t>Decreased taxes and increased transfers</a:t>
            </a:r>
          </a:p>
          <a:p>
            <a:pPr eaLnBrk="1" hangingPunct="1"/>
            <a:r>
              <a:rPr lang="en-US" dirty="0"/>
              <a:t>Psychological costs</a:t>
            </a:r>
          </a:p>
          <a:p>
            <a:pPr lvl="1" eaLnBrk="1" hangingPunct="1"/>
            <a:r>
              <a:rPr lang="en-US" dirty="0"/>
              <a:t>Individual self-esteem</a:t>
            </a:r>
          </a:p>
          <a:p>
            <a:pPr lvl="1" eaLnBrk="1" hangingPunct="1"/>
            <a:r>
              <a:rPr lang="en-US" dirty="0"/>
              <a:t>Family stress of decreased income and increased uncertainty</a:t>
            </a:r>
          </a:p>
          <a:p>
            <a:pPr eaLnBrk="1" hangingPunct="1"/>
            <a:r>
              <a:rPr lang="en-US" dirty="0"/>
              <a:t>Social costs</a:t>
            </a:r>
          </a:p>
          <a:p>
            <a:pPr lvl="1" eaLnBrk="1" hangingPunct="1"/>
            <a:r>
              <a:rPr lang="en-US" dirty="0"/>
              <a:t>Potential increases in crimes and social problems</a:t>
            </a:r>
          </a:p>
          <a:p>
            <a:pPr lvl="2" eaLnBrk="1" hangingPunct="1"/>
            <a:r>
              <a:rPr lang="en-US" dirty="0"/>
              <a:t>Social resources spent to address these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Duration of Unemployment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Costs of unemployment are directly related to the length of time a person has been unemployed</a:t>
            </a:r>
          </a:p>
          <a:p>
            <a:pPr eaLnBrk="1" hangingPunct="1"/>
            <a:r>
              <a:rPr lang="en-US" dirty="0"/>
              <a:t>Short-term unemployed usually have low cost</a:t>
            </a:r>
          </a:p>
          <a:p>
            <a:pPr lvl="1" eaLnBrk="1" hangingPunct="1"/>
            <a:r>
              <a:rPr lang="en-US" dirty="0"/>
              <a:t>Find a permanent job after searching a few weeks</a:t>
            </a:r>
          </a:p>
          <a:p>
            <a:pPr lvl="1" eaLnBrk="1" hangingPunct="1"/>
            <a:r>
              <a:rPr lang="en-US" dirty="0"/>
              <a:t>May find a job better fitting job that match the ability of the workers which is beneficial</a:t>
            </a:r>
          </a:p>
          <a:p>
            <a:pPr eaLnBrk="1" hangingPunct="1"/>
            <a:r>
              <a:rPr lang="en-US" dirty="0"/>
              <a:t>Long-term unemployment is costly</a:t>
            </a:r>
          </a:p>
          <a:p>
            <a:pPr lvl="1" eaLnBrk="1" hangingPunct="1"/>
            <a:r>
              <a:rPr lang="en-US" dirty="0"/>
              <a:t>May lead to permanent unemployment</a:t>
            </a:r>
          </a:p>
          <a:p>
            <a:pPr lvl="1" eaLnBrk="1" hangingPunct="1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Other Unemployment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5800" y="1238250"/>
            <a:ext cx="8324850" cy="5211477"/>
          </a:xfrm>
        </p:spPr>
        <p:txBody>
          <a:bodyPr/>
          <a:lstStyle/>
          <a:p>
            <a:pPr eaLnBrk="1" hangingPunct="1"/>
            <a:r>
              <a:rPr lang="en-US" sz="2600" b="1" dirty="0"/>
              <a:t>Discouraged workers</a:t>
            </a:r>
            <a:r>
              <a:rPr lang="en-US" sz="2600" dirty="0"/>
              <a:t> would like to have a job but they have not looked for work in the past four weeks</a:t>
            </a:r>
          </a:p>
          <a:p>
            <a:pPr lvl="1" eaLnBrk="1" hangingPunct="1"/>
            <a:r>
              <a:rPr lang="en-US" dirty="0"/>
              <a:t>Counted as out of the labor force</a:t>
            </a:r>
          </a:p>
          <a:p>
            <a:pPr lvl="1" eaLnBrk="1" hangingPunct="1"/>
            <a:r>
              <a:rPr lang="en-US" dirty="0"/>
              <a:t>Willing and ready to work but have give up on job search</a:t>
            </a:r>
          </a:p>
          <a:p>
            <a:pPr lvl="1" eaLnBrk="1" hangingPunct="1"/>
            <a:r>
              <a:rPr lang="en-US" dirty="0"/>
              <a:t>Could be counted as unemployed but they are not</a:t>
            </a:r>
          </a:p>
          <a:p>
            <a:pPr eaLnBrk="1" hangingPunct="1"/>
            <a:r>
              <a:rPr lang="en-US" sz="2600" dirty="0"/>
              <a:t>Involuntary part-time workers are people who like to work full-time but cannot find a full-time job</a:t>
            </a:r>
          </a:p>
          <a:p>
            <a:pPr lvl="1" eaLnBrk="1" hangingPunct="1"/>
            <a:r>
              <a:rPr lang="en-US" dirty="0"/>
              <a:t>Counted as employed</a:t>
            </a:r>
          </a:p>
          <a:p>
            <a:pPr eaLnBrk="1" hangingPunct="1"/>
            <a:r>
              <a:rPr lang="en-US" sz="2400" dirty="0"/>
              <a:t>Unemployment rate that includes discouraged workers and involuntary part-time workers would be higher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Types of Unemployment</a:t>
            </a:r>
          </a:p>
        </p:txBody>
      </p:sp>
      <p:sp>
        <p:nvSpPr>
          <p:cNvPr id="205827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Frictional unemployment</a:t>
            </a:r>
            <a:r>
              <a:rPr lang="en-US" dirty="0"/>
              <a:t> occurs when workers are between jobs</a:t>
            </a:r>
          </a:p>
          <a:p>
            <a:pPr lvl="1" eaLnBrk="1" hangingPunct="1"/>
            <a:r>
              <a:rPr lang="en-US" dirty="0"/>
              <a:t>Short duration, low economic cost</a:t>
            </a:r>
          </a:p>
          <a:p>
            <a:pPr lvl="1" eaLnBrk="1" hangingPunct="1"/>
            <a:r>
              <a:rPr lang="en-US" dirty="0"/>
              <a:t>May increase economic efficiency</a:t>
            </a:r>
          </a:p>
          <a:p>
            <a:pPr lvl="1" eaLnBrk="1" hangingPunct="1"/>
            <a:endParaRPr lang="en-US" dirty="0"/>
          </a:p>
          <a:p>
            <a:pPr eaLnBrk="1" hangingPunct="1"/>
            <a:r>
              <a:rPr lang="en-US" b="1" dirty="0"/>
              <a:t>Cyclical unemployment </a:t>
            </a:r>
            <a:r>
              <a:rPr lang="en-US" dirty="0"/>
              <a:t>is the increase in unemployment during economic slow-downs</a:t>
            </a:r>
          </a:p>
          <a:p>
            <a:pPr lvl="1" eaLnBrk="1" hangingPunct="1"/>
            <a:r>
              <a:rPr lang="en-US" dirty="0"/>
              <a:t>Depends on the duration of the recession</a:t>
            </a:r>
          </a:p>
          <a:p>
            <a:pPr lvl="1" eaLnBrk="1" hangingPunct="1"/>
            <a:r>
              <a:rPr lang="en-US" dirty="0"/>
              <a:t>Economic cost is the decline in real GDP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Types of Unemployment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Structural unemployment</a:t>
            </a:r>
            <a:r>
              <a:rPr lang="en-US" dirty="0"/>
              <a:t> is long-term, chronic unemployment in a well-functioning economy</a:t>
            </a:r>
          </a:p>
          <a:p>
            <a:pPr lvl="1" eaLnBrk="1" hangingPunct="1"/>
            <a:r>
              <a:rPr lang="en-US" dirty="0"/>
              <a:t>Lack of skills, language barriers, or discrimination</a:t>
            </a:r>
          </a:p>
          <a:p>
            <a:pPr lvl="1" eaLnBrk="1" hangingPunct="1"/>
            <a:r>
              <a:rPr lang="en-US" dirty="0"/>
              <a:t>Structural shifts in production create a long-term mismatch between workers and market needs</a:t>
            </a:r>
          </a:p>
          <a:p>
            <a:pPr lvl="1" eaLnBrk="1" hangingPunct="1"/>
            <a:r>
              <a:rPr lang="en-US" dirty="0"/>
              <a:t>Barriers to employment such as </a:t>
            </a:r>
          </a:p>
          <a:p>
            <a:pPr lvl="2" eaLnBrk="1" hangingPunct="1"/>
            <a:r>
              <a:rPr lang="en-US" dirty="0"/>
              <a:t>Minimum wages			</a:t>
            </a:r>
            <a:r>
              <a:rPr lang="en-US" baseline="15000" dirty="0">
                <a:solidFill>
                  <a:srgbClr val="4EC9CC"/>
                </a:solidFill>
              </a:rPr>
              <a:t>■</a:t>
            </a:r>
            <a:r>
              <a:rPr lang="en-US" dirty="0"/>
              <a:t>  Unions</a:t>
            </a:r>
          </a:p>
          <a:p>
            <a:pPr lvl="2" eaLnBrk="1" hangingPunct="1"/>
            <a:r>
              <a:rPr lang="en-US" dirty="0"/>
              <a:t>Unemployment Insurance</a:t>
            </a:r>
          </a:p>
          <a:p>
            <a:pPr lvl="1" eaLnBrk="1" hangingPunct="1"/>
            <a:r>
              <a:rPr lang="en-US" dirty="0"/>
              <a:t>High economic, psychological, and social costs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 bwMode="auto">
          <a:xfrm>
            <a:off x="969812" y="1544782"/>
            <a:ext cx="4502731" cy="443345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1054100" y="1614488"/>
            <a:ext cx="4321175" cy="4294187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578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Structural Barriers to Employment </a:t>
            </a:r>
          </a:p>
        </p:txBody>
      </p:sp>
      <p:sp>
        <p:nvSpPr>
          <p:cNvPr id="75782" name="Text Box 3"/>
          <p:cNvSpPr txBox="1">
            <a:spLocks noChangeArrowheads="1"/>
          </p:cNvSpPr>
          <p:nvPr/>
        </p:nvSpPr>
        <p:spPr bwMode="auto">
          <a:xfrm>
            <a:off x="1952625" y="5470525"/>
            <a:ext cx="33083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Employment</a:t>
            </a:r>
          </a:p>
        </p:txBody>
      </p:sp>
      <p:sp>
        <p:nvSpPr>
          <p:cNvPr id="75783" name="Text Box 4"/>
          <p:cNvSpPr txBox="1">
            <a:spLocks noChangeArrowheads="1"/>
          </p:cNvSpPr>
          <p:nvPr/>
        </p:nvSpPr>
        <p:spPr bwMode="auto">
          <a:xfrm rot="-5400000">
            <a:off x="276225" y="3308350"/>
            <a:ext cx="2063750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Real Wage</a:t>
            </a:r>
          </a:p>
        </p:txBody>
      </p:sp>
      <p:sp>
        <p:nvSpPr>
          <p:cNvPr id="75784" name="Line 5"/>
          <p:cNvSpPr>
            <a:spLocks noChangeShapeType="1"/>
          </p:cNvSpPr>
          <p:nvPr/>
        </p:nvSpPr>
        <p:spPr bwMode="auto">
          <a:xfrm>
            <a:off x="1947863" y="5146675"/>
            <a:ext cx="3317875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5785" name="Line 6"/>
          <p:cNvSpPr>
            <a:spLocks noChangeShapeType="1"/>
          </p:cNvSpPr>
          <p:nvPr/>
        </p:nvSpPr>
        <p:spPr bwMode="auto">
          <a:xfrm>
            <a:off x="1954213" y="1714500"/>
            <a:ext cx="1587" cy="3432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5786" name="Line 8"/>
          <p:cNvSpPr>
            <a:spLocks noChangeShapeType="1"/>
          </p:cNvSpPr>
          <p:nvPr/>
        </p:nvSpPr>
        <p:spPr bwMode="auto">
          <a:xfrm flipV="1">
            <a:off x="3905250" y="3676650"/>
            <a:ext cx="0" cy="1458913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5787" name="Line 10"/>
          <p:cNvSpPr>
            <a:spLocks noChangeShapeType="1"/>
          </p:cNvSpPr>
          <p:nvPr/>
        </p:nvSpPr>
        <p:spPr bwMode="auto">
          <a:xfrm>
            <a:off x="1954213" y="3659188"/>
            <a:ext cx="1938337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6380" name="Freeform 12"/>
          <p:cNvSpPr>
            <a:spLocks/>
          </p:cNvSpPr>
          <p:nvPr/>
        </p:nvSpPr>
        <p:spPr bwMode="auto">
          <a:xfrm>
            <a:off x="2770188" y="2255838"/>
            <a:ext cx="1958975" cy="2090737"/>
          </a:xfrm>
          <a:custGeom>
            <a:avLst/>
            <a:gdLst/>
            <a:ahLst/>
            <a:cxnLst>
              <a:cxn ang="0">
                <a:pos x="0" y="1705"/>
              </a:cxn>
              <a:cxn ang="0">
                <a:pos x="299" y="1585"/>
              </a:cxn>
              <a:cxn ang="0">
                <a:pos x="614" y="1436"/>
              </a:cxn>
              <a:cxn ang="0">
                <a:pos x="980" y="1167"/>
              </a:cxn>
              <a:cxn ang="0">
                <a:pos x="1294" y="801"/>
              </a:cxn>
              <a:cxn ang="0">
                <a:pos x="1601" y="277"/>
              </a:cxn>
              <a:cxn ang="0">
                <a:pos x="1706" y="0"/>
              </a:cxn>
            </a:cxnLst>
            <a:rect l="0" t="0" r="r" b="b"/>
            <a:pathLst>
              <a:path w="1706" h="1705">
                <a:moveTo>
                  <a:pt x="0" y="1705"/>
                </a:moveTo>
                <a:cubicBezTo>
                  <a:pt x="98" y="1667"/>
                  <a:pt x="197" y="1630"/>
                  <a:pt x="299" y="1585"/>
                </a:cubicBezTo>
                <a:cubicBezTo>
                  <a:pt x="401" y="1540"/>
                  <a:pt x="500" y="1506"/>
                  <a:pt x="614" y="1436"/>
                </a:cubicBezTo>
                <a:cubicBezTo>
                  <a:pt x="728" y="1366"/>
                  <a:pt x="867" y="1273"/>
                  <a:pt x="980" y="1167"/>
                </a:cubicBezTo>
                <a:cubicBezTo>
                  <a:pt x="1093" y="1061"/>
                  <a:pt x="1190" y="949"/>
                  <a:pt x="1294" y="801"/>
                </a:cubicBezTo>
                <a:cubicBezTo>
                  <a:pt x="1398" y="653"/>
                  <a:pt x="1532" y="410"/>
                  <a:pt x="1601" y="277"/>
                </a:cubicBezTo>
                <a:cubicBezTo>
                  <a:pt x="1670" y="144"/>
                  <a:pt x="1684" y="58"/>
                  <a:pt x="1706" y="0"/>
                </a:cubicBezTo>
              </a:path>
            </a:pathLst>
          </a:custGeom>
          <a:ln>
            <a:solidFill>
              <a:srgbClr val="FF0000"/>
            </a:solidFill>
            <a:headEnd/>
            <a:tailE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6381" name="Freeform 13"/>
          <p:cNvSpPr>
            <a:spLocks/>
          </p:cNvSpPr>
          <p:nvPr/>
        </p:nvSpPr>
        <p:spPr bwMode="auto">
          <a:xfrm>
            <a:off x="2781300" y="1846263"/>
            <a:ext cx="2136775" cy="2427287"/>
          </a:xfrm>
          <a:custGeom>
            <a:avLst/>
            <a:gdLst/>
            <a:ahLst/>
            <a:cxnLst>
              <a:cxn ang="0">
                <a:pos x="1861" y="1980"/>
              </a:cxn>
              <a:cxn ang="0">
                <a:pos x="1554" y="1861"/>
              </a:cxn>
              <a:cxn ang="0">
                <a:pos x="1165" y="1629"/>
              </a:cxn>
              <a:cxn ang="0">
                <a:pos x="761" y="1292"/>
              </a:cxn>
              <a:cxn ang="0">
                <a:pos x="418" y="899"/>
              </a:cxn>
              <a:cxn ang="0">
                <a:pos x="106" y="311"/>
              </a:cxn>
              <a:cxn ang="0">
                <a:pos x="0" y="0"/>
              </a:cxn>
            </a:cxnLst>
            <a:rect l="0" t="0" r="r" b="b"/>
            <a:pathLst>
              <a:path w="1861" h="1980">
                <a:moveTo>
                  <a:pt x="1861" y="1980"/>
                </a:moveTo>
                <a:cubicBezTo>
                  <a:pt x="1811" y="1960"/>
                  <a:pt x="1670" y="1919"/>
                  <a:pt x="1554" y="1861"/>
                </a:cubicBezTo>
                <a:cubicBezTo>
                  <a:pt x="1438" y="1803"/>
                  <a:pt x="1297" y="1724"/>
                  <a:pt x="1165" y="1629"/>
                </a:cubicBezTo>
                <a:cubicBezTo>
                  <a:pt x="1033" y="1534"/>
                  <a:pt x="886" y="1414"/>
                  <a:pt x="761" y="1292"/>
                </a:cubicBezTo>
                <a:cubicBezTo>
                  <a:pt x="636" y="1170"/>
                  <a:pt x="527" y="1063"/>
                  <a:pt x="418" y="899"/>
                </a:cubicBezTo>
                <a:cubicBezTo>
                  <a:pt x="309" y="735"/>
                  <a:pt x="176" y="460"/>
                  <a:pt x="106" y="311"/>
                </a:cubicBezTo>
                <a:cubicBezTo>
                  <a:pt x="36" y="162"/>
                  <a:pt x="22" y="65"/>
                  <a:pt x="0" y="0"/>
                </a:cubicBezTo>
              </a:path>
            </a:pathLst>
          </a:cu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5790" name="Text Box 14"/>
          <p:cNvSpPr txBox="1">
            <a:spLocks noChangeArrowheads="1"/>
          </p:cNvSpPr>
          <p:nvPr/>
        </p:nvSpPr>
        <p:spPr bwMode="auto">
          <a:xfrm>
            <a:off x="4767263" y="3890963"/>
            <a:ext cx="4476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D</a:t>
            </a:r>
          </a:p>
        </p:txBody>
      </p:sp>
      <p:sp>
        <p:nvSpPr>
          <p:cNvPr id="75791" name="Text Box 15"/>
          <p:cNvSpPr txBox="1">
            <a:spLocks noChangeArrowheads="1"/>
          </p:cNvSpPr>
          <p:nvPr/>
        </p:nvSpPr>
        <p:spPr bwMode="auto">
          <a:xfrm>
            <a:off x="4676775" y="1973263"/>
            <a:ext cx="3952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S</a:t>
            </a:r>
          </a:p>
        </p:txBody>
      </p:sp>
      <p:sp>
        <p:nvSpPr>
          <p:cNvPr id="75792" name="Text Box 17"/>
          <p:cNvSpPr txBox="1">
            <a:spLocks noChangeArrowheads="1"/>
          </p:cNvSpPr>
          <p:nvPr/>
        </p:nvSpPr>
        <p:spPr bwMode="auto">
          <a:xfrm>
            <a:off x="3644900" y="5145088"/>
            <a:ext cx="385763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/>
              <a:t>N</a:t>
            </a:r>
          </a:p>
        </p:txBody>
      </p:sp>
      <p:sp>
        <p:nvSpPr>
          <p:cNvPr id="75793" name="Text Box 18"/>
          <p:cNvSpPr txBox="1">
            <a:spLocks noChangeArrowheads="1"/>
          </p:cNvSpPr>
          <p:nvPr/>
        </p:nvSpPr>
        <p:spPr bwMode="auto">
          <a:xfrm>
            <a:off x="1573213" y="3516313"/>
            <a:ext cx="385762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/>
              <a:t>W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1277938" y="2798763"/>
            <a:ext cx="3295650" cy="2684462"/>
            <a:chOff x="1277421" y="2798148"/>
            <a:chExt cx="3295944" cy="2685343"/>
          </a:xfrm>
        </p:grpSpPr>
        <p:sp>
          <p:nvSpPr>
            <p:cNvPr id="75799" name="Text Box 7"/>
            <p:cNvSpPr txBox="1">
              <a:spLocks noChangeArrowheads="1"/>
            </p:cNvSpPr>
            <p:nvPr/>
          </p:nvSpPr>
          <p:spPr bwMode="auto">
            <a:xfrm>
              <a:off x="3314663" y="2798148"/>
              <a:ext cx="36544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A</a:t>
              </a:r>
            </a:p>
          </p:txBody>
        </p:sp>
        <p:sp>
          <p:nvSpPr>
            <p:cNvPr id="75800" name="Line 9"/>
            <p:cNvSpPr>
              <a:spLocks noChangeShapeType="1"/>
            </p:cNvSpPr>
            <p:nvPr/>
          </p:nvSpPr>
          <p:spPr bwMode="auto">
            <a:xfrm>
              <a:off x="1953746" y="3118381"/>
              <a:ext cx="236082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801" name="Line 11"/>
            <p:cNvSpPr>
              <a:spLocks noChangeShapeType="1"/>
            </p:cNvSpPr>
            <p:nvPr/>
          </p:nvSpPr>
          <p:spPr bwMode="auto">
            <a:xfrm flipV="1">
              <a:off x="3368402" y="3117155"/>
              <a:ext cx="0" cy="20192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802" name="Text Box 16"/>
            <p:cNvSpPr txBox="1">
              <a:spLocks noChangeArrowheads="1"/>
            </p:cNvSpPr>
            <p:nvPr/>
          </p:nvSpPr>
          <p:spPr bwMode="auto">
            <a:xfrm>
              <a:off x="1277421" y="2978619"/>
              <a:ext cx="682066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1600"/>
                <a:t>W</a:t>
              </a:r>
              <a:r>
                <a:rPr lang="en-US" sz="1600" baseline="-25000"/>
                <a:t>min</a:t>
              </a:r>
              <a:endParaRPr lang="en-US" sz="1600"/>
            </a:p>
          </p:txBody>
        </p:sp>
        <p:sp>
          <p:nvSpPr>
            <p:cNvPr id="75803" name="Text Box 19"/>
            <p:cNvSpPr txBox="1">
              <a:spLocks noChangeArrowheads="1"/>
            </p:cNvSpPr>
            <p:nvPr/>
          </p:nvSpPr>
          <p:spPr bwMode="auto">
            <a:xfrm>
              <a:off x="3107060" y="5144937"/>
              <a:ext cx="445064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N</a:t>
              </a:r>
              <a:r>
                <a:rPr lang="en-US" sz="1600" baseline="-25000"/>
                <a:t>A</a:t>
              </a:r>
              <a:endParaRPr lang="en-US" sz="1600"/>
            </a:p>
          </p:txBody>
        </p:sp>
        <p:sp>
          <p:nvSpPr>
            <p:cNvPr id="75804" name="Line 20"/>
            <p:cNvSpPr>
              <a:spLocks noChangeShapeType="1"/>
            </p:cNvSpPr>
            <p:nvPr/>
          </p:nvSpPr>
          <p:spPr bwMode="auto">
            <a:xfrm flipV="1">
              <a:off x="4318012" y="3145353"/>
              <a:ext cx="0" cy="19910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805" name="Text Box 21"/>
            <p:cNvSpPr txBox="1">
              <a:spLocks noChangeArrowheads="1"/>
            </p:cNvSpPr>
            <p:nvPr/>
          </p:nvSpPr>
          <p:spPr bwMode="auto">
            <a:xfrm>
              <a:off x="4015373" y="2798148"/>
              <a:ext cx="34208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B</a:t>
              </a:r>
            </a:p>
          </p:txBody>
        </p:sp>
        <p:sp>
          <p:nvSpPr>
            <p:cNvPr id="75806" name="Text Box 22"/>
            <p:cNvSpPr txBox="1">
              <a:spLocks noChangeArrowheads="1"/>
            </p:cNvSpPr>
            <p:nvPr/>
          </p:nvSpPr>
          <p:spPr bwMode="auto">
            <a:xfrm>
              <a:off x="4068840" y="5144937"/>
              <a:ext cx="50452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1600"/>
                <a:t>N</a:t>
              </a:r>
              <a:r>
                <a:rPr lang="en-US" sz="1600" baseline="-25000"/>
                <a:t>B</a:t>
              </a:r>
              <a:endParaRPr lang="en-US" sz="1600"/>
            </a:p>
          </p:txBody>
        </p:sp>
      </p:grpSp>
      <p:sp>
        <p:nvSpPr>
          <p:cNvPr id="186392" name="Text Box 24"/>
          <p:cNvSpPr txBox="1">
            <a:spLocks noChangeArrowheads="1"/>
          </p:cNvSpPr>
          <p:nvPr/>
        </p:nvSpPr>
        <p:spPr bwMode="auto">
          <a:xfrm>
            <a:off x="5568950" y="1579563"/>
            <a:ext cx="3255963" cy="426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34950" indent="-234950" algn="ctr">
              <a:buClr>
                <a:srgbClr val="2C9A1E"/>
              </a:buClr>
            </a:pPr>
            <a:r>
              <a:rPr lang="en-US" sz="2400" u="sng"/>
              <a:t>Minimum Wage Laws</a:t>
            </a:r>
          </a:p>
          <a:p>
            <a:pPr marL="234950" indent="-234950" algn="ctr">
              <a:buClr>
                <a:srgbClr val="2C9A1E"/>
              </a:buClr>
            </a:pPr>
            <a:endParaRPr lang="en-US" sz="1000" u="sng"/>
          </a:p>
          <a:p>
            <a:pPr marL="234950" indent="-23495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/>
              <a:t>Setting  a minimum wage (W</a:t>
            </a:r>
            <a:r>
              <a:rPr lang="en-US" sz="2400" baseline="-25000"/>
              <a:t>min</a:t>
            </a:r>
            <a:r>
              <a:rPr lang="en-US" sz="2400"/>
              <a:t>) above equilibrium (W) creates (N</a:t>
            </a:r>
            <a:r>
              <a:rPr lang="en-US" sz="2400" baseline="-25000"/>
              <a:t>B</a:t>
            </a:r>
            <a:r>
              <a:rPr lang="en-US" sz="2400"/>
              <a:t> – N</a:t>
            </a:r>
            <a:r>
              <a:rPr lang="en-US" sz="2400" baseline="-25000"/>
              <a:t>A</a:t>
            </a:r>
            <a:r>
              <a:rPr lang="en-US" sz="2400"/>
              <a:t>) unemployment</a:t>
            </a:r>
          </a:p>
          <a:p>
            <a:pPr marL="234950" indent="-23495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/>
              <a:t>Workers who find a minimum-wage job get a higher wage</a:t>
            </a:r>
          </a:p>
          <a:p>
            <a:pPr lvl="1" indent="-23495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/>
              <a:t>Others are unemployed</a:t>
            </a:r>
          </a:p>
        </p:txBody>
      </p:sp>
      <p:sp>
        <p:nvSpPr>
          <p:cNvPr id="33" name="Left-Right Arrow 32"/>
          <p:cNvSpPr/>
          <p:nvPr/>
        </p:nvSpPr>
        <p:spPr bwMode="auto">
          <a:xfrm>
            <a:off x="3408219" y="4627418"/>
            <a:ext cx="886691" cy="249382"/>
          </a:xfrm>
          <a:prstGeom prst="left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Effects of </a:t>
            </a:r>
            <a:r>
              <a:rPr lang="en-US" dirty="0" err="1"/>
              <a:t>Labour</a:t>
            </a:r>
            <a:r>
              <a:rPr lang="en-US" dirty="0"/>
              <a:t> Union</a:t>
            </a:r>
          </a:p>
        </p:txBody>
      </p:sp>
      <p:sp>
        <p:nvSpPr>
          <p:cNvPr id="77826" name="Rectangle 3"/>
          <p:cNvSpPr>
            <a:spLocks noGrp="1" noChangeArrowheads="1"/>
          </p:cNvSpPr>
          <p:nvPr>
            <p:ph sz="half" idx="4294967295"/>
          </p:nvPr>
        </p:nvSpPr>
        <p:spPr>
          <a:xfrm>
            <a:off x="685800" y="1719263"/>
            <a:ext cx="3954463" cy="4406900"/>
          </a:xfrm>
        </p:spPr>
        <p:txBody>
          <a:bodyPr/>
          <a:lstStyle/>
          <a:p>
            <a:pPr eaLnBrk="1" hangingPunct="1"/>
            <a:r>
              <a:rPr lang="en-US" dirty="0"/>
              <a:t>Labor union benefits</a:t>
            </a:r>
          </a:p>
          <a:p>
            <a:pPr lvl="1" eaLnBrk="1" hangingPunct="1"/>
            <a:r>
              <a:rPr lang="en-US" dirty="0"/>
              <a:t>Reduced worker exploitation</a:t>
            </a:r>
          </a:p>
          <a:p>
            <a:pPr lvl="1" eaLnBrk="1" hangingPunct="1"/>
            <a:r>
              <a:rPr lang="en-US" dirty="0"/>
              <a:t>Increase productivity</a:t>
            </a:r>
          </a:p>
        </p:txBody>
      </p:sp>
      <p:sp>
        <p:nvSpPr>
          <p:cNvPr id="77827" name="Content Placeholder 5"/>
          <p:cNvSpPr>
            <a:spLocks noGrp="1"/>
          </p:cNvSpPr>
          <p:nvPr>
            <p:ph sz="half" idx="4294967295"/>
          </p:nvPr>
        </p:nvSpPr>
        <p:spPr>
          <a:xfrm>
            <a:off x="4848225" y="1719262"/>
            <a:ext cx="4143375" cy="4738687"/>
          </a:xfrm>
        </p:spPr>
        <p:txBody>
          <a:bodyPr/>
          <a:lstStyle/>
          <a:p>
            <a:pPr eaLnBrk="1" hangingPunct="1"/>
            <a:r>
              <a:rPr lang="en-US" dirty="0"/>
              <a:t>Labor union costs</a:t>
            </a:r>
          </a:p>
          <a:p>
            <a:pPr lvl="1" eaLnBrk="1" hangingPunct="1"/>
            <a:r>
              <a:rPr lang="en-US" dirty="0"/>
              <a:t>Increase </a:t>
            </a:r>
            <a:r>
              <a:rPr lang="en-US" dirty="0" err="1"/>
              <a:t>labour</a:t>
            </a:r>
            <a:r>
              <a:rPr lang="en-US" dirty="0"/>
              <a:t> cost and introduces inefficiency</a:t>
            </a:r>
          </a:p>
          <a:p>
            <a:pPr lvl="1" eaLnBrk="1" hangingPunct="1"/>
            <a:r>
              <a:rPr lang="en-US" dirty="0"/>
              <a:t>Increase labor supply in non-union sector</a:t>
            </a:r>
          </a:p>
          <a:p>
            <a:pPr lvl="1" eaLnBrk="1" hangingPunct="1"/>
            <a:r>
              <a:rPr lang="en-US" dirty="0"/>
              <a:t>Decreases wages for non-union workers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99448" y="536816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Unemployment Benefits and Government Regulations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9448" y="1657350"/>
            <a:ext cx="8311202" cy="5038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Unemployment benefit is a government transfer to unemployed workers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Helps to reduce the costs of unemployment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May give the unemployed an incentive to search longer and less intensely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To work efficiently, unemployment benefits should be for a limited time and is less than the income received when working </a:t>
            </a:r>
          </a:p>
          <a:p>
            <a:pPr eaLnBrk="1" hangingPunct="1"/>
            <a:r>
              <a:rPr lang="en-US" dirty="0"/>
              <a:t>Health and safety regulations can reduce the demand for labor and this will increase unemployment and lower wages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17332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Economic Growth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17332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Real GDP of economies tend to increase over time due to improvement in technology and increase in quantity and quality of resources</a:t>
            </a:r>
          </a:p>
          <a:p>
            <a:pPr eaLnBrk="1" hangingPunct="1"/>
            <a:r>
              <a:rPr lang="en-US" dirty="0"/>
              <a:t>Economic growth is the percentage change in real GDP</a:t>
            </a:r>
          </a:p>
          <a:p>
            <a:pPr eaLnBrk="1" hangingPunct="1"/>
            <a:r>
              <a:rPr lang="en-US" dirty="0"/>
              <a:t>Real GDP per capita or real GDP per person is obtained by dividing the real GDP by the population of the economy</a:t>
            </a:r>
          </a:p>
          <a:p>
            <a:pPr eaLnBrk="1" hangingPunct="1"/>
            <a:r>
              <a:rPr lang="en-US" dirty="0"/>
              <a:t>Real GDP per capita reflects the amount of goods and services available to a person in the economy – An indicator of standard of living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33098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Real GDP per Person, 1870-2008 </a:t>
            </a:r>
            <a:r>
              <a:rPr lang="en-US" sz="3600"/>
              <a:t>(in US Dollars)</a:t>
            </a:r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1122616" y="1655992"/>
            <a:ext cx="7519273" cy="483102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198236" y="1719263"/>
            <a:ext cx="7367587" cy="4678362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4342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0936" y="1930400"/>
            <a:ext cx="7302500" cy="412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 idx="4294967295"/>
          </p:nvPr>
        </p:nvSpPr>
        <p:spPr>
          <a:xfrm>
            <a:off x="782638" y="271463"/>
            <a:ext cx="8094662" cy="762000"/>
          </a:xfrm>
        </p:spPr>
        <p:txBody>
          <a:bodyPr/>
          <a:lstStyle/>
          <a:p>
            <a:pPr eaLnBrk="1" hangingPunct="1"/>
            <a:r>
              <a:rPr lang="en-US" sz="4000"/>
              <a:t>Real GDP per Person, 1870 - 2008</a:t>
            </a:r>
          </a:p>
        </p:txBody>
      </p:sp>
      <p:graphicFrame>
        <p:nvGraphicFramePr>
          <p:cNvPr id="47184" name="Group 80"/>
          <p:cNvGraphicFramePr>
            <a:graphicFrameLocks noGrp="1"/>
          </p:cNvGraphicFramePr>
          <p:nvPr>
            <p:ph idx="4294967295"/>
          </p:nvPr>
        </p:nvGraphicFramePr>
        <p:xfrm>
          <a:off x="1054100" y="1230313"/>
          <a:ext cx="7813675" cy="5157792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9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Country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1870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1913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1950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1979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1990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2008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$2,445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$5,301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$9,561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$18,789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$23,201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31,178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3,190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4,921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6,939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13,167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16,430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23,742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Germany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1,839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3,648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3,881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13,993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15,929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20,801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Japan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737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1,387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1,921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13,163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18,789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22,816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China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530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552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448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1,039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1,871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6,725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8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Brazil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713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811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1,672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4,890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4,920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6,429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India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533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673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619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895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1,309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2,975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Ghana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439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781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1,122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1,210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1,062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1,650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 idx="4294967295"/>
          </p:nvPr>
        </p:nvSpPr>
        <p:spPr>
          <a:xfrm>
            <a:off x="838200" y="371475"/>
            <a:ext cx="7924800" cy="762000"/>
          </a:xfrm>
        </p:spPr>
        <p:txBody>
          <a:bodyPr/>
          <a:lstStyle/>
          <a:p>
            <a:pPr eaLnBrk="1" hangingPunct="1"/>
            <a:r>
              <a:rPr lang="en-US" sz="4000"/>
              <a:t>Growth of Real GDP per Person, 1870 - 2008</a:t>
            </a:r>
          </a:p>
        </p:txBody>
      </p:sp>
      <p:graphicFrame>
        <p:nvGraphicFramePr>
          <p:cNvPr id="49205" name="Group 53"/>
          <p:cNvGraphicFramePr>
            <a:graphicFrameLocks noGrp="1"/>
          </p:cNvGraphicFramePr>
          <p:nvPr>
            <p:ph idx="4294967295"/>
          </p:nvPr>
        </p:nvGraphicFramePr>
        <p:xfrm>
          <a:off x="1001713" y="1346200"/>
          <a:ext cx="7924800" cy="5168904"/>
        </p:xfrm>
        <a:graphic>
          <a:graphicData uri="http://schemas.openxmlformats.org/drawingml/2006/table">
            <a:tbl>
              <a:tblPr/>
              <a:tblGrid>
                <a:gridCol w="1309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5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5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5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44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Country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Annual % Change</a:t>
                      </a:r>
                      <a:b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1870 – 2008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Annual % Change</a:t>
                      </a:r>
                      <a:b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1950 – 2008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Annual % Change</a:t>
                      </a:r>
                      <a:b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1979 - 2008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US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69963" algn="dec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1.9%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69963" algn="dec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2.1%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69963" algn="dec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1.8%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UK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1.5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2.1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2.1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Germany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1.8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2.9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1.4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Japan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2.5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4.4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1.9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China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1.9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4.8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6.7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Brazil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1.6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2.3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0.9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India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1.3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2.7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4.2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0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Ghana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1.0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0.7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1.1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48864" y="1397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Compound Interest Rates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48864" y="1282700"/>
            <a:ext cx="8229600" cy="4525963"/>
          </a:xfrm>
        </p:spPr>
        <p:txBody>
          <a:bodyPr/>
          <a:lstStyle/>
          <a:p>
            <a:pPr eaLnBrk="1" hangingPunct="1"/>
            <a:r>
              <a:rPr lang="en-US"/>
              <a:t>In 1870, Brazil's GDP per person was twice Ghana's</a:t>
            </a:r>
          </a:p>
          <a:p>
            <a:pPr lvl="1" eaLnBrk="1" hangingPunct="1"/>
            <a:r>
              <a:rPr lang="en-US"/>
              <a:t>By 2008, the multiple increased to 4 times</a:t>
            </a:r>
          </a:p>
          <a:p>
            <a:pPr lvl="1" eaLnBrk="1" hangingPunct="1"/>
            <a:r>
              <a:rPr lang="en-US"/>
              <a:t>Brazil's growth over the period was 1.6% and Ghana's was 1.0%</a:t>
            </a:r>
          </a:p>
          <a:p>
            <a:pPr eaLnBrk="1" hangingPunct="1"/>
            <a:r>
              <a:rPr lang="en-US" b="1"/>
              <a:t>Compound interest </a:t>
            </a:r>
            <a:r>
              <a:rPr lang="en-US"/>
              <a:t>pays interest on the original deposit and all previously accumulated interest</a:t>
            </a:r>
          </a:p>
          <a:p>
            <a:pPr lvl="1" eaLnBrk="1" hangingPunct="1"/>
            <a:r>
              <a:rPr lang="en-US" sz="2300"/>
              <a:t>Interest paid in year 1 earns interest in year 2</a:t>
            </a:r>
          </a:p>
          <a:p>
            <a:pPr lvl="1" eaLnBrk="1" hangingPunct="1"/>
            <a:r>
              <a:rPr lang="en-US" sz="2300"/>
              <a:t>$10 deposited at 4% interest in 1800 is $37,757.33 in 2010</a:t>
            </a:r>
          </a:p>
          <a:p>
            <a:pPr lvl="2" eaLnBrk="1" hangingPunct="1"/>
            <a:r>
              <a:rPr lang="en-US" sz="2000"/>
              <a:t>$10 x (1.04)</a:t>
            </a:r>
            <a:r>
              <a:rPr lang="en-US" sz="2000" baseline="30000"/>
              <a:t>210</a:t>
            </a:r>
            <a:r>
              <a:rPr lang="en-US" sz="2000"/>
              <a:t> = $37,757.33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02438" y="105102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Compound Interest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4294967295"/>
          </p:nvPr>
        </p:nvSpPr>
        <p:spPr>
          <a:xfrm>
            <a:off x="764630" y="1244600"/>
            <a:ext cx="8229600" cy="4525963"/>
          </a:xfrm>
        </p:spPr>
        <p:txBody>
          <a:bodyPr/>
          <a:lstStyle/>
          <a:p>
            <a:pPr eaLnBrk="1" hangingPunct="1"/>
            <a:r>
              <a:rPr lang="en-US"/>
              <a:t>Differences in interest rates matter</a:t>
            </a:r>
          </a:p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Growth rates in GDP per capita have the same effect as interest rates</a:t>
            </a:r>
          </a:p>
          <a:p>
            <a:pPr lvl="1" eaLnBrk="1" hangingPunct="1"/>
            <a:r>
              <a:rPr lang="en-US"/>
              <a:t>Relatively small growth in GDP per capita has a very large effect over a long period</a:t>
            </a:r>
          </a:p>
          <a:p>
            <a:pPr eaLnBrk="1" hangingPunct="1"/>
            <a:r>
              <a:rPr lang="en-US"/>
              <a:t>In the long run, the growth rate of an economy matters</a:t>
            </a:r>
          </a:p>
        </p:txBody>
      </p:sp>
      <p:graphicFrame>
        <p:nvGraphicFramePr>
          <p:cNvPr id="53264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573612"/>
              </p:ext>
            </p:extLst>
          </p:nvPr>
        </p:nvGraphicFramePr>
        <p:xfrm>
          <a:off x="1602830" y="1846263"/>
          <a:ext cx="5999163" cy="1889760"/>
        </p:xfrm>
        <a:graphic>
          <a:graphicData uri="http://schemas.openxmlformats.org/drawingml/2006/table">
            <a:tbl>
              <a:tblPr/>
              <a:tblGrid>
                <a:gridCol w="2008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Interest Rate (%)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Value of $10 after 210 years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6832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0" algn="dec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$639.79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0" algn="dec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$37,757.33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0" algn="dec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$2,061,729.60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 idx="4294967295"/>
          </p:nvPr>
        </p:nvSpPr>
        <p:spPr>
          <a:xfrm>
            <a:off x="874992" y="320566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Years to Double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33425" y="1615966"/>
            <a:ext cx="8371167" cy="4880084"/>
          </a:xfrm>
        </p:spPr>
        <p:txBody>
          <a:bodyPr/>
          <a:lstStyle/>
          <a:p>
            <a:pPr eaLnBrk="1" hangingPunct="1"/>
            <a:r>
              <a:rPr lang="en-US" dirty="0"/>
              <a:t>Useful formula to approximate the number of years it takes an initial amount to double </a:t>
            </a:r>
          </a:p>
          <a:p>
            <a:pPr eaLnBrk="1" hangingPunct="1"/>
            <a:r>
              <a:rPr lang="en-US" dirty="0"/>
              <a:t>Given some annual interest rate</a:t>
            </a:r>
          </a:p>
          <a:p>
            <a:pPr eaLnBrk="1" hangingPunct="1"/>
            <a:r>
              <a:rPr lang="en-US" dirty="0"/>
              <a:t>Years to double = 72 / interest rate</a:t>
            </a:r>
          </a:p>
          <a:p>
            <a:pPr eaLnBrk="1" hangingPunct="1"/>
            <a:r>
              <a:rPr lang="en-US" dirty="0"/>
              <a:t>If the interest rate equals 2% then it takes 36 years for your money to double</a:t>
            </a:r>
          </a:p>
          <a:p>
            <a:pPr eaLnBrk="1" hangingPunct="1"/>
            <a:r>
              <a:rPr lang="en-US" dirty="0"/>
              <a:t>If GDP grows at 3% then it takes 24 years for GDP to double</a:t>
            </a:r>
          </a:p>
          <a:p>
            <a:pPr eaLnBrk="1" hangingPunct="1"/>
            <a:r>
              <a:rPr lang="en-US" dirty="0"/>
              <a:t>The higher the </a:t>
            </a:r>
            <a:r>
              <a:rPr lang="en-US"/>
              <a:t>growth rates, </a:t>
            </a:r>
            <a:r>
              <a:rPr lang="en-US" dirty="0"/>
              <a:t>the shorter the time period needed to double the amount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96162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Real GDP per Capita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96162" y="1612900"/>
            <a:ext cx="8229600" cy="5092700"/>
          </a:xfrm>
        </p:spPr>
        <p:txBody>
          <a:bodyPr/>
          <a:lstStyle/>
          <a:p>
            <a:pPr eaLnBrk="1" hangingPunct="1"/>
            <a:r>
              <a:rPr lang="en-US" sz="2600" dirty="0"/>
              <a:t>Notation</a:t>
            </a:r>
          </a:p>
          <a:p>
            <a:pPr lvl="1" eaLnBrk="1" hangingPunct="1"/>
            <a:r>
              <a:rPr lang="en-US" sz="2300" dirty="0"/>
              <a:t>Y = real GDP</a:t>
            </a:r>
          </a:p>
          <a:p>
            <a:pPr lvl="1" eaLnBrk="1" hangingPunct="1"/>
            <a:r>
              <a:rPr lang="en-US" sz="2300" dirty="0"/>
              <a:t>N = number of people employed</a:t>
            </a:r>
          </a:p>
          <a:p>
            <a:pPr lvl="1" eaLnBrk="1" hangingPunct="1"/>
            <a:r>
              <a:rPr lang="en-US" sz="2300" dirty="0"/>
              <a:t>POP = population</a:t>
            </a:r>
          </a:p>
          <a:p>
            <a:pPr lvl="1" eaLnBrk="1" hangingPunct="1"/>
            <a:endParaRPr lang="en-US" sz="2300" dirty="0"/>
          </a:p>
          <a:p>
            <a:pPr lvl="1" eaLnBrk="1" hangingPunct="1"/>
            <a:endParaRPr lang="en-US" dirty="0"/>
          </a:p>
          <a:p>
            <a:pPr eaLnBrk="1" hangingPunct="1"/>
            <a:r>
              <a:rPr lang="en-US" sz="2600" dirty="0"/>
              <a:t>GDP per capita is the product of output per worker and the share of the total population that is working</a:t>
            </a:r>
          </a:p>
          <a:p>
            <a:pPr eaLnBrk="1" hangingPunct="1"/>
            <a:r>
              <a:rPr lang="en-US" sz="2600" dirty="0"/>
              <a:t>Consumption per person depends on</a:t>
            </a:r>
          </a:p>
          <a:p>
            <a:pPr lvl="1" eaLnBrk="1" hangingPunct="1"/>
            <a:r>
              <a:rPr lang="en-US" sz="2300" dirty="0"/>
              <a:t>How much each worker produces (productivity) and</a:t>
            </a:r>
          </a:p>
          <a:p>
            <a:pPr lvl="1" eaLnBrk="1" hangingPunct="1"/>
            <a:r>
              <a:rPr lang="en-US" sz="2300" dirty="0"/>
              <a:t>The share of people working</a:t>
            </a:r>
          </a:p>
          <a:p>
            <a:pPr algn="ctr" eaLnBrk="1" hangingPunct="1">
              <a:buFontTx/>
              <a:buNone/>
            </a:pPr>
            <a:endParaRPr lang="en-US" sz="2300" dirty="0"/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110362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25604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393312" y="3330575"/>
            <a:ext cx="234315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098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Understanding Growth</a:t>
            </a:r>
          </a:p>
        </p:txBody>
      </p:sp>
      <p:sp>
        <p:nvSpPr>
          <p:cNvPr id="19968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33098" y="1600200"/>
            <a:ext cx="8229600" cy="5019675"/>
          </a:xfrm>
        </p:spPr>
        <p:txBody>
          <a:bodyPr/>
          <a:lstStyle/>
          <a:p>
            <a:pPr eaLnBrk="1" hangingPunct="1"/>
            <a:r>
              <a:rPr lang="en-US" dirty="0"/>
              <a:t>GDP per capita increases when</a:t>
            </a:r>
          </a:p>
          <a:p>
            <a:pPr lvl="1" eaLnBrk="1" hangingPunct="1"/>
            <a:r>
              <a:rPr lang="en-US" dirty="0"/>
              <a:t>Output per worker (Y / N) increases OR</a:t>
            </a:r>
          </a:p>
          <a:p>
            <a:pPr lvl="1" eaLnBrk="1" hangingPunct="1"/>
            <a:r>
              <a:rPr lang="en-US" dirty="0"/>
              <a:t>The share of the population employed (N / POP) increases</a:t>
            </a:r>
          </a:p>
          <a:p>
            <a:pPr eaLnBrk="1" hangingPunct="1"/>
            <a:r>
              <a:rPr lang="en-US" dirty="0"/>
              <a:t>Between 1960 and 2011,</a:t>
            </a:r>
          </a:p>
          <a:p>
            <a:pPr lvl="1" eaLnBrk="1" hangingPunct="1"/>
            <a:r>
              <a:rPr lang="en-US" dirty="0"/>
              <a:t>GDP per capita increased 172%</a:t>
            </a:r>
          </a:p>
          <a:p>
            <a:pPr lvl="1" eaLnBrk="1" hangingPunct="1"/>
            <a:r>
              <a:rPr lang="en-US" dirty="0"/>
              <a:t>Output per worker increased 127%</a:t>
            </a:r>
          </a:p>
          <a:p>
            <a:pPr lvl="1" eaLnBrk="1" hangingPunct="1"/>
            <a:r>
              <a:rPr lang="en-US" dirty="0"/>
              <a:t>The share of the population employed increased from 36% to 45%</a:t>
            </a:r>
          </a:p>
          <a:p>
            <a:pPr lvl="2" eaLnBrk="1" hangingPunct="1"/>
            <a:r>
              <a:rPr lang="en-US" dirty="0"/>
              <a:t>Larger working age population</a:t>
            </a:r>
          </a:p>
          <a:p>
            <a:pPr lvl="2" eaLnBrk="1" hangingPunct="1"/>
            <a:r>
              <a:rPr lang="en-US" dirty="0"/>
              <a:t>Increase in female labor force participation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/>
          <p:cNvSpPr>
            <a:spLocks noGrp="1"/>
          </p:cNvSpPr>
          <p:nvPr>
            <p:ph type="title" idx="4294967295"/>
          </p:nvPr>
        </p:nvSpPr>
        <p:spPr>
          <a:xfrm>
            <a:off x="733098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Understanding Growth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885498" y="2189018"/>
            <a:ext cx="7841673" cy="302029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the long run, </a:t>
            </a:r>
            <a:b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increases in output per person </a:t>
            </a:r>
            <a:b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arise primarily from </a:t>
            </a:r>
            <a:b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increases in average labor productivity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098" y="336332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Determinants of Average Labor Productivity</a:t>
            </a:r>
          </a:p>
        </p:txBody>
      </p:sp>
      <p:sp>
        <p:nvSpPr>
          <p:cNvPr id="2007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33098" y="1631732"/>
            <a:ext cx="8229600" cy="4525963"/>
          </a:xfrm>
        </p:spPr>
        <p:txBody>
          <a:bodyPr/>
          <a:lstStyle/>
          <a:p>
            <a:pPr eaLnBrk="1" hangingPunct="1"/>
            <a:r>
              <a:rPr lang="en-US"/>
              <a:t>U.S. average labor productivity is</a:t>
            </a:r>
          </a:p>
          <a:p>
            <a:pPr lvl="1" eaLnBrk="1" hangingPunct="1"/>
            <a:r>
              <a:rPr lang="en-US"/>
              <a:t>24 times that of Indonesia</a:t>
            </a:r>
          </a:p>
          <a:p>
            <a:pPr lvl="1" eaLnBrk="1" hangingPunct="1"/>
            <a:r>
              <a:rPr lang="en-US"/>
              <a:t>100 times that of Bangladesh</a:t>
            </a:r>
          </a:p>
          <a:p>
            <a:pPr eaLnBrk="1" hangingPunct="1"/>
            <a:r>
              <a:rPr lang="en-US"/>
              <a:t>Six factors determine average labor productivity</a:t>
            </a:r>
          </a:p>
          <a:p>
            <a:pPr lvl="1" eaLnBrk="1" hangingPunct="1">
              <a:buFont typeface="Times New Roman" pitchFamily="18" charset="0"/>
              <a:buAutoNum type="arabicPeriod"/>
            </a:pPr>
            <a:r>
              <a:rPr lang="en-US"/>
              <a:t>Human capital</a:t>
            </a:r>
          </a:p>
          <a:p>
            <a:pPr lvl="1" eaLnBrk="1" hangingPunct="1">
              <a:buFont typeface="Times New Roman" pitchFamily="18" charset="0"/>
              <a:buAutoNum type="arabicPeriod"/>
            </a:pPr>
            <a:r>
              <a:rPr lang="en-US"/>
              <a:t>Physical capital</a:t>
            </a:r>
          </a:p>
          <a:p>
            <a:pPr lvl="1" eaLnBrk="1" hangingPunct="1">
              <a:buFont typeface="Times New Roman" pitchFamily="18" charset="0"/>
              <a:buAutoNum type="arabicPeriod"/>
            </a:pPr>
            <a:r>
              <a:rPr lang="en-US"/>
              <a:t>Land and other natural resources</a:t>
            </a:r>
          </a:p>
          <a:p>
            <a:pPr lvl="1" eaLnBrk="1" hangingPunct="1">
              <a:buFont typeface="Times New Roman" pitchFamily="18" charset="0"/>
              <a:buAutoNum type="arabicPeriod"/>
            </a:pPr>
            <a:r>
              <a:rPr lang="en-US"/>
              <a:t>Technology</a:t>
            </a:r>
          </a:p>
          <a:p>
            <a:pPr lvl="1" eaLnBrk="1" hangingPunct="1">
              <a:buFont typeface="Times New Roman" pitchFamily="18" charset="0"/>
              <a:buAutoNum type="arabicPeriod"/>
            </a:pPr>
            <a:r>
              <a:rPr lang="en-US"/>
              <a:t>Entrepreneurship and management</a:t>
            </a:r>
          </a:p>
          <a:p>
            <a:pPr lvl="1" eaLnBrk="1" hangingPunct="1">
              <a:buFont typeface="Times New Roman" pitchFamily="18" charset="0"/>
              <a:buAutoNum type="arabicPeriod"/>
            </a:pPr>
            <a:r>
              <a:rPr lang="en-US"/>
              <a:t>Political and legal environment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/>
          </p:cNvSpPr>
          <p:nvPr>
            <p:ph type="title" idx="4294967295"/>
          </p:nvPr>
        </p:nvSpPr>
        <p:spPr>
          <a:xfrm>
            <a:off x="701566" y="210204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#1 Human Capital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01566" y="1302404"/>
            <a:ext cx="8229600" cy="5088871"/>
          </a:xfrm>
        </p:spPr>
        <p:txBody>
          <a:bodyPr/>
          <a:lstStyle/>
          <a:p>
            <a:pPr eaLnBrk="1" hangingPunct="1"/>
            <a:r>
              <a:rPr lang="en-US" dirty="0"/>
              <a:t>Human capital comprises the talents, education, training, and skills of workers</a:t>
            </a:r>
          </a:p>
          <a:p>
            <a:pPr lvl="1" eaLnBrk="1" hangingPunct="1"/>
            <a:r>
              <a:rPr lang="en-US" dirty="0"/>
              <a:t>Human capital increases workers' productivity</a:t>
            </a:r>
          </a:p>
          <a:p>
            <a:pPr eaLnBrk="1" hangingPunct="1"/>
            <a:r>
              <a:rPr lang="en-US" dirty="0"/>
              <a:t>Germany and Japan used human capital to achieve economic growth</a:t>
            </a:r>
          </a:p>
          <a:p>
            <a:pPr lvl="1" eaLnBrk="1" hangingPunct="1"/>
            <a:r>
              <a:rPr lang="en-US" dirty="0"/>
              <a:t>Professional scientists and engineers</a:t>
            </a:r>
          </a:p>
          <a:p>
            <a:pPr lvl="1" eaLnBrk="1" hangingPunct="1"/>
            <a:r>
              <a:rPr lang="en-US" dirty="0"/>
              <a:t>Apprentice and on-the-job training emphasized</a:t>
            </a:r>
          </a:p>
          <a:p>
            <a:pPr lvl="1" eaLnBrk="1" hangingPunct="1"/>
            <a:r>
              <a:rPr lang="en-US" dirty="0"/>
              <a:t>Japanese increased emphasis on early education</a:t>
            </a:r>
          </a:p>
          <a:p>
            <a:pPr eaLnBrk="1" hangingPunct="1"/>
            <a:r>
              <a:rPr lang="en-US" dirty="0"/>
              <a:t>Use incentive to build human capital</a:t>
            </a:r>
          </a:p>
          <a:p>
            <a:pPr lvl="1" eaLnBrk="1" hangingPunct="1"/>
            <a:r>
              <a:rPr lang="en-US" dirty="0"/>
              <a:t>Premium paid to skilled workers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17332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#2 Physical Capital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79232" y="1282699"/>
            <a:ext cx="8426668" cy="5280025"/>
          </a:xfrm>
        </p:spPr>
        <p:txBody>
          <a:bodyPr/>
          <a:lstStyle/>
          <a:p>
            <a:pPr eaLnBrk="1" hangingPunct="1"/>
            <a:r>
              <a:rPr lang="en-US" sz="2600" dirty="0"/>
              <a:t>More and better capital increases worker productivity</a:t>
            </a:r>
          </a:p>
          <a:p>
            <a:pPr lvl="1" eaLnBrk="1" hangingPunct="1"/>
            <a:r>
              <a:rPr lang="en-US" dirty="0"/>
              <a:t>Increasing capital will increase output and labor productivity and has positive contribution to growth</a:t>
            </a:r>
          </a:p>
          <a:p>
            <a:pPr lvl="1" eaLnBrk="1" hangingPunct="1"/>
            <a:r>
              <a:rPr lang="en-US" dirty="0"/>
              <a:t>There are limits to increasing productivity by adding capital because of diminishing returns</a:t>
            </a:r>
          </a:p>
          <a:p>
            <a:pPr eaLnBrk="1" hangingPunct="1"/>
            <a:r>
              <a:rPr lang="en-US" sz="2600" b="1" dirty="0"/>
              <a:t>Diminishing returns to capital</a:t>
            </a:r>
            <a:r>
              <a:rPr lang="en-US" sz="2600" dirty="0"/>
              <a:t> occurs if an addition of capital with other inputs held constant increases output by less than the previous increment of capital</a:t>
            </a:r>
          </a:p>
          <a:p>
            <a:pPr eaLnBrk="1" hangingPunct="1"/>
            <a:r>
              <a:rPr lang="en-US" sz="2600" dirty="0"/>
              <a:t>When a firm has many machines, the most productive uses have already been filled</a:t>
            </a:r>
          </a:p>
          <a:p>
            <a:pPr lvl="1" eaLnBrk="1" hangingPunct="1"/>
            <a:r>
              <a:rPr lang="en-US" sz="2300" dirty="0"/>
              <a:t>The increment in capital will necessarily be assigned to a less productive use than the previous increment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#3  Land and Other Natural Resources</a:t>
            </a:r>
          </a:p>
        </p:txBody>
      </p:sp>
      <p:sp>
        <p:nvSpPr>
          <p:cNvPr id="20889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85800" y="1600200"/>
            <a:ext cx="8286750" cy="4886325"/>
          </a:xfrm>
        </p:spPr>
        <p:txBody>
          <a:bodyPr/>
          <a:lstStyle/>
          <a:p>
            <a:pPr eaLnBrk="1" hangingPunct="1"/>
            <a:r>
              <a:rPr lang="en-US" dirty="0"/>
              <a:t>Land and other natural resources also contributes to increasing worker productivity</a:t>
            </a:r>
          </a:p>
          <a:p>
            <a:pPr lvl="1" eaLnBrk="1" hangingPunct="1"/>
            <a:r>
              <a:rPr lang="en-US" dirty="0"/>
              <a:t>Land for farming</a:t>
            </a:r>
          </a:p>
          <a:p>
            <a:pPr lvl="2" eaLnBrk="1" hangingPunct="1"/>
            <a:r>
              <a:rPr lang="en-US" dirty="0"/>
              <a:t>Farmers are less than 3% of the population and they supply the US and export the surplus</a:t>
            </a:r>
          </a:p>
          <a:p>
            <a:pPr lvl="2" eaLnBrk="1" hangingPunct="1"/>
            <a:r>
              <a:rPr lang="en-US" dirty="0"/>
              <a:t>Manufacturing requires raw materials and energy</a:t>
            </a:r>
          </a:p>
          <a:p>
            <a:pPr lvl="1" eaLnBrk="1" hangingPunct="1"/>
            <a:r>
              <a:rPr lang="en-US" dirty="0"/>
              <a:t>Resources can be obtained through international markets</a:t>
            </a:r>
          </a:p>
          <a:p>
            <a:pPr lvl="2" eaLnBrk="1" hangingPunct="1"/>
            <a:r>
              <a:rPr lang="en-US" dirty="0"/>
              <a:t>Japan, Hong Kong, Singapore and Switzerland have high levels of GDP per capita with a limited resource base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#4  Technology</a:t>
            </a:r>
          </a:p>
        </p:txBody>
      </p:sp>
      <p:sp>
        <p:nvSpPr>
          <p:cNvPr id="2099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1333500"/>
            <a:ext cx="8524876" cy="5400675"/>
          </a:xfrm>
        </p:spPr>
        <p:txBody>
          <a:bodyPr/>
          <a:lstStyle/>
          <a:p>
            <a:pPr eaLnBrk="1" hangingPunct="1"/>
            <a:r>
              <a:rPr lang="en-US" sz="2600" dirty="0"/>
              <a:t>New technologies are the </a:t>
            </a:r>
            <a:r>
              <a:rPr lang="en-US" sz="2600" i="1" dirty="0"/>
              <a:t>single most important source </a:t>
            </a:r>
            <a:r>
              <a:rPr lang="en-US" sz="2600" dirty="0"/>
              <a:t>of productivity improvement</a:t>
            </a:r>
          </a:p>
          <a:p>
            <a:pPr eaLnBrk="1" hangingPunct="1"/>
            <a:r>
              <a:rPr lang="en-US" sz="2600" dirty="0"/>
              <a:t>Technical change can affect </a:t>
            </a:r>
            <a:br>
              <a:rPr lang="en-US" sz="2600" dirty="0"/>
            </a:br>
            <a:r>
              <a:rPr lang="en-US" sz="2600" dirty="0"/>
              <a:t>industries beyond the primary </a:t>
            </a:r>
            <a:br>
              <a:rPr lang="en-US" sz="2600" dirty="0"/>
            </a:br>
            <a:r>
              <a:rPr lang="en-US" sz="2600" dirty="0"/>
              <a:t>application</a:t>
            </a:r>
          </a:p>
          <a:p>
            <a:pPr lvl="1" eaLnBrk="1" hangingPunct="1"/>
            <a:r>
              <a:rPr lang="en-US" dirty="0"/>
              <a:t>Transportation expanded markets for farm produce</a:t>
            </a:r>
          </a:p>
          <a:p>
            <a:pPr lvl="1" eaLnBrk="1" hangingPunct="1"/>
            <a:r>
              <a:rPr lang="en-US" dirty="0"/>
              <a:t>Medicine Communications</a:t>
            </a:r>
          </a:p>
          <a:p>
            <a:pPr lvl="1" eaLnBrk="1" hangingPunct="1"/>
            <a:r>
              <a:rPr lang="en-US" dirty="0"/>
              <a:t>Electronics and computers</a:t>
            </a:r>
          </a:p>
          <a:p>
            <a:pPr lvl="1" eaLnBrk="1" hangingPunct="1"/>
            <a:r>
              <a:rPr lang="en-US" sz="2400" dirty="0"/>
              <a:t>Growth seen in industries that produce these technologies </a:t>
            </a:r>
            <a:r>
              <a:rPr lang="en-US" sz="2400" u="sng" dirty="0"/>
              <a:t>and</a:t>
            </a:r>
            <a:r>
              <a:rPr lang="en-US" sz="2400" dirty="0"/>
              <a:t> industries that use them</a:t>
            </a:r>
          </a:p>
          <a:p>
            <a:pPr lvl="1" eaLnBrk="1" hangingPunct="1"/>
            <a:r>
              <a:rPr lang="en-US" sz="2400" dirty="0"/>
              <a:t>Slower growth in sectors that do not use much information and communications technologies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4630" y="663030"/>
            <a:ext cx="8229600" cy="1143000"/>
          </a:xfrm>
        </p:spPr>
        <p:txBody>
          <a:bodyPr/>
          <a:lstStyle/>
          <a:p>
            <a:pPr eaLnBrk="1" hangingPunct="1"/>
            <a:r>
              <a:rPr lang="en-US" sz="4200"/>
              <a:t>#5 Entrepreneurship and Management</a:t>
            </a:r>
            <a:br>
              <a:rPr lang="en-US" sz="4200"/>
            </a:br>
            <a:endParaRPr lang="en-US" sz="4200"/>
          </a:p>
        </p:txBody>
      </p:sp>
      <p:sp>
        <p:nvSpPr>
          <p:cNvPr id="2334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64630" y="1679030"/>
            <a:ext cx="8229600" cy="4525963"/>
          </a:xfrm>
        </p:spPr>
        <p:txBody>
          <a:bodyPr/>
          <a:lstStyle/>
          <a:p>
            <a:pPr eaLnBrk="1" hangingPunct="1"/>
            <a:r>
              <a:rPr lang="en-US" sz="2600" b="1" dirty="0"/>
              <a:t>Entrepreneurs</a:t>
            </a:r>
            <a:r>
              <a:rPr lang="en-US" sz="2600" dirty="0"/>
              <a:t> create new economic enterprises</a:t>
            </a:r>
          </a:p>
          <a:p>
            <a:pPr lvl="1" eaLnBrk="1" hangingPunct="1"/>
            <a:r>
              <a:rPr lang="en-US" sz="2300" dirty="0"/>
              <a:t>Essential to a dynamic, healthy, growing economy</a:t>
            </a:r>
          </a:p>
          <a:p>
            <a:pPr eaLnBrk="1" hangingPunct="1"/>
            <a:r>
              <a:rPr lang="en-US" sz="2600" dirty="0"/>
              <a:t>Policies should channel entrepreneurship in productive ways</a:t>
            </a:r>
          </a:p>
          <a:p>
            <a:pPr lvl="1" eaLnBrk="1" hangingPunct="1"/>
            <a:r>
              <a:rPr lang="en-US" sz="2300" dirty="0"/>
              <a:t>Taxation policy and regulatory regime to attract entrepreneurs</a:t>
            </a:r>
          </a:p>
          <a:p>
            <a:pPr lvl="1" eaLnBrk="1" hangingPunct="1"/>
            <a:r>
              <a:rPr lang="en-US" sz="2300" dirty="0"/>
              <a:t>Value innovation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04825" y="541290"/>
            <a:ext cx="8457873" cy="1143000"/>
          </a:xfrm>
        </p:spPr>
        <p:txBody>
          <a:bodyPr/>
          <a:lstStyle/>
          <a:p>
            <a:pPr eaLnBrk="1" hangingPunct="1"/>
            <a:r>
              <a:rPr lang="en-US" dirty="0"/>
              <a:t>#6  Political and Legal Environment</a:t>
            </a:r>
          </a:p>
        </p:txBody>
      </p:sp>
      <p:sp>
        <p:nvSpPr>
          <p:cNvPr id="21401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23573" y="2100215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Encourage people to be economically productive</a:t>
            </a:r>
          </a:p>
          <a:p>
            <a:pPr eaLnBrk="1" hangingPunct="1"/>
            <a:r>
              <a:rPr lang="en-US" dirty="0"/>
              <a:t>Well-defined property rights are essential</a:t>
            </a:r>
          </a:p>
          <a:p>
            <a:pPr lvl="1" eaLnBrk="1" hangingPunct="1"/>
            <a:r>
              <a:rPr lang="en-US" dirty="0"/>
              <a:t>Who owns what and how those things can be used</a:t>
            </a:r>
          </a:p>
          <a:p>
            <a:pPr lvl="1" eaLnBrk="1" hangingPunct="1"/>
            <a:r>
              <a:rPr lang="en-US" dirty="0"/>
              <a:t>Reliable recourse through courts</a:t>
            </a:r>
          </a:p>
          <a:p>
            <a:pPr eaLnBrk="1" hangingPunct="1"/>
            <a:r>
              <a:rPr lang="en-US" dirty="0"/>
              <a:t>Maintain political stability</a:t>
            </a:r>
          </a:p>
          <a:p>
            <a:pPr eaLnBrk="1" hangingPunct="1"/>
            <a:r>
              <a:rPr lang="en-US" dirty="0"/>
              <a:t>Promote free and open exchange of ideas</a:t>
            </a:r>
          </a:p>
          <a:p>
            <a:pPr eaLnBrk="1" hangingPunct="1"/>
            <a:r>
              <a:rPr lang="en-US" dirty="0"/>
              <a:t>Provide incentives for people to exploit opportunities in the market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098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sz="4200"/>
              <a:t>Promote Growth with Human Capital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33098" y="1460500"/>
            <a:ext cx="8229600" cy="4525963"/>
          </a:xfrm>
        </p:spPr>
        <p:txBody>
          <a:bodyPr/>
          <a:lstStyle/>
          <a:p>
            <a:pPr eaLnBrk="1" hangingPunct="1"/>
            <a:r>
              <a:rPr lang="en-US" sz="2600" dirty="0"/>
              <a:t>Governments support education and training programs</a:t>
            </a:r>
          </a:p>
          <a:p>
            <a:pPr lvl="1" eaLnBrk="1" hangingPunct="1"/>
            <a:r>
              <a:rPr lang="en-US" sz="2300" dirty="0"/>
              <a:t>Public education from kindergarten through institutions of higher learning</a:t>
            </a:r>
          </a:p>
          <a:p>
            <a:pPr lvl="1" eaLnBrk="1" hangingPunct="1"/>
            <a:r>
              <a:rPr lang="en-US" sz="2300" dirty="0"/>
              <a:t>Job training and retraining programs</a:t>
            </a:r>
          </a:p>
          <a:p>
            <a:pPr eaLnBrk="1" hangingPunct="1"/>
            <a:r>
              <a:rPr lang="en-US" sz="2600" dirty="0"/>
              <a:t>Government pays because education has positive externalities</a:t>
            </a:r>
          </a:p>
          <a:p>
            <a:pPr lvl="1" eaLnBrk="1" hangingPunct="1"/>
            <a:r>
              <a:rPr lang="en-US" sz="2300" dirty="0"/>
              <a:t>Progressive taxes capture some of the higher income</a:t>
            </a:r>
          </a:p>
          <a:p>
            <a:pPr lvl="1" eaLnBrk="1" hangingPunct="1"/>
            <a:r>
              <a:rPr lang="en-US" sz="2300" dirty="0"/>
              <a:t>Increases chances of technical innovation</a:t>
            </a:r>
          </a:p>
          <a:p>
            <a:pPr lvl="1" eaLnBrk="1" hangingPunct="1"/>
            <a:r>
              <a:rPr lang="en-US" sz="2300" dirty="0"/>
              <a:t>Poor families could not pay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Promote Growth with Savings and Investment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1600200"/>
            <a:ext cx="8229600" cy="4886325"/>
          </a:xfrm>
        </p:spPr>
        <p:txBody>
          <a:bodyPr/>
          <a:lstStyle/>
          <a:p>
            <a:pPr eaLnBrk="1" hangingPunct="1"/>
            <a:r>
              <a:rPr lang="en-US" dirty="0"/>
              <a:t>Government policies can encourage new capital formation and saving in the private sector</a:t>
            </a:r>
          </a:p>
          <a:p>
            <a:pPr lvl="1" eaLnBrk="1" hangingPunct="1"/>
            <a:r>
              <a:rPr lang="en-US" sz="2400" dirty="0"/>
              <a:t>Individual Retirement Accounts (IRAs) are an incentive for individuals to save</a:t>
            </a:r>
          </a:p>
          <a:p>
            <a:pPr lvl="1" eaLnBrk="1" hangingPunct="1"/>
            <a:r>
              <a:rPr lang="en-US" sz="2400" dirty="0"/>
              <a:t>Government periodically offers investment tax credits</a:t>
            </a:r>
          </a:p>
          <a:p>
            <a:pPr eaLnBrk="1" hangingPunct="1"/>
            <a:r>
              <a:rPr lang="en-US" dirty="0"/>
              <a:t>Government can invest directly in capital formation</a:t>
            </a:r>
          </a:p>
          <a:p>
            <a:pPr lvl="1" eaLnBrk="1" hangingPunct="1"/>
            <a:r>
              <a:rPr lang="en-US" sz="2400" dirty="0"/>
              <a:t>Construction of infrastructure such as roads, bridges, airports, and dams</a:t>
            </a:r>
          </a:p>
          <a:p>
            <a:pPr lvl="1" eaLnBrk="1" hangingPunct="1"/>
            <a:r>
              <a:rPr lang="en-US" sz="2400" dirty="0"/>
              <a:t>Highway system reduced costs of transporting goods, making markets more efficient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Promote Growth with R &amp; D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/>
            <a:r>
              <a:rPr lang="en-US" sz="2700" dirty="0"/>
              <a:t>Research and development promotes innovation</a:t>
            </a:r>
          </a:p>
          <a:p>
            <a:pPr lvl="1" eaLnBrk="1" hangingPunct="1"/>
            <a:r>
              <a:rPr lang="en-US" sz="2400" dirty="0"/>
              <a:t>Some types of research, such as basic science, create externalities that a private firm cannot capture</a:t>
            </a:r>
          </a:p>
          <a:p>
            <a:pPr lvl="1" eaLnBrk="1" hangingPunct="1"/>
            <a:r>
              <a:rPr lang="en-US" sz="2400" dirty="0"/>
              <a:t>Fund basic science with National Science Foundation (NSF) and other government grants</a:t>
            </a:r>
          </a:p>
          <a:p>
            <a:pPr eaLnBrk="1" hangingPunct="1"/>
            <a:r>
              <a:rPr lang="en-US" sz="2700" dirty="0"/>
              <a:t>Government sponsors research for specific projects and industries</a:t>
            </a:r>
          </a:p>
          <a:p>
            <a:pPr eaLnBrk="1" hangingPunct="1"/>
            <a:r>
              <a:rPr lang="en-US" sz="2700" dirty="0"/>
              <a:t>Maintain political and legal framework to support growth</a:t>
            </a:r>
          </a:p>
          <a:p>
            <a:pPr eaLnBrk="1" hangingPunct="1"/>
            <a:endParaRPr lang="en-US" sz="2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Promoting Economic Growth in Least Developed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38175" y="1714500"/>
            <a:ext cx="8458200" cy="4525963"/>
          </a:xfrm>
        </p:spPr>
        <p:txBody>
          <a:bodyPr/>
          <a:lstStyle/>
          <a:p>
            <a:pPr eaLnBrk="1" hangingPunct="1"/>
            <a:r>
              <a:rPr lang="en-US" sz="2700" dirty="0"/>
              <a:t>Prescription for more human and physical capital is broadly correct</a:t>
            </a:r>
          </a:p>
          <a:p>
            <a:pPr lvl="1" eaLnBrk="1" hangingPunct="1"/>
            <a:r>
              <a:rPr lang="en-US" sz="2400" dirty="0"/>
              <a:t>Appropriate technology and education</a:t>
            </a:r>
          </a:p>
          <a:p>
            <a:pPr eaLnBrk="1" hangingPunct="1"/>
            <a:r>
              <a:rPr lang="en-US" sz="2700" dirty="0"/>
              <a:t>Most countries need institutions to support growth</a:t>
            </a:r>
          </a:p>
          <a:p>
            <a:pPr lvl="1" eaLnBrk="1" hangingPunct="1"/>
            <a:r>
              <a:rPr lang="en-US" sz="2400" dirty="0"/>
              <a:t>Corruption creates uncertainty about property rights and drains financial resources out of the country</a:t>
            </a:r>
          </a:p>
          <a:p>
            <a:pPr lvl="1" eaLnBrk="1" hangingPunct="1"/>
            <a:r>
              <a:rPr lang="en-US" sz="2400" dirty="0"/>
              <a:t>Regulation discourages entrepreneurship</a:t>
            </a:r>
          </a:p>
          <a:p>
            <a:pPr lvl="1" eaLnBrk="1" hangingPunct="1"/>
            <a:r>
              <a:rPr lang="en-US" sz="2400" dirty="0"/>
              <a:t>Taxes discourage risk-taking</a:t>
            </a:r>
          </a:p>
          <a:p>
            <a:pPr lvl="1" eaLnBrk="1" hangingPunct="1"/>
            <a:r>
              <a:rPr lang="en-US" sz="2400" dirty="0"/>
              <a:t>Markets do not function efficiently</a:t>
            </a:r>
          </a:p>
          <a:p>
            <a:pPr lvl="1" eaLnBrk="1" hangingPunct="1"/>
            <a:r>
              <a:rPr lang="en-US" sz="2400" dirty="0"/>
              <a:t>Lack of political stability discourages foreign investment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The Costs of Economic Growth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85800" y="1422400"/>
            <a:ext cx="8229600" cy="4987925"/>
          </a:xfrm>
        </p:spPr>
        <p:txBody>
          <a:bodyPr/>
          <a:lstStyle/>
          <a:p>
            <a:pPr eaLnBrk="1" hangingPunct="1"/>
            <a:r>
              <a:rPr lang="en-US" sz="2700" dirty="0"/>
              <a:t>Increasing the capital stock will increase GDP</a:t>
            </a:r>
          </a:p>
          <a:p>
            <a:pPr eaLnBrk="1" hangingPunct="1"/>
            <a:r>
              <a:rPr lang="en-US" sz="2700" dirty="0"/>
              <a:t>Opportunity cost of producing more capital goods is f</a:t>
            </a:r>
            <a:r>
              <a:rPr lang="en-US" sz="2400" dirty="0"/>
              <a:t>ewer consumer goods</a:t>
            </a:r>
          </a:p>
          <a:p>
            <a:pPr lvl="1" eaLnBrk="1" hangingPunct="1"/>
            <a:r>
              <a:rPr lang="en-US" dirty="0"/>
              <a:t>People may be willing to forego present consumption to have more in the future</a:t>
            </a:r>
          </a:p>
          <a:p>
            <a:pPr lvl="1" eaLnBrk="1" hangingPunct="1"/>
            <a:r>
              <a:rPr lang="en-US" sz="2400" dirty="0"/>
              <a:t>Reduced leisure time</a:t>
            </a:r>
          </a:p>
          <a:p>
            <a:pPr lvl="1" eaLnBrk="1" hangingPunct="1"/>
            <a:r>
              <a:rPr lang="en-US" sz="2400" dirty="0"/>
              <a:t>Possible risks of health and safety from rapid capital production</a:t>
            </a:r>
          </a:p>
          <a:p>
            <a:pPr lvl="1" eaLnBrk="1" hangingPunct="1"/>
            <a:r>
              <a:rPr lang="en-US" sz="2400" dirty="0"/>
              <a:t>The cost of research and development (R&amp;D) to improve technology</a:t>
            </a:r>
          </a:p>
          <a:p>
            <a:pPr lvl="1" eaLnBrk="1" hangingPunct="1"/>
            <a:r>
              <a:rPr lang="en-US" sz="2400" dirty="0"/>
              <a:t>The cost of education to develop and use new capital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133132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Limits to Growth</a:t>
            </a:r>
          </a:p>
        </p:txBody>
      </p:sp>
      <p:sp>
        <p:nvSpPr>
          <p:cNvPr id="2263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85800" y="1295400"/>
            <a:ext cx="8229600" cy="4525963"/>
          </a:xfrm>
        </p:spPr>
        <p:txBody>
          <a:bodyPr/>
          <a:lstStyle/>
          <a:p>
            <a:pPr eaLnBrk="1" hangingPunct="1"/>
            <a:r>
              <a:rPr lang="en-US" sz="2600" dirty="0"/>
              <a:t>Growth may not be sustainable </a:t>
            </a:r>
          </a:p>
          <a:p>
            <a:pPr lvl="1" eaLnBrk="1" hangingPunct="1"/>
            <a:r>
              <a:rPr lang="en-US" sz="2300" dirty="0"/>
              <a:t>Depletion of some natural resources</a:t>
            </a:r>
          </a:p>
          <a:p>
            <a:pPr lvl="1" eaLnBrk="1" hangingPunct="1"/>
            <a:r>
              <a:rPr lang="en-US" sz="2300" dirty="0"/>
              <a:t>Environmental damage and global warming</a:t>
            </a:r>
          </a:p>
          <a:p>
            <a:pPr eaLnBrk="1" hangingPunct="1"/>
            <a:r>
              <a:rPr lang="en-US" sz="2600" dirty="0"/>
              <a:t>Can promote sustainable growth through technology and market system</a:t>
            </a:r>
            <a:endParaRPr lang="en-US" sz="2300" dirty="0"/>
          </a:p>
          <a:p>
            <a:pPr lvl="1" eaLnBrk="1" hangingPunct="1"/>
            <a:r>
              <a:rPr lang="en-US" sz="2300" dirty="0"/>
              <a:t>Higher income can pay for better production method to promote environmental quality</a:t>
            </a:r>
          </a:p>
          <a:p>
            <a:pPr lvl="1" eaLnBrk="1" hangingPunct="1"/>
            <a:r>
              <a:rPr lang="en-US" sz="2300" dirty="0"/>
              <a:t>Use market's response to deal with scarcity by pushing up the price and reduce consumption</a:t>
            </a:r>
          </a:p>
          <a:p>
            <a:pPr eaLnBrk="1" hangingPunct="1"/>
            <a:r>
              <a:rPr lang="en-US" sz="2600" dirty="0"/>
              <a:t>Government action needed in case of externalities</a:t>
            </a:r>
          </a:p>
          <a:p>
            <a:pPr lvl="1" eaLnBrk="1" hangingPunct="1"/>
            <a:endParaRPr lang="en-US" sz="2600" dirty="0"/>
          </a:p>
          <a:p>
            <a:pPr lvl="1" eaLnBrk="1" hangingPunct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Thank You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48864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This is the end of </a:t>
            </a:r>
            <a:r>
              <a:rPr lang="en-US"/>
              <a:t>Lecture 8.  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Thank you for your participation.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Please send your query to me via my email at khayboon@ntu.edu.sg.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3193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1843</TotalTime>
  <Words>3031</Words>
  <Application>Microsoft Office PowerPoint</Application>
  <PresentationFormat>On-screen Show (4:3)</PresentationFormat>
  <Paragraphs>610</Paragraphs>
  <Slides>55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0" baseType="lpstr">
      <vt:lpstr>Arial</vt:lpstr>
      <vt:lpstr>Arial Black</vt:lpstr>
      <vt:lpstr>Times New Roman</vt:lpstr>
      <vt:lpstr>Wingdings</vt:lpstr>
      <vt:lpstr>Default Design</vt:lpstr>
      <vt:lpstr>HE5091 Principles of Economics Lecture 8 Unemployment and Economic Growth</vt:lpstr>
      <vt:lpstr>Topics</vt:lpstr>
      <vt:lpstr>The Labor Market</vt:lpstr>
      <vt:lpstr>Wages and Demand for Labor</vt:lpstr>
      <vt:lpstr>Banana Computers (BCC)</vt:lpstr>
      <vt:lpstr>Demand Curve for Labor</vt:lpstr>
      <vt:lpstr>Shifting Demand for Labor</vt:lpstr>
      <vt:lpstr>Price of Output Increases</vt:lpstr>
      <vt:lpstr>Higher Productivity</vt:lpstr>
      <vt:lpstr>Individual Labor Supply</vt:lpstr>
      <vt:lpstr>Aggregate Labor Supply</vt:lpstr>
      <vt:lpstr>The Supply of Labor</vt:lpstr>
      <vt:lpstr>Shifts in Labor Supply</vt:lpstr>
      <vt:lpstr>Effect of Productivity Change</vt:lpstr>
      <vt:lpstr>Effect of Globalization</vt:lpstr>
      <vt:lpstr>Effect of Globalization</vt:lpstr>
      <vt:lpstr>PowerPoint Presentation</vt:lpstr>
      <vt:lpstr>PowerPoint Presentation</vt:lpstr>
      <vt:lpstr>Skill-Biased Technological Change</vt:lpstr>
      <vt:lpstr>Unemployment</vt:lpstr>
      <vt:lpstr>Labour Force Statistics</vt:lpstr>
      <vt:lpstr>U.S. Employment Data,  June 2013</vt:lpstr>
      <vt:lpstr>US Unemployment Rate 1960 - 2012</vt:lpstr>
      <vt:lpstr>Costs of Unemployment</vt:lpstr>
      <vt:lpstr>Duration of Unemployment</vt:lpstr>
      <vt:lpstr>Other Unemployment Issues</vt:lpstr>
      <vt:lpstr>Types of Unemployment</vt:lpstr>
      <vt:lpstr>Types of Unemployment</vt:lpstr>
      <vt:lpstr>Structural Barriers to Employment </vt:lpstr>
      <vt:lpstr>Effects of Labour Union</vt:lpstr>
      <vt:lpstr>Unemployment Benefits and Government Regulations</vt:lpstr>
      <vt:lpstr>Economic Growth</vt:lpstr>
      <vt:lpstr>Real GDP per Person, 1870-2008 (in US Dollars)</vt:lpstr>
      <vt:lpstr>Real GDP per Person, 1870 - 2008</vt:lpstr>
      <vt:lpstr>Growth of Real GDP per Person, 1870 - 2008</vt:lpstr>
      <vt:lpstr>Compound Interest Rates</vt:lpstr>
      <vt:lpstr>Compound Interest</vt:lpstr>
      <vt:lpstr>Years to Double </vt:lpstr>
      <vt:lpstr>Real GDP per Capita</vt:lpstr>
      <vt:lpstr>Understanding Growth</vt:lpstr>
      <vt:lpstr>Understanding Growth</vt:lpstr>
      <vt:lpstr>Determinants of Average Labor Productivity</vt:lpstr>
      <vt:lpstr>#1 Human Capital</vt:lpstr>
      <vt:lpstr>#2 Physical Capital</vt:lpstr>
      <vt:lpstr>#3  Land and Other Natural Resources</vt:lpstr>
      <vt:lpstr>#4  Technology</vt:lpstr>
      <vt:lpstr>#5 Entrepreneurship and Management </vt:lpstr>
      <vt:lpstr>#6  Political and Legal Environment</vt:lpstr>
      <vt:lpstr>Promote Growth with Human Capital</vt:lpstr>
      <vt:lpstr>Promote Growth with Savings and Investment</vt:lpstr>
      <vt:lpstr>Promote Growth with R &amp; D Support</vt:lpstr>
      <vt:lpstr>Promoting Economic Growth in Least Developed</vt:lpstr>
      <vt:lpstr>The Costs of Economic Growth</vt:lpstr>
      <vt:lpstr>Limits to Growth</vt:lpstr>
      <vt:lpstr>Thank You</vt:lpstr>
    </vt:vector>
  </TitlesOfParts>
  <Company>UNC Charlotte</Company>
  <LinksUpToDate>false</LinksUpToDate>
  <SharedDoc>false</SharedDoc>
  <HyperlinkBase>assets/\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Carol Swartz</dc:creator>
  <cp:lastModifiedBy>Dr Tan Khay Boon</cp:lastModifiedBy>
  <cp:revision>153</cp:revision>
  <dcterms:created xsi:type="dcterms:W3CDTF">2010-08-19T13:36:39Z</dcterms:created>
  <dcterms:modified xsi:type="dcterms:W3CDTF">2025-03-02T10:52:48Z</dcterms:modified>
</cp:coreProperties>
</file>