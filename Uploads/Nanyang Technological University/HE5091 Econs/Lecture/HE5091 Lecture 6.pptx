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  <p:sldMasterId id="2147483692" r:id="rId2"/>
  </p:sldMasterIdLst>
  <p:notesMasterIdLst>
    <p:notesMasterId r:id="rId57"/>
  </p:notesMasterIdLst>
  <p:handoutMasterIdLst>
    <p:handoutMasterId r:id="rId58"/>
  </p:handoutMasterIdLst>
  <p:sldIdLst>
    <p:sldId id="363" r:id="rId3"/>
    <p:sldId id="364" r:id="rId4"/>
    <p:sldId id="262" r:id="rId5"/>
    <p:sldId id="308" r:id="rId6"/>
    <p:sldId id="263" r:id="rId7"/>
    <p:sldId id="266" r:id="rId8"/>
    <p:sldId id="268" r:id="rId9"/>
    <p:sldId id="269" r:id="rId10"/>
    <p:sldId id="309" r:id="rId11"/>
    <p:sldId id="310" r:id="rId12"/>
    <p:sldId id="270" r:id="rId13"/>
    <p:sldId id="275" r:id="rId14"/>
    <p:sldId id="322" r:id="rId15"/>
    <p:sldId id="278" r:id="rId16"/>
    <p:sldId id="280" r:id="rId17"/>
    <p:sldId id="311" r:id="rId18"/>
    <p:sldId id="312" r:id="rId19"/>
    <p:sldId id="313" r:id="rId20"/>
    <p:sldId id="285" r:id="rId21"/>
    <p:sldId id="286" r:id="rId22"/>
    <p:sldId id="314" r:id="rId23"/>
    <p:sldId id="315" r:id="rId24"/>
    <p:sldId id="292" r:id="rId25"/>
    <p:sldId id="323" r:id="rId26"/>
    <p:sldId id="294" r:id="rId27"/>
    <p:sldId id="317" r:id="rId28"/>
    <p:sldId id="303" r:id="rId29"/>
    <p:sldId id="320" r:id="rId30"/>
    <p:sldId id="326" r:id="rId31"/>
    <p:sldId id="327" r:id="rId32"/>
    <p:sldId id="328" r:id="rId33"/>
    <p:sldId id="331" r:id="rId34"/>
    <p:sldId id="329" r:id="rId35"/>
    <p:sldId id="365" r:id="rId36"/>
    <p:sldId id="332" r:id="rId37"/>
    <p:sldId id="333" r:id="rId38"/>
    <p:sldId id="334" r:id="rId39"/>
    <p:sldId id="335" r:id="rId40"/>
    <p:sldId id="336" r:id="rId41"/>
    <p:sldId id="338" r:id="rId42"/>
    <p:sldId id="340" r:id="rId43"/>
    <p:sldId id="341" r:id="rId44"/>
    <p:sldId id="342" r:id="rId45"/>
    <p:sldId id="343" r:id="rId46"/>
    <p:sldId id="344" r:id="rId47"/>
    <p:sldId id="345" r:id="rId48"/>
    <p:sldId id="346" r:id="rId49"/>
    <p:sldId id="347" r:id="rId50"/>
    <p:sldId id="349" r:id="rId51"/>
    <p:sldId id="350" r:id="rId52"/>
    <p:sldId id="358" r:id="rId53"/>
    <p:sldId id="359" r:id="rId54"/>
    <p:sldId id="360" r:id="rId55"/>
    <p:sldId id="460" r:id="rId56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7">
          <p15:clr>
            <a:srgbClr val="A4A3A4"/>
          </p15:clr>
        </p15:guide>
        <p15:guide id="2" pos="572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65" autoAdjust="0"/>
    <p:restoredTop sz="87940" autoAdjust="0"/>
  </p:normalViewPr>
  <p:slideViewPr>
    <p:cSldViewPr snapToGrid="0">
      <p:cViewPr varScale="1">
        <p:scale>
          <a:sx n="55" d="100"/>
          <a:sy n="55" d="100"/>
        </p:scale>
        <p:origin x="1540" y="48"/>
      </p:cViewPr>
      <p:guideLst>
        <p:guide orient="horz" pos="137"/>
        <p:guide pos="572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2696"/>
    </p:cViewPr>
  </p:sorterViewPr>
  <p:notesViewPr>
    <p:cSldViewPr snapToGrid="0">
      <p:cViewPr varScale="1">
        <p:scale>
          <a:sx n="64" d="100"/>
          <a:sy n="64" d="100"/>
        </p:scale>
        <p:origin x="-1884" y="-102"/>
      </p:cViewPr>
      <p:guideLst>
        <p:guide orient="horz" pos="3128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6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94CCBEE-BFA4-4E9C-859F-974A86210E97}" type="datetimeFigureOut">
              <a:rPr lang="en-US"/>
              <a:pPr>
                <a:defRPr/>
              </a:pPr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345"/>
            <a:ext cx="2945659" cy="4961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345"/>
            <a:ext cx="2945659" cy="4961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35FCCE4-8B39-402C-960D-5D6A244842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26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35A1DFF-D95C-4478-BB87-48DA15F691BE}" type="datetimeFigureOut">
              <a:rPr lang="en-US"/>
              <a:pPr>
                <a:defRPr/>
              </a:pPr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0038" y="501650"/>
            <a:ext cx="3638550" cy="2728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57193" y="3498994"/>
            <a:ext cx="5987304" cy="5684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345"/>
            <a:ext cx="2945659" cy="4961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E3F053C-1C81-4394-8429-1E3E4E633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09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25425" indent="-225425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indent="-231775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688975" indent="-223838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914400" indent="-225425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139825" indent="-225425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893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425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None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0960A9-385F-4599-AAFA-0D206C723CBD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868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6ACE83B-6BCF-4788-9D71-A1E0FAD41DE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60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CF472F1-2F4D-4694-84A0-7716CA161DE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24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379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48FFF13-78D4-477C-A0AD-A1570CE013D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96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39F207-8955-4F37-AFB6-2DB0D30A1F1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49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D44592-8B60-4112-9EDD-5BD7E94B938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373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54C36E-060F-4E96-8849-F10BA20008E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82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2C0A09B-A4EC-4ADF-AD42-F762B43778C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48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LO - 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722438"/>
            <a:ext cx="79248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 col L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22438"/>
            <a:ext cx="3808242" cy="4525962"/>
          </a:xfrm>
        </p:spPr>
        <p:txBody>
          <a:bodyPr/>
          <a:lstStyle>
            <a:lvl1pPr algn="ctr">
              <a:buFont typeface="Wingdings" pitchFamily="2" charset="2"/>
              <a:buChar char="§"/>
              <a:defRPr sz="2000" u="none"/>
            </a:lvl1pPr>
            <a:lvl2pPr marL="563563" indent="-285750">
              <a:defRPr sz="2000"/>
            </a:lvl2pPr>
            <a:lvl3pPr marL="746125" indent="-225425">
              <a:buClr>
                <a:srgbClr val="31A5A9"/>
              </a:buClr>
              <a:defRPr sz="2000"/>
            </a:lvl3pPr>
            <a:lvl4pPr marL="969963" indent="-231775">
              <a:buClr>
                <a:schemeClr val="accent1"/>
              </a:buClr>
              <a:defRPr sz="2000"/>
            </a:lvl4pPr>
            <a:lvl5pPr marL="1204913" indent="-222250">
              <a:buClr>
                <a:schemeClr val="accent3"/>
              </a:buClr>
              <a:defRPr sz="2000"/>
            </a:lvl5pPr>
            <a:lvl6pPr marL="1255713" indent="-228600"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4954758" y="1722438"/>
            <a:ext cx="3808242" cy="4525962"/>
          </a:xfrm>
        </p:spPr>
        <p:txBody>
          <a:bodyPr/>
          <a:lstStyle>
            <a:lvl1pPr algn="ctr">
              <a:buFont typeface="Wingdings" pitchFamily="2" charset="2"/>
              <a:buChar char="§"/>
              <a:defRPr sz="2000" u="none"/>
            </a:lvl1pPr>
            <a:lvl2pPr marL="568325" indent="-290513">
              <a:defRPr sz="2000"/>
            </a:lvl2pPr>
            <a:lvl3pPr marL="746125" indent="-225425">
              <a:buClr>
                <a:srgbClr val="31A5A9"/>
              </a:buClr>
              <a:defRPr sz="2000"/>
            </a:lvl3pPr>
            <a:lvl4pPr marL="966788" indent="-228600">
              <a:buClr>
                <a:schemeClr val="accent1"/>
              </a:buClr>
              <a:defRPr sz="2000"/>
            </a:lvl4pPr>
            <a:lvl5pPr marL="1200150" indent="-228600">
              <a:buClr>
                <a:schemeClr val="accent3"/>
              </a:buClr>
              <a:defRPr sz="2000"/>
            </a:lvl5pPr>
            <a:lvl6pPr marL="1255713" indent="-228600"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le Only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Frank Brief 2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858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12"/>
          <p:cNvSpPr>
            <a:spLocks noChangeArrowheads="1"/>
          </p:cNvSpPr>
          <p:nvPr userDrawn="1"/>
        </p:nvSpPr>
        <p:spPr bwMode="auto">
          <a:xfrm>
            <a:off x="695325" y="6583363"/>
            <a:ext cx="8991600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>
                <a:latin typeface="Times New Roman" pitchFamily="18" charset="0"/>
                <a:sym typeface="Symbol" pitchFamily="18" charset="2"/>
              </a:rPr>
              <a:t>2013 by The McGraw-Hill Companies, Inc.  All rights reserved.	</a:t>
            </a:r>
            <a:r>
              <a:rPr lang="en-US" sz="1200" i="1">
                <a:solidFill>
                  <a:srgbClr val="0075C3"/>
                </a:solidFill>
                <a:latin typeface="Times New Roman" pitchFamily="18" charset="0"/>
                <a:sym typeface="Symbol" pitchFamily="18" charset="2"/>
              </a:rPr>
              <a:t>			</a:t>
            </a:r>
          </a:p>
        </p:txBody>
      </p:sp>
      <p:sp>
        <p:nvSpPr>
          <p:cNvPr id="5" name="Text Box 27"/>
          <p:cNvSpPr txBox="1">
            <a:spLocks noChangeArrowheads="1"/>
          </p:cNvSpPr>
          <p:nvPr userDrawn="1"/>
        </p:nvSpPr>
        <p:spPr bwMode="auto">
          <a:xfrm>
            <a:off x="762000" y="6400800"/>
            <a:ext cx="9556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1" dirty="0">
                <a:latin typeface="Book Antiqua" pitchFamily="18" charset="0"/>
              </a:rPr>
              <a:t>LO 14 - 2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 bwMode="auto">
          <a:xfrm>
            <a:off x="7010400" y="6534150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13-</a:t>
            </a:r>
            <a:fld id="{191F6835-E240-4AE7-B5EC-7321F130A8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7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6D9D95-3FE4-411E-873C-E1FC5C61BB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 descr="Frank Brief 2e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0"/>
            <a:ext cx="6858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33" name="Rectangle 21"/>
          <p:cNvSpPr>
            <a:spLocks noChangeArrowheads="1"/>
          </p:cNvSpPr>
          <p:nvPr userDrawn="1"/>
        </p:nvSpPr>
        <p:spPr bwMode="auto">
          <a:xfrm>
            <a:off x="69342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r>
              <a:rPr lang="en-US" sz="1000">
                <a:latin typeface="Times New Roman" pitchFamily="18" charset="0"/>
              </a:rPr>
              <a:t>13-</a:t>
            </a:r>
            <a:fld id="{EE6C9874-5A31-4B13-BB54-0E654256A1DA}" type="slidenum">
              <a:rPr lang="en-US" sz="1000">
                <a:latin typeface="Times New Roman" pitchFamily="18" charset="0"/>
              </a:rPr>
              <a:pPr algn="r">
                <a:defRPr/>
              </a:pPr>
              <a:t>‹#›</a:t>
            </a:fld>
            <a:endParaRPr lang="en-US" sz="10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7" r:id="rId3"/>
    <p:sldLayoutId id="2147483698" r:id="rId4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7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029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fld id="{D0F92755-906F-479F-91D6-A954C315E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hayboon@ntu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171574" y="266700"/>
            <a:ext cx="7515225" cy="3009900"/>
          </a:xfrm>
        </p:spPr>
        <p:txBody>
          <a:bodyPr/>
          <a:lstStyle/>
          <a:p>
            <a:r>
              <a:rPr lang="en-US">
                <a:latin typeface="Arial" charset="0"/>
              </a:rPr>
              <a:t>HE5091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Principles of Economics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Lecture 6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Economics of Public Policy</a:t>
            </a:r>
            <a:endParaRPr lang="en-US" dirty="0"/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4229100"/>
            <a:ext cx="7721600" cy="1819275"/>
          </a:xfrm>
        </p:spPr>
        <p:txBody>
          <a:bodyPr/>
          <a:lstStyle/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Tan Khay Boon</a:t>
            </a:r>
          </a:p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Email</a:t>
            </a:r>
            <a:r>
              <a:rPr lang="en-US"/>
              <a:t>: </a:t>
            </a:r>
            <a:r>
              <a:rPr lang="en-US">
                <a:hlinkClick r:id="rId3"/>
              </a:rPr>
              <a:t>khayboon@ntu.edu.sg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+mn-lt"/>
              </a:rPr>
              <a:t>Topics</a:t>
            </a:r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942680" y="1492898"/>
            <a:ext cx="7934620" cy="4584052"/>
          </a:xfrm>
        </p:spPr>
        <p:txBody>
          <a:bodyPr/>
          <a:lstStyle/>
          <a:p>
            <a:r>
              <a:rPr lang="en-US" dirty="0"/>
              <a:t>Economics of Health Care Delivery</a:t>
            </a:r>
          </a:p>
          <a:p>
            <a:r>
              <a:rPr lang="en-US" dirty="0"/>
              <a:t>Environmental Regulation</a:t>
            </a:r>
          </a:p>
          <a:p>
            <a:r>
              <a:rPr lang="en-US" dirty="0"/>
              <a:t>Public Policy in Pollution Control</a:t>
            </a:r>
          </a:p>
          <a:p>
            <a:r>
              <a:rPr lang="en-US" dirty="0"/>
              <a:t>Public Good and Private Good</a:t>
            </a:r>
          </a:p>
          <a:p>
            <a:r>
              <a:rPr lang="en-US" dirty="0"/>
              <a:t>Optimal Amount of Public Good</a:t>
            </a:r>
          </a:p>
          <a:p>
            <a:r>
              <a:rPr lang="en-US" dirty="0"/>
              <a:t>Additional Functions of Government and Sources of Inefficiency</a:t>
            </a:r>
          </a:p>
          <a:p>
            <a:r>
              <a:rPr lang="en-US" dirty="0"/>
              <a:t>Reference: FBAH </a:t>
            </a:r>
            <a:r>
              <a:rPr lang="en-US"/>
              <a:t>or FBL, chapters </a:t>
            </a:r>
            <a:r>
              <a:rPr lang="en-US" dirty="0"/>
              <a:t>13 &amp; 14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Economics of Health Care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722438"/>
            <a:ext cx="7924800" cy="4525962"/>
          </a:xfrm>
        </p:spPr>
        <p:txBody>
          <a:bodyPr/>
          <a:lstStyle/>
          <a:p>
            <a:pPr eaLnBrk="1" hangingPunct="1"/>
            <a:r>
              <a:rPr lang="en-US" dirty="0"/>
              <a:t>Health care spending tend to grown faster than income as economy develops</a:t>
            </a:r>
          </a:p>
          <a:p>
            <a:pPr eaLnBrk="1" hangingPunct="1"/>
            <a:r>
              <a:rPr lang="en-US" dirty="0"/>
              <a:t>Part of the increase is due to improved quality of tests, procedures, drugs, etc.</a:t>
            </a:r>
          </a:p>
          <a:p>
            <a:pPr eaLnBrk="1" hangingPunct="1"/>
            <a:r>
              <a:rPr lang="en-US" dirty="0"/>
              <a:t>Part is due to the third-party payment system</a:t>
            </a:r>
          </a:p>
          <a:p>
            <a:pPr lvl="1" eaLnBrk="1" hangingPunct="1"/>
            <a:r>
              <a:rPr lang="en-US" dirty="0"/>
              <a:t>Growth in use of insurance for payments</a:t>
            </a:r>
          </a:p>
          <a:p>
            <a:pPr lvl="1" eaLnBrk="1" hangingPunct="1"/>
            <a:r>
              <a:rPr lang="en-US" dirty="0"/>
              <a:t>Employer-provided </a:t>
            </a:r>
          </a:p>
          <a:p>
            <a:pPr lvl="1" eaLnBrk="1" hangingPunct="1"/>
            <a:r>
              <a:rPr lang="en-US" dirty="0"/>
              <a:t>Government-provided National healthcare insurance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827694" y="25750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Health Care for the Employed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740927" y="1335088"/>
            <a:ext cx="7924800" cy="452596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Employer pays insurance</a:t>
            </a:r>
            <a:br>
              <a:rPr lang="en-US" dirty="0"/>
            </a:br>
            <a:r>
              <a:rPr lang="en-US" dirty="0"/>
              <a:t>on behalf of employee</a:t>
            </a:r>
          </a:p>
          <a:p>
            <a:pPr lvl="1" eaLnBrk="1" hangingPunct="1">
              <a:defRPr/>
            </a:pPr>
            <a:r>
              <a:rPr lang="en-US" dirty="0"/>
              <a:t>Employees pay part of </a:t>
            </a:r>
            <a:br>
              <a:rPr lang="en-US" dirty="0"/>
            </a:br>
            <a:r>
              <a:rPr lang="en-US" dirty="0"/>
              <a:t>the insurance premiums</a:t>
            </a:r>
          </a:p>
          <a:p>
            <a:pPr eaLnBrk="1" hangingPunct="1">
              <a:defRPr/>
            </a:pPr>
            <a:r>
              <a:rPr lang="en-US" dirty="0"/>
              <a:t>Medical provider cares 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dirty="0"/>
              <a:t>    for patient / employee</a:t>
            </a:r>
          </a:p>
          <a:p>
            <a:pPr lvl="1" eaLnBrk="1" hangingPunct="1">
              <a:defRPr/>
            </a:pPr>
            <a:r>
              <a:rPr lang="en-US" dirty="0"/>
              <a:t>Patient co-pay</a:t>
            </a:r>
          </a:p>
          <a:p>
            <a:pPr eaLnBrk="1" hangingPunct="1">
              <a:defRPr/>
            </a:pPr>
            <a:r>
              <a:rPr lang="en-US" dirty="0"/>
              <a:t>Medical provider bills insurance</a:t>
            </a:r>
          </a:p>
          <a:p>
            <a:pPr lvl="1" eaLnBrk="1" hangingPunct="1">
              <a:defRPr/>
            </a:pPr>
            <a:r>
              <a:rPr lang="en-US" dirty="0"/>
              <a:t>Insurance pays provider</a:t>
            </a:r>
          </a:p>
          <a:p>
            <a:pPr eaLnBrk="1" hangingPunct="1">
              <a:defRPr/>
            </a:pPr>
            <a:r>
              <a:rPr lang="en-US" dirty="0"/>
              <a:t>Insurance periodically reviews employer's policy and adjusts rates</a:t>
            </a:r>
          </a:p>
        </p:txBody>
      </p:sp>
      <p:cxnSp>
        <p:nvCxnSpPr>
          <p:cNvPr id="18" name="Straight Arrow Connector 17"/>
          <p:cNvCxnSpPr/>
          <p:nvPr/>
        </p:nvCxnSpPr>
        <p:spPr bwMode="auto">
          <a:xfrm rot="5400000" flipH="1" flipV="1">
            <a:off x="5191919" y="3083719"/>
            <a:ext cx="6096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0" idx="1"/>
          </p:cNvCxnSpPr>
          <p:nvPr/>
        </p:nvCxnSpPr>
        <p:spPr bwMode="auto">
          <a:xfrm rot="10800000" flipV="1">
            <a:off x="6180138" y="2354263"/>
            <a:ext cx="1106487" cy="1050925"/>
          </a:xfrm>
          <a:prstGeom prst="straightConnector1">
            <a:avLst/>
          </a:prstGeom>
          <a:ln w="38100"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9" name="Group 48"/>
          <p:cNvGrpSpPr>
            <a:grpSpLocks/>
          </p:cNvGrpSpPr>
          <p:nvPr/>
        </p:nvGrpSpPr>
        <p:grpSpPr bwMode="auto">
          <a:xfrm>
            <a:off x="7350125" y="1893888"/>
            <a:ext cx="1660525" cy="1495425"/>
            <a:chOff x="7146765" y="1804737"/>
            <a:chExt cx="1660358" cy="1495395"/>
          </a:xfrm>
        </p:grpSpPr>
        <p:cxnSp>
          <p:nvCxnSpPr>
            <p:cNvPr id="12" name="Straight Arrow Connector 11"/>
            <p:cNvCxnSpPr>
              <a:stCxn id="0" idx="2"/>
              <a:endCxn id="0" idx="0"/>
            </p:cNvCxnSpPr>
            <p:nvPr/>
          </p:nvCxnSpPr>
          <p:spPr bwMode="auto">
            <a:xfrm rot="5400000">
              <a:off x="7672945" y="2994544"/>
              <a:ext cx="609588" cy="1587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" name="Rectangle 3"/>
            <p:cNvSpPr/>
            <p:nvPr/>
          </p:nvSpPr>
          <p:spPr bwMode="auto">
            <a:xfrm>
              <a:off x="7146765" y="1804737"/>
              <a:ext cx="1660358" cy="884963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b="1" dirty="0">
                  <a:solidFill>
                    <a:schemeClr val="bg1"/>
                  </a:solidFill>
                </a:rPr>
                <a:t>Medical Provider</a:t>
              </a:r>
            </a:p>
          </p:txBody>
        </p:sp>
      </p:grpSp>
      <p:cxnSp>
        <p:nvCxnSpPr>
          <p:cNvPr id="48" name="Straight Arrow Connector 47"/>
          <p:cNvCxnSpPr/>
          <p:nvPr/>
        </p:nvCxnSpPr>
        <p:spPr bwMode="auto">
          <a:xfrm rot="16200000" flipV="1">
            <a:off x="8320882" y="3082131"/>
            <a:ext cx="609600" cy="1587"/>
          </a:xfrm>
          <a:prstGeom prst="straightConnector1">
            <a:avLst/>
          </a:prstGeom>
          <a:ln w="12700"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 bwMode="auto">
          <a:xfrm rot="5400000">
            <a:off x="5528469" y="3083719"/>
            <a:ext cx="609600" cy="1588"/>
          </a:xfrm>
          <a:prstGeom prst="straightConnector1">
            <a:avLst/>
          </a:prstGeom>
          <a:ln w="57150"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 bwMode="auto">
          <a:xfrm>
            <a:off x="7349965" y="3388239"/>
            <a:ext cx="1660358" cy="8849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bg1"/>
                </a:solidFill>
              </a:rPr>
              <a:t>Patient / Employee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4999804" y="1893637"/>
            <a:ext cx="1660358" cy="8849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bg1"/>
                </a:solidFill>
              </a:rPr>
              <a:t>Employer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4999804" y="3388239"/>
            <a:ext cx="1660358" cy="8849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chemeClr val="bg1"/>
                </a:solidFill>
              </a:rPr>
              <a:t>Insurance Company</a:t>
            </a:r>
          </a:p>
        </p:txBody>
      </p:sp>
      <p:cxnSp>
        <p:nvCxnSpPr>
          <p:cNvPr id="42" name="Straight Arrow Connector 41"/>
          <p:cNvCxnSpPr>
            <a:cxnSpLocks noChangeShapeType="1"/>
          </p:cNvCxnSpPr>
          <p:nvPr/>
        </p:nvCxnSpPr>
        <p:spPr bwMode="auto">
          <a:xfrm rot="10800000">
            <a:off x="6659563" y="4003675"/>
            <a:ext cx="690562" cy="158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3" name="Straight Arrow Connector 42"/>
          <p:cNvCxnSpPr/>
          <p:nvPr/>
        </p:nvCxnSpPr>
        <p:spPr bwMode="auto">
          <a:xfrm rot="10800000" flipH="1">
            <a:off x="6659563" y="3684588"/>
            <a:ext cx="690562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 bwMode="auto">
          <a:xfrm flipV="1">
            <a:off x="6659563" y="2778125"/>
            <a:ext cx="690562" cy="611188"/>
          </a:xfrm>
          <a:prstGeom prst="straightConnector1">
            <a:avLst/>
          </a:prstGeom>
          <a:ln w="38100"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796162" y="22597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Health Care Delivery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idx="1"/>
          </p:nvPr>
        </p:nvSpPr>
        <p:spPr>
          <a:xfrm>
            <a:off x="746449" y="1260475"/>
            <a:ext cx="8285584" cy="5298945"/>
          </a:xfrm>
        </p:spPr>
        <p:txBody>
          <a:bodyPr/>
          <a:lstStyle/>
          <a:p>
            <a:pPr eaLnBrk="1" hangingPunct="1"/>
            <a:r>
              <a:rPr lang="en-US" dirty="0"/>
              <a:t>Cost-benefit test assures efficient allocation of health care</a:t>
            </a:r>
          </a:p>
          <a:p>
            <a:pPr lvl="1" eaLnBrk="1" hangingPunct="1"/>
            <a:r>
              <a:rPr lang="en-US" dirty="0"/>
              <a:t>Perform a service only if benefit exceeds cost</a:t>
            </a:r>
          </a:p>
          <a:p>
            <a:pPr eaLnBrk="1" hangingPunct="1"/>
            <a:r>
              <a:rPr lang="en-US" dirty="0"/>
              <a:t>Costs are easy to measure – Marginal cost</a:t>
            </a:r>
          </a:p>
          <a:p>
            <a:pPr eaLnBrk="1" hangingPunct="1"/>
            <a:r>
              <a:rPr lang="en-US" dirty="0"/>
              <a:t>Benefits are complicated</a:t>
            </a:r>
          </a:p>
          <a:p>
            <a:pPr lvl="1" eaLnBrk="1" hangingPunct="1"/>
            <a:r>
              <a:rPr lang="en-US" dirty="0"/>
              <a:t>Usual measure is willingness to pay </a:t>
            </a:r>
          </a:p>
          <a:p>
            <a:pPr lvl="1" eaLnBrk="1" hangingPunct="1"/>
            <a:r>
              <a:rPr lang="en-US" dirty="0"/>
              <a:t>Some patients are unable to pay for basic services</a:t>
            </a:r>
          </a:p>
          <a:p>
            <a:pPr lvl="1" eaLnBrk="1" hangingPunct="1"/>
            <a:r>
              <a:rPr lang="en-US" dirty="0"/>
              <a:t>Society assumes some responsibility via government-provided insurance</a:t>
            </a:r>
          </a:p>
          <a:p>
            <a:pPr lvl="1" eaLnBrk="1" hangingPunct="1"/>
            <a:r>
              <a:rPr lang="en-US" dirty="0"/>
              <a:t>Confused by third-party payment system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47822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The Demand for Hospital Care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>
          <a:xfrm>
            <a:off x="718266" y="1873639"/>
            <a:ext cx="7924800" cy="4525962"/>
          </a:xfrm>
        </p:spPr>
        <p:txBody>
          <a:bodyPr/>
          <a:lstStyle/>
          <a:p>
            <a:pPr eaLnBrk="1" hangingPunct="1"/>
            <a:r>
              <a:rPr lang="en-US" dirty="0"/>
              <a:t>Price of hospital room is</a:t>
            </a:r>
            <a:br>
              <a:rPr lang="en-US" dirty="0"/>
            </a:br>
            <a:r>
              <a:rPr lang="en-US" dirty="0"/>
              <a:t>$300 per day</a:t>
            </a:r>
          </a:p>
          <a:p>
            <a:pPr lvl="1" eaLnBrk="1" hangingPunct="1"/>
            <a:r>
              <a:rPr lang="en-US" dirty="0"/>
              <a:t>If David pays, MC to </a:t>
            </a:r>
            <a:br>
              <a:rPr lang="en-US" dirty="0"/>
            </a:br>
            <a:r>
              <a:rPr lang="en-US" dirty="0"/>
              <a:t>him is $300</a:t>
            </a:r>
          </a:p>
          <a:p>
            <a:pPr lvl="1" eaLnBrk="1" hangingPunct="1"/>
            <a:r>
              <a:rPr lang="en-US" dirty="0"/>
              <a:t>David equates marginal </a:t>
            </a:r>
            <a:br>
              <a:rPr lang="en-US" dirty="0"/>
            </a:br>
            <a:r>
              <a:rPr lang="en-US" dirty="0"/>
              <a:t>cost and marginal </a:t>
            </a:r>
            <a:br>
              <a:rPr lang="en-US" dirty="0"/>
            </a:br>
            <a:r>
              <a:rPr lang="en-US" dirty="0"/>
              <a:t>benefit and stays </a:t>
            </a:r>
            <a:br>
              <a:rPr lang="en-US" dirty="0"/>
            </a:br>
            <a:r>
              <a:rPr lang="en-US" dirty="0"/>
              <a:t>one day</a:t>
            </a:r>
          </a:p>
          <a:p>
            <a:pPr lvl="1" eaLnBrk="1" hangingPunct="1"/>
            <a:r>
              <a:rPr lang="en-US" dirty="0"/>
              <a:t>If insurance pays, MC to David is zero</a:t>
            </a:r>
          </a:p>
          <a:p>
            <a:pPr lvl="2" eaLnBrk="1" hangingPunct="1"/>
            <a:r>
              <a:rPr lang="en-US" dirty="0"/>
              <a:t>He stays 3 days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5066993" y="2050717"/>
            <a:ext cx="3999464" cy="28159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5124450" y="2111764"/>
            <a:ext cx="3884613" cy="2693987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415" name="Text Box 8"/>
          <p:cNvSpPr txBox="1">
            <a:spLocks noChangeArrowheads="1"/>
          </p:cNvSpPr>
          <p:nvPr/>
        </p:nvSpPr>
        <p:spPr bwMode="auto">
          <a:xfrm>
            <a:off x="5846763" y="4364426"/>
            <a:ext cx="29876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Length of hospital stay (days)</a:t>
            </a:r>
          </a:p>
        </p:txBody>
      </p:sp>
      <p:sp>
        <p:nvSpPr>
          <p:cNvPr id="17416" name="Line 7"/>
          <p:cNvSpPr>
            <a:spLocks noChangeShapeType="1"/>
          </p:cNvSpPr>
          <p:nvPr/>
        </p:nvSpPr>
        <p:spPr bwMode="auto">
          <a:xfrm>
            <a:off x="6102350" y="4112014"/>
            <a:ext cx="24463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 rot="-5400000">
            <a:off x="4667250" y="3007114"/>
            <a:ext cx="1600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Price ($/day)</a:t>
            </a:r>
          </a:p>
        </p:txBody>
      </p:sp>
      <p:sp>
        <p:nvSpPr>
          <p:cNvPr id="17418" name="Line 10"/>
          <p:cNvSpPr>
            <a:spLocks noChangeShapeType="1"/>
          </p:cNvSpPr>
          <p:nvPr/>
        </p:nvSpPr>
        <p:spPr bwMode="auto">
          <a:xfrm>
            <a:off x="6108700" y="2240351"/>
            <a:ext cx="0" cy="18716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5894" name="Line 6"/>
          <p:cNvSpPr>
            <a:spLocks noChangeShapeType="1"/>
          </p:cNvSpPr>
          <p:nvPr/>
        </p:nvSpPr>
        <p:spPr bwMode="auto">
          <a:xfrm>
            <a:off x="6467475" y="2272101"/>
            <a:ext cx="1884363" cy="1833563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420" name="Text Box 11"/>
          <p:cNvSpPr txBox="1">
            <a:spLocks noChangeArrowheads="1"/>
          </p:cNvSpPr>
          <p:nvPr/>
        </p:nvSpPr>
        <p:spPr bwMode="auto">
          <a:xfrm>
            <a:off x="8142288" y="3689739"/>
            <a:ext cx="273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/>
              <a:t>D</a:t>
            </a:r>
          </a:p>
        </p:txBody>
      </p:sp>
      <p:sp>
        <p:nvSpPr>
          <p:cNvPr id="17421" name="Text Box 12"/>
          <p:cNvSpPr txBox="1">
            <a:spLocks noChangeArrowheads="1"/>
          </p:cNvSpPr>
          <p:nvPr/>
        </p:nvSpPr>
        <p:spPr bwMode="auto">
          <a:xfrm>
            <a:off x="6811963" y="4126301"/>
            <a:ext cx="190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1</a:t>
            </a:r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8142288" y="4126301"/>
            <a:ext cx="2730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3</a:t>
            </a:r>
          </a:p>
        </p:txBody>
      </p:sp>
      <p:grpSp>
        <p:nvGrpSpPr>
          <p:cNvPr id="26" name="Group 25"/>
          <p:cNvGrpSpPr>
            <a:grpSpLocks/>
          </p:cNvGrpSpPr>
          <p:nvPr/>
        </p:nvGrpSpPr>
        <p:grpSpPr bwMode="auto">
          <a:xfrm>
            <a:off x="5521325" y="2521339"/>
            <a:ext cx="1377950" cy="1582737"/>
            <a:chOff x="5292442" y="2119746"/>
            <a:chExt cx="1378047" cy="1581614"/>
          </a:xfrm>
        </p:grpSpPr>
        <p:sp>
          <p:nvSpPr>
            <p:cNvPr id="17424" name="Line 4"/>
            <p:cNvSpPr>
              <a:spLocks noChangeShapeType="1"/>
            </p:cNvSpPr>
            <p:nvPr/>
          </p:nvSpPr>
          <p:spPr bwMode="auto">
            <a:xfrm>
              <a:off x="5878072" y="2294681"/>
              <a:ext cx="769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Text Box 13"/>
            <p:cNvSpPr txBox="1">
              <a:spLocks noChangeArrowheads="1"/>
            </p:cNvSpPr>
            <p:nvPr/>
          </p:nvSpPr>
          <p:spPr bwMode="auto">
            <a:xfrm>
              <a:off x="5292442" y="2119746"/>
              <a:ext cx="58725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/>
                <a:t>300</a:t>
              </a:r>
            </a:p>
          </p:txBody>
        </p:sp>
        <p:sp>
          <p:nvSpPr>
            <p:cNvPr id="17426" name="Line 16"/>
            <p:cNvSpPr>
              <a:spLocks noChangeShapeType="1"/>
            </p:cNvSpPr>
            <p:nvPr/>
          </p:nvSpPr>
          <p:spPr bwMode="auto">
            <a:xfrm rot="-5400000">
              <a:off x="5973703" y="3004574"/>
              <a:ext cx="13935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 bwMode="auto">
          <a:xfrm>
            <a:off x="4759031" y="1489361"/>
            <a:ext cx="4114800" cy="490450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4827588" y="1558925"/>
            <a:ext cx="3976687" cy="476567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712788" y="20298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Full Insurance Coverage Creates Waste</a:t>
            </a:r>
          </a:p>
        </p:txBody>
      </p:sp>
      <p:sp>
        <p:nvSpPr>
          <p:cNvPr id="28" name="Content Placeholder 27"/>
          <p:cNvSpPr>
            <a:spLocks noGrp="1"/>
          </p:cNvSpPr>
          <p:nvPr>
            <p:ph sz="half" idx="1"/>
          </p:nvPr>
        </p:nvSpPr>
        <p:spPr>
          <a:xfrm>
            <a:off x="838200" y="1722438"/>
            <a:ext cx="3808413" cy="4525962"/>
          </a:xfrm>
        </p:spPr>
        <p:txBody>
          <a:bodyPr/>
          <a:lstStyle/>
          <a:p>
            <a:pPr algn="l" eaLnBrk="1" hangingPunct="1"/>
            <a:r>
              <a:rPr lang="en-US" dirty="0"/>
              <a:t>If David pays, stay is 1 day</a:t>
            </a:r>
          </a:p>
          <a:p>
            <a:pPr algn="l" eaLnBrk="1" hangingPunct="1"/>
            <a:r>
              <a:rPr lang="en-US" dirty="0"/>
              <a:t>If insurance pays, stay is 3 days</a:t>
            </a:r>
          </a:p>
          <a:p>
            <a:pPr lvl="1" eaLnBrk="1" hangingPunct="1"/>
            <a:r>
              <a:rPr lang="en-US" dirty="0"/>
              <a:t>Extra benefit of 2</a:t>
            </a:r>
            <a:r>
              <a:rPr lang="en-US" baseline="30000" dirty="0"/>
              <a:t>nd</a:t>
            </a:r>
            <a:r>
              <a:rPr lang="en-US" dirty="0"/>
              <a:t> and 3</a:t>
            </a:r>
            <a:r>
              <a:rPr lang="en-US" baseline="30000" dirty="0"/>
              <a:t>rd</a:t>
            </a:r>
            <a:r>
              <a:rPr lang="en-US" dirty="0"/>
              <a:t> day to David is $300</a:t>
            </a:r>
          </a:p>
          <a:p>
            <a:pPr lvl="1" eaLnBrk="1" hangingPunct="1"/>
            <a:r>
              <a:rPr lang="en-US" dirty="0"/>
              <a:t>Extra cost is 2 days times $300 per day = $600</a:t>
            </a:r>
          </a:p>
          <a:p>
            <a:pPr lvl="1" eaLnBrk="1" hangingPunct="1"/>
            <a:r>
              <a:rPr lang="en-US" dirty="0"/>
              <a:t>$300 surplus lost</a:t>
            </a:r>
          </a:p>
        </p:txBody>
      </p:sp>
      <p:sp>
        <p:nvSpPr>
          <p:cNvPr id="19463" name="Line 15"/>
          <p:cNvSpPr>
            <a:spLocks noChangeShapeType="1"/>
          </p:cNvSpPr>
          <p:nvPr/>
        </p:nvSpPr>
        <p:spPr bwMode="auto">
          <a:xfrm>
            <a:off x="5454650" y="5611813"/>
            <a:ext cx="2284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4" name="Text Box 16"/>
          <p:cNvSpPr txBox="1">
            <a:spLocks noChangeArrowheads="1"/>
          </p:cNvSpPr>
          <p:nvPr/>
        </p:nvSpPr>
        <p:spPr bwMode="auto">
          <a:xfrm>
            <a:off x="4994275" y="5873750"/>
            <a:ext cx="3554413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Length of hospital stay (days)</a:t>
            </a:r>
          </a:p>
        </p:txBody>
      </p:sp>
      <p:sp>
        <p:nvSpPr>
          <p:cNvPr id="19465" name="Text Box 17"/>
          <p:cNvSpPr txBox="1">
            <a:spLocks noChangeArrowheads="1"/>
          </p:cNvSpPr>
          <p:nvPr/>
        </p:nvSpPr>
        <p:spPr bwMode="auto">
          <a:xfrm rot="-5400000">
            <a:off x="3565525" y="3679825"/>
            <a:ext cx="30178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Price ($/day)</a:t>
            </a:r>
          </a:p>
        </p:txBody>
      </p:sp>
      <p:sp>
        <p:nvSpPr>
          <p:cNvPr id="19466" name="Line 18"/>
          <p:cNvSpPr>
            <a:spLocks noChangeShapeType="1"/>
          </p:cNvSpPr>
          <p:nvPr/>
        </p:nvSpPr>
        <p:spPr bwMode="auto">
          <a:xfrm>
            <a:off x="5459413" y="2081213"/>
            <a:ext cx="0" cy="353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7" name="Text Box 19"/>
          <p:cNvSpPr txBox="1">
            <a:spLocks noChangeArrowheads="1"/>
          </p:cNvSpPr>
          <p:nvPr/>
        </p:nvSpPr>
        <p:spPr bwMode="auto">
          <a:xfrm>
            <a:off x="5954713" y="2201863"/>
            <a:ext cx="328612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/>
              <a:t>D</a:t>
            </a:r>
          </a:p>
        </p:txBody>
      </p:sp>
      <p:sp>
        <p:nvSpPr>
          <p:cNvPr id="19468" name="Text Box 20"/>
          <p:cNvSpPr txBox="1">
            <a:spLocks noChangeArrowheads="1"/>
          </p:cNvSpPr>
          <p:nvPr/>
        </p:nvSpPr>
        <p:spPr bwMode="auto">
          <a:xfrm>
            <a:off x="5905500" y="5637213"/>
            <a:ext cx="371475" cy="32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1</a:t>
            </a:r>
          </a:p>
        </p:txBody>
      </p:sp>
      <p:sp>
        <p:nvSpPr>
          <p:cNvPr id="19469" name="Text Box 28"/>
          <p:cNvSpPr txBox="1">
            <a:spLocks noChangeArrowheads="1"/>
          </p:cNvSpPr>
          <p:nvPr/>
        </p:nvSpPr>
        <p:spPr bwMode="auto">
          <a:xfrm>
            <a:off x="4883150" y="2792413"/>
            <a:ext cx="576263" cy="32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300</a:t>
            </a:r>
          </a:p>
        </p:txBody>
      </p:sp>
      <p:sp>
        <p:nvSpPr>
          <p:cNvPr id="19470" name="Text Box 33"/>
          <p:cNvSpPr txBox="1">
            <a:spLocks noChangeArrowheads="1"/>
          </p:cNvSpPr>
          <p:nvPr/>
        </p:nvSpPr>
        <p:spPr bwMode="auto">
          <a:xfrm>
            <a:off x="7243763" y="5637213"/>
            <a:ext cx="371475" cy="32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3</a:t>
            </a:r>
          </a:p>
        </p:txBody>
      </p:sp>
      <p:sp>
        <p:nvSpPr>
          <p:cNvPr id="19471" name="Text Box 34"/>
          <p:cNvSpPr txBox="1">
            <a:spLocks noChangeArrowheads="1"/>
          </p:cNvSpPr>
          <p:nvPr/>
        </p:nvSpPr>
        <p:spPr bwMode="auto">
          <a:xfrm>
            <a:off x="7681913" y="2786063"/>
            <a:ext cx="29210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/>
              <a:t>S</a:t>
            </a:r>
          </a:p>
        </p:txBody>
      </p:sp>
      <p:grpSp>
        <p:nvGrpSpPr>
          <p:cNvPr id="44" name="Group 43"/>
          <p:cNvGrpSpPr>
            <a:grpSpLocks/>
          </p:cNvGrpSpPr>
          <p:nvPr/>
        </p:nvGrpSpPr>
        <p:grpSpPr bwMode="auto">
          <a:xfrm>
            <a:off x="6184900" y="1649413"/>
            <a:ext cx="1754188" cy="3960812"/>
            <a:chOff x="6184530" y="1648691"/>
            <a:chExt cx="1754126" cy="3962002"/>
          </a:xfrm>
        </p:grpSpPr>
        <p:sp>
          <p:nvSpPr>
            <p:cNvPr id="160804" name="Freeform 36"/>
            <p:cNvSpPr>
              <a:spLocks/>
            </p:cNvSpPr>
            <p:nvPr/>
          </p:nvSpPr>
          <p:spPr bwMode="auto">
            <a:xfrm>
              <a:off x="6184530" y="2959119"/>
              <a:ext cx="1348030" cy="26515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728"/>
                </a:cxn>
                <a:cxn ang="0">
                  <a:pos x="1773" y="1728"/>
                </a:cxn>
                <a:cxn ang="0">
                  <a:pos x="0" y="0"/>
                </a:cxn>
              </a:cxnLst>
              <a:rect l="0" t="0" r="r" b="b"/>
              <a:pathLst>
                <a:path w="1773" h="1728">
                  <a:moveTo>
                    <a:pt x="0" y="0"/>
                  </a:moveTo>
                  <a:lnTo>
                    <a:pt x="0" y="1728"/>
                  </a:lnTo>
                  <a:lnTo>
                    <a:pt x="1773" y="1728"/>
                  </a:lnTo>
                  <a:lnTo>
                    <a:pt x="0" y="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490" name="Text Box 39"/>
            <p:cNvSpPr txBox="1">
              <a:spLocks noChangeArrowheads="1"/>
            </p:cNvSpPr>
            <p:nvPr/>
          </p:nvSpPr>
          <p:spPr bwMode="auto">
            <a:xfrm>
              <a:off x="6303818" y="1648691"/>
              <a:ext cx="1634838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dirty="0"/>
                <a:t>Cost from extra stay</a:t>
              </a:r>
            </a:p>
          </p:txBody>
        </p:sp>
        <p:sp>
          <p:nvSpPr>
            <p:cNvPr id="160805" name="Line 37"/>
            <p:cNvSpPr>
              <a:spLocks noChangeShapeType="1"/>
            </p:cNvSpPr>
            <p:nvPr/>
          </p:nvSpPr>
          <p:spPr bwMode="auto">
            <a:xfrm flipH="1">
              <a:off x="6400422" y="2144140"/>
              <a:ext cx="211131" cy="1894456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41" name="Group 40"/>
          <p:cNvGrpSpPr>
            <a:grpSpLocks/>
          </p:cNvGrpSpPr>
          <p:nvPr/>
        </p:nvGrpSpPr>
        <p:grpSpPr bwMode="auto">
          <a:xfrm>
            <a:off x="4891088" y="2965450"/>
            <a:ext cx="2646362" cy="2868624"/>
            <a:chOff x="4862944" y="2978734"/>
            <a:chExt cx="2646218" cy="2868680"/>
          </a:xfrm>
        </p:grpSpPr>
        <p:sp>
          <p:nvSpPr>
            <p:cNvPr id="30" name="Rectangle 29"/>
            <p:cNvSpPr/>
            <p:nvPr/>
          </p:nvSpPr>
          <p:spPr bwMode="auto">
            <a:xfrm>
              <a:off x="6165271" y="2978734"/>
              <a:ext cx="1343891" cy="2627313"/>
            </a:xfrm>
            <a:prstGeom prst="rect">
              <a:avLst/>
            </a:prstGeom>
            <a:solidFill>
              <a:srgbClr val="FFFF00"/>
            </a:solidFill>
            <a:ln>
              <a:noFill/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5" name="Text Box 40"/>
            <p:cNvSpPr txBox="1">
              <a:spLocks noChangeArrowheads="1"/>
            </p:cNvSpPr>
            <p:nvPr/>
          </p:nvSpPr>
          <p:spPr bwMode="auto">
            <a:xfrm>
              <a:off x="4862944" y="5262628"/>
              <a:ext cx="1205345" cy="58478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dirty="0"/>
                <a:t>Benefit of extra  stay</a:t>
              </a:r>
            </a:p>
          </p:txBody>
        </p:sp>
        <p:cxnSp>
          <p:nvCxnSpPr>
            <p:cNvPr id="35" name="Straight Arrow Connector 34"/>
            <p:cNvCxnSpPr/>
            <p:nvPr/>
          </p:nvCxnSpPr>
          <p:spPr bwMode="auto">
            <a:xfrm rot="5400000" flipH="1" flipV="1">
              <a:off x="5458976" y="4475002"/>
              <a:ext cx="1135084" cy="527021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>
            <a:grpSpLocks/>
          </p:cNvGrpSpPr>
          <p:nvPr/>
        </p:nvGrpSpPr>
        <p:grpSpPr bwMode="auto">
          <a:xfrm>
            <a:off x="6223000" y="2297113"/>
            <a:ext cx="2270125" cy="3341687"/>
            <a:chOff x="6209684" y="2283899"/>
            <a:chExt cx="2269298" cy="3340647"/>
          </a:xfrm>
        </p:grpSpPr>
        <p:sp>
          <p:nvSpPr>
            <p:cNvPr id="160803" name="Freeform 35"/>
            <p:cNvSpPr>
              <a:spLocks/>
            </p:cNvSpPr>
            <p:nvPr/>
          </p:nvSpPr>
          <p:spPr bwMode="auto">
            <a:xfrm>
              <a:off x="6209684" y="2972972"/>
              <a:ext cx="1348030" cy="2651574"/>
            </a:xfrm>
            <a:custGeom>
              <a:avLst/>
              <a:gdLst/>
              <a:ahLst/>
              <a:cxnLst>
                <a:cxn ang="0">
                  <a:pos x="1773" y="1728"/>
                </a:cxn>
                <a:cxn ang="0">
                  <a:pos x="1773" y="0"/>
                </a:cxn>
                <a:cxn ang="0">
                  <a:pos x="0" y="0"/>
                </a:cxn>
                <a:cxn ang="0">
                  <a:pos x="1773" y="1728"/>
                </a:cxn>
              </a:cxnLst>
              <a:rect l="0" t="0" r="r" b="b"/>
              <a:pathLst>
                <a:path w="1773" h="1728">
                  <a:moveTo>
                    <a:pt x="1773" y="1728"/>
                  </a:moveTo>
                  <a:lnTo>
                    <a:pt x="1773" y="0"/>
                  </a:lnTo>
                  <a:lnTo>
                    <a:pt x="0" y="0"/>
                  </a:lnTo>
                  <a:lnTo>
                    <a:pt x="1773" y="172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480" name="Text Box 40"/>
            <p:cNvSpPr txBox="1">
              <a:spLocks noChangeArrowheads="1"/>
            </p:cNvSpPr>
            <p:nvPr/>
          </p:nvSpPr>
          <p:spPr bwMode="auto">
            <a:xfrm>
              <a:off x="6902412" y="2283899"/>
              <a:ext cx="157657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/>
                <a:t>Lost surplus from extra stay</a:t>
              </a:r>
            </a:p>
          </p:txBody>
        </p:sp>
        <p:sp>
          <p:nvSpPr>
            <p:cNvPr id="160806" name="Line 38"/>
            <p:cNvSpPr>
              <a:spLocks noChangeShapeType="1"/>
            </p:cNvSpPr>
            <p:nvPr/>
          </p:nvSpPr>
          <p:spPr bwMode="auto">
            <a:xfrm flipH="1">
              <a:off x="7306247" y="2848873"/>
              <a:ext cx="96802" cy="674477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60779" name="Line 11"/>
          <p:cNvSpPr>
            <a:spLocks noChangeShapeType="1"/>
          </p:cNvSpPr>
          <p:nvPr/>
        </p:nvSpPr>
        <p:spPr bwMode="auto">
          <a:xfrm>
            <a:off x="5794375" y="2141538"/>
            <a:ext cx="1762125" cy="3457575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0794" name="Line 26"/>
          <p:cNvSpPr>
            <a:spLocks noChangeShapeType="1"/>
          </p:cNvSpPr>
          <p:nvPr/>
        </p:nvSpPr>
        <p:spPr bwMode="auto">
          <a:xfrm>
            <a:off x="5457825" y="2960688"/>
            <a:ext cx="2270125" cy="0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748864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Alternative Coverage Scheme</a:t>
            </a:r>
          </a:p>
        </p:txBody>
      </p:sp>
      <p:sp>
        <p:nvSpPr>
          <p:cNvPr id="50" name="Content Placeholder 49"/>
          <p:cNvSpPr>
            <a:spLocks noGrp="1"/>
          </p:cNvSpPr>
          <p:nvPr>
            <p:ph idx="1"/>
          </p:nvPr>
        </p:nvSpPr>
        <p:spPr>
          <a:xfrm>
            <a:off x="747277" y="1316037"/>
            <a:ext cx="7924800" cy="5215391"/>
          </a:xfrm>
        </p:spPr>
        <p:txBody>
          <a:bodyPr/>
          <a:lstStyle/>
          <a:p>
            <a:pPr eaLnBrk="1" hangingPunct="1"/>
            <a:r>
              <a:rPr lang="en-US" dirty="0"/>
              <a:t>Insurance company pays </a:t>
            </a:r>
            <a:br>
              <a:rPr lang="en-US" dirty="0"/>
            </a:br>
            <a:r>
              <a:rPr lang="en-US" dirty="0"/>
              <a:t>David $700</a:t>
            </a:r>
          </a:p>
          <a:p>
            <a:pPr lvl="1" eaLnBrk="1" hangingPunct="1"/>
            <a:r>
              <a:rPr lang="en-US" dirty="0"/>
              <a:t>Insurance company </a:t>
            </a:r>
            <a:br>
              <a:rPr lang="en-US" dirty="0"/>
            </a:br>
            <a:r>
              <a:rPr lang="en-US" dirty="0"/>
              <a:t>saves $200 compared </a:t>
            </a:r>
            <a:br>
              <a:rPr lang="en-US" dirty="0"/>
            </a:br>
            <a:r>
              <a:rPr lang="en-US" dirty="0"/>
              <a:t>to a 3-day stay</a:t>
            </a:r>
          </a:p>
          <a:p>
            <a:pPr eaLnBrk="1" hangingPunct="1"/>
            <a:r>
              <a:rPr lang="en-US" dirty="0"/>
              <a:t>David stays 1 day</a:t>
            </a:r>
          </a:p>
          <a:p>
            <a:pPr lvl="1" eaLnBrk="1" hangingPunct="1"/>
            <a:r>
              <a:rPr lang="en-US" dirty="0"/>
              <a:t>Pays hospital $300</a:t>
            </a:r>
          </a:p>
          <a:p>
            <a:pPr lvl="1" eaLnBrk="1" hangingPunct="1"/>
            <a:r>
              <a:rPr lang="en-US" dirty="0"/>
              <a:t>David keeps $400</a:t>
            </a:r>
          </a:p>
          <a:p>
            <a:pPr lvl="2" eaLnBrk="1" hangingPunct="1"/>
            <a:r>
              <a:rPr lang="en-US" dirty="0"/>
              <a:t>The $300 benefit he would get from staying 3 days PLUS $100 pure surplus</a:t>
            </a:r>
          </a:p>
          <a:p>
            <a:pPr eaLnBrk="1" hangingPunct="1"/>
            <a:r>
              <a:rPr lang="en-US" dirty="0"/>
              <a:t>Total surplus increases $300</a:t>
            </a:r>
          </a:p>
        </p:txBody>
      </p:sp>
      <p:sp>
        <p:nvSpPr>
          <p:cNvPr id="53" name="Rectangle 52"/>
          <p:cNvSpPr/>
          <p:nvPr/>
        </p:nvSpPr>
        <p:spPr bwMode="auto">
          <a:xfrm>
            <a:off x="4818327" y="1939646"/>
            <a:ext cx="3999464" cy="28159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4876364" y="2000250"/>
            <a:ext cx="3884613" cy="269557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487" name="Text Box 8"/>
          <p:cNvSpPr txBox="1">
            <a:spLocks noChangeArrowheads="1"/>
          </p:cNvSpPr>
          <p:nvPr/>
        </p:nvSpPr>
        <p:spPr bwMode="auto">
          <a:xfrm>
            <a:off x="5598677" y="4254500"/>
            <a:ext cx="2987675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Length of hospital stay (days)</a:t>
            </a:r>
          </a:p>
        </p:txBody>
      </p:sp>
      <p:sp>
        <p:nvSpPr>
          <p:cNvPr id="20488" name="Line 7"/>
          <p:cNvSpPr>
            <a:spLocks noChangeShapeType="1"/>
          </p:cNvSpPr>
          <p:nvPr/>
        </p:nvSpPr>
        <p:spPr bwMode="auto">
          <a:xfrm>
            <a:off x="5854264" y="4002088"/>
            <a:ext cx="2444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89" name="Text Box 9"/>
          <p:cNvSpPr txBox="1">
            <a:spLocks noChangeArrowheads="1"/>
          </p:cNvSpPr>
          <p:nvPr/>
        </p:nvSpPr>
        <p:spPr bwMode="auto">
          <a:xfrm rot="-5400000">
            <a:off x="4406464" y="2911475"/>
            <a:ext cx="16002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Price ($/day)</a:t>
            </a:r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>
            <a:off x="5859027" y="2130425"/>
            <a:ext cx="0" cy="18716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9" name="Line 6"/>
          <p:cNvSpPr>
            <a:spLocks noChangeShapeType="1"/>
          </p:cNvSpPr>
          <p:nvPr/>
        </p:nvSpPr>
        <p:spPr bwMode="auto">
          <a:xfrm>
            <a:off x="6217802" y="2162175"/>
            <a:ext cx="1884362" cy="1831975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492" name="Text Box 11"/>
          <p:cNvSpPr txBox="1">
            <a:spLocks noChangeArrowheads="1"/>
          </p:cNvSpPr>
          <p:nvPr/>
        </p:nvSpPr>
        <p:spPr bwMode="auto">
          <a:xfrm>
            <a:off x="7894202" y="3578225"/>
            <a:ext cx="27146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/>
              <a:t>D</a:t>
            </a:r>
          </a:p>
        </p:txBody>
      </p:sp>
      <p:sp>
        <p:nvSpPr>
          <p:cNvPr id="20493" name="Text Box 12"/>
          <p:cNvSpPr txBox="1">
            <a:spLocks noChangeArrowheads="1"/>
          </p:cNvSpPr>
          <p:nvPr/>
        </p:nvSpPr>
        <p:spPr bwMode="auto">
          <a:xfrm>
            <a:off x="6563877" y="4014788"/>
            <a:ext cx="188912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1</a:t>
            </a:r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7894202" y="4014788"/>
            <a:ext cx="271462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3</a:t>
            </a:r>
          </a:p>
        </p:txBody>
      </p:sp>
      <p:grpSp>
        <p:nvGrpSpPr>
          <p:cNvPr id="63" name="Group 62"/>
          <p:cNvGrpSpPr>
            <a:grpSpLocks/>
          </p:cNvGrpSpPr>
          <p:nvPr/>
        </p:nvGrpSpPr>
        <p:grpSpPr bwMode="auto">
          <a:xfrm>
            <a:off x="5271652" y="2411413"/>
            <a:ext cx="1379537" cy="1581150"/>
            <a:chOff x="5292442" y="2119746"/>
            <a:chExt cx="1378047" cy="1581614"/>
          </a:xfrm>
        </p:grpSpPr>
        <p:sp>
          <p:nvSpPr>
            <p:cNvPr id="20496" name="Line 4"/>
            <p:cNvSpPr>
              <a:spLocks noChangeShapeType="1"/>
            </p:cNvSpPr>
            <p:nvPr/>
          </p:nvSpPr>
          <p:spPr bwMode="auto">
            <a:xfrm>
              <a:off x="5878072" y="2294681"/>
              <a:ext cx="7695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Text Box 13"/>
            <p:cNvSpPr txBox="1">
              <a:spLocks noChangeArrowheads="1"/>
            </p:cNvSpPr>
            <p:nvPr/>
          </p:nvSpPr>
          <p:spPr bwMode="auto">
            <a:xfrm>
              <a:off x="5292442" y="2119746"/>
              <a:ext cx="58725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/>
                <a:t>300</a:t>
              </a:r>
            </a:p>
          </p:txBody>
        </p:sp>
        <p:sp>
          <p:nvSpPr>
            <p:cNvPr id="20498" name="Line 16"/>
            <p:cNvSpPr>
              <a:spLocks noChangeShapeType="1"/>
            </p:cNvSpPr>
            <p:nvPr/>
          </p:nvSpPr>
          <p:spPr bwMode="auto">
            <a:xfrm rot="-5400000">
              <a:off x="5973703" y="3004574"/>
              <a:ext cx="13935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Insurance, Demand, and Waste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418253"/>
            <a:ext cx="7924800" cy="5066523"/>
          </a:xfrm>
        </p:spPr>
        <p:txBody>
          <a:bodyPr/>
          <a:lstStyle/>
          <a:p>
            <a:pPr eaLnBrk="1" hangingPunct="1"/>
            <a:r>
              <a:rPr lang="en-US" dirty="0"/>
              <a:t>Amount of waste from full insurance depends on the price elasticity of demand for medical services</a:t>
            </a:r>
          </a:p>
          <a:p>
            <a:pPr eaLnBrk="1" hangingPunct="1"/>
            <a:r>
              <a:rPr lang="en-US" dirty="0"/>
              <a:t>Research compared patients with first dollar coverage to those with $1,000 deductibles</a:t>
            </a:r>
          </a:p>
          <a:p>
            <a:pPr lvl="1" eaLnBrk="1" hangingPunct="1"/>
            <a:r>
              <a:rPr lang="en-US" b="1" dirty="0"/>
              <a:t>First-dollar coverage</a:t>
            </a:r>
            <a:r>
              <a:rPr lang="en-US" dirty="0"/>
              <a:t> pays all expenses for the insured's health care</a:t>
            </a:r>
          </a:p>
          <a:p>
            <a:pPr lvl="1" eaLnBrk="1" hangingPunct="1"/>
            <a:r>
              <a:rPr lang="en-US" b="1" dirty="0"/>
              <a:t>$1,000 deductible </a:t>
            </a:r>
            <a:r>
              <a:rPr lang="en-US" dirty="0"/>
              <a:t>pays all expenses after the patient has paid $1,000</a:t>
            </a:r>
          </a:p>
          <a:p>
            <a:pPr lvl="1" eaLnBrk="1" hangingPunct="1"/>
            <a:r>
              <a:rPr lang="en-US" dirty="0"/>
              <a:t>Deductible patients spent 40 – 50% less on health care and had the same health outcomes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226141"/>
            <a:ext cx="8229600" cy="1143000"/>
          </a:xfrm>
        </p:spPr>
        <p:txBody>
          <a:bodyPr/>
          <a:lstStyle/>
          <a:p>
            <a:pPr lvl="2" eaLnBrk="1" hangingPunct="1">
              <a:defRPr/>
            </a:pPr>
            <a:r>
              <a:rPr lang="en-US" dirty="0">
                <a:latin typeface="+mj-lt"/>
              </a:rPr>
              <a:t>Policy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317" y="1753970"/>
            <a:ext cx="8290035" cy="4525962"/>
          </a:xfrm>
        </p:spPr>
        <p:txBody>
          <a:bodyPr/>
          <a:lstStyle/>
          <a:p>
            <a:pPr eaLnBrk="1" hangingPunct="1"/>
            <a:r>
              <a:rPr lang="en-US" dirty="0"/>
              <a:t>Research shows that when individuals pay for their health care, they consume less</a:t>
            </a:r>
          </a:p>
          <a:p>
            <a:pPr eaLnBrk="1" hangingPunct="1"/>
            <a:r>
              <a:rPr lang="en-US" dirty="0"/>
              <a:t>A more efficient system can be designed</a:t>
            </a:r>
          </a:p>
          <a:p>
            <a:pPr lvl="1" eaLnBrk="1" hangingPunct="1"/>
            <a:r>
              <a:rPr lang="en-US" dirty="0"/>
              <a:t>Adopt a system of high deductible health insurance</a:t>
            </a:r>
          </a:p>
          <a:p>
            <a:pPr lvl="1" eaLnBrk="1" hangingPunct="1"/>
            <a:r>
              <a:rPr lang="en-US" dirty="0"/>
              <a:t>Use stipend payments for the poor</a:t>
            </a:r>
          </a:p>
          <a:p>
            <a:pPr eaLnBrk="1" hangingPunct="1"/>
            <a:r>
              <a:rPr lang="en-US" dirty="0"/>
              <a:t>An efficient policy will increase the size of the health care pie</a:t>
            </a:r>
          </a:p>
          <a:p>
            <a:pPr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733098" y="367864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Health Care and Asymmetric Information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>
          <a:xfrm>
            <a:off x="793102" y="1701526"/>
            <a:ext cx="8220269" cy="4969862"/>
          </a:xfrm>
        </p:spPr>
        <p:txBody>
          <a:bodyPr/>
          <a:lstStyle/>
          <a:p>
            <a:pPr eaLnBrk="1" hangingPunct="1"/>
            <a:r>
              <a:rPr lang="en-US" dirty="0"/>
              <a:t>Doctors have more information than the patients and tend to recommend additional prescriptions and tests to patients to earn more</a:t>
            </a:r>
          </a:p>
          <a:p>
            <a:pPr eaLnBrk="1" hangingPunct="1"/>
            <a:r>
              <a:rPr lang="en-US" dirty="0"/>
              <a:t>Physicians that provides health services for a fixed annual fee</a:t>
            </a:r>
          </a:p>
          <a:p>
            <a:pPr lvl="1" eaLnBrk="1" hangingPunct="1"/>
            <a:r>
              <a:rPr lang="en-US" dirty="0"/>
              <a:t>Reduced incentives to prescribe expensive tests</a:t>
            </a:r>
          </a:p>
          <a:p>
            <a:pPr lvl="1" eaLnBrk="1" hangingPunct="1"/>
            <a:r>
              <a:rPr lang="en-US" dirty="0"/>
              <a:t>The doctor receives no additional fee for prescribing and interpreting tests</a:t>
            </a:r>
          </a:p>
          <a:p>
            <a:pPr eaLnBrk="1" hangingPunct="1"/>
            <a:r>
              <a:rPr lang="en-US" dirty="0"/>
              <a:t>Diagnoses and treatment may be the same between the two but the but the latter costs less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709127" y="214603"/>
            <a:ext cx="8229600" cy="919065"/>
          </a:xfrm>
        </p:spPr>
        <p:txBody>
          <a:bodyPr/>
          <a:lstStyle/>
          <a:p>
            <a:pPr eaLnBrk="1" hangingPunct="1"/>
            <a:r>
              <a:rPr lang="en-US" sz="4000" dirty="0"/>
              <a:t>Health Insurance and Adverse Selection 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867747" y="1129004"/>
            <a:ext cx="8181657" cy="5413084"/>
          </a:xfrm>
        </p:spPr>
        <p:txBody>
          <a:bodyPr/>
          <a:lstStyle/>
          <a:p>
            <a:pPr marL="0" indent="342900" eaLnBrk="1" hangingPunct="1"/>
            <a:r>
              <a:rPr lang="en-US" dirty="0"/>
              <a:t>Unregulated private insurance markets affected</a:t>
            </a:r>
          </a:p>
          <a:p>
            <a:pPr marL="0" indent="342900" eaLnBrk="1" hangingPunct="1">
              <a:buNone/>
            </a:pPr>
            <a:r>
              <a:rPr lang="en-US" dirty="0"/>
              <a:t>by adverse selection</a:t>
            </a:r>
          </a:p>
          <a:p>
            <a:pPr eaLnBrk="1" hangingPunct="1">
              <a:defRPr/>
            </a:pPr>
            <a:r>
              <a:rPr lang="en-US" sz="2600" dirty="0"/>
              <a:t>Insurance tends to be purchased disproportionally by those who are most costly for companies to insure</a:t>
            </a:r>
          </a:p>
          <a:p>
            <a:pPr marL="742950" lvl="2" indent="-342900" eaLnBrk="1" hangingPunct="1">
              <a:defRPr/>
            </a:pPr>
            <a:r>
              <a:rPr lang="en-US" sz="2400" dirty="0"/>
              <a:t>As a result insurance premiums are raised and a downward spiral ensues resulting in unaffordable health care</a:t>
            </a:r>
          </a:p>
          <a:p>
            <a:pPr eaLnBrk="1" hangingPunct="1"/>
            <a:r>
              <a:rPr lang="en-US" sz="2700" dirty="0"/>
              <a:t>Private insurance companies are reluctant to issue individual policies to people with serious health problems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Health Insurance Market</a:t>
            </a:r>
          </a:p>
        </p:txBody>
      </p:sp>
      <p:sp>
        <p:nvSpPr>
          <p:cNvPr id="27650" name="Content Placeholder 6"/>
          <p:cNvSpPr>
            <a:spLocks noGrp="1"/>
          </p:cNvSpPr>
          <p:nvPr>
            <p:ph idx="1"/>
          </p:nvPr>
        </p:nvSpPr>
        <p:spPr>
          <a:xfrm>
            <a:off x="634482" y="1451850"/>
            <a:ext cx="8322906" cy="5284851"/>
          </a:xfrm>
        </p:spPr>
        <p:txBody>
          <a:bodyPr/>
          <a:lstStyle/>
          <a:p>
            <a:pPr eaLnBrk="1" hangingPunct="1"/>
            <a:r>
              <a:rPr lang="en-US" dirty="0"/>
              <a:t>Employer-provided insurance market is lucrative without as much risk.</a:t>
            </a:r>
          </a:p>
          <a:p>
            <a:pPr eaLnBrk="1" hangingPunct="1"/>
            <a:r>
              <a:rPr lang="en-US" dirty="0"/>
              <a:t>Employer-provided insurance is cheaper for employees than private insurance and overcome the adverse selection problem</a:t>
            </a:r>
          </a:p>
          <a:p>
            <a:pPr eaLnBrk="1" hangingPunct="1"/>
            <a:r>
              <a:rPr lang="en-US" dirty="0"/>
              <a:t>Three main provisions for national health insurance</a:t>
            </a:r>
          </a:p>
          <a:p>
            <a:pPr lvl="1" eaLnBrk="1" hangingPunct="1"/>
            <a:r>
              <a:rPr lang="en-US" dirty="0"/>
              <a:t>Nondiscrimination to preexisting conditions</a:t>
            </a:r>
          </a:p>
          <a:p>
            <a:pPr lvl="1" eaLnBrk="1" hangingPunct="1"/>
            <a:r>
              <a:rPr lang="en-US" dirty="0"/>
              <a:t>Include all individuals </a:t>
            </a:r>
          </a:p>
          <a:p>
            <a:pPr lvl="1" eaLnBrk="1" hangingPunct="1"/>
            <a:r>
              <a:rPr lang="en-US" dirty="0"/>
              <a:t>Subsidies to low-income families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Price Incentives and the Environment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722438"/>
            <a:ext cx="7924800" cy="4958280"/>
          </a:xfrm>
        </p:spPr>
        <p:txBody>
          <a:bodyPr/>
          <a:lstStyle/>
          <a:p>
            <a:pPr eaLnBrk="1" hangingPunct="1"/>
            <a:r>
              <a:rPr lang="en-US" dirty="0"/>
              <a:t>Goods with negative externalities tend to be overproduced</a:t>
            </a:r>
          </a:p>
          <a:p>
            <a:pPr eaLnBrk="1" hangingPunct="1"/>
            <a:r>
              <a:rPr lang="en-US" dirty="0"/>
              <a:t>Social objective is to reduce pollution from its unregulated level</a:t>
            </a:r>
          </a:p>
          <a:p>
            <a:pPr lvl="1" eaLnBrk="1" hangingPunct="1"/>
            <a:r>
              <a:rPr lang="en-US" dirty="0"/>
              <a:t>The most efficient solution is one where the marginal cost of pollution abatement is the same for all polluters</a:t>
            </a:r>
          </a:p>
          <a:p>
            <a:pPr lvl="2" eaLnBrk="1" hangingPunct="1"/>
            <a:r>
              <a:rPr lang="en-US" dirty="0"/>
              <a:t>Cost data are not available to government</a:t>
            </a:r>
          </a:p>
          <a:p>
            <a:pPr lvl="1" eaLnBrk="1" hangingPunct="1"/>
            <a:r>
              <a:rPr lang="en-US" dirty="0"/>
              <a:t>One solution is to have all reduce pollution by the same proportion</a:t>
            </a:r>
          </a:p>
          <a:p>
            <a:pPr lvl="2" eaLnBrk="1" hangingPunct="1"/>
            <a:r>
              <a:rPr lang="en-US" dirty="0"/>
              <a:t>Uneven distribution of costs</a:t>
            </a:r>
            <a:r>
              <a:rPr lang="en-US" dirty="0">
                <a:sym typeface="Symbol"/>
              </a:rPr>
              <a:t> Inefficient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712788" y="12700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Reduce Pollution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idx="1"/>
          </p:nvPr>
        </p:nvSpPr>
        <p:spPr>
          <a:xfrm>
            <a:off x="865188" y="1436688"/>
            <a:ext cx="8101530" cy="5206708"/>
          </a:xfrm>
        </p:spPr>
        <p:txBody>
          <a:bodyPr/>
          <a:lstStyle/>
          <a:p>
            <a:pPr eaLnBrk="1" hangingPunct="1"/>
            <a:r>
              <a:rPr lang="en-US" dirty="0"/>
              <a:t>Objective: Reduce pollution by half</a:t>
            </a:r>
          </a:p>
          <a:p>
            <a:pPr eaLnBrk="1" hangingPunct="1"/>
            <a:r>
              <a:rPr lang="en-US" dirty="0"/>
              <a:t>One policy option is to tax pollution</a:t>
            </a:r>
          </a:p>
          <a:p>
            <a:pPr lvl="1" eaLnBrk="1" hangingPunct="1"/>
            <a:r>
              <a:rPr lang="en-US" dirty="0"/>
              <a:t>Businesses decide how much pollution to produce</a:t>
            </a:r>
          </a:p>
          <a:p>
            <a:pPr eaLnBrk="1" hangingPunct="1"/>
            <a:r>
              <a:rPr lang="en-US" dirty="0"/>
              <a:t>2 firms, 5 production processes each</a:t>
            </a:r>
          </a:p>
          <a:p>
            <a:pPr lvl="1" eaLnBrk="1" hangingPunct="1"/>
            <a:r>
              <a:rPr lang="en-US" dirty="0"/>
              <a:t>Production differs by cost and amount of pollution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76552" y="4440043"/>
          <a:ext cx="7633854" cy="19202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45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9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9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Process (smoke)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br>
                        <a:rPr lang="en-US" dirty="0"/>
                      </a:br>
                      <a:r>
                        <a:rPr lang="en-US" dirty="0"/>
                        <a:t> (4 T/day)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  <a:p>
                      <a:pPr algn="ctr"/>
                      <a:r>
                        <a:rPr lang="en-US" dirty="0"/>
                        <a:t>(3 T / 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br>
                        <a:rPr lang="en-US" dirty="0"/>
                      </a:br>
                      <a:r>
                        <a:rPr lang="en-US" dirty="0"/>
                        <a:t>(2 T/day)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br>
                        <a:rPr lang="en-US" dirty="0"/>
                      </a:br>
                      <a:r>
                        <a:rPr lang="en-US" dirty="0"/>
                        <a:t>(1 T/day)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  <a:p>
                      <a:pPr algn="ctr"/>
                      <a:r>
                        <a:rPr lang="en-US" dirty="0"/>
                        <a:t>(0 T/day)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Sludge Oil ($/day)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$1,300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NW Lumber ($/day)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317200" y="3978533"/>
            <a:ext cx="5226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u="sng" dirty="0"/>
              <a:t>Cost of Production and Amount of Smoke Emitted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062265" y="6389590"/>
            <a:ext cx="581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 dirty="0"/>
              <a:t>T = ton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Price Incentives and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110" y="1722438"/>
            <a:ext cx="8220270" cy="4525962"/>
          </a:xfrm>
        </p:spPr>
        <p:txBody>
          <a:bodyPr/>
          <a:lstStyle/>
          <a:p>
            <a:pPr eaLnBrk="1" hangingPunct="1"/>
            <a:r>
              <a:rPr lang="en-US" dirty="0"/>
              <a:t>If there are no regulations, each firm produces at its lowest cost, production method A</a:t>
            </a:r>
          </a:p>
          <a:p>
            <a:pPr lvl="1" eaLnBrk="1" hangingPunct="1"/>
            <a:r>
              <a:rPr lang="en-US" dirty="0"/>
              <a:t>Each firm produces 4 tons of smoke per day</a:t>
            </a:r>
          </a:p>
          <a:p>
            <a:pPr eaLnBrk="1" hangingPunct="1"/>
            <a:r>
              <a:rPr lang="en-US" dirty="0"/>
              <a:t>Government wants to cut pollution by half</a:t>
            </a:r>
          </a:p>
          <a:p>
            <a:pPr lvl="1" eaLnBrk="1" hangingPunct="1"/>
            <a:r>
              <a:rPr lang="en-US" dirty="0"/>
              <a:t>Option 1:  Set maximum pollution limits</a:t>
            </a:r>
          </a:p>
          <a:p>
            <a:pPr lvl="1" eaLnBrk="1" hangingPunct="1"/>
            <a:r>
              <a:rPr lang="en-US" dirty="0"/>
              <a:t>Option 2:  Tax smoke at a rate of $T per ton</a:t>
            </a:r>
          </a:p>
          <a:p>
            <a:pPr lvl="2" eaLnBrk="1" hangingPunct="1"/>
            <a:r>
              <a:rPr lang="en-US" dirty="0"/>
              <a:t>Determine T to reduce pollution by half</a:t>
            </a:r>
          </a:p>
          <a:p>
            <a:pPr eaLnBrk="1" hangingPunct="1"/>
            <a:r>
              <a:rPr lang="en-US" dirty="0"/>
              <a:t>Each option has additional costs to society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629814" y="304800"/>
            <a:ext cx="8458200" cy="1143000"/>
          </a:xfrm>
        </p:spPr>
        <p:txBody>
          <a:bodyPr/>
          <a:lstStyle/>
          <a:p>
            <a:pPr eaLnBrk="1" hangingPunct="1"/>
            <a:r>
              <a:rPr lang="en-US" dirty="0"/>
              <a:t>Reducing Pollution by 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2438"/>
            <a:ext cx="7924800" cy="4525962"/>
          </a:xfrm>
        </p:spPr>
        <p:txBody>
          <a:bodyPr/>
          <a:lstStyle/>
          <a:p>
            <a:pPr eaLnBrk="1" hangingPunct="1"/>
            <a:r>
              <a:rPr lang="en-US" dirty="0"/>
              <a:t>Each firm moves to production process C</a:t>
            </a:r>
          </a:p>
          <a:p>
            <a:pPr lvl="1" eaLnBrk="1" hangingPunct="1"/>
            <a:r>
              <a:rPr lang="en-US" dirty="0"/>
              <a:t>Costs increase $500/day for Sludge and $80/day for NW Lumber</a:t>
            </a:r>
          </a:p>
          <a:p>
            <a:pPr lvl="2" eaLnBrk="1" hangingPunct="1"/>
            <a:r>
              <a:rPr lang="en-US" dirty="0"/>
              <a:t>Additional cost to society of this plan is $580/day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11238" y="4311650"/>
          <a:ext cx="7634287" cy="1921510"/>
        </p:xfrm>
        <a:graphic>
          <a:graphicData uri="http://schemas.openxmlformats.org/drawingml/2006/table">
            <a:tbl>
              <a:tblPr/>
              <a:tblGrid>
                <a:gridCol w="145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Process (smoke)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 (4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(3 T / 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(2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D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(1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(0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Sludge Oil ($/day)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$100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$200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$600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$1,300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$2,300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NW Lumber ($/day)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$300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$320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$380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$480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$700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772" name="TextBox 4"/>
          <p:cNvSpPr txBox="1">
            <a:spLocks noChangeArrowheads="1"/>
          </p:cNvSpPr>
          <p:nvPr/>
        </p:nvSpPr>
        <p:spPr bwMode="auto">
          <a:xfrm>
            <a:off x="2197100" y="3684588"/>
            <a:ext cx="52625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u="sng"/>
              <a:t>Cost of Production and Amount of Smoke Emitted</a:t>
            </a:r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3532188" y="5238750"/>
            <a:ext cx="1787525" cy="663575"/>
            <a:chOff x="3560619" y="5247409"/>
            <a:chExt cx="1787236" cy="663142"/>
          </a:xfrm>
        </p:grpSpPr>
        <p:cxnSp>
          <p:nvCxnSpPr>
            <p:cNvPr id="31774" name="Straight Arrow Connector 6"/>
            <p:cNvCxnSpPr>
              <a:cxnSpLocks noChangeShapeType="1"/>
            </p:cNvCxnSpPr>
            <p:nvPr/>
          </p:nvCxnSpPr>
          <p:spPr bwMode="auto">
            <a:xfrm>
              <a:off x="3560619" y="5247409"/>
              <a:ext cx="498763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1775" name="Straight Arrow Connector 7"/>
            <p:cNvCxnSpPr>
              <a:cxnSpLocks noChangeShapeType="1"/>
            </p:cNvCxnSpPr>
            <p:nvPr/>
          </p:nvCxnSpPr>
          <p:spPr bwMode="auto">
            <a:xfrm>
              <a:off x="3560619" y="5908963"/>
              <a:ext cx="498763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1776" name="Straight Arrow Connector 8"/>
            <p:cNvCxnSpPr>
              <a:cxnSpLocks noChangeShapeType="1"/>
            </p:cNvCxnSpPr>
            <p:nvPr/>
          </p:nvCxnSpPr>
          <p:spPr bwMode="auto">
            <a:xfrm>
              <a:off x="4849092" y="5908963"/>
              <a:ext cx="498763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1777" name="Straight Arrow Connector 9"/>
            <p:cNvCxnSpPr>
              <a:cxnSpLocks noChangeShapeType="1"/>
            </p:cNvCxnSpPr>
            <p:nvPr/>
          </p:nvCxnSpPr>
          <p:spPr bwMode="auto">
            <a:xfrm>
              <a:off x="4849092" y="5247409"/>
              <a:ext cx="498763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712788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Taxing Pollution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449" y="920750"/>
            <a:ext cx="8248261" cy="5741307"/>
          </a:xfrm>
        </p:spPr>
        <p:txBody>
          <a:bodyPr/>
          <a:lstStyle/>
          <a:p>
            <a:pPr eaLnBrk="1" hangingPunct="1"/>
            <a:r>
              <a:rPr lang="en-US" dirty="0"/>
              <a:t>If tax is $T per ton, the firms will reduce pollution as long as the cost of reductions is less than $T</a:t>
            </a:r>
          </a:p>
          <a:p>
            <a:pPr eaLnBrk="1" hangingPunct="1"/>
            <a:r>
              <a:rPr lang="en-US" dirty="0"/>
              <a:t>A tax of $101 moves Sludge to B and NW Lumber to D</a:t>
            </a:r>
          </a:p>
          <a:p>
            <a:pPr eaLnBrk="1" hangingPunct="1"/>
            <a:r>
              <a:rPr lang="en-US" dirty="0"/>
              <a:t>Total cost is $100 for Sludge + $180 for NW = $280/day</a:t>
            </a:r>
          </a:p>
          <a:p>
            <a:pPr lvl="1" eaLnBrk="1" hangingPunct="1"/>
            <a:r>
              <a:rPr lang="en-US" dirty="0"/>
              <a:t>Net savings of $300/day over regulation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18625" y="4265419"/>
          <a:ext cx="7634287" cy="1921510"/>
        </p:xfrm>
        <a:graphic>
          <a:graphicData uri="http://schemas.openxmlformats.org/drawingml/2006/table">
            <a:tbl>
              <a:tblPr/>
              <a:tblGrid>
                <a:gridCol w="1455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2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Process (smoke)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 (4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(3 T / 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(2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D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(1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(0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Sludge Oil ($/day)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$100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$200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$600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$1,300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$2,300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NW Lumber ($/day)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$300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$320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$380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$480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$700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3459163" y="5329238"/>
            <a:ext cx="3048000" cy="631825"/>
            <a:chOff x="3560619" y="5278582"/>
            <a:chExt cx="3048000" cy="631969"/>
          </a:xfrm>
        </p:grpSpPr>
        <p:cxnSp>
          <p:nvCxnSpPr>
            <p:cNvPr id="32797" name="Straight Arrow Connector 6"/>
            <p:cNvCxnSpPr>
              <a:cxnSpLocks noChangeShapeType="1"/>
            </p:cNvCxnSpPr>
            <p:nvPr/>
          </p:nvCxnSpPr>
          <p:spPr bwMode="auto">
            <a:xfrm>
              <a:off x="3560619" y="5278582"/>
              <a:ext cx="498763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8" name="Straight Arrow Connector 9"/>
            <p:cNvCxnSpPr>
              <a:cxnSpLocks noChangeShapeType="1"/>
            </p:cNvCxnSpPr>
            <p:nvPr/>
          </p:nvCxnSpPr>
          <p:spPr bwMode="auto">
            <a:xfrm>
              <a:off x="3560619" y="5908963"/>
              <a:ext cx="498763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9" name="Straight Arrow Connector 10"/>
            <p:cNvCxnSpPr>
              <a:cxnSpLocks noChangeShapeType="1"/>
            </p:cNvCxnSpPr>
            <p:nvPr/>
          </p:nvCxnSpPr>
          <p:spPr bwMode="auto">
            <a:xfrm>
              <a:off x="4835237" y="5908963"/>
              <a:ext cx="498763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800" name="Straight Arrow Connector 11"/>
            <p:cNvCxnSpPr>
              <a:cxnSpLocks noChangeShapeType="1"/>
            </p:cNvCxnSpPr>
            <p:nvPr/>
          </p:nvCxnSpPr>
          <p:spPr bwMode="auto">
            <a:xfrm>
              <a:off x="6109856" y="5908963"/>
              <a:ext cx="498763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779245" y="383801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Taxing Pollution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idx="1"/>
          </p:nvPr>
        </p:nvSpPr>
        <p:spPr>
          <a:xfrm>
            <a:off x="746449" y="1783976"/>
            <a:ext cx="8295733" cy="4572000"/>
          </a:xfrm>
        </p:spPr>
        <p:txBody>
          <a:bodyPr/>
          <a:lstStyle/>
          <a:p>
            <a:pPr eaLnBrk="1" hangingPunct="1"/>
            <a:r>
              <a:rPr lang="en-US" dirty="0"/>
              <a:t>Taxing pollution concentrates pollution reduction in firms that can accomplish it at the least cost</a:t>
            </a:r>
          </a:p>
          <a:p>
            <a:pPr lvl="1" eaLnBrk="1" hangingPunct="1"/>
            <a:r>
              <a:rPr lang="en-US" i="1" dirty="0"/>
              <a:t>Cost – Benefit Principle</a:t>
            </a:r>
          </a:p>
          <a:p>
            <a:pPr lvl="1" eaLnBrk="1" hangingPunct="1"/>
            <a:r>
              <a:rPr lang="en-US" dirty="0"/>
              <a:t>Cost of the last ton of smoke removed is the same for all firms</a:t>
            </a:r>
          </a:p>
          <a:p>
            <a:pPr eaLnBrk="1" hangingPunct="1"/>
            <a:r>
              <a:rPr lang="en-US" dirty="0"/>
              <a:t>Difficult to determine the optimal tax rate</a:t>
            </a:r>
          </a:p>
          <a:p>
            <a:pPr lvl="1" eaLnBrk="1" hangingPunct="1"/>
            <a:r>
              <a:rPr lang="en-US" dirty="0"/>
              <a:t>Set the tax too low and you get too little reduction</a:t>
            </a:r>
          </a:p>
          <a:p>
            <a:pPr lvl="1" eaLnBrk="1" hangingPunct="1"/>
            <a:r>
              <a:rPr lang="en-US" dirty="0"/>
              <a:t>Set the tax too high and you get too much reduction</a:t>
            </a:r>
          </a:p>
          <a:p>
            <a:pPr eaLnBrk="1" hangingPunct="1"/>
            <a:r>
              <a:rPr lang="en-US" dirty="0"/>
              <a:t>Optimal is when Marginal cost equals marginal benefit to society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Auctioning Pollution Permits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xfrm>
            <a:off x="885498" y="1436913"/>
            <a:ext cx="7924800" cy="5290457"/>
          </a:xfrm>
        </p:spPr>
        <p:txBody>
          <a:bodyPr/>
          <a:lstStyle/>
          <a:p>
            <a:pPr eaLnBrk="1" hangingPunct="1"/>
            <a:r>
              <a:rPr lang="en-US" dirty="0"/>
              <a:t>Set a target level for total pollution allowed</a:t>
            </a:r>
          </a:p>
          <a:p>
            <a:pPr lvl="1" eaLnBrk="1" hangingPunct="1"/>
            <a:r>
              <a:rPr lang="en-US" dirty="0"/>
              <a:t>Auction 4 permits to allow 4 tons/day</a:t>
            </a:r>
          </a:p>
          <a:p>
            <a:pPr eaLnBrk="1" hangingPunct="1"/>
            <a:r>
              <a:rPr lang="en-US" dirty="0"/>
              <a:t>Determine price of a permit, who buys them, and the total cost of pollution reductions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338503"/>
              </p:ext>
            </p:extLst>
          </p:nvPr>
        </p:nvGraphicFramePr>
        <p:xfrm>
          <a:off x="937497" y="4172145"/>
          <a:ext cx="7634287" cy="1921510"/>
        </p:xfrm>
        <a:graphic>
          <a:graphicData uri="http://schemas.openxmlformats.org/drawingml/2006/table">
            <a:tbl>
              <a:tblPr/>
              <a:tblGrid>
                <a:gridCol w="145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Process (smoke)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 (4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(3 T / 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</a:t>
                      </a:r>
                      <a:b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(2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D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(1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(0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Sludge Oil ($/day)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$100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$200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$600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$1,300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$2,300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NW Lumber ($/day)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$300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$320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$380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$480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$700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868" name="TextBox 6"/>
          <p:cNvSpPr txBox="1">
            <a:spLocks noChangeArrowheads="1"/>
          </p:cNvSpPr>
          <p:nvPr/>
        </p:nvSpPr>
        <p:spPr bwMode="auto">
          <a:xfrm>
            <a:off x="2151092" y="3561184"/>
            <a:ext cx="5262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u="sng" dirty="0"/>
              <a:t>Cost of Production and Amount of Smoke Emitted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Auctioning Pollution Permits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135287"/>
              </p:ext>
            </p:extLst>
          </p:nvPr>
        </p:nvGraphicFramePr>
        <p:xfrm>
          <a:off x="1058536" y="1951038"/>
          <a:ext cx="7633854" cy="19202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454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9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99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268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Process (smoke)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br>
                        <a:rPr lang="en-US" dirty="0"/>
                      </a:br>
                      <a:r>
                        <a:rPr lang="en-US" dirty="0"/>
                        <a:t> (4 T/day)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  <a:p>
                      <a:pPr algn="ctr"/>
                      <a:r>
                        <a:rPr lang="en-US" dirty="0"/>
                        <a:t>(3 T / 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br>
                        <a:rPr lang="en-US" dirty="0"/>
                      </a:br>
                      <a:r>
                        <a:rPr lang="en-US" dirty="0"/>
                        <a:t>(2 T/day)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br>
                        <a:rPr lang="en-US" dirty="0"/>
                      </a:br>
                      <a:r>
                        <a:rPr lang="en-US" dirty="0"/>
                        <a:t>(1 T/day)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  <a:p>
                      <a:pPr algn="ctr"/>
                      <a:r>
                        <a:rPr lang="en-US" dirty="0"/>
                        <a:t>(0 T/day)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68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Sludge Oil ($/day)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$1,300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68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NW Lumber ($/day)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891" name="TextBox 6"/>
          <p:cNvSpPr txBox="1">
            <a:spLocks noChangeArrowheads="1"/>
          </p:cNvSpPr>
          <p:nvPr/>
        </p:nvSpPr>
        <p:spPr bwMode="auto">
          <a:xfrm>
            <a:off x="2261861" y="1373188"/>
            <a:ext cx="5226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u="sng"/>
              <a:t>Cost of Production and Amount of Smoke Emitted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73721"/>
              </p:ext>
            </p:extLst>
          </p:nvPr>
        </p:nvGraphicFramePr>
        <p:xfrm>
          <a:off x="975986" y="4638675"/>
          <a:ext cx="7703126" cy="16510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728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3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6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55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# permits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Sludge Oil ($/day)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NW Lumber ($/day)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698548" y="4087813"/>
            <a:ext cx="21336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u="sng"/>
              <a:t>Benefit of Permits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2"/>
          <p:cNvSpPr>
            <a:spLocks noGrp="1"/>
          </p:cNvSpPr>
          <p:nvPr>
            <p:ph type="title"/>
          </p:nvPr>
        </p:nvSpPr>
        <p:spPr>
          <a:xfrm>
            <a:off x="748864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Auctioning Pollution Permits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74441" y="1362269"/>
            <a:ext cx="8229599" cy="4886131"/>
          </a:xfrm>
        </p:spPr>
        <p:txBody>
          <a:bodyPr/>
          <a:lstStyle/>
          <a:p>
            <a:pPr eaLnBrk="1" hangingPunct="1"/>
            <a:r>
              <a:rPr lang="en-US" dirty="0"/>
              <a:t>At a price of $90, 6 permits are demanded</a:t>
            </a:r>
          </a:p>
          <a:p>
            <a:pPr lvl="1" eaLnBrk="1" hangingPunct="1"/>
            <a:r>
              <a:rPr lang="en-US" dirty="0"/>
              <a:t>4 for Sludge and 2 for NW Lumber</a:t>
            </a:r>
          </a:p>
          <a:p>
            <a:pPr eaLnBrk="1" hangingPunct="1"/>
            <a:r>
              <a:rPr lang="en-US" dirty="0"/>
              <a:t>At a price of $101, 4 permits are demanded</a:t>
            </a:r>
          </a:p>
          <a:p>
            <a:pPr lvl="1" eaLnBrk="1" hangingPunct="1"/>
            <a:r>
              <a:rPr lang="en-US" dirty="0"/>
              <a:t>3 for Sludge and 1 for NW Lumber</a:t>
            </a:r>
          </a:p>
          <a:p>
            <a:pPr eaLnBrk="1" hangingPunct="1"/>
            <a:r>
              <a:rPr lang="en-US" dirty="0"/>
              <a:t>Sludge uses process B and NW uses process 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723936"/>
              </p:ext>
            </p:extLst>
          </p:nvPr>
        </p:nvGraphicFramePr>
        <p:xfrm>
          <a:off x="1032799" y="4159024"/>
          <a:ext cx="7703126" cy="16510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728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3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61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55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# permits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Sludge Oil ($/day)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NW Lumber ($/day)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Advantages of the Auction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idx="1"/>
          </p:nvPr>
        </p:nvSpPr>
        <p:spPr>
          <a:xfrm>
            <a:off x="765110" y="1038225"/>
            <a:ext cx="8378890" cy="5689146"/>
          </a:xfrm>
        </p:spPr>
        <p:txBody>
          <a:bodyPr/>
          <a:lstStyle/>
          <a:p>
            <a:pPr eaLnBrk="1" hangingPunct="1"/>
            <a:r>
              <a:rPr lang="en-US" dirty="0"/>
              <a:t>Utilizes low cost pollution control</a:t>
            </a:r>
          </a:p>
          <a:p>
            <a:pPr lvl="1" eaLnBrk="1" hangingPunct="1"/>
            <a:r>
              <a:rPr lang="en-US" dirty="0"/>
              <a:t>Permit fees can offset other taxes</a:t>
            </a:r>
          </a:p>
          <a:p>
            <a:pPr lvl="1" eaLnBrk="1" hangingPunct="1"/>
            <a:r>
              <a:rPr lang="en-US" dirty="0"/>
              <a:t>Total cost same as with tax; administratively simple</a:t>
            </a:r>
          </a:p>
          <a:p>
            <a:pPr eaLnBrk="1" hangingPunct="1"/>
            <a:r>
              <a:rPr lang="en-US" dirty="0"/>
              <a:t>Predictable operating and investing environment</a:t>
            </a:r>
          </a:p>
          <a:p>
            <a:pPr eaLnBrk="1" hangingPunct="1"/>
            <a:r>
              <a:rPr lang="en-US" dirty="0"/>
              <a:t>Government can set target pollution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6634" y="4105858"/>
          <a:ext cx="7634287" cy="1921510"/>
        </p:xfrm>
        <a:graphic>
          <a:graphicData uri="http://schemas.openxmlformats.org/drawingml/2006/table">
            <a:tbl>
              <a:tblPr/>
              <a:tblGrid>
                <a:gridCol w="145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Process (smoke)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 (4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(3 T / 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(2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D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(1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(0 T/day)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Sludge Oil ($/day)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$100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$200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$600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$1,300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$2,300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NW Lumber ($/day)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$300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$320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$380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$480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$700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964" name="TextBox 6"/>
          <p:cNvSpPr txBox="1">
            <a:spLocks noChangeArrowheads="1"/>
          </p:cNvSpPr>
          <p:nvPr/>
        </p:nvSpPr>
        <p:spPr bwMode="auto">
          <a:xfrm>
            <a:off x="1906653" y="3578808"/>
            <a:ext cx="5226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u="sng" dirty="0"/>
              <a:t>Cost of Production and Amount of Smoke Emitted</a:t>
            </a:r>
          </a:p>
        </p:txBody>
      </p:sp>
      <p:cxnSp>
        <p:nvCxnSpPr>
          <p:cNvPr id="39965" name="Straight Arrow Connector 7"/>
          <p:cNvCxnSpPr>
            <a:cxnSpLocks noChangeShapeType="1"/>
          </p:cNvCxnSpPr>
          <p:nvPr/>
        </p:nvCxnSpPr>
        <p:spPr bwMode="auto">
          <a:xfrm>
            <a:off x="3322541" y="5083369"/>
            <a:ext cx="498475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966" name="Straight Arrow Connector 8"/>
          <p:cNvCxnSpPr>
            <a:cxnSpLocks noChangeShapeType="1"/>
          </p:cNvCxnSpPr>
          <p:nvPr/>
        </p:nvCxnSpPr>
        <p:spPr bwMode="auto">
          <a:xfrm>
            <a:off x="3387855" y="5694946"/>
            <a:ext cx="498475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967" name="Straight Arrow Connector 9"/>
          <p:cNvCxnSpPr>
            <a:cxnSpLocks noChangeShapeType="1"/>
          </p:cNvCxnSpPr>
          <p:nvPr/>
        </p:nvCxnSpPr>
        <p:spPr bwMode="auto">
          <a:xfrm>
            <a:off x="4615965" y="5685615"/>
            <a:ext cx="498475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968" name="Straight Arrow Connector 10"/>
          <p:cNvCxnSpPr>
            <a:cxnSpLocks noChangeShapeType="1"/>
          </p:cNvCxnSpPr>
          <p:nvPr/>
        </p:nvCxnSpPr>
        <p:spPr bwMode="auto">
          <a:xfrm>
            <a:off x="5872065" y="5713607"/>
            <a:ext cx="498475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arrow" w="med" len="med"/>
          </a:ln>
        </p:spPr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5"/>
          <p:cNvSpPr>
            <a:spLocks noGrp="1"/>
          </p:cNvSpPr>
          <p:nvPr>
            <p:ph type="title"/>
          </p:nvPr>
        </p:nvSpPr>
        <p:spPr>
          <a:xfrm>
            <a:off x="867747" y="367864"/>
            <a:ext cx="7875037" cy="1143000"/>
          </a:xfrm>
        </p:spPr>
        <p:txBody>
          <a:bodyPr/>
          <a:lstStyle/>
          <a:p>
            <a:pPr eaLnBrk="1" hangingPunct="1"/>
            <a:r>
              <a:rPr lang="en-US" dirty="0"/>
              <a:t>Climate and Carbon Taxes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98240" y="1427584"/>
            <a:ext cx="8305800" cy="5243804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Concerns about the consequences of climate change have led to proposals to tax or require permits for carbon emissions </a:t>
            </a:r>
          </a:p>
          <a:p>
            <a:pPr eaLnBrk="1" hangingPunct="1">
              <a:defRPr/>
            </a:pPr>
            <a:r>
              <a:rPr lang="en-US" dirty="0"/>
              <a:t>To reduce carbon emission, discourage use of cars by raising petrol tax.</a:t>
            </a:r>
          </a:p>
          <a:p>
            <a:pPr eaLnBrk="1" hangingPunct="1">
              <a:defRPr/>
            </a:pPr>
            <a:r>
              <a:rPr lang="en-US" dirty="0"/>
              <a:t>Petrol prices would go up </a:t>
            </a:r>
          </a:p>
          <a:p>
            <a:pPr lvl="1" eaLnBrk="1" hangingPunct="1">
              <a:defRPr/>
            </a:pPr>
            <a:r>
              <a:rPr lang="en-US" dirty="0"/>
              <a:t>Reaction to the higher petrol prices would result in: more fuel-efficient cars, people moving closer to work, car pooling, less distant vacation destinations</a:t>
            </a:r>
          </a:p>
          <a:p>
            <a:pPr lvl="1" eaLnBrk="1" hangingPunct="1">
              <a:defRPr/>
            </a:pPr>
            <a:r>
              <a:rPr lang="en-US" dirty="0"/>
              <a:t>Revenue from the tax could help pay down debt, reduce taxes, and provide funding to low-income families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Workplace Safety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idx="1"/>
          </p:nvPr>
        </p:nvSpPr>
        <p:spPr>
          <a:xfrm>
            <a:off x="885497" y="1371600"/>
            <a:ext cx="8127873" cy="5337110"/>
          </a:xfrm>
        </p:spPr>
        <p:txBody>
          <a:bodyPr/>
          <a:lstStyle/>
          <a:p>
            <a:pPr eaLnBrk="1" hangingPunct="1"/>
            <a:r>
              <a:rPr lang="en-US" dirty="0"/>
              <a:t>Safety has costs and benefits</a:t>
            </a:r>
          </a:p>
          <a:p>
            <a:pPr lvl="1" eaLnBrk="1" hangingPunct="1"/>
            <a:r>
              <a:rPr lang="en-US" dirty="0"/>
              <a:t>Optimal amount of safety is set by </a:t>
            </a:r>
            <a:r>
              <a:rPr lang="en-US" i="1" dirty="0"/>
              <a:t>Cost </a:t>
            </a:r>
            <a:r>
              <a:rPr lang="en-US" i="1" dirty="0">
                <a:cs typeface="Arial" charset="0"/>
              </a:rPr>
              <a:t>–</a:t>
            </a:r>
            <a:r>
              <a:rPr lang="en-US" i="1" dirty="0"/>
              <a:t> Benefit Principle</a:t>
            </a:r>
            <a:endParaRPr lang="en-US" dirty="0"/>
          </a:p>
          <a:p>
            <a:pPr eaLnBrk="1" hangingPunct="1"/>
            <a:r>
              <a:rPr lang="en-US" dirty="0"/>
              <a:t>Most nations set safety standards</a:t>
            </a:r>
          </a:p>
          <a:p>
            <a:pPr lvl="1" eaLnBrk="1" hangingPunct="1"/>
            <a:r>
              <a:rPr lang="en-US" dirty="0"/>
              <a:t>Safety incurs cost and employers would not employ the optimal amount of safety without regulation</a:t>
            </a:r>
          </a:p>
          <a:p>
            <a:pPr eaLnBrk="1" hangingPunct="1"/>
            <a:r>
              <a:rPr lang="en-US" dirty="0"/>
              <a:t>Safety is a consideration in the competition for labor</a:t>
            </a:r>
          </a:p>
          <a:p>
            <a:pPr lvl="1" eaLnBrk="1" hangingPunct="1"/>
            <a:r>
              <a:rPr lang="en-US" dirty="0"/>
              <a:t>If an employer offers too little safety, he loses worker to firms with optimal safety precautions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/>
          </p:cNvSpPr>
          <p:nvPr>
            <p:ph type="title"/>
          </p:nvPr>
        </p:nvSpPr>
        <p:spPr>
          <a:xfrm>
            <a:off x="739775" y="-98425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Competition through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558" y="993775"/>
            <a:ext cx="8332787" cy="5341711"/>
          </a:xfrm>
        </p:spPr>
        <p:txBody>
          <a:bodyPr/>
          <a:lstStyle/>
          <a:p>
            <a:pPr eaLnBrk="1" hangingPunct="1"/>
            <a:r>
              <a:rPr lang="en-US" dirty="0"/>
              <a:t>Install a safety device at a cost of $50 per month</a:t>
            </a:r>
          </a:p>
          <a:p>
            <a:pPr lvl="1" eaLnBrk="1" hangingPunct="1"/>
            <a:r>
              <a:rPr lang="en-US" dirty="0"/>
              <a:t>Workers value that safety device at $100 per month</a:t>
            </a:r>
          </a:p>
          <a:p>
            <a:pPr lvl="2" eaLnBrk="1" hangingPunct="1"/>
            <a:r>
              <a:rPr lang="en-US" dirty="0"/>
              <a:t>Average wage is $2,500 per month</a:t>
            </a:r>
          </a:p>
          <a:p>
            <a:pPr eaLnBrk="1" hangingPunct="1"/>
            <a:r>
              <a:rPr lang="en-US" dirty="0"/>
              <a:t>An employer with the safety device could hire for $2,440 per month</a:t>
            </a:r>
          </a:p>
          <a:p>
            <a:pPr lvl="1" eaLnBrk="1" hangingPunct="1"/>
            <a:r>
              <a:rPr lang="en-US" dirty="0"/>
              <a:t>$60 savings covers safety device and $10 more</a:t>
            </a:r>
          </a:p>
          <a:p>
            <a:pPr lvl="1" eaLnBrk="1" hangingPunct="1"/>
            <a:r>
              <a:rPr lang="en-US" dirty="0"/>
              <a:t>Workers' net gain is $40 = $100 safety - $60 lower wages</a:t>
            </a:r>
          </a:p>
          <a:p>
            <a:pPr lvl="1" eaLnBrk="1" hangingPunct="1"/>
            <a:r>
              <a:rPr lang="en-US" dirty="0"/>
              <a:t>All employers provide safety device</a:t>
            </a:r>
          </a:p>
          <a:p>
            <a:pPr lvl="1" eaLnBrk="1" hangingPunct="1"/>
            <a:r>
              <a:rPr lang="en-US" dirty="0"/>
              <a:t>Employers have an incentive to educate workers on the safety they offer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742623" y="188913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Public Health and Public Safety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46449" y="1314450"/>
            <a:ext cx="8257592" cy="5310285"/>
          </a:xfrm>
        </p:spPr>
        <p:txBody>
          <a:bodyPr/>
          <a:lstStyle/>
          <a:p>
            <a:pPr eaLnBrk="1" hangingPunct="1"/>
            <a:r>
              <a:rPr lang="en-US" dirty="0"/>
              <a:t>Cost – Benefit Principle applies to health and safety</a:t>
            </a:r>
          </a:p>
          <a:p>
            <a:pPr lvl="1" eaLnBrk="1" hangingPunct="1"/>
            <a:r>
              <a:rPr lang="en-US" dirty="0"/>
              <a:t>Optimal policies to prevent illness should equate the marginal social benefit with the marginal social cost</a:t>
            </a:r>
          </a:p>
          <a:p>
            <a:pPr eaLnBrk="1" hangingPunct="1"/>
            <a:r>
              <a:rPr lang="en-US" dirty="0"/>
              <a:t>Individual cost – benefit calculations are different</a:t>
            </a:r>
          </a:p>
          <a:p>
            <a:pPr eaLnBrk="1" hangingPunct="1"/>
            <a:r>
              <a:rPr lang="en-US" dirty="0"/>
              <a:t>Vaccinations incur costs and have a small but serious risk</a:t>
            </a:r>
          </a:p>
          <a:p>
            <a:pPr lvl="1" eaLnBrk="1" hangingPunct="1"/>
            <a:r>
              <a:rPr lang="en-US" dirty="0"/>
              <a:t>Vaccinate until marginal cost of the vaccination is equal to the marginal benefit of the illnesses prevented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Public Health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118" y="1454733"/>
            <a:ext cx="8285584" cy="5160671"/>
          </a:xfrm>
        </p:spPr>
        <p:txBody>
          <a:bodyPr/>
          <a:lstStyle/>
          <a:p>
            <a:pPr eaLnBrk="1" hangingPunct="1"/>
            <a:r>
              <a:rPr lang="en-US" dirty="0"/>
              <a:t>A child who is not vaccinated has a risk of contracting the disease</a:t>
            </a:r>
          </a:p>
          <a:p>
            <a:pPr lvl="1" eaLnBrk="1" hangingPunct="1"/>
            <a:r>
              <a:rPr lang="en-US" dirty="0"/>
              <a:t>This is a private cost balanced against the private benefit of avoiding complications of vaccination</a:t>
            </a:r>
          </a:p>
          <a:p>
            <a:pPr eaLnBrk="1" hangingPunct="1"/>
            <a:r>
              <a:rPr lang="en-US" dirty="0"/>
              <a:t>The infected child risks infecting others</a:t>
            </a:r>
          </a:p>
          <a:p>
            <a:pPr lvl="1" eaLnBrk="1" hangingPunct="1"/>
            <a:r>
              <a:rPr lang="en-US" dirty="0"/>
              <a:t> This is a social cost</a:t>
            </a:r>
          </a:p>
          <a:p>
            <a:pPr eaLnBrk="1" hangingPunct="1"/>
            <a:r>
              <a:rPr lang="en-US" dirty="0"/>
              <a:t>Market forces result in too few vaccinations</a:t>
            </a:r>
          </a:p>
          <a:p>
            <a:pPr eaLnBrk="1" hangingPunct="1"/>
            <a:r>
              <a:rPr lang="en-US" dirty="0"/>
              <a:t>Laws requires compulsory vaccinations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Government Is Unique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09125" y="1722438"/>
            <a:ext cx="8397551" cy="4525962"/>
          </a:xfrm>
        </p:spPr>
        <p:txBody>
          <a:bodyPr/>
          <a:lstStyle/>
          <a:p>
            <a:pPr eaLnBrk="1" hangingPunct="1"/>
            <a:r>
              <a:rPr lang="en-US" dirty="0"/>
              <a:t>Government is the only organization with the power to compel actions</a:t>
            </a:r>
          </a:p>
          <a:p>
            <a:pPr lvl="1" eaLnBrk="1" hangingPunct="1"/>
            <a:r>
              <a:rPr lang="en-US" dirty="0"/>
              <a:t>Taxes</a:t>
            </a:r>
          </a:p>
          <a:p>
            <a:pPr lvl="1" eaLnBrk="1" hangingPunct="1"/>
            <a:r>
              <a:rPr lang="en-US" dirty="0"/>
              <a:t>Military service</a:t>
            </a:r>
          </a:p>
          <a:p>
            <a:pPr eaLnBrk="1" hangingPunct="1"/>
            <a:r>
              <a:rPr lang="en-US" dirty="0"/>
              <a:t>All other institutions rely on voluntary transactions</a:t>
            </a:r>
          </a:p>
          <a:p>
            <a:pPr eaLnBrk="1" hangingPunct="1"/>
            <a:r>
              <a:rPr lang="en-US" dirty="0"/>
              <a:t>Government decisions can be analyzed using economic principles</a:t>
            </a:r>
          </a:p>
          <a:p>
            <a:pPr eaLnBrk="1" hangingPunct="1"/>
            <a:r>
              <a:rPr lang="en-US" dirty="0"/>
              <a:t>Some goods or services can only be efficiently provided by the government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1651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Public Goods</a:t>
            </a:r>
          </a:p>
        </p:txBody>
      </p:sp>
      <p:sp>
        <p:nvSpPr>
          <p:cNvPr id="178179" name="Rectangle 1027"/>
          <p:cNvSpPr>
            <a:spLocks noGrp="1" noChangeArrowheads="1"/>
          </p:cNvSpPr>
          <p:nvPr>
            <p:ph idx="1"/>
          </p:nvPr>
        </p:nvSpPr>
        <p:spPr>
          <a:xfrm>
            <a:off x="838200" y="1274763"/>
            <a:ext cx="7924800" cy="5116706"/>
          </a:xfrm>
        </p:spPr>
        <p:txBody>
          <a:bodyPr/>
          <a:lstStyle/>
          <a:p>
            <a:pPr eaLnBrk="1" hangingPunct="1"/>
            <a:r>
              <a:rPr lang="en-US" b="1" dirty="0"/>
              <a:t>Public good</a:t>
            </a:r>
            <a:r>
              <a:rPr lang="en-US" dirty="0"/>
              <a:t> is a good that is both non-rival and non-excludable</a:t>
            </a:r>
          </a:p>
          <a:p>
            <a:pPr lvl="1" eaLnBrk="1" hangingPunct="1"/>
            <a:r>
              <a:rPr lang="en-US" dirty="0"/>
              <a:t>A </a:t>
            </a:r>
            <a:r>
              <a:rPr lang="en-US" b="1" dirty="0" err="1"/>
              <a:t>nonrival</a:t>
            </a:r>
            <a:r>
              <a:rPr lang="en-US" b="1" dirty="0"/>
              <a:t> good</a:t>
            </a:r>
            <a:r>
              <a:rPr lang="en-US" dirty="0"/>
              <a:t> is one whose consumption by one person does not diminish its availability to others</a:t>
            </a:r>
          </a:p>
          <a:p>
            <a:pPr lvl="2" eaLnBrk="1" hangingPunct="1"/>
            <a:r>
              <a:rPr lang="en-US" dirty="0"/>
              <a:t>National defense	</a:t>
            </a:r>
            <a:r>
              <a:rPr lang="en-US" baseline="10000" dirty="0">
                <a:solidFill>
                  <a:srgbClr val="31A5A9"/>
                </a:solidFill>
              </a:rPr>
              <a:t>■ </a:t>
            </a:r>
            <a:r>
              <a:rPr lang="en-US" dirty="0"/>
              <a:t>Public lectures</a:t>
            </a:r>
          </a:p>
          <a:p>
            <a:pPr lvl="1" eaLnBrk="1" hangingPunct="1"/>
            <a:r>
              <a:rPr lang="en-US" dirty="0"/>
              <a:t>A </a:t>
            </a:r>
            <a:r>
              <a:rPr lang="en-US" b="1" dirty="0"/>
              <a:t>non-excludable good</a:t>
            </a:r>
            <a:r>
              <a:rPr lang="en-US" dirty="0"/>
              <a:t> is one that is difficult or costly to exclude non-payers from consuming</a:t>
            </a:r>
          </a:p>
          <a:p>
            <a:pPr lvl="2" eaLnBrk="1" hangingPunct="1"/>
            <a:r>
              <a:rPr lang="en-US" dirty="0"/>
              <a:t>Over-the-air broadcasts	</a:t>
            </a:r>
            <a:r>
              <a:rPr lang="en-US" baseline="10000" dirty="0">
                <a:solidFill>
                  <a:srgbClr val="31A5A9"/>
                </a:solidFill>
              </a:rPr>
              <a:t>■ </a:t>
            </a:r>
            <a:r>
              <a:rPr lang="en-US" dirty="0"/>
              <a:t>Fireworks displays</a:t>
            </a:r>
          </a:p>
          <a:p>
            <a:pPr eaLnBrk="1" hangingPunct="1"/>
            <a:r>
              <a:rPr lang="en-US" dirty="0"/>
              <a:t>A pure public good is, to a high degree, both non-rival and non-excludable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Public Goods and Government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>
          <a:xfrm>
            <a:off x="869732" y="1399593"/>
            <a:ext cx="7924800" cy="5234472"/>
          </a:xfrm>
        </p:spPr>
        <p:txBody>
          <a:bodyPr/>
          <a:lstStyle/>
          <a:p>
            <a:pPr eaLnBrk="1" hangingPunct="1"/>
            <a:r>
              <a:rPr lang="en-US" dirty="0"/>
              <a:t>Pure public goods are usually provided by government</a:t>
            </a:r>
          </a:p>
          <a:p>
            <a:pPr eaLnBrk="1" hangingPunct="1"/>
            <a:r>
              <a:rPr lang="en-US" dirty="0"/>
              <a:t>Non-excludable means non-payee can get to consume the product</a:t>
            </a:r>
          </a:p>
          <a:p>
            <a:pPr lvl="1" eaLnBrk="1" hangingPunct="1"/>
            <a:r>
              <a:rPr lang="en-US" dirty="0"/>
              <a:t>Cost of production are difficult to recover directly</a:t>
            </a:r>
          </a:p>
          <a:p>
            <a:pPr lvl="1" eaLnBrk="1" hangingPunct="1"/>
            <a:r>
              <a:rPr lang="en-US" dirty="0"/>
              <a:t>Free-rider problem</a:t>
            </a:r>
          </a:p>
          <a:p>
            <a:pPr eaLnBrk="1" hangingPunct="1"/>
            <a:r>
              <a:rPr lang="en-US" dirty="0"/>
              <a:t>Non-rival means the same product can be made available to many customers</a:t>
            </a:r>
          </a:p>
          <a:p>
            <a:pPr lvl="1" eaLnBrk="1" hangingPunct="1"/>
            <a:r>
              <a:rPr lang="en-US" dirty="0"/>
              <a:t>MC of public goods is zero</a:t>
            </a:r>
          </a:p>
          <a:p>
            <a:pPr lvl="1" eaLnBrk="1" hangingPunct="1"/>
            <a:r>
              <a:rPr lang="en-US" dirty="0"/>
              <a:t>Optimal quantity is P = MC</a:t>
            </a:r>
          </a:p>
          <a:p>
            <a:pPr eaLnBrk="1" hangingPunct="1"/>
            <a:r>
              <a:rPr lang="en-US" dirty="0"/>
              <a:t>Charging positive price reduces total surplus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2"/>
          <p:cNvSpPr>
            <a:spLocks noGrp="1"/>
          </p:cNvSpPr>
          <p:nvPr>
            <p:ph type="title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Types of Goods</a:t>
            </a:r>
          </a:p>
        </p:txBody>
      </p:sp>
      <p:graphicFrame>
        <p:nvGraphicFramePr>
          <p:cNvPr id="19" name="Content Placeholder 1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6114371"/>
              </p:ext>
            </p:extLst>
          </p:nvPr>
        </p:nvGraphicFramePr>
        <p:xfrm>
          <a:off x="885498" y="1722438"/>
          <a:ext cx="7924800" cy="4093947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67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5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54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154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Rival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548">
                <a:tc rowSpan="3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Excludable</a:t>
                      </a:r>
                    </a:p>
                  </a:txBody>
                  <a:tcPr vert="vert270" anchor="ctr">
                    <a:solidFill>
                      <a:srgbClr val="31A5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637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Public good 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(National</a:t>
                      </a:r>
                      <a:r>
                        <a:rPr lang="en-US" sz="2400" baseline="0" dirty="0"/>
                        <a:t> Defense)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Commons</a:t>
                      </a:r>
                      <a:r>
                        <a:rPr lang="en-US" sz="2400" baseline="0" dirty="0"/>
                        <a:t> good</a:t>
                      </a:r>
                      <a:br>
                        <a:rPr lang="en-US" sz="2400" baseline="0" dirty="0"/>
                      </a:br>
                      <a:r>
                        <a:rPr lang="en-US" sz="2400" baseline="0" dirty="0"/>
                        <a:t>(Ocean Fish)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637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/>
                        <a:t>Collective good</a:t>
                      </a:r>
                      <a:br>
                        <a:rPr lang="en-US" sz="2400" baseline="0" dirty="0"/>
                      </a:br>
                      <a:r>
                        <a:rPr lang="en-US" sz="2400" baseline="0" dirty="0"/>
                        <a:t>(Pay-per-view TV)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Private</a:t>
                      </a:r>
                      <a:r>
                        <a:rPr lang="en-US" sz="2400" baseline="0" dirty="0"/>
                        <a:t> good </a:t>
                      </a:r>
                      <a:br>
                        <a:rPr lang="en-US" sz="2400" baseline="0" dirty="0"/>
                      </a:br>
                      <a:r>
                        <a:rPr lang="en-US" sz="2400" baseline="0" dirty="0"/>
                        <a:t>(Apple)</a:t>
                      </a:r>
                      <a:endParaRPr lang="en-US" sz="2400" dirty="0"/>
                    </a:p>
                    <a:p>
                      <a:pPr algn="ctr"/>
                      <a:endParaRPr lang="en-US" sz="2400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040" y="64891"/>
            <a:ext cx="8705462" cy="827738"/>
          </a:xfrm>
        </p:spPr>
        <p:txBody>
          <a:bodyPr/>
          <a:lstStyle/>
          <a:p>
            <a:pPr eaLnBrk="1" hangingPunct="1"/>
            <a:r>
              <a:rPr lang="en-US" sz="4000" dirty="0" err="1"/>
              <a:t>Private,Collective</a:t>
            </a:r>
            <a:r>
              <a:rPr lang="en-US" sz="4000" dirty="0"/>
              <a:t> &amp; Common Goods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idx="1"/>
          </p:nvPr>
        </p:nvSpPr>
        <p:spPr>
          <a:xfrm>
            <a:off x="748840" y="776984"/>
            <a:ext cx="8276253" cy="5928616"/>
          </a:xfrm>
        </p:spPr>
        <p:txBody>
          <a:bodyPr/>
          <a:lstStyle/>
          <a:p>
            <a:pPr eaLnBrk="1" hangingPunct="1"/>
            <a:r>
              <a:rPr lang="en-US" dirty="0"/>
              <a:t>A good is a </a:t>
            </a:r>
            <a:r>
              <a:rPr lang="en-US" b="1" dirty="0"/>
              <a:t>pure private good</a:t>
            </a:r>
            <a:r>
              <a:rPr lang="en-US" dirty="0"/>
              <a:t> if </a:t>
            </a:r>
          </a:p>
          <a:p>
            <a:pPr lvl="1" eaLnBrk="1" hangingPunct="1"/>
            <a:r>
              <a:rPr lang="en-US" dirty="0"/>
              <a:t>Non-payers can easily be excluded </a:t>
            </a:r>
            <a:r>
              <a:rPr lang="en-US" u="sng" dirty="0"/>
              <a:t>and</a:t>
            </a:r>
            <a:r>
              <a:rPr lang="en-US" dirty="0"/>
              <a:t> </a:t>
            </a:r>
          </a:p>
          <a:p>
            <a:pPr lvl="1" eaLnBrk="1" hangingPunct="1"/>
            <a:r>
              <a:rPr lang="en-US" dirty="0"/>
              <a:t>Each unit consumed by one person means one less unit available for others</a:t>
            </a:r>
          </a:p>
          <a:p>
            <a:pPr lvl="1" eaLnBrk="1" hangingPunct="1"/>
            <a:r>
              <a:rPr lang="en-US" dirty="0"/>
              <a:t>Private good can be efficiently transacted through a market system</a:t>
            </a:r>
          </a:p>
          <a:p>
            <a:pPr eaLnBrk="1" hangingPunct="1"/>
            <a:r>
              <a:rPr lang="en-US" b="1" dirty="0"/>
              <a:t>A collective good</a:t>
            </a:r>
            <a:r>
              <a:rPr lang="en-US" dirty="0"/>
              <a:t> (e.g. paid TV) is a good or service that is </a:t>
            </a:r>
            <a:r>
              <a:rPr lang="en-US" dirty="0" err="1"/>
              <a:t>nonrival</a:t>
            </a:r>
            <a:r>
              <a:rPr lang="en-US" dirty="0"/>
              <a:t> but excludable</a:t>
            </a:r>
          </a:p>
          <a:p>
            <a:pPr lvl="1" eaLnBrk="1" hangingPunct="1"/>
            <a:r>
              <a:rPr lang="en-US" dirty="0"/>
              <a:t>Sometimes provided by government</a:t>
            </a:r>
          </a:p>
          <a:p>
            <a:pPr eaLnBrk="1" hangingPunct="1"/>
            <a:r>
              <a:rPr lang="en-US" dirty="0"/>
              <a:t>A </a:t>
            </a:r>
            <a:r>
              <a:rPr lang="en-US" b="1" dirty="0"/>
              <a:t>pure commons good</a:t>
            </a:r>
            <a:r>
              <a:rPr lang="en-US" dirty="0"/>
              <a:t> is a rival good that is </a:t>
            </a:r>
            <a:r>
              <a:rPr lang="en-US" dirty="0" err="1"/>
              <a:t>nonexcludable</a:t>
            </a:r>
            <a:endParaRPr lang="en-US" dirty="0"/>
          </a:p>
          <a:p>
            <a:pPr lvl="1" eaLnBrk="1" hangingPunct="1"/>
            <a:r>
              <a:rPr lang="en-US" dirty="0"/>
              <a:t>Results in a tragedy of the commons</a:t>
            </a:r>
          </a:p>
          <a:p>
            <a:pPr lvl="1" eaLnBrk="1" hangingPunct="1"/>
            <a:r>
              <a:rPr lang="en-US" dirty="0"/>
              <a:t>Fish in ocean or open water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Tragedy of Commons</a:t>
            </a:r>
          </a:p>
        </p:txBody>
      </p:sp>
      <p:sp>
        <p:nvSpPr>
          <p:cNvPr id="266246" name="Rectangle 6"/>
          <p:cNvSpPr>
            <a:spLocks noGrp="1" noChangeArrowheads="1"/>
          </p:cNvSpPr>
          <p:nvPr>
            <p:ph idx="4294967295"/>
          </p:nvPr>
        </p:nvSpPr>
        <p:spPr>
          <a:xfrm>
            <a:off x="762000" y="1600200"/>
            <a:ext cx="8229600" cy="4525963"/>
          </a:xfrm>
        </p:spPr>
        <p:txBody>
          <a:bodyPr/>
          <a:lstStyle/>
          <a:p>
            <a:pPr marL="225425" indent="-225425" eaLnBrk="1" hangingPunct="1"/>
            <a:r>
              <a:rPr lang="en-US" dirty="0"/>
              <a:t>When use of a communally owned resource has no price, the costs of using it are not considered</a:t>
            </a:r>
          </a:p>
          <a:p>
            <a:pPr marL="225425" indent="-225425" eaLnBrk="1" hangingPunct="1"/>
            <a:endParaRPr lang="en-US" dirty="0"/>
          </a:p>
          <a:p>
            <a:pPr marL="511175" lvl="1" indent="-290513" eaLnBrk="1" hangingPunct="1"/>
            <a:r>
              <a:rPr lang="en-US" dirty="0"/>
              <a:t>Use of the property will increase until MB = 0</a:t>
            </a:r>
          </a:p>
          <a:p>
            <a:pPr marL="511175" lvl="1" indent="-290513" eaLnBrk="1" hangingPunct="1"/>
            <a:endParaRPr lang="en-US" dirty="0"/>
          </a:p>
          <a:p>
            <a:pPr marL="511175" lvl="1" indent="-290513" eaLnBrk="1" hangingPunct="1"/>
            <a:r>
              <a:rPr lang="en-US" dirty="0"/>
              <a:t>Common goods will usually be exploited and depreciated rapidly</a:t>
            </a:r>
          </a:p>
          <a:p>
            <a:pPr marL="511175" lvl="1" indent="-290513" eaLnBrk="1" hangingPunct="1"/>
            <a:endParaRPr lang="en-US" dirty="0"/>
          </a:p>
          <a:p>
            <a:pPr marL="511175" lvl="1" indent="-290513" eaLnBrk="1" hangingPunct="1"/>
            <a:r>
              <a:rPr lang="en-US" dirty="0"/>
              <a:t>This is known as the </a:t>
            </a:r>
            <a:r>
              <a:rPr lang="en-US" b="1" dirty="0"/>
              <a:t>tragedy of the commons</a:t>
            </a:r>
            <a:endParaRPr lang="en-US" dirty="0"/>
          </a:p>
          <a:p>
            <a:pPr marL="225425" indent="-225425"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70156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Government Decisions about Public Goods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</p:nvPr>
        </p:nvSpPr>
        <p:spPr>
          <a:xfrm>
            <a:off x="781546" y="1632242"/>
            <a:ext cx="8069639" cy="5104224"/>
          </a:xfrm>
        </p:spPr>
        <p:txBody>
          <a:bodyPr/>
          <a:lstStyle/>
          <a:p>
            <a:pPr eaLnBrk="1" hangingPunct="1"/>
            <a:r>
              <a:rPr lang="en-US" i="1" dirty="0"/>
              <a:t>Cost – Benefit Principle</a:t>
            </a:r>
            <a:r>
              <a:rPr lang="en-US" dirty="0"/>
              <a:t> applies to pure public goods, as all others</a:t>
            </a:r>
          </a:p>
          <a:p>
            <a:pPr lvl="1" eaLnBrk="1" hangingPunct="1"/>
            <a:r>
              <a:rPr lang="en-US" dirty="0"/>
              <a:t>The cost of the public good is the sum of the explicit and implicit costs incurred to produce it</a:t>
            </a:r>
          </a:p>
          <a:p>
            <a:pPr eaLnBrk="1" hangingPunct="1"/>
            <a:r>
              <a:rPr lang="en-US" dirty="0"/>
              <a:t>Benefits of a public good are different from a private good</a:t>
            </a:r>
          </a:p>
          <a:p>
            <a:pPr lvl="1" eaLnBrk="1" hangingPunct="1"/>
            <a:r>
              <a:rPr lang="en-US" dirty="0"/>
              <a:t>Benefit of an additional unit of a private good is the highest price someone would pay for it</a:t>
            </a:r>
          </a:p>
          <a:p>
            <a:pPr lvl="1" eaLnBrk="1" hangingPunct="1"/>
            <a:r>
              <a:rPr lang="en-US" dirty="0"/>
              <a:t>Benefit of an additional unit of a public good is the sum of the reservation prices of all people who use it</a:t>
            </a:r>
          </a:p>
          <a:p>
            <a:pPr lvl="2" eaLnBrk="1" hangingPunct="1"/>
            <a:r>
              <a:rPr lang="en-US" dirty="0"/>
              <a:t>Everyone who watches broadcasted TV </a:t>
            </a:r>
            <a:r>
              <a:rPr lang="en-US" dirty="0" err="1"/>
              <a:t>programme</a:t>
            </a: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Paying for Public Goods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>
          <a:xfrm>
            <a:off x="746449" y="1483567"/>
            <a:ext cx="8238931" cy="5170621"/>
          </a:xfrm>
        </p:spPr>
        <p:txBody>
          <a:bodyPr/>
          <a:lstStyle/>
          <a:p>
            <a:pPr eaLnBrk="1" hangingPunct="1"/>
            <a:r>
              <a:rPr lang="en-US" dirty="0"/>
              <a:t>Not everyone benefits equally from a public good or service.</a:t>
            </a:r>
          </a:p>
          <a:p>
            <a:pPr lvl="1" eaLnBrk="1" hangingPunct="1"/>
            <a:r>
              <a:rPr lang="en-US" dirty="0"/>
              <a:t>Taxing people in proportion to their willingness to pay is equitable but impractical</a:t>
            </a:r>
          </a:p>
          <a:p>
            <a:pPr eaLnBrk="1" hangingPunct="1"/>
            <a:r>
              <a:rPr lang="en-US" dirty="0"/>
              <a:t>Example</a:t>
            </a:r>
          </a:p>
          <a:p>
            <a:pPr lvl="1" eaLnBrk="1" hangingPunct="1"/>
            <a:r>
              <a:rPr lang="en-US" dirty="0"/>
              <a:t>A and B have adjacent properties </a:t>
            </a:r>
          </a:p>
          <a:p>
            <a:pPr lvl="2" eaLnBrk="1" hangingPunct="1"/>
            <a:r>
              <a:rPr lang="en-US" dirty="0"/>
              <a:t>Properties affected by pollution</a:t>
            </a:r>
          </a:p>
          <a:p>
            <a:pPr lvl="2" eaLnBrk="1" hangingPunct="1"/>
            <a:r>
              <a:rPr lang="en-US" dirty="0"/>
              <a:t>New device to control pollution is $1,000 to serve both properties</a:t>
            </a:r>
          </a:p>
          <a:p>
            <a:pPr lvl="2" eaLnBrk="1" hangingPunct="1"/>
            <a:r>
              <a:rPr lang="en-US" dirty="0"/>
              <a:t>A values for device is $800</a:t>
            </a:r>
          </a:p>
          <a:p>
            <a:pPr lvl="2" eaLnBrk="1" hangingPunct="1"/>
            <a:r>
              <a:rPr lang="en-US" dirty="0"/>
              <a:t>B values device at $400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Scenario 1:  Sharing the Cost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81150"/>
            <a:ext cx="7924800" cy="4525963"/>
          </a:xfrm>
        </p:spPr>
        <p:txBody>
          <a:bodyPr/>
          <a:lstStyle/>
          <a:p>
            <a:pPr eaLnBrk="1" hangingPunct="1"/>
            <a:r>
              <a:rPr lang="en-US" dirty="0"/>
              <a:t>A and B negotiate the joint purchase</a:t>
            </a:r>
          </a:p>
          <a:p>
            <a:pPr lvl="1" eaLnBrk="1" hangingPunct="1"/>
            <a:r>
              <a:rPr lang="en-US" dirty="0"/>
              <a:t>Value is $1,200; cost is $1,000</a:t>
            </a:r>
          </a:p>
          <a:p>
            <a:pPr lvl="1" eaLnBrk="1" hangingPunct="1"/>
            <a:r>
              <a:rPr lang="en-US" i="1" dirty="0"/>
              <a:t>Cost – Benefit Principle</a:t>
            </a:r>
            <a:r>
              <a:rPr lang="en-US" dirty="0"/>
              <a:t> satisfied</a:t>
            </a:r>
          </a:p>
          <a:p>
            <a:pPr eaLnBrk="1" hangingPunct="1"/>
            <a:r>
              <a:rPr lang="en-US" dirty="0"/>
              <a:t>Some conditions make a private negotiated solution difficult to achieve</a:t>
            </a:r>
          </a:p>
          <a:p>
            <a:pPr lvl="1" eaLnBrk="1" hangingPunct="1"/>
            <a:r>
              <a:rPr lang="en-US" dirty="0"/>
              <a:t>Suppose there are a large number of parties</a:t>
            </a:r>
          </a:p>
          <a:p>
            <a:pPr lvl="2" eaLnBrk="1" hangingPunct="1"/>
            <a:r>
              <a:rPr lang="en-US" dirty="0"/>
              <a:t>Communication and negotiation are costly</a:t>
            </a:r>
          </a:p>
          <a:p>
            <a:pPr lvl="2" eaLnBrk="1" hangingPunct="1"/>
            <a:r>
              <a:rPr lang="en-US" dirty="0"/>
              <a:t>Free rider problem</a:t>
            </a:r>
          </a:p>
          <a:p>
            <a:pPr lvl="2" eaLnBrk="1" hangingPunct="1"/>
            <a:r>
              <a:rPr lang="en-US" dirty="0"/>
              <a:t>"Fair" sharing of costs may be difficult to agree</a:t>
            </a:r>
          </a:p>
          <a:p>
            <a:pPr eaLnBrk="1" hangingPunct="1"/>
            <a:r>
              <a:rPr lang="en-US" dirty="0"/>
              <a:t>Government provision could be a solution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Scenario 2:  "Equal tax" Rule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idx="1"/>
          </p:nvPr>
        </p:nvSpPr>
        <p:spPr>
          <a:xfrm>
            <a:off x="709127" y="1536700"/>
            <a:ext cx="8229599" cy="5095454"/>
          </a:xfrm>
        </p:spPr>
        <p:txBody>
          <a:bodyPr/>
          <a:lstStyle/>
          <a:p>
            <a:pPr eaLnBrk="1" hangingPunct="1"/>
            <a:r>
              <a:rPr lang="en-US" dirty="0"/>
              <a:t>Government to install the device for A and B</a:t>
            </a:r>
          </a:p>
          <a:p>
            <a:pPr lvl="1" eaLnBrk="1" hangingPunct="1"/>
            <a:r>
              <a:rPr lang="en-US" dirty="0"/>
              <a:t>Equal sharing of costs with a head tax</a:t>
            </a:r>
          </a:p>
          <a:p>
            <a:pPr lvl="2" eaLnBrk="1" hangingPunct="1"/>
            <a:r>
              <a:rPr lang="en-US" dirty="0"/>
              <a:t>A </a:t>
            </a:r>
            <a:r>
              <a:rPr lang="en-US" b="1" dirty="0"/>
              <a:t>head tax</a:t>
            </a:r>
            <a:r>
              <a:rPr lang="en-US" dirty="0"/>
              <a:t> is a tax that collects the same amount from every taxpayer</a:t>
            </a:r>
          </a:p>
          <a:p>
            <a:pPr lvl="1" eaLnBrk="1" hangingPunct="1"/>
            <a:r>
              <a:rPr lang="en-US" dirty="0"/>
              <a:t>Majority of affected parties must agree</a:t>
            </a:r>
          </a:p>
          <a:p>
            <a:pPr eaLnBrk="1" hangingPunct="1"/>
            <a:r>
              <a:rPr lang="en-US" dirty="0"/>
              <a:t>Result:  Each pays $500 and no new device</a:t>
            </a:r>
          </a:p>
          <a:p>
            <a:pPr lvl="1" eaLnBrk="1" hangingPunct="1"/>
            <a:r>
              <a:rPr lang="en-US" dirty="0"/>
              <a:t>$500 is more than B's reservation price of $400</a:t>
            </a:r>
          </a:p>
          <a:p>
            <a:pPr lvl="2" eaLnBrk="1" hangingPunct="1"/>
            <a:r>
              <a:rPr lang="en-US" dirty="0"/>
              <a:t>B vote against the device</a:t>
            </a:r>
          </a:p>
          <a:p>
            <a:pPr eaLnBrk="1" hangingPunct="1"/>
            <a:r>
              <a:rPr lang="en-US" dirty="0"/>
              <a:t>A </a:t>
            </a:r>
            <a:r>
              <a:rPr lang="en-US" b="1" dirty="0"/>
              <a:t>regressive tax</a:t>
            </a:r>
            <a:r>
              <a:rPr lang="en-US" dirty="0"/>
              <a:t> has a tax rate that varies inversely with income.  Head tax is regressive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300" y="383628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dirty="0"/>
              <a:t>Scenario 3:  </a:t>
            </a:r>
            <a:br>
              <a:rPr lang="en-US" dirty="0"/>
            </a:br>
            <a:r>
              <a:rPr lang="en-US" dirty="0"/>
              <a:t>Proportional Tax on Income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xfrm>
            <a:off x="892629" y="1776170"/>
            <a:ext cx="7924800" cy="4525962"/>
          </a:xfrm>
        </p:spPr>
        <p:txBody>
          <a:bodyPr/>
          <a:lstStyle/>
          <a:p>
            <a:pPr eaLnBrk="1" hangingPunct="1"/>
            <a:r>
              <a:rPr lang="en-US" dirty="0"/>
              <a:t>A </a:t>
            </a:r>
            <a:r>
              <a:rPr lang="en-US" b="1" dirty="0"/>
              <a:t>proportional income tax</a:t>
            </a:r>
            <a:r>
              <a:rPr lang="en-US" dirty="0"/>
              <a:t> requires all taxpayers to pay the same proportion of their incomes in taxes</a:t>
            </a:r>
          </a:p>
          <a:p>
            <a:pPr lvl="1" eaLnBrk="1" hangingPunct="1"/>
            <a:r>
              <a:rPr lang="en-US" dirty="0"/>
              <a:t>Majority rule applies</a:t>
            </a:r>
          </a:p>
          <a:p>
            <a:pPr eaLnBrk="1" hangingPunct="1"/>
            <a:r>
              <a:rPr lang="en-US" dirty="0"/>
              <a:t>Tax A $667 (2/3) and B $333 (1/3)</a:t>
            </a:r>
          </a:p>
          <a:p>
            <a:pPr eaLnBrk="1" hangingPunct="1"/>
            <a:r>
              <a:rPr lang="en-US" dirty="0"/>
              <a:t>Both agree.  Government buys the device</a:t>
            </a:r>
          </a:p>
          <a:p>
            <a:pPr lvl="1" eaLnBrk="1" hangingPunct="1"/>
            <a:r>
              <a:rPr lang="en-US" dirty="0"/>
              <a:t>Economic surplus:</a:t>
            </a:r>
          </a:p>
          <a:p>
            <a:pPr lvl="2" eaLnBrk="1" hangingPunct="1"/>
            <a:r>
              <a:rPr lang="en-US" dirty="0"/>
              <a:t>A: $800 - $667 = $133</a:t>
            </a:r>
          </a:p>
          <a:p>
            <a:pPr lvl="2" eaLnBrk="1" hangingPunct="1"/>
            <a:r>
              <a:rPr lang="en-US" dirty="0"/>
              <a:t>B: $400 - $333 =  $67</a:t>
            </a:r>
          </a:p>
          <a:p>
            <a:pPr lvl="2" eaLnBrk="1" hangingPunct="1"/>
            <a:r>
              <a:rPr lang="en-US" dirty="0"/>
              <a:t>Total surplus increases $200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730250" y="0"/>
            <a:ext cx="8253413" cy="931863"/>
          </a:xfrm>
        </p:spPr>
        <p:txBody>
          <a:bodyPr/>
          <a:lstStyle/>
          <a:p>
            <a:pPr eaLnBrk="1" hangingPunct="1"/>
            <a:r>
              <a:rPr lang="en-US"/>
              <a:t>Private and Public Goods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idx="1"/>
          </p:nvPr>
        </p:nvSpPr>
        <p:spPr>
          <a:xfrm>
            <a:off x="764752" y="922531"/>
            <a:ext cx="8323262" cy="5804839"/>
          </a:xfrm>
        </p:spPr>
        <p:txBody>
          <a:bodyPr/>
          <a:lstStyle/>
          <a:p>
            <a:pPr eaLnBrk="1" hangingPunct="1"/>
            <a:r>
              <a:rPr lang="en-US" dirty="0"/>
              <a:t>Individuals consume whatever quantity and quality of most private goods they choose to buy</a:t>
            </a:r>
          </a:p>
          <a:p>
            <a:pPr lvl="1" eaLnBrk="1" hangingPunct="1"/>
            <a:r>
              <a:rPr lang="en-US" dirty="0"/>
              <a:t>Jointly consumed goods must be provided in the same quantity and quality for all</a:t>
            </a:r>
          </a:p>
          <a:p>
            <a:pPr lvl="1" eaLnBrk="1" hangingPunct="1"/>
            <a:r>
              <a:rPr lang="en-US" dirty="0"/>
              <a:t>People's willingness to pay increases with income</a:t>
            </a:r>
          </a:p>
          <a:p>
            <a:pPr eaLnBrk="1" hangingPunct="1"/>
            <a:r>
              <a:rPr lang="en-US" dirty="0"/>
              <a:t>Higher income group tends to consume more public goods (Parks, community libraries) than lower income groups</a:t>
            </a:r>
          </a:p>
          <a:p>
            <a:pPr eaLnBrk="1" hangingPunct="1"/>
            <a:r>
              <a:rPr lang="en-US" dirty="0"/>
              <a:t>Progressive taxes take a larger share of higher incomes as tax </a:t>
            </a:r>
          </a:p>
          <a:p>
            <a:pPr lvl="1" eaLnBrk="1" hangingPunct="1"/>
            <a:r>
              <a:rPr lang="en-US" dirty="0"/>
              <a:t>Support a better outcome for all groups than head tax which is regressive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Market for Public Goods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722438"/>
            <a:ext cx="7924800" cy="4525962"/>
          </a:xfrm>
        </p:spPr>
        <p:txBody>
          <a:bodyPr/>
          <a:lstStyle/>
          <a:p>
            <a:pPr eaLnBrk="1" hangingPunct="1"/>
            <a:r>
              <a:rPr lang="en-US" dirty="0"/>
              <a:t>Problem:  How much of a public good should be provided?</a:t>
            </a:r>
          </a:p>
          <a:p>
            <a:pPr lvl="1" eaLnBrk="1" hangingPunct="1"/>
            <a:r>
              <a:rPr lang="en-US" i="1" dirty="0"/>
              <a:t>Cost – Benefit Principle</a:t>
            </a:r>
            <a:r>
              <a:rPr lang="en-US" dirty="0"/>
              <a:t> applies</a:t>
            </a:r>
          </a:p>
          <a:p>
            <a:pPr eaLnBrk="1" hangingPunct="1"/>
            <a:r>
              <a:rPr lang="en-US" dirty="0"/>
              <a:t>Benefit of an additional unit of a public good is the sum of the reservation prices of all people who use it</a:t>
            </a:r>
          </a:p>
          <a:p>
            <a:pPr lvl="1" eaLnBrk="1" hangingPunct="1"/>
            <a:r>
              <a:rPr lang="en-US" dirty="0"/>
              <a:t>Vertical summation of demand curve </a:t>
            </a:r>
          </a:p>
          <a:p>
            <a:pPr eaLnBrk="1" hangingPunct="1"/>
            <a:r>
              <a:rPr lang="en-US" dirty="0"/>
              <a:t>Costs are the same as for private goods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/>
        </p:nvSpPr>
        <p:spPr bwMode="auto">
          <a:xfrm>
            <a:off x="5033572" y="2105168"/>
            <a:ext cx="3749842" cy="376187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5103159" y="2181225"/>
            <a:ext cx="3609975" cy="360997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948838" y="1672389"/>
            <a:ext cx="3172327" cy="46642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883714" y="2065079"/>
            <a:ext cx="2984500" cy="4513262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609" name="Text Box 20"/>
          <p:cNvSpPr txBox="1">
            <a:spLocks noChangeArrowheads="1"/>
          </p:cNvSpPr>
          <p:nvPr/>
        </p:nvSpPr>
        <p:spPr bwMode="auto">
          <a:xfrm>
            <a:off x="1323321" y="5861050"/>
            <a:ext cx="22733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Quantity (units/day)</a:t>
            </a:r>
          </a:p>
        </p:txBody>
      </p:sp>
      <p:sp>
        <p:nvSpPr>
          <p:cNvPr id="25610" name="Text Box 21"/>
          <p:cNvSpPr txBox="1">
            <a:spLocks noChangeArrowheads="1"/>
          </p:cNvSpPr>
          <p:nvPr/>
        </p:nvSpPr>
        <p:spPr bwMode="auto">
          <a:xfrm rot="-5400000">
            <a:off x="499409" y="4822825"/>
            <a:ext cx="16049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Price ($/unit)</a:t>
            </a:r>
          </a:p>
        </p:txBody>
      </p:sp>
      <p:sp>
        <p:nvSpPr>
          <p:cNvPr id="25611" name="Text Box 24"/>
          <p:cNvSpPr txBox="1">
            <a:spLocks noChangeArrowheads="1"/>
          </p:cNvSpPr>
          <p:nvPr/>
        </p:nvSpPr>
        <p:spPr bwMode="auto">
          <a:xfrm>
            <a:off x="1359834" y="3965575"/>
            <a:ext cx="4651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24</a:t>
            </a:r>
          </a:p>
        </p:txBody>
      </p:sp>
      <p:sp>
        <p:nvSpPr>
          <p:cNvPr id="25612" name="Text Box 8"/>
          <p:cNvSpPr txBox="1">
            <a:spLocks noChangeArrowheads="1"/>
          </p:cNvSpPr>
          <p:nvPr/>
        </p:nvSpPr>
        <p:spPr bwMode="auto">
          <a:xfrm>
            <a:off x="1329671" y="3505200"/>
            <a:ext cx="225901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Quantity (units/day)</a:t>
            </a:r>
          </a:p>
        </p:txBody>
      </p:sp>
      <p:sp>
        <p:nvSpPr>
          <p:cNvPr id="25613" name="Text Box 9"/>
          <p:cNvSpPr txBox="1">
            <a:spLocks noChangeArrowheads="1"/>
          </p:cNvSpPr>
          <p:nvPr/>
        </p:nvSpPr>
        <p:spPr bwMode="auto">
          <a:xfrm rot="-5400000">
            <a:off x="531952" y="2482057"/>
            <a:ext cx="15398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Price ($/unit)</a:t>
            </a:r>
          </a:p>
        </p:txBody>
      </p:sp>
      <p:sp>
        <p:nvSpPr>
          <p:cNvPr id="165894" name="Line 6"/>
          <p:cNvSpPr>
            <a:spLocks noChangeShapeType="1"/>
          </p:cNvSpPr>
          <p:nvPr/>
        </p:nvSpPr>
        <p:spPr bwMode="auto">
          <a:xfrm>
            <a:off x="1763059" y="2185988"/>
            <a:ext cx="1536700" cy="1119187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5615" name="Text Box 11"/>
          <p:cNvSpPr txBox="1">
            <a:spLocks noChangeArrowheads="1"/>
          </p:cNvSpPr>
          <p:nvPr/>
        </p:nvSpPr>
        <p:spPr bwMode="auto">
          <a:xfrm>
            <a:off x="3094971" y="2886075"/>
            <a:ext cx="457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/>
              <a:t>D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25616" name="Text Box 13"/>
          <p:cNvSpPr txBox="1">
            <a:spLocks noChangeArrowheads="1"/>
          </p:cNvSpPr>
          <p:nvPr/>
        </p:nvSpPr>
        <p:spPr bwMode="auto">
          <a:xfrm>
            <a:off x="1350309" y="2109788"/>
            <a:ext cx="4746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18</a:t>
            </a:r>
          </a:p>
        </p:txBody>
      </p:sp>
      <p:sp>
        <p:nvSpPr>
          <p:cNvPr id="25617" name="Text Box 14"/>
          <p:cNvSpPr txBox="1">
            <a:spLocks noChangeArrowheads="1"/>
          </p:cNvSpPr>
          <p:nvPr/>
        </p:nvSpPr>
        <p:spPr bwMode="auto">
          <a:xfrm>
            <a:off x="2998134" y="3317875"/>
            <a:ext cx="5603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24</a:t>
            </a:r>
          </a:p>
        </p:txBody>
      </p:sp>
      <p:sp>
        <p:nvSpPr>
          <p:cNvPr id="25618" name="Line 10"/>
          <p:cNvSpPr>
            <a:spLocks noChangeShapeType="1"/>
          </p:cNvSpPr>
          <p:nvPr/>
        </p:nvSpPr>
        <p:spPr bwMode="auto">
          <a:xfrm>
            <a:off x="1764646" y="1809750"/>
            <a:ext cx="0" cy="1495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9" name="Line 7"/>
          <p:cNvSpPr>
            <a:spLocks noChangeShapeType="1"/>
          </p:cNvSpPr>
          <p:nvPr/>
        </p:nvSpPr>
        <p:spPr bwMode="auto">
          <a:xfrm>
            <a:off x="1759884" y="3305175"/>
            <a:ext cx="1609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5906" name="Line 18"/>
          <p:cNvSpPr>
            <a:spLocks noChangeShapeType="1"/>
          </p:cNvSpPr>
          <p:nvPr/>
        </p:nvSpPr>
        <p:spPr bwMode="auto">
          <a:xfrm>
            <a:off x="1753534" y="4149725"/>
            <a:ext cx="1862137" cy="1444625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/>
          </a:p>
        </p:txBody>
      </p:sp>
      <p:sp>
        <p:nvSpPr>
          <p:cNvPr id="25621" name="Text Box 26"/>
          <p:cNvSpPr txBox="1">
            <a:spLocks noChangeArrowheads="1"/>
          </p:cNvSpPr>
          <p:nvPr/>
        </p:nvSpPr>
        <p:spPr bwMode="auto">
          <a:xfrm>
            <a:off x="3402946" y="5287963"/>
            <a:ext cx="53498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D</a:t>
            </a:r>
            <a:r>
              <a:rPr lang="en-US" sz="1600" baseline="-25000"/>
              <a:t>2</a:t>
            </a:r>
            <a:endParaRPr lang="en-US" sz="1600"/>
          </a:p>
        </p:txBody>
      </p:sp>
      <p:sp>
        <p:nvSpPr>
          <p:cNvPr id="25622" name="Text Box 30"/>
          <p:cNvSpPr txBox="1">
            <a:spLocks noChangeArrowheads="1"/>
          </p:cNvSpPr>
          <p:nvPr/>
        </p:nvSpPr>
        <p:spPr bwMode="auto">
          <a:xfrm>
            <a:off x="3380721" y="5600700"/>
            <a:ext cx="4476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36</a:t>
            </a:r>
          </a:p>
        </p:txBody>
      </p:sp>
      <p:sp>
        <p:nvSpPr>
          <p:cNvPr id="25623" name="Line 22"/>
          <p:cNvSpPr>
            <a:spLocks noChangeShapeType="1"/>
          </p:cNvSpPr>
          <p:nvPr/>
        </p:nvSpPr>
        <p:spPr bwMode="auto">
          <a:xfrm>
            <a:off x="1755121" y="4079875"/>
            <a:ext cx="0" cy="1508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24" name="Line 19"/>
          <p:cNvSpPr>
            <a:spLocks noChangeShapeType="1"/>
          </p:cNvSpPr>
          <p:nvPr/>
        </p:nvSpPr>
        <p:spPr bwMode="auto">
          <a:xfrm>
            <a:off x="1750359" y="5588000"/>
            <a:ext cx="2030412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25" name="Text Box 20"/>
          <p:cNvSpPr txBox="1">
            <a:spLocks noChangeArrowheads="1"/>
          </p:cNvSpPr>
          <p:nvPr/>
        </p:nvSpPr>
        <p:spPr bwMode="auto">
          <a:xfrm>
            <a:off x="2156759" y="4100513"/>
            <a:ext cx="116681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u="sng"/>
              <a:t>Market 2</a:t>
            </a:r>
          </a:p>
        </p:txBody>
      </p:sp>
      <p:sp>
        <p:nvSpPr>
          <p:cNvPr id="25626" name="Text Box 20"/>
          <p:cNvSpPr txBox="1">
            <a:spLocks noChangeArrowheads="1"/>
          </p:cNvSpPr>
          <p:nvPr/>
        </p:nvSpPr>
        <p:spPr bwMode="auto">
          <a:xfrm>
            <a:off x="2156759" y="1822450"/>
            <a:ext cx="116681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u="sng"/>
              <a:t>Market 1</a:t>
            </a:r>
          </a:p>
        </p:txBody>
      </p:sp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1350309" y="4308475"/>
            <a:ext cx="974725" cy="1630363"/>
            <a:chOff x="1255848" y="4307823"/>
            <a:chExt cx="974468" cy="1630925"/>
          </a:xfrm>
        </p:grpSpPr>
        <p:sp>
          <p:nvSpPr>
            <p:cNvPr id="25649" name="Text Box 25"/>
            <p:cNvSpPr txBox="1">
              <a:spLocks noChangeArrowheads="1"/>
            </p:cNvSpPr>
            <p:nvPr/>
          </p:nvSpPr>
          <p:spPr bwMode="auto">
            <a:xfrm>
              <a:off x="1909311" y="5600194"/>
              <a:ext cx="32100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9</a:t>
              </a:r>
            </a:p>
          </p:txBody>
        </p:sp>
        <p:sp>
          <p:nvSpPr>
            <p:cNvPr id="25650" name="Line 27"/>
            <p:cNvSpPr>
              <a:spLocks noChangeShapeType="1"/>
            </p:cNvSpPr>
            <p:nvPr/>
          </p:nvSpPr>
          <p:spPr bwMode="auto">
            <a:xfrm rot="-5400000">
              <a:off x="1498178" y="5021005"/>
              <a:ext cx="11193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51" name="Text Box 13"/>
            <p:cNvSpPr txBox="1">
              <a:spLocks noChangeArrowheads="1"/>
            </p:cNvSpPr>
            <p:nvPr/>
          </p:nvSpPr>
          <p:spPr bwMode="auto">
            <a:xfrm>
              <a:off x="1255848" y="4307823"/>
              <a:ext cx="47423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 dirty="0"/>
                <a:t>18</a:t>
              </a:r>
            </a:p>
          </p:txBody>
        </p:sp>
        <p:cxnSp>
          <p:nvCxnSpPr>
            <p:cNvPr id="25652" name="Straight Connector 47"/>
            <p:cNvCxnSpPr>
              <a:cxnSpLocks noChangeShapeType="1"/>
            </p:cNvCxnSpPr>
            <p:nvPr/>
          </p:nvCxnSpPr>
          <p:spPr bwMode="auto">
            <a:xfrm>
              <a:off x="1660358" y="4464050"/>
              <a:ext cx="409074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sp>
        <p:nvSpPr>
          <p:cNvPr id="25628" name="Text Box 14"/>
          <p:cNvSpPr txBox="1">
            <a:spLocks noChangeArrowheads="1"/>
          </p:cNvSpPr>
          <p:nvPr/>
        </p:nvSpPr>
        <p:spPr bwMode="auto">
          <a:xfrm>
            <a:off x="6168371" y="5334000"/>
            <a:ext cx="14811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Q = Q</a:t>
            </a:r>
            <a:r>
              <a:rPr lang="en-US" baseline="-25000"/>
              <a:t>1</a:t>
            </a:r>
            <a:r>
              <a:rPr lang="en-US"/>
              <a:t> + Q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25629" name="Text Box 15"/>
          <p:cNvSpPr txBox="1">
            <a:spLocks noChangeArrowheads="1"/>
          </p:cNvSpPr>
          <p:nvPr/>
        </p:nvSpPr>
        <p:spPr bwMode="auto">
          <a:xfrm rot="-5400000">
            <a:off x="4155421" y="3532188"/>
            <a:ext cx="2370137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Price ($/unit)</a:t>
            </a:r>
          </a:p>
        </p:txBody>
      </p:sp>
      <p:sp>
        <p:nvSpPr>
          <p:cNvPr id="57" name="Text Box 25"/>
          <p:cNvSpPr txBox="1">
            <a:spLocks noChangeArrowheads="1"/>
          </p:cNvSpPr>
          <p:nvPr/>
        </p:nvSpPr>
        <p:spPr bwMode="auto">
          <a:xfrm>
            <a:off x="7736821" y="5075238"/>
            <a:ext cx="5492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60</a:t>
            </a:r>
          </a:p>
        </p:txBody>
      </p:sp>
      <p:sp>
        <p:nvSpPr>
          <p:cNvPr id="25631" name="Line 16"/>
          <p:cNvSpPr>
            <a:spLocks noChangeShapeType="1"/>
          </p:cNvSpPr>
          <p:nvPr/>
        </p:nvSpPr>
        <p:spPr bwMode="auto">
          <a:xfrm>
            <a:off x="5884209" y="2279650"/>
            <a:ext cx="0" cy="2773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74"/>
          <p:cNvGrpSpPr>
            <a:grpSpLocks/>
          </p:cNvGrpSpPr>
          <p:nvPr/>
        </p:nvGrpSpPr>
        <p:grpSpPr bwMode="auto">
          <a:xfrm>
            <a:off x="5887384" y="2436813"/>
            <a:ext cx="2724150" cy="2613025"/>
            <a:chOff x="5793368" y="2256535"/>
            <a:chExt cx="2723001" cy="2612676"/>
          </a:xfrm>
        </p:grpSpPr>
        <p:sp>
          <p:nvSpPr>
            <p:cNvPr id="25647" name="Text Box 19"/>
            <p:cNvSpPr txBox="1">
              <a:spLocks noChangeArrowheads="1"/>
            </p:cNvSpPr>
            <p:nvPr/>
          </p:nvSpPr>
          <p:spPr bwMode="auto">
            <a:xfrm>
              <a:off x="6996418" y="3512873"/>
              <a:ext cx="151995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D</a:t>
              </a:r>
              <a:r>
                <a:rPr lang="en-US" baseline="-25000"/>
                <a:t> </a:t>
              </a:r>
              <a:r>
                <a:rPr lang="en-US"/>
                <a:t> = D</a:t>
              </a:r>
              <a:r>
                <a:rPr lang="en-US" baseline="-25000"/>
                <a:t>1</a:t>
              </a:r>
              <a:r>
                <a:rPr lang="en-US"/>
                <a:t> + D</a:t>
              </a:r>
              <a:r>
                <a:rPr lang="en-US" baseline="-25000"/>
                <a:t>2</a:t>
              </a:r>
              <a:endParaRPr lang="en-US"/>
            </a:p>
          </p:txBody>
        </p:sp>
        <p:sp>
          <p:nvSpPr>
            <p:cNvPr id="61" name="Freeform 24"/>
            <p:cNvSpPr>
              <a:spLocks/>
            </p:cNvSpPr>
            <p:nvPr/>
          </p:nvSpPr>
          <p:spPr bwMode="auto">
            <a:xfrm>
              <a:off x="5793368" y="2256535"/>
              <a:ext cx="2148568" cy="2612676"/>
            </a:xfrm>
            <a:custGeom>
              <a:avLst/>
              <a:gdLst/>
              <a:ahLst/>
              <a:cxnLst>
                <a:cxn ang="0">
                  <a:pos x="3703" y="1855"/>
                </a:cxn>
                <a:cxn ang="0">
                  <a:pos x="516" y="381"/>
                </a:cxn>
                <a:cxn ang="0">
                  <a:pos x="0" y="0"/>
                </a:cxn>
              </a:cxnLst>
              <a:rect l="0" t="0" r="r" b="b"/>
              <a:pathLst>
                <a:path w="3703" h="1855">
                  <a:moveTo>
                    <a:pt x="3703" y="1855"/>
                  </a:moveTo>
                  <a:lnTo>
                    <a:pt x="516" y="381"/>
                  </a:lnTo>
                  <a:lnTo>
                    <a:pt x="0" y="0"/>
                  </a:lnTo>
                </a:path>
              </a:pathLst>
            </a:cu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25633" name="Text Box 19"/>
          <p:cNvSpPr txBox="1">
            <a:spLocks noChangeArrowheads="1"/>
          </p:cNvSpPr>
          <p:nvPr/>
        </p:nvSpPr>
        <p:spPr bwMode="auto">
          <a:xfrm>
            <a:off x="6617634" y="2389188"/>
            <a:ext cx="15208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u="sng"/>
              <a:t>Total Market</a:t>
            </a:r>
          </a:p>
        </p:txBody>
      </p:sp>
      <p:sp>
        <p:nvSpPr>
          <p:cNvPr id="66" name="Right Brace 65"/>
          <p:cNvSpPr/>
          <p:nvPr/>
        </p:nvSpPr>
        <p:spPr bwMode="auto">
          <a:xfrm>
            <a:off x="4017309" y="1960563"/>
            <a:ext cx="925512" cy="3838575"/>
          </a:xfrm>
          <a:prstGeom prst="rightBrace">
            <a:avLst>
              <a:gd name="adj1" fmla="val 23070"/>
              <a:gd name="adj2" fmla="val 50000"/>
            </a:avLst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72"/>
          <p:cNvGrpSpPr>
            <a:grpSpLocks/>
          </p:cNvGrpSpPr>
          <p:nvPr/>
        </p:nvGrpSpPr>
        <p:grpSpPr bwMode="auto">
          <a:xfrm>
            <a:off x="5450821" y="2268538"/>
            <a:ext cx="495300" cy="369887"/>
            <a:chOff x="5356441" y="2088929"/>
            <a:chExt cx="494553" cy="369332"/>
          </a:xfrm>
        </p:grpSpPr>
        <p:sp>
          <p:nvSpPr>
            <p:cNvPr id="25645" name="Text Box 17"/>
            <p:cNvSpPr txBox="1">
              <a:spLocks noChangeArrowheads="1"/>
            </p:cNvSpPr>
            <p:nvPr/>
          </p:nvSpPr>
          <p:spPr bwMode="auto">
            <a:xfrm>
              <a:off x="5356441" y="2088929"/>
              <a:ext cx="44927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24</a:t>
              </a:r>
            </a:p>
          </p:txBody>
        </p:sp>
        <p:sp>
          <p:nvSpPr>
            <p:cNvPr id="67" name="Oval 66"/>
            <p:cNvSpPr/>
            <p:nvPr/>
          </p:nvSpPr>
          <p:spPr bwMode="auto">
            <a:xfrm>
              <a:off x="5743207" y="2218909"/>
              <a:ext cx="107787" cy="109373"/>
            </a:xfrm>
            <a:prstGeom prst="ellipse">
              <a:avLst/>
            </a:prstGeom>
            <a:solidFill>
              <a:srgbClr val="FFF05B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8" name="Oval 67"/>
          <p:cNvSpPr/>
          <p:nvPr/>
        </p:nvSpPr>
        <p:spPr bwMode="auto">
          <a:xfrm>
            <a:off x="7947959" y="5000625"/>
            <a:ext cx="107950" cy="107950"/>
          </a:xfrm>
          <a:prstGeom prst="ellipse">
            <a:avLst/>
          </a:prstGeom>
          <a:solidFill>
            <a:srgbClr val="FFF05B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73"/>
          <p:cNvGrpSpPr>
            <a:grpSpLocks/>
          </p:cNvGrpSpPr>
          <p:nvPr/>
        </p:nvGrpSpPr>
        <p:grpSpPr bwMode="auto">
          <a:xfrm>
            <a:off x="5450821" y="2817813"/>
            <a:ext cx="858838" cy="2584450"/>
            <a:chOff x="5356441" y="2638373"/>
            <a:chExt cx="857873" cy="2583865"/>
          </a:xfrm>
        </p:grpSpPr>
        <p:sp>
          <p:nvSpPr>
            <p:cNvPr id="25640" name="Text Box 18"/>
            <p:cNvSpPr txBox="1">
              <a:spLocks noChangeArrowheads="1"/>
            </p:cNvSpPr>
            <p:nvPr/>
          </p:nvSpPr>
          <p:spPr bwMode="auto">
            <a:xfrm>
              <a:off x="5971267" y="4894562"/>
              <a:ext cx="243047" cy="327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/>
                <a:t>9</a:t>
              </a:r>
            </a:p>
          </p:txBody>
        </p:sp>
        <p:sp>
          <p:nvSpPr>
            <p:cNvPr id="25641" name="Line 20"/>
            <p:cNvSpPr>
              <a:spLocks noChangeShapeType="1"/>
            </p:cNvSpPr>
            <p:nvPr/>
          </p:nvSpPr>
          <p:spPr bwMode="auto">
            <a:xfrm rot="-5400000">
              <a:off x="5061778" y="3829774"/>
              <a:ext cx="20577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5642" name="Straight Connector 59"/>
            <p:cNvCxnSpPr>
              <a:cxnSpLocks noChangeShapeType="1"/>
            </p:cNvCxnSpPr>
            <p:nvPr/>
          </p:nvCxnSpPr>
          <p:spPr bwMode="auto">
            <a:xfrm>
              <a:off x="5785308" y="2805831"/>
              <a:ext cx="303343" cy="140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25643" name="Text Box 17"/>
            <p:cNvSpPr txBox="1">
              <a:spLocks noChangeArrowheads="1"/>
            </p:cNvSpPr>
            <p:nvPr/>
          </p:nvSpPr>
          <p:spPr bwMode="auto">
            <a:xfrm>
              <a:off x="5356441" y="2638373"/>
              <a:ext cx="44927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18</a:t>
              </a:r>
            </a:p>
          </p:txBody>
        </p:sp>
        <p:sp>
          <p:nvSpPr>
            <p:cNvPr id="69" name="Oval 68"/>
            <p:cNvSpPr/>
            <p:nvPr/>
          </p:nvSpPr>
          <p:spPr bwMode="auto">
            <a:xfrm>
              <a:off x="6019270" y="2747885"/>
              <a:ext cx="109415" cy="107926"/>
            </a:xfrm>
            <a:prstGeom prst="ellipse">
              <a:avLst/>
            </a:prstGeom>
            <a:solidFill>
              <a:srgbClr val="FFF05B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5638" name="Title 71"/>
          <p:cNvSpPr>
            <a:spLocks noGrp="1"/>
          </p:cNvSpPr>
          <p:nvPr>
            <p:ph type="title"/>
          </p:nvPr>
        </p:nvSpPr>
        <p:spPr>
          <a:xfrm>
            <a:off x="78039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Private Good Market Demand – Horizontal Summation</a:t>
            </a:r>
          </a:p>
        </p:txBody>
      </p:sp>
      <p:cxnSp>
        <p:nvCxnSpPr>
          <p:cNvPr id="25639" name="Straight Connector 77"/>
          <p:cNvCxnSpPr>
            <a:cxnSpLocks noChangeShapeType="1"/>
            <a:stCxn id="25631" idx="1"/>
          </p:cNvCxnSpPr>
          <p:nvPr/>
        </p:nvCxnSpPr>
        <p:spPr bwMode="auto">
          <a:xfrm rot="16200000" flipH="1">
            <a:off x="7143891" y="3793331"/>
            <a:ext cx="17462" cy="253682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50" name="Picture 4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51" name="Line 27"/>
          <p:cNvSpPr>
            <a:spLocks noChangeShapeType="1"/>
          </p:cNvSpPr>
          <p:nvPr/>
        </p:nvSpPr>
        <p:spPr bwMode="auto">
          <a:xfrm rot="16200000" flipV="1">
            <a:off x="2346650" y="5248468"/>
            <a:ext cx="671804" cy="933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52" name="Straight Connector 47"/>
          <p:cNvCxnSpPr>
            <a:cxnSpLocks noChangeShapeType="1"/>
          </p:cNvCxnSpPr>
          <p:nvPr/>
        </p:nvCxnSpPr>
        <p:spPr bwMode="auto">
          <a:xfrm flipV="1">
            <a:off x="1754155" y="4898554"/>
            <a:ext cx="935577" cy="3734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56" name="Straight Connector 47"/>
          <p:cNvCxnSpPr>
            <a:cxnSpLocks noChangeShapeType="1"/>
          </p:cNvCxnSpPr>
          <p:nvPr/>
        </p:nvCxnSpPr>
        <p:spPr bwMode="auto">
          <a:xfrm flipV="1">
            <a:off x="1794588" y="2817845"/>
            <a:ext cx="808653" cy="12441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59" name="Line 27"/>
          <p:cNvSpPr>
            <a:spLocks noChangeShapeType="1"/>
          </p:cNvSpPr>
          <p:nvPr/>
        </p:nvSpPr>
        <p:spPr bwMode="auto">
          <a:xfrm rot="16200000" flipV="1">
            <a:off x="2332653" y="3069771"/>
            <a:ext cx="506964" cy="31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Box 14"/>
          <p:cNvSpPr txBox="1">
            <a:spLocks noChangeArrowheads="1"/>
          </p:cNvSpPr>
          <p:nvPr/>
        </p:nvSpPr>
        <p:spPr bwMode="auto">
          <a:xfrm>
            <a:off x="2273456" y="3265002"/>
            <a:ext cx="5603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20</a:t>
            </a:r>
          </a:p>
        </p:txBody>
      </p:sp>
      <p:sp>
        <p:nvSpPr>
          <p:cNvPr id="62" name="Text Box 14"/>
          <p:cNvSpPr txBox="1">
            <a:spLocks noChangeArrowheads="1"/>
          </p:cNvSpPr>
          <p:nvPr/>
        </p:nvSpPr>
        <p:spPr bwMode="auto">
          <a:xfrm>
            <a:off x="2509831" y="5591434"/>
            <a:ext cx="5603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28</a:t>
            </a:r>
          </a:p>
        </p:txBody>
      </p:sp>
      <p:sp>
        <p:nvSpPr>
          <p:cNvPr id="63" name="Text Box 13"/>
          <p:cNvSpPr txBox="1">
            <a:spLocks noChangeArrowheads="1"/>
          </p:cNvSpPr>
          <p:nvPr/>
        </p:nvSpPr>
        <p:spPr bwMode="auto">
          <a:xfrm>
            <a:off x="1306766" y="4796777"/>
            <a:ext cx="474363" cy="33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dirty="0"/>
              <a:t>12</a:t>
            </a:r>
          </a:p>
        </p:txBody>
      </p:sp>
      <p:sp>
        <p:nvSpPr>
          <p:cNvPr id="70" name="Text Box 13"/>
          <p:cNvSpPr txBox="1">
            <a:spLocks noChangeArrowheads="1"/>
          </p:cNvSpPr>
          <p:nvPr/>
        </p:nvSpPr>
        <p:spPr bwMode="auto">
          <a:xfrm>
            <a:off x="1300546" y="2653846"/>
            <a:ext cx="474363" cy="33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dirty="0"/>
              <a:t>12</a:t>
            </a:r>
          </a:p>
        </p:txBody>
      </p:sp>
      <p:sp>
        <p:nvSpPr>
          <p:cNvPr id="71" name="Text Box 13"/>
          <p:cNvSpPr txBox="1">
            <a:spLocks noChangeArrowheads="1"/>
          </p:cNvSpPr>
          <p:nvPr/>
        </p:nvSpPr>
        <p:spPr bwMode="auto">
          <a:xfrm>
            <a:off x="5434006" y="3577577"/>
            <a:ext cx="474363" cy="33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dirty="0"/>
              <a:t>12</a:t>
            </a:r>
          </a:p>
        </p:txBody>
      </p:sp>
      <p:cxnSp>
        <p:nvCxnSpPr>
          <p:cNvPr id="72" name="Straight Connector 47"/>
          <p:cNvCxnSpPr>
            <a:cxnSpLocks noChangeShapeType="1"/>
          </p:cNvCxnSpPr>
          <p:nvPr/>
        </p:nvCxnSpPr>
        <p:spPr bwMode="auto">
          <a:xfrm flipV="1">
            <a:off x="5881395" y="3713584"/>
            <a:ext cx="901960" cy="311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73" name="Line 27"/>
          <p:cNvSpPr>
            <a:spLocks noChangeShapeType="1"/>
          </p:cNvSpPr>
          <p:nvPr/>
        </p:nvSpPr>
        <p:spPr bwMode="auto">
          <a:xfrm rot="16200000">
            <a:off x="6156177" y="4383115"/>
            <a:ext cx="1319918" cy="957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Box 18"/>
          <p:cNvSpPr txBox="1">
            <a:spLocks noChangeArrowheads="1"/>
          </p:cNvSpPr>
          <p:nvPr/>
        </p:nvSpPr>
        <p:spPr bwMode="auto">
          <a:xfrm>
            <a:off x="6713261" y="5049631"/>
            <a:ext cx="47131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48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 bwMode="auto">
          <a:xfrm>
            <a:off x="1101437" y="1530922"/>
            <a:ext cx="3477491" cy="48352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1169988" y="1600200"/>
            <a:ext cx="3340100" cy="4697413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6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Public Good Market Demand – Vertical Summation</a:t>
            </a:r>
          </a:p>
        </p:txBody>
      </p:sp>
      <p:sp>
        <p:nvSpPr>
          <p:cNvPr id="26630" name="Text Box 32"/>
          <p:cNvSpPr txBox="1">
            <a:spLocks noChangeArrowheads="1"/>
          </p:cNvSpPr>
          <p:nvPr/>
        </p:nvSpPr>
        <p:spPr bwMode="auto">
          <a:xfrm rot="-5400000">
            <a:off x="495301" y="2706687"/>
            <a:ext cx="18859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15000"/>
              </a:spcBef>
            </a:pPr>
            <a:r>
              <a:rPr lang="en-US" sz="1400"/>
              <a:t>Price  ($/unit)</a:t>
            </a:r>
          </a:p>
        </p:txBody>
      </p:sp>
      <p:sp>
        <p:nvSpPr>
          <p:cNvPr id="26631" name="Line 53"/>
          <p:cNvSpPr>
            <a:spLocks noChangeShapeType="1"/>
          </p:cNvSpPr>
          <p:nvPr/>
        </p:nvSpPr>
        <p:spPr bwMode="auto">
          <a:xfrm flipH="1">
            <a:off x="1979613" y="4062413"/>
            <a:ext cx="4762" cy="1539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2" name="Line 54"/>
          <p:cNvSpPr>
            <a:spLocks noChangeShapeType="1"/>
          </p:cNvSpPr>
          <p:nvPr/>
        </p:nvSpPr>
        <p:spPr bwMode="auto">
          <a:xfrm rot="-5400000">
            <a:off x="3104357" y="4485481"/>
            <a:ext cx="0" cy="2205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3" name="Text Box 52"/>
          <p:cNvSpPr txBox="1">
            <a:spLocks noChangeArrowheads="1"/>
          </p:cNvSpPr>
          <p:nvPr/>
        </p:nvSpPr>
        <p:spPr bwMode="auto">
          <a:xfrm>
            <a:off x="3160713" y="5222875"/>
            <a:ext cx="5318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D</a:t>
            </a:r>
            <a:r>
              <a:rPr lang="en-US" sz="1600" baseline="-25000"/>
              <a:t>2</a:t>
            </a:r>
            <a:r>
              <a:rPr lang="en-US" sz="1600"/>
              <a:t> </a:t>
            </a:r>
          </a:p>
        </p:txBody>
      </p:sp>
      <p:sp>
        <p:nvSpPr>
          <p:cNvPr id="26634" name="Text Box 55"/>
          <p:cNvSpPr txBox="1">
            <a:spLocks noChangeArrowheads="1"/>
          </p:cNvSpPr>
          <p:nvPr/>
        </p:nvSpPr>
        <p:spPr bwMode="auto">
          <a:xfrm>
            <a:off x="1365250" y="4511675"/>
            <a:ext cx="6143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18</a:t>
            </a:r>
          </a:p>
        </p:txBody>
      </p:sp>
      <p:sp>
        <p:nvSpPr>
          <p:cNvPr id="26635" name="Text Box 57"/>
          <p:cNvSpPr txBox="1">
            <a:spLocks noChangeArrowheads="1"/>
          </p:cNvSpPr>
          <p:nvPr/>
        </p:nvSpPr>
        <p:spPr bwMode="auto">
          <a:xfrm>
            <a:off x="2886075" y="5586413"/>
            <a:ext cx="6683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24</a:t>
            </a:r>
          </a:p>
        </p:txBody>
      </p:sp>
      <p:sp>
        <p:nvSpPr>
          <p:cNvPr id="24" name="Line 58"/>
          <p:cNvSpPr>
            <a:spLocks noChangeShapeType="1"/>
          </p:cNvSpPr>
          <p:nvPr/>
        </p:nvSpPr>
        <p:spPr bwMode="auto">
          <a:xfrm>
            <a:off x="1976438" y="4689475"/>
            <a:ext cx="1263650" cy="869950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6637" name="Text Box 8"/>
          <p:cNvSpPr txBox="1">
            <a:spLocks noChangeArrowheads="1"/>
          </p:cNvSpPr>
          <p:nvPr/>
        </p:nvSpPr>
        <p:spPr bwMode="auto">
          <a:xfrm>
            <a:off x="1946275" y="5849938"/>
            <a:ext cx="22590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Quantity (units/day)</a:t>
            </a:r>
          </a:p>
        </p:txBody>
      </p:sp>
      <p:sp>
        <p:nvSpPr>
          <p:cNvPr id="26638" name="Text Box 32"/>
          <p:cNvSpPr txBox="1">
            <a:spLocks noChangeArrowheads="1"/>
          </p:cNvSpPr>
          <p:nvPr/>
        </p:nvSpPr>
        <p:spPr bwMode="auto">
          <a:xfrm rot="-5400000">
            <a:off x="495301" y="4972050"/>
            <a:ext cx="18859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15000"/>
              </a:spcBef>
            </a:pPr>
            <a:r>
              <a:rPr lang="en-US" sz="1400"/>
              <a:t>Price  ($/unit)</a:t>
            </a:r>
          </a:p>
        </p:txBody>
      </p:sp>
      <p:sp>
        <p:nvSpPr>
          <p:cNvPr id="26639" name="Line 28"/>
          <p:cNvSpPr>
            <a:spLocks noChangeShapeType="1"/>
          </p:cNvSpPr>
          <p:nvPr/>
        </p:nvSpPr>
        <p:spPr bwMode="auto">
          <a:xfrm>
            <a:off x="1971675" y="1708150"/>
            <a:ext cx="7938" cy="1757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0" name="Line 29"/>
          <p:cNvSpPr>
            <a:spLocks noChangeShapeType="1"/>
          </p:cNvSpPr>
          <p:nvPr/>
        </p:nvSpPr>
        <p:spPr bwMode="auto">
          <a:xfrm rot="-5400000">
            <a:off x="3104357" y="2348706"/>
            <a:ext cx="0" cy="2205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1" name="Text Box 25"/>
          <p:cNvSpPr txBox="1">
            <a:spLocks noChangeArrowheads="1"/>
          </p:cNvSpPr>
          <p:nvPr/>
        </p:nvSpPr>
        <p:spPr bwMode="auto">
          <a:xfrm>
            <a:off x="3651250" y="3449638"/>
            <a:ext cx="6667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36</a:t>
            </a:r>
          </a:p>
        </p:txBody>
      </p:sp>
      <p:sp>
        <p:nvSpPr>
          <p:cNvPr id="26642" name="Text Box 26"/>
          <p:cNvSpPr txBox="1">
            <a:spLocks noChangeArrowheads="1"/>
          </p:cNvSpPr>
          <p:nvPr/>
        </p:nvSpPr>
        <p:spPr bwMode="auto">
          <a:xfrm>
            <a:off x="3749675" y="3105150"/>
            <a:ext cx="64611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D</a:t>
            </a:r>
            <a:r>
              <a:rPr lang="en-US" sz="1600" baseline="-25000"/>
              <a:t>1</a:t>
            </a:r>
            <a:endParaRPr lang="en-US" sz="1600"/>
          </a:p>
        </p:txBody>
      </p:sp>
      <p:sp>
        <p:nvSpPr>
          <p:cNvPr id="26643" name="Text Box 30"/>
          <p:cNvSpPr txBox="1">
            <a:spLocks noChangeArrowheads="1"/>
          </p:cNvSpPr>
          <p:nvPr/>
        </p:nvSpPr>
        <p:spPr bwMode="auto">
          <a:xfrm>
            <a:off x="1365250" y="1911350"/>
            <a:ext cx="6143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24</a:t>
            </a:r>
          </a:p>
        </p:txBody>
      </p:sp>
      <p:sp>
        <p:nvSpPr>
          <p:cNvPr id="16" name="Line 35"/>
          <p:cNvSpPr>
            <a:spLocks noChangeShapeType="1"/>
          </p:cNvSpPr>
          <p:nvPr/>
        </p:nvSpPr>
        <p:spPr bwMode="auto">
          <a:xfrm>
            <a:off x="1997075" y="2089150"/>
            <a:ext cx="2032000" cy="1371600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6645" name="Text Box 8"/>
          <p:cNvSpPr txBox="1">
            <a:spLocks noChangeArrowheads="1"/>
          </p:cNvSpPr>
          <p:nvPr/>
        </p:nvSpPr>
        <p:spPr bwMode="auto">
          <a:xfrm>
            <a:off x="2028825" y="3675063"/>
            <a:ext cx="22590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Quantity (units/day)</a:t>
            </a:r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1514475" y="2789238"/>
            <a:ext cx="2071688" cy="996950"/>
            <a:chOff x="1514206" y="2789009"/>
            <a:chExt cx="2072406" cy="996950"/>
          </a:xfrm>
        </p:grpSpPr>
        <p:sp>
          <p:nvSpPr>
            <p:cNvPr id="26672" name="Line 22"/>
            <p:cNvSpPr>
              <a:spLocks noChangeShapeType="1"/>
            </p:cNvSpPr>
            <p:nvPr/>
          </p:nvSpPr>
          <p:spPr bwMode="auto">
            <a:xfrm>
              <a:off x="1963469" y="2947759"/>
              <a:ext cx="127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73" name="Text Box 24"/>
            <p:cNvSpPr txBox="1">
              <a:spLocks noChangeArrowheads="1"/>
            </p:cNvSpPr>
            <p:nvPr/>
          </p:nvSpPr>
          <p:spPr bwMode="auto">
            <a:xfrm>
              <a:off x="1514206" y="2789009"/>
              <a:ext cx="465138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 dirty="0"/>
                <a:t>8</a:t>
              </a:r>
            </a:p>
          </p:txBody>
        </p:sp>
        <p:sp>
          <p:nvSpPr>
            <p:cNvPr id="26674" name="Text Box 33"/>
            <p:cNvSpPr txBox="1">
              <a:spLocks noChangeArrowheads="1"/>
            </p:cNvSpPr>
            <p:nvPr/>
          </p:nvSpPr>
          <p:spPr bwMode="auto">
            <a:xfrm>
              <a:off x="2918274" y="3449409"/>
              <a:ext cx="668338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24</a:t>
              </a:r>
            </a:p>
          </p:txBody>
        </p:sp>
        <p:cxnSp>
          <p:nvCxnSpPr>
            <p:cNvPr id="26675" name="Straight Connector 17"/>
            <p:cNvCxnSpPr>
              <a:cxnSpLocks noChangeShapeType="1"/>
            </p:cNvCxnSpPr>
            <p:nvPr/>
          </p:nvCxnSpPr>
          <p:spPr bwMode="auto">
            <a:xfrm rot="5400000">
              <a:off x="3003138" y="3190357"/>
              <a:ext cx="498763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</p:grpSp>
      <p:sp>
        <p:nvSpPr>
          <p:cNvPr id="26647" name="Text Box 8"/>
          <p:cNvSpPr txBox="1">
            <a:spLocks noChangeArrowheads="1"/>
          </p:cNvSpPr>
          <p:nvPr/>
        </p:nvSpPr>
        <p:spPr bwMode="auto">
          <a:xfrm>
            <a:off x="2790825" y="1879600"/>
            <a:ext cx="123031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u="sng"/>
              <a:t>Market 1</a:t>
            </a:r>
          </a:p>
        </p:txBody>
      </p:sp>
      <p:sp>
        <p:nvSpPr>
          <p:cNvPr id="26648" name="Text Box 8"/>
          <p:cNvSpPr txBox="1">
            <a:spLocks noChangeArrowheads="1"/>
          </p:cNvSpPr>
          <p:nvPr/>
        </p:nvSpPr>
        <p:spPr bwMode="auto">
          <a:xfrm>
            <a:off x="2790825" y="4344988"/>
            <a:ext cx="12303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u="sng"/>
              <a:t>Market 2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5375564" y="1711039"/>
            <a:ext cx="3539836" cy="447501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5437188" y="1779588"/>
            <a:ext cx="3416300" cy="433705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653" name="Line 9"/>
          <p:cNvSpPr>
            <a:spLocks noChangeShapeType="1"/>
          </p:cNvSpPr>
          <p:nvPr/>
        </p:nvSpPr>
        <p:spPr bwMode="auto">
          <a:xfrm>
            <a:off x="6200775" y="1892300"/>
            <a:ext cx="0" cy="3095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4" name="Line 10"/>
          <p:cNvSpPr>
            <a:spLocks noChangeShapeType="1"/>
          </p:cNvSpPr>
          <p:nvPr/>
        </p:nvSpPr>
        <p:spPr bwMode="auto">
          <a:xfrm rot="-5400000">
            <a:off x="7383463" y="3798887"/>
            <a:ext cx="0" cy="2371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5538788" y="1960563"/>
            <a:ext cx="66198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/>
              <a:t>42</a:t>
            </a:r>
          </a:p>
        </p:txBody>
      </p:sp>
      <p:sp>
        <p:nvSpPr>
          <p:cNvPr id="41" name="Text Box 24"/>
          <p:cNvSpPr txBox="1">
            <a:spLocks noChangeArrowheads="1"/>
          </p:cNvSpPr>
          <p:nvPr/>
        </p:nvSpPr>
        <p:spPr bwMode="auto">
          <a:xfrm>
            <a:off x="7989888" y="5018088"/>
            <a:ext cx="7175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36</a:t>
            </a:r>
          </a:p>
        </p:txBody>
      </p:sp>
      <p:sp>
        <p:nvSpPr>
          <p:cNvPr id="26657" name="Text Box 8"/>
          <p:cNvSpPr txBox="1">
            <a:spLocks noChangeArrowheads="1"/>
          </p:cNvSpPr>
          <p:nvPr/>
        </p:nvSpPr>
        <p:spPr bwMode="auto">
          <a:xfrm>
            <a:off x="6496050" y="1878013"/>
            <a:ext cx="17827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u="sng"/>
              <a:t>Total Market</a:t>
            </a:r>
          </a:p>
        </p:txBody>
      </p:sp>
      <p:sp>
        <p:nvSpPr>
          <p:cNvPr id="26658" name="Text Box 32"/>
          <p:cNvSpPr txBox="1">
            <a:spLocks noChangeArrowheads="1"/>
          </p:cNvSpPr>
          <p:nvPr/>
        </p:nvSpPr>
        <p:spPr bwMode="auto">
          <a:xfrm rot="-5400000">
            <a:off x="4410075" y="3363913"/>
            <a:ext cx="2647950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15000"/>
              </a:spcBef>
            </a:pPr>
            <a:r>
              <a:rPr lang="en-US" sz="1400"/>
              <a:t>Price  ($/unit)</a:t>
            </a:r>
          </a:p>
        </p:txBody>
      </p:sp>
      <p:sp>
        <p:nvSpPr>
          <p:cNvPr id="26659" name="Text Box 8"/>
          <p:cNvSpPr txBox="1">
            <a:spLocks noChangeArrowheads="1"/>
          </p:cNvSpPr>
          <p:nvPr/>
        </p:nvSpPr>
        <p:spPr bwMode="auto">
          <a:xfrm>
            <a:off x="6213475" y="5546725"/>
            <a:ext cx="243046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Quantity (units/day)</a:t>
            </a:r>
          </a:p>
        </p:txBody>
      </p:sp>
      <p:sp>
        <p:nvSpPr>
          <p:cNvPr id="47" name="Right Brace 46"/>
          <p:cNvSpPr/>
          <p:nvPr/>
        </p:nvSpPr>
        <p:spPr bwMode="auto">
          <a:xfrm>
            <a:off x="4379913" y="1960563"/>
            <a:ext cx="925512" cy="3838575"/>
          </a:xfrm>
          <a:prstGeom prst="rightBrace">
            <a:avLst>
              <a:gd name="adj1" fmla="val 23070"/>
              <a:gd name="adj2" fmla="val 50000"/>
            </a:avLst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6211888" y="2217738"/>
            <a:ext cx="2540000" cy="2743200"/>
            <a:chOff x="6212277" y="2134230"/>
            <a:chExt cx="2539423" cy="2743296"/>
          </a:xfrm>
        </p:grpSpPr>
        <p:sp>
          <p:nvSpPr>
            <p:cNvPr id="26670" name="Text Box 8"/>
            <p:cNvSpPr txBox="1">
              <a:spLocks noChangeArrowheads="1"/>
            </p:cNvSpPr>
            <p:nvPr/>
          </p:nvSpPr>
          <p:spPr bwMode="auto">
            <a:xfrm>
              <a:off x="7093069" y="3086411"/>
              <a:ext cx="1658631" cy="472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i="1"/>
                <a:t>D = D</a:t>
              </a:r>
              <a:r>
                <a:rPr lang="en-US" sz="1600" i="1" baseline="-25000"/>
                <a:t>1</a:t>
              </a:r>
              <a:r>
                <a:rPr lang="en-US" sz="1600" i="1"/>
                <a:t> + D</a:t>
              </a:r>
              <a:r>
                <a:rPr lang="en-US" sz="1600" i="1" baseline="-25000"/>
                <a:t>2</a:t>
              </a:r>
            </a:p>
          </p:txBody>
        </p:sp>
        <p:sp>
          <p:nvSpPr>
            <p:cNvPr id="42" name="Freeform 26"/>
            <p:cNvSpPr>
              <a:spLocks/>
            </p:cNvSpPr>
            <p:nvPr/>
          </p:nvSpPr>
          <p:spPr bwMode="auto">
            <a:xfrm>
              <a:off x="6212277" y="2134230"/>
              <a:ext cx="2169619" cy="27432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81" y="923"/>
                </a:cxn>
                <a:cxn ang="0">
                  <a:pos x="1270" y="1231"/>
                </a:cxn>
              </a:cxnLst>
              <a:rect l="0" t="0" r="r" b="b"/>
              <a:pathLst>
                <a:path w="1270" h="1231">
                  <a:moveTo>
                    <a:pt x="0" y="0"/>
                  </a:moveTo>
                  <a:lnTo>
                    <a:pt x="781" y="923"/>
                  </a:lnTo>
                  <a:lnTo>
                    <a:pt x="1270" y="1231"/>
                  </a:lnTo>
                </a:path>
              </a:pathLst>
            </a:cu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50" name="Oval 49"/>
          <p:cNvSpPr/>
          <p:nvPr/>
        </p:nvSpPr>
        <p:spPr bwMode="auto">
          <a:xfrm>
            <a:off x="6145213" y="2179638"/>
            <a:ext cx="107950" cy="107950"/>
          </a:xfrm>
          <a:prstGeom prst="ellipse">
            <a:avLst/>
          </a:prstGeom>
          <a:solidFill>
            <a:srgbClr val="FFF05B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5699125" y="4038600"/>
            <a:ext cx="2165350" cy="1316038"/>
            <a:chOff x="5699827" y="3954923"/>
            <a:chExt cx="2164095" cy="1316935"/>
          </a:xfrm>
        </p:grpSpPr>
        <p:sp>
          <p:nvSpPr>
            <p:cNvPr id="26665" name="Line 4"/>
            <p:cNvSpPr>
              <a:spLocks noChangeShapeType="1"/>
            </p:cNvSpPr>
            <p:nvPr/>
          </p:nvSpPr>
          <p:spPr bwMode="auto">
            <a:xfrm flipV="1">
              <a:off x="6206375" y="4177774"/>
              <a:ext cx="1343396" cy="1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66" name="Text Box 6"/>
            <p:cNvSpPr txBox="1">
              <a:spLocks noChangeArrowheads="1"/>
            </p:cNvSpPr>
            <p:nvPr/>
          </p:nvSpPr>
          <p:spPr bwMode="auto">
            <a:xfrm>
              <a:off x="5699827" y="3954923"/>
              <a:ext cx="500494" cy="472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 dirty="0"/>
                <a:t>8</a:t>
              </a:r>
            </a:p>
          </p:txBody>
        </p:sp>
        <p:cxnSp>
          <p:nvCxnSpPr>
            <p:cNvPr id="26667" name="Straight Connector 42"/>
            <p:cNvCxnSpPr>
              <a:cxnSpLocks noChangeShapeType="1"/>
            </p:cNvCxnSpPr>
            <p:nvPr/>
          </p:nvCxnSpPr>
          <p:spPr bwMode="auto">
            <a:xfrm rot="5400000" flipH="1" flipV="1">
              <a:off x="7166927" y="4525074"/>
              <a:ext cx="700156" cy="1709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26668" name="Text Box 57"/>
            <p:cNvSpPr txBox="1">
              <a:spLocks noChangeArrowheads="1"/>
            </p:cNvSpPr>
            <p:nvPr/>
          </p:nvSpPr>
          <p:spPr bwMode="auto">
            <a:xfrm>
              <a:off x="7195584" y="4935308"/>
              <a:ext cx="668338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24</a:t>
              </a:r>
            </a:p>
          </p:txBody>
        </p:sp>
        <p:sp>
          <p:nvSpPr>
            <p:cNvPr id="51" name="Oval 50"/>
            <p:cNvSpPr/>
            <p:nvPr/>
          </p:nvSpPr>
          <p:spPr bwMode="auto">
            <a:xfrm>
              <a:off x="7475210" y="4132844"/>
              <a:ext cx="107887" cy="108024"/>
            </a:xfrm>
            <a:prstGeom prst="ellipse">
              <a:avLst/>
            </a:prstGeom>
            <a:solidFill>
              <a:srgbClr val="FFF05B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2" name="Oval 51"/>
          <p:cNvSpPr/>
          <p:nvPr/>
        </p:nvSpPr>
        <p:spPr bwMode="auto">
          <a:xfrm>
            <a:off x="8278813" y="4922838"/>
            <a:ext cx="107950" cy="107950"/>
          </a:xfrm>
          <a:prstGeom prst="ellipse">
            <a:avLst/>
          </a:prstGeom>
          <a:solidFill>
            <a:srgbClr val="FFF05B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  <p:sp>
        <p:nvSpPr>
          <p:cNvPr id="53" name="Line 22"/>
          <p:cNvSpPr>
            <a:spLocks noChangeShapeType="1"/>
          </p:cNvSpPr>
          <p:nvPr/>
        </p:nvSpPr>
        <p:spPr bwMode="auto">
          <a:xfrm flipV="1">
            <a:off x="2013346" y="2649894"/>
            <a:ext cx="823160" cy="26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54" name="Straight Connector 17"/>
          <p:cNvCxnSpPr>
            <a:cxnSpLocks noChangeShapeType="1"/>
          </p:cNvCxnSpPr>
          <p:nvPr/>
        </p:nvCxnSpPr>
        <p:spPr bwMode="auto">
          <a:xfrm>
            <a:off x="2789561" y="2665190"/>
            <a:ext cx="292" cy="787137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57" name="Line 22"/>
          <p:cNvSpPr>
            <a:spLocks noChangeShapeType="1"/>
          </p:cNvSpPr>
          <p:nvPr/>
        </p:nvSpPr>
        <p:spPr bwMode="auto">
          <a:xfrm flipV="1">
            <a:off x="1960473" y="5187819"/>
            <a:ext cx="670760" cy="573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58" name="Straight Connector 17"/>
          <p:cNvCxnSpPr>
            <a:cxnSpLocks noChangeShapeType="1"/>
          </p:cNvCxnSpPr>
          <p:nvPr/>
        </p:nvCxnSpPr>
        <p:spPr bwMode="auto">
          <a:xfrm flipH="1">
            <a:off x="2640563" y="5159829"/>
            <a:ext cx="1" cy="447869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62" name="Text Box 33"/>
          <p:cNvSpPr txBox="1">
            <a:spLocks noChangeArrowheads="1"/>
          </p:cNvSpPr>
          <p:nvPr/>
        </p:nvSpPr>
        <p:spPr bwMode="auto">
          <a:xfrm>
            <a:off x="2463968" y="3452748"/>
            <a:ext cx="668106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16</a:t>
            </a:r>
          </a:p>
        </p:txBody>
      </p:sp>
      <p:sp>
        <p:nvSpPr>
          <p:cNvPr id="63" name="Text Box 33"/>
          <p:cNvSpPr txBox="1">
            <a:spLocks noChangeArrowheads="1"/>
          </p:cNvSpPr>
          <p:nvPr/>
        </p:nvSpPr>
        <p:spPr bwMode="auto">
          <a:xfrm>
            <a:off x="2261804" y="5583238"/>
            <a:ext cx="668106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16</a:t>
            </a:r>
          </a:p>
        </p:txBody>
      </p:sp>
      <p:sp>
        <p:nvSpPr>
          <p:cNvPr id="64" name="Text Box 24"/>
          <p:cNvSpPr txBox="1">
            <a:spLocks noChangeArrowheads="1"/>
          </p:cNvSpPr>
          <p:nvPr/>
        </p:nvSpPr>
        <p:spPr bwMode="auto">
          <a:xfrm>
            <a:off x="1508255" y="2512430"/>
            <a:ext cx="46497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dirty="0"/>
              <a:t>20</a:t>
            </a:r>
          </a:p>
        </p:txBody>
      </p:sp>
      <p:sp>
        <p:nvSpPr>
          <p:cNvPr id="65" name="Text Box 24"/>
          <p:cNvSpPr txBox="1">
            <a:spLocks noChangeArrowheads="1"/>
          </p:cNvSpPr>
          <p:nvPr/>
        </p:nvSpPr>
        <p:spPr bwMode="auto">
          <a:xfrm>
            <a:off x="1517585" y="5041025"/>
            <a:ext cx="4649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dirty="0"/>
              <a:t>12</a:t>
            </a:r>
          </a:p>
        </p:txBody>
      </p:sp>
      <p:cxnSp>
        <p:nvCxnSpPr>
          <p:cNvPr id="66" name="Straight Connector 17"/>
          <p:cNvCxnSpPr>
            <a:cxnSpLocks noChangeShapeType="1"/>
          </p:cNvCxnSpPr>
          <p:nvPr/>
        </p:nvCxnSpPr>
        <p:spPr bwMode="auto">
          <a:xfrm flipH="1">
            <a:off x="6746033" y="3144161"/>
            <a:ext cx="12149" cy="1819725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68" name="Text Box 6"/>
          <p:cNvSpPr txBox="1">
            <a:spLocks noChangeArrowheads="1"/>
          </p:cNvSpPr>
          <p:nvPr/>
        </p:nvSpPr>
        <p:spPr bwMode="auto">
          <a:xfrm>
            <a:off x="5674243" y="2987351"/>
            <a:ext cx="50078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dirty="0"/>
              <a:t>32</a:t>
            </a:r>
          </a:p>
        </p:txBody>
      </p:sp>
      <p:sp>
        <p:nvSpPr>
          <p:cNvPr id="69" name="Line 22"/>
          <p:cNvSpPr>
            <a:spLocks noChangeShapeType="1"/>
          </p:cNvSpPr>
          <p:nvPr/>
        </p:nvSpPr>
        <p:spPr bwMode="auto">
          <a:xfrm flipV="1">
            <a:off x="6167535" y="3119533"/>
            <a:ext cx="637592" cy="6221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Box 57"/>
          <p:cNvSpPr txBox="1">
            <a:spLocks noChangeArrowheads="1"/>
          </p:cNvSpPr>
          <p:nvPr/>
        </p:nvSpPr>
        <p:spPr bwMode="auto">
          <a:xfrm>
            <a:off x="6489733" y="4993435"/>
            <a:ext cx="668726" cy="336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/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50" grpId="0" animBg="1"/>
      <p:bldP spid="5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 bwMode="auto">
          <a:xfrm>
            <a:off x="1273424" y="1655617"/>
            <a:ext cx="7148945" cy="47105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1342698" y="1725613"/>
            <a:ext cx="7010400" cy="457200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The Optimal Quantity of Parkland</a:t>
            </a:r>
          </a:p>
        </p:txBody>
      </p:sp>
      <p:sp>
        <p:nvSpPr>
          <p:cNvPr id="27654" name="Text Box 4"/>
          <p:cNvSpPr txBox="1">
            <a:spLocks noChangeArrowheads="1"/>
          </p:cNvSpPr>
          <p:nvPr/>
        </p:nvSpPr>
        <p:spPr bwMode="auto">
          <a:xfrm>
            <a:off x="2623811" y="5813425"/>
            <a:ext cx="47656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Acres of parkland</a:t>
            </a:r>
          </a:p>
        </p:txBody>
      </p:sp>
      <p:sp>
        <p:nvSpPr>
          <p:cNvPr id="27655" name="Text Box 5"/>
          <p:cNvSpPr txBox="1">
            <a:spLocks noChangeArrowheads="1"/>
          </p:cNvSpPr>
          <p:nvPr/>
        </p:nvSpPr>
        <p:spPr bwMode="auto">
          <a:xfrm rot="-5400000">
            <a:off x="11579" y="3526632"/>
            <a:ext cx="36845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/>
              <a:t>Price ($000s/acre)</a:t>
            </a:r>
          </a:p>
        </p:txBody>
      </p:sp>
      <p:sp>
        <p:nvSpPr>
          <p:cNvPr id="27656" name="Line 14"/>
          <p:cNvSpPr>
            <a:spLocks noChangeShapeType="1"/>
          </p:cNvSpPr>
          <p:nvPr/>
        </p:nvSpPr>
        <p:spPr bwMode="auto">
          <a:xfrm>
            <a:off x="2685723" y="5548313"/>
            <a:ext cx="4645025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7" name="Line 15"/>
          <p:cNvSpPr>
            <a:spLocks noChangeShapeType="1"/>
          </p:cNvSpPr>
          <p:nvPr/>
        </p:nvSpPr>
        <p:spPr bwMode="auto">
          <a:xfrm>
            <a:off x="2620636" y="1898650"/>
            <a:ext cx="46037" cy="36496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1972936" y="3616325"/>
            <a:ext cx="3740150" cy="2351088"/>
            <a:chOff x="1745673" y="3616896"/>
            <a:chExt cx="3740733" cy="2351004"/>
          </a:xfrm>
        </p:grpSpPr>
        <p:sp>
          <p:nvSpPr>
            <p:cNvPr id="27672" name="Text Box 13"/>
            <p:cNvSpPr txBox="1">
              <a:spLocks noChangeArrowheads="1"/>
            </p:cNvSpPr>
            <p:nvPr/>
          </p:nvSpPr>
          <p:spPr bwMode="auto">
            <a:xfrm>
              <a:off x="4928438" y="5567790"/>
              <a:ext cx="5579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 i="1"/>
                <a:t>A</a:t>
              </a:r>
              <a:r>
                <a:rPr lang="en-US" sz="2000"/>
                <a:t>*</a:t>
              </a:r>
            </a:p>
          </p:txBody>
        </p:sp>
        <p:sp>
          <p:nvSpPr>
            <p:cNvPr id="27673" name="Line 16"/>
            <p:cNvSpPr>
              <a:spLocks noChangeShapeType="1"/>
            </p:cNvSpPr>
            <p:nvPr/>
          </p:nvSpPr>
          <p:spPr bwMode="auto">
            <a:xfrm rot="-5400000">
              <a:off x="4445043" y="4650270"/>
              <a:ext cx="17657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74" name="Line 18"/>
            <p:cNvSpPr>
              <a:spLocks noChangeShapeType="1"/>
            </p:cNvSpPr>
            <p:nvPr/>
          </p:nvSpPr>
          <p:spPr bwMode="auto">
            <a:xfrm rot="10800000">
              <a:off x="2440883" y="3764712"/>
              <a:ext cx="288172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75" name="Text Box 22"/>
            <p:cNvSpPr txBox="1">
              <a:spLocks noChangeArrowheads="1"/>
            </p:cNvSpPr>
            <p:nvPr/>
          </p:nvSpPr>
          <p:spPr bwMode="auto">
            <a:xfrm>
              <a:off x="1745673" y="3616896"/>
              <a:ext cx="69254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/>
                <a:t>140</a:t>
              </a:r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2014211" y="2822575"/>
            <a:ext cx="2574925" cy="3144838"/>
            <a:chOff x="1787236" y="2821891"/>
            <a:chExt cx="2575243" cy="3146009"/>
          </a:xfrm>
        </p:grpSpPr>
        <p:sp>
          <p:nvSpPr>
            <p:cNvPr id="27666" name="Text Box 6"/>
            <p:cNvSpPr txBox="1">
              <a:spLocks noChangeArrowheads="1"/>
            </p:cNvSpPr>
            <p:nvPr/>
          </p:nvSpPr>
          <p:spPr bwMode="auto">
            <a:xfrm>
              <a:off x="1787236" y="2821891"/>
              <a:ext cx="65098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/>
                <a:t>200</a:t>
              </a:r>
            </a:p>
          </p:txBody>
        </p:sp>
        <p:sp>
          <p:nvSpPr>
            <p:cNvPr id="27667" name="Text Box 7"/>
            <p:cNvSpPr txBox="1">
              <a:spLocks noChangeArrowheads="1"/>
            </p:cNvSpPr>
            <p:nvPr/>
          </p:nvSpPr>
          <p:spPr bwMode="auto">
            <a:xfrm>
              <a:off x="3804511" y="5567790"/>
              <a:ext cx="55796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 i="1"/>
                <a:t>A</a:t>
              </a:r>
              <a:r>
                <a:rPr lang="en-US" sz="2000" i="1" baseline="-25000"/>
                <a:t>0</a:t>
              </a:r>
              <a:endParaRPr lang="en-US" sz="2000" i="1"/>
            </a:p>
          </p:txBody>
        </p:sp>
        <p:sp>
          <p:nvSpPr>
            <p:cNvPr id="27668" name="Line 9"/>
            <p:cNvSpPr>
              <a:spLocks noChangeShapeType="1"/>
            </p:cNvSpPr>
            <p:nvPr/>
          </p:nvSpPr>
          <p:spPr bwMode="auto">
            <a:xfrm rot="-5400000">
              <a:off x="2920284" y="4241449"/>
              <a:ext cx="25834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9" name="Line 17"/>
            <p:cNvSpPr>
              <a:spLocks noChangeShapeType="1"/>
            </p:cNvSpPr>
            <p:nvPr/>
          </p:nvSpPr>
          <p:spPr bwMode="auto">
            <a:xfrm rot="10800000">
              <a:off x="2440883" y="4522430"/>
              <a:ext cx="17764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70" name="Line 19"/>
            <p:cNvSpPr>
              <a:spLocks noChangeShapeType="1"/>
            </p:cNvSpPr>
            <p:nvPr/>
          </p:nvSpPr>
          <p:spPr bwMode="auto">
            <a:xfrm rot="10800000">
              <a:off x="2440883" y="2968375"/>
              <a:ext cx="178576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71" name="Text Box 23"/>
            <p:cNvSpPr txBox="1">
              <a:spLocks noChangeArrowheads="1"/>
            </p:cNvSpPr>
            <p:nvPr/>
          </p:nvSpPr>
          <p:spPr bwMode="auto">
            <a:xfrm>
              <a:off x="1886910" y="4373284"/>
              <a:ext cx="5513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000"/>
                <a:t>80</a:t>
              </a:r>
            </a:p>
          </p:txBody>
        </p:sp>
      </p:grp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3125461" y="1993900"/>
            <a:ext cx="4732337" cy="2887663"/>
            <a:chOff x="2897645" y="1993594"/>
            <a:chExt cx="4732747" cy="2887665"/>
          </a:xfrm>
        </p:grpSpPr>
        <p:sp>
          <p:nvSpPr>
            <p:cNvPr id="27664" name="Text Box 8"/>
            <p:cNvSpPr txBox="1">
              <a:spLocks noChangeArrowheads="1"/>
            </p:cNvSpPr>
            <p:nvPr/>
          </p:nvSpPr>
          <p:spPr bwMode="auto">
            <a:xfrm>
              <a:off x="6395936" y="4481149"/>
              <a:ext cx="123445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Demand</a:t>
              </a:r>
            </a:p>
          </p:txBody>
        </p:sp>
        <p:sp>
          <p:nvSpPr>
            <p:cNvPr id="173076" name="Line 20"/>
            <p:cNvSpPr>
              <a:spLocks noChangeShapeType="1"/>
            </p:cNvSpPr>
            <p:nvPr/>
          </p:nvSpPr>
          <p:spPr bwMode="auto">
            <a:xfrm>
              <a:off x="2897645" y="1993594"/>
              <a:ext cx="3569009" cy="2640015"/>
            </a:xfrm>
            <a:prstGeom prst="line">
              <a:avLst/>
            </a:prstGeom>
            <a:ln>
              <a:solidFill>
                <a:srgbClr val="00B0F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/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3287386" y="2009775"/>
            <a:ext cx="4238625" cy="3271838"/>
            <a:chOff x="3060108" y="2009771"/>
            <a:chExt cx="4238918" cy="3271710"/>
          </a:xfrm>
        </p:grpSpPr>
        <p:sp>
          <p:nvSpPr>
            <p:cNvPr id="173077" name="Line 21"/>
            <p:cNvSpPr>
              <a:spLocks noChangeShapeType="1"/>
            </p:cNvSpPr>
            <p:nvPr/>
          </p:nvSpPr>
          <p:spPr bwMode="auto">
            <a:xfrm flipH="1">
              <a:off x="3060108" y="2641571"/>
              <a:ext cx="3961086" cy="2639910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dirty="0"/>
            </a:p>
          </p:txBody>
        </p:sp>
        <p:sp>
          <p:nvSpPr>
            <p:cNvPr id="27663" name="Text Box 24"/>
            <p:cNvSpPr txBox="1">
              <a:spLocks noChangeArrowheads="1"/>
            </p:cNvSpPr>
            <p:nvPr/>
          </p:nvSpPr>
          <p:spPr bwMode="auto">
            <a:xfrm>
              <a:off x="5981401" y="2009771"/>
              <a:ext cx="1317625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Marginal</a:t>
              </a:r>
            </a:p>
            <a:p>
              <a:pPr algn="ctr"/>
              <a:r>
                <a:rPr lang="en-US" sz="2000"/>
                <a:t>Cost</a:t>
              </a:r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6246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Government Provision </a:t>
            </a:r>
            <a:br>
              <a:rPr lang="en-US" dirty="0"/>
            </a:br>
            <a:r>
              <a:rPr lang="en-US" dirty="0"/>
              <a:t>of Public Goods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idx="1"/>
          </p:nvPr>
        </p:nvSpPr>
        <p:spPr>
          <a:xfrm>
            <a:off x="1011620" y="1848567"/>
            <a:ext cx="7924800" cy="4525962"/>
          </a:xfrm>
        </p:spPr>
        <p:txBody>
          <a:bodyPr/>
          <a:lstStyle/>
          <a:p>
            <a:pPr eaLnBrk="1" hangingPunct="1"/>
            <a:r>
              <a:rPr lang="en-US" dirty="0"/>
              <a:t>Government provision has advantages</a:t>
            </a:r>
          </a:p>
          <a:p>
            <a:pPr lvl="1" eaLnBrk="1" hangingPunct="1"/>
            <a:r>
              <a:rPr lang="en-US" dirty="0"/>
              <a:t>Low cost to collect additional revenue</a:t>
            </a:r>
          </a:p>
          <a:p>
            <a:pPr lvl="1" eaLnBrk="1" hangingPunct="1"/>
            <a:r>
              <a:rPr lang="en-US" dirty="0"/>
              <a:t>Expedient: no negotiations over distribution of costs</a:t>
            </a:r>
          </a:p>
          <a:p>
            <a:pPr lvl="1" eaLnBrk="1" hangingPunct="1"/>
            <a:r>
              <a:rPr lang="en-US" dirty="0"/>
              <a:t>Only feasible provider for non-excludable goods</a:t>
            </a:r>
          </a:p>
          <a:p>
            <a:pPr eaLnBrk="1" hangingPunct="1"/>
            <a:r>
              <a:rPr lang="en-US" dirty="0"/>
              <a:t>Government provision has disadvantages</a:t>
            </a:r>
          </a:p>
          <a:p>
            <a:pPr lvl="1" eaLnBrk="1" hangingPunct="1"/>
            <a:r>
              <a:rPr lang="en-US" dirty="0"/>
              <a:t>One-size-fits-all</a:t>
            </a:r>
          </a:p>
          <a:p>
            <a:pPr lvl="2" eaLnBrk="1" hangingPunct="1"/>
            <a:r>
              <a:rPr lang="en-US" dirty="0"/>
              <a:t>Some pay for goods they don't want</a:t>
            </a:r>
          </a:p>
          <a:p>
            <a:pPr lvl="2" eaLnBrk="1" hangingPunct="1"/>
            <a:r>
              <a:rPr lang="en-US" dirty="0"/>
              <a:t>Some don't get goods they would pay for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98" y="286138"/>
            <a:ext cx="8504853" cy="1143000"/>
          </a:xfrm>
        </p:spPr>
        <p:txBody>
          <a:bodyPr/>
          <a:lstStyle/>
          <a:p>
            <a:pPr eaLnBrk="1" hangingPunct="1"/>
            <a:r>
              <a:rPr lang="en-US" dirty="0"/>
              <a:t>Private Provision of Public Goods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839754" y="1352939"/>
            <a:ext cx="8108303" cy="5094513"/>
          </a:xfrm>
        </p:spPr>
        <p:txBody>
          <a:bodyPr/>
          <a:lstStyle/>
          <a:p>
            <a:pPr eaLnBrk="1" hangingPunct="1"/>
            <a:r>
              <a:rPr lang="en-US" dirty="0"/>
              <a:t>Alternative ways to raise revenues</a:t>
            </a:r>
          </a:p>
          <a:p>
            <a:pPr lvl="1" eaLnBrk="1" hangingPunct="1"/>
            <a:r>
              <a:rPr lang="en-US" dirty="0"/>
              <a:t>Funding by donation</a:t>
            </a:r>
          </a:p>
          <a:p>
            <a:pPr lvl="2" eaLnBrk="1" hangingPunct="1"/>
            <a:r>
              <a:rPr lang="en-US" dirty="0"/>
              <a:t>Volunteer action and funding</a:t>
            </a:r>
          </a:p>
          <a:p>
            <a:pPr lvl="1" eaLnBrk="1" hangingPunct="1"/>
            <a:r>
              <a:rPr lang="en-US" dirty="0"/>
              <a:t>Exclude non-payers</a:t>
            </a:r>
          </a:p>
          <a:p>
            <a:pPr lvl="2" eaLnBrk="1" hangingPunct="1"/>
            <a:r>
              <a:rPr lang="en-US" dirty="0"/>
              <a:t>Scrambled TV signals</a:t>
            </a:r>
          </a:p>
          <a:p>
            <a:pPr lvl="2" eaLnBrk="1" hangingPunct="1"/>
            <a:r>
              <a:rPr lang="en-US" dirty="0"/>
              <a:t>HBO</a:t>
            </a:r>
          </a:p>
          <a:p>
            <a:pPr lvl="1" eaLnBrk="1" hangingPunct="1"/>
            <a:r>
              <a:rPr lang="en-US" dirty="0"/>
              <a:t>Sale of by-products</a:t>
            </a:r>
          </a:p>
          <a:p>
            <a:pPr lvl="2" eaLnBrk="1" hangingPunct="1"/>
            <a:r>
              <a:rPr lang="en-US" dirty="0"/>
              <a:t>Advertising on TV, Internet</a:t>
            </a:r>
          </a:p>
          <a:p>
            <a:pPr eaLnBrk="1" hangingPunct="1"/>
            <a:r>
              <a:rPr lang="en-US" dirty="0"/>
              <a:t>Delivery by government or private sector </a:t>
            </a:r>
          </a:p>
          <a:p>
            <a:pPr eaLnBrk="1" hangingPunct="1"/>
            <a:r>
              <a:rPr lang="en-US" dirty="0"/>
              <a:t>Technology influences choices</a:t>
            </a:r>
          </a:p>
          <a:p>
            <a:pPr lvl="2" eaLnBrk="1" hangingPunct="1"/>
            <a:r>
              <a:rPr lang="en-US" dirty="0"/>
              <a:t>Can non-payers be excluded?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Funding by Advertising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24012"/>
            <a:ext cx="7924800" cy="5056705"/>
          </a:xfrm>
        </p:spPr>
        <p:txBody>
          <a:bodyPr/>
          <a:lstStyle/>
          <a:p>
            <a:pPr eaLnBrk="1" hangingPunct="1"/>
            <a:r>
              <a:rPr lang="en-US" dirty="0"/>
              <a:t>Show funded by advertising</a:t>
            </a:r>
          </a:p>
          <a:p>
            <a:pPr lvl="1" eaLnBrk="1" hangingPunct="1"/>
            <a:r>
              <a:rPr lang="en-US" dirty="0"/>
              <a:t>Advertiser values the largest audience</a:t>
            </a:r>
          </a:p>
          <a:p>
            <a:pPr eaLnBrk="1" hangingPunct="1"/>
            <a:r>
              <a:rPr lang="en-US" dirty="0"/>
              <a:t>Got Talent Show wins (20% &gt; 18%)</a:t>
            </a:r>
          </a:p>
          <a:p>
            <a:pPr lvl="1" eaLnBrk="1" hangingPunct="1"/>
            <a:r>
              <a:rPr lang="en-US" dirty="0" err="1"/>
              <a:t>Masterchef</a:t>
            </a:r>
            <a:r>
              <a:rPr lang="en-US" dirty="0"/>
              <a:t> is the efficient outcome (Economic surplus = $30 million &gt; $10 million)</a:t>
            </a:r>
          </a:p>
          <a:p>
            <a:pPr eaLnBrk="1" hangingPunct="1"/>
            <a:r>
              <a:rPr lang="en-US" dirty="0"/>
              <a:t>Funding public goods through advertising does not assure maximum total surplus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918070"/>
              </p:ext>
            </p:extLst>
          </p:nvPr>
        </p:nvGraphicFramePr>
        <p:xfrm>
          <a:off x="1068615" y="5010280"/>
          <a:ext cx="7329054" cy="14935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443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Got Talent 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Show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Masterchef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Willingness to 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$10</a:t>
                      </a:r>
                      <a:r>
                        <a:rPr lang="en-US" sz="2000" baseline="0" dirty="0"/>
                        <a:t> million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$30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3"/>
          <p:cNvSpPr>
            <a:spLocks noGrp="1"/>
          </p:cNvSpPr>
          <p:nvPr>
            <p:ph type="title"/>
          </p:nvPr>
        </p:nvSpPr>
        <p:spPr>
          <a:xfrm>
            <a:off x="65426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Making Advertising 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8725" y="1366838"/>
            <a:ext cx="8478619" cy="5304550"/>
          </a:xfrm>
        </p:spPr>
        <p:txBody>
          <a:bodyPr/>
          <a:lstStyle/>
          <a:p>
            <a:pPr eaLnBrk="1" hangingPunct="1"/>
            <a:r>
              <a:rPr lang="en-US" dirty="0"/>
              <a:t>Pay-per-view methods avoid the inefficiency of advertiser's choosing public goods</a:t>
            </a:r>
          </a:p>
          <a:p>
            <a:pPr lvl="1" eaLnBrk="1" hangingPunct="1"/>
            <a:r>
              <a:rPr lang="en-US" dirty="0"/>
              <a:t>Viewers register preferences</a:t>
            </a:r>
          </a:p>
          <a:p>
            <a:pPr lvl="1" eaLnBrk="1" hangingPunct="1"/>
            <a:r>
              <a:rPr lang="en-US" dirty="0"/>
              <a:t>Willingness to pay measures strength of preferences</a:t>
            </a:r>
          </a:p>
          <a:p>
            <a:pPr eaLnBrk="1" hangingPunct="1"/>
            <a:r>
              <a:rPr lang="en-US" dirty="0"/>
              <a:t>Marginal social cost of watching a program is 0 </a:t>
            </a:r>
          </a:p>
          <a:p>
            <a:pPr lvl="1" eaLnBrk="1" hangingPunct="1"/>
            <a:r>
              <a:rPr lang="en-US" dirty="0"/>
              <a:t>Charging any positive amount creates inefficiencies</a:t>
            </a:r>
          </a:p>
          <a:p>
            <a:pPr eaLnBrk="1" hangingPunct="1"/>
            <a:r>
              <a:rPr lang="en-US" dirty="0"/>
              <a:t>Measure size of inefficiencies to select the optimal approach</a:t>
            </a:r>
          </a:p>
          <a:p>
            <a:pPr lvl="1" eaLnBrk="1" hangingPunct="1"/>
            <a:r>
              <a:rPr lang="en-US" dirty="0"/>
              <a:t>Advertisers choose programs</a:t>
            </a:r>
          </a:p>
          <a:p>
            <a:pPr lvl="1" eaLnBrk="1" hangingPunct="1"/>
            <a:r>
              <a:rPr lang="en-US" dirty="0"/>
              <a:t>Pay-per-view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679450" y="145614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Pay-Per-View Market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61673" y="1676400"/>
            <a:ext cx="4116388" cy="4572000"/>
          </a:xfrm>
        </p:spPr>
        <p:txBody>
          <a:bodyPr/>
          <a:lstStyle/>
          <a:p>
            <a:pPr eaLnBrk="1" hangingPunct="1"/>
            <a:r>
              <a:rPr lang="en-US" sz="2300" dirty="0"/>
              <a:t>Broadcast viewing is free</a:t>
            </a:r>
          </a:p>
          <a:p>
            <a:pPr lvl="1" eaLnBrk="1" hangingPunct="1"/>
            <a:r>
              <a:rPr lang="en-US" sz="2300" dirty="0"/>
              <a:t>Marginal cost of an additional viewer is zero</a:t>
            </a:r>
          </a:p>
          <a:p>
            <a:pPr lvl="1" eaLnBrk="1" hangingPunct="1"/>
            <a:r>
              <a:rPr lang="en-US" sz="2300" dirty="0"/>
              <a:t>Audience is 20 million</a:t>
            </a:r>
          </a:p>
          <a:p>
            <a:pPr eaLnBrk="1" hangingPunct="1"/>
            <a:r>
              <a:rPr lang="en-US" sz="2300" dirty="0"/>
              <a:t>Pay per view fee $10</a:t>
            </a:r>
          </a:p>
          <a:p>
            <a:pPr lvl="1" eaLnBrk="1" hangingPunct="1"/>
            <a:r>
              <a:rPr lang="en-US" sz="2300" dirty="0"/>
              <a:t>Audience is 10 million households</a:t>
            </a:r>
          </a:p>
          <a:p>
            <a:pPr eaLnBrk="1" hangingPunct="1"/>
            <a:r>
              <a:rPr lang="en-US" sz="2300" dirty="0"/>
              <a:t>Lost surplus from pay-per-view is $50 million</a:t>
            </a:r>
          </a:p>
          <a:p>
            <a:pPr lvl="1" eaLnBrk="1" hangingPunct="1"/>
            <a:r>
              <a:rPr lang="en-US" sz="2300" dirty="0"/>
              <a:t>The more elastic the demand, the greater the loss in total surplus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946073" y="1676400"/>
            <a:ext cx="3962400" cy="454429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026025" y="1752600"/>
            <a:ext cx="3802063" cy="4392613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847" name="Text Box 4"/>
          <p:cNvSpPr txBox="1">
            <a:spLocks noChangeArrowheads="1"/>
          </p:cNvSpPr>
          <p:nvPr/>
        </p:nvSpPr>
        <p:spPr bwMode="auto">
          <a:xfrm>
            <a:off x="5807075" y="5645150"/>
            <a:ext cx="28797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Viewing households (M)</a:t>
            </a:r>
          </a:p>
        </p:txBody>
      </p:sp>
      <p:sp>
        <p:nvSpPr>
          <p:cNvPr id="35848" name="Text Box 5"/>
          <p:cNvSpPr txBox="1">
            <a:spLocks noChangeArrowheads="1"/>
          </p:cNvSpPr>
          <p:nvPr/>
        </p:nvSpPr>
        <p:spPr bwMode="auto">
          <a:xfrm rot="-5400000">
            <a:off x="3929857" y="3505994"/>
            <a:ext cx="2671762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Cost ($/episode)</a:t>
            </a:r>
          </a:p>
        </p:txBody>
      </p:sp>
      <p:sp>
        <p:nvSpPr>
          <p:cNvPr id="35849" name="Text Box 6"/>
          <p:cNvSpPr txBox="1">
            <a:spLocks noChangeArrowheads="1"/>
          </p:cNvSpPr>
          <p:nvPr/>
        </p:nvSpPr>
        <p:spPr bwMode="auto">
          <a:xfrm>
            <a:off x="5340350" y="1949450"/>
            <a:ext cx="454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/>
              <a:t>20</a:t>
            </a:r>
          </a:p>
        </p:txBody>
      </p:sp>
      <p:sp>
        <p:nvSpPr>
          <p:cNvPr id="35850" name="Text Box 16"/>
          <p:cNvSpPr txBox="1">
            <a:spLocks noChangeArrowheads="1"/>
          </p:cNvSpPr>
          <p:nvPr/>
        </p:nvSpPr>
        <p:spPr bwMode="auto">
          <a:xfrm>
            <a:off x="7797800" y="5256213"/>
            <a:ext cx="6651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20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319713" y="3516313"/>
            <a:ext cx="1990725" cy="2109787"/>
            <a:chOff x="5320145" y="3516949"/>
            <a:chExt cx="1990329" cy="2109232"/>
          </a:xfrm>
        </p:grpSpPr>
        <p:sp>
          <p:nvSpPr>
            <p:cNvPr id="35861" name="Line 3"/>
            <p:cNvSpPr>
              <a:spLocks noChangeShapeType="1"/>
            </p:cNvSpPr>
            <p:nvPr/>
          </p:nvSpPr>
          <p:spPr bwMode="auto">
            <a:xfrm>
              <a:off x="5797784" y="3680462"/>
              <a:ext cx="11605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62" name="Text Box 7"/>
            <p:cNvSpPr txBox="1">
              <a:spLocks noChangeArrowheads="1"/>
            </p:cNvSpPr>
            <p:nvPr/>
          </p:nvSpPr>
          <p:spPr bwMode="auto">
            <a:xfrm>
              <a:off x="6615966" y="5256849"/>
              <a:ext cx="69450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  <p:sp>
          <p:nvSpPr>
            <p:cNvPr id="35863" name="Line 9"/>
            <p:cNvSpPr>
              <a:spLocks noChangeShapeType="1"/>
            </p:cNvSpPr>
            <p:nvPr/>
          </p:nvSpPr>
          <p:spPr bwMode="auto">
            <a:xfrm rot="-5400000">
              <a:off x="6175717" y="4431349"/>
              <a:ext cx="15700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64" name="Text Box 18"/>
            <p:cNvSpPr txBox="1">
              <a:spLocks noChangeArrowheads="1"/>
            </p:cNvSpPr>
            <p:nvPr/>
          </p:nvSpPr>
          <p:spPr bwMode="auto">
            <a:xfrm>
              <a:off x="5320145" y="3516949"/>
              <a:ext cx="47487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</p:grpSp>
      <p:sp>
        <p:nvSpPr>
          <p:cNvPr id="35852" name="Line 15"/>
          <p:cNvSpPr>
            <a:spLocks noChangeShapeType="1"/>
          </p:cNvSpPr>
          <p:nvPr/>
        </p:nvSpPr>
        <p:spPr bwMode="auto">
          <a:xfrm>
            <a:off x="5794375" y="1881188"/>
            <a:ext cx="1588" cy="3351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3" name="Line 14"/>
          <p:cNvSpPr>
            <a:spLocks noChangeShapeType="1"/>
          </p:cNvSpPr>
          <p:nvPr/>
        </p:nvSpPr>
        <p:spPr bwMode="auto">
          <a:xfrm>
            <a:off x="5791200" y="5232400"/>
            <a:ext cx="2903538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6959600" y="2420938"/>
            <a:ext cx="1708150" cy="2819400"/>
            <a:chOff x="6959699" y="2421719"/>
            <a:chExt cx="1708725" cy="2819255"/>
          </a:xfrm>
        </p:grpSpPr>
        <p:sp>
          <p:nvSpPr>
            <p:cNvPr id="11" name="Freeform 19"/>
            <p:cNvSpPr>
              <a:spLocks/>
            </p:cNvSpPr>
            <p:nvPr/>
          </p:nvSpPr>
          <p:spPr bwMode="auto">
            <a:xfrm>
              <a:off x="6959699" y="3685224"/>
              <a:ext cx="1179206" cy="15557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80"/>
                </a:cxn>
                <a:cxn ang="0">
                  <a:pos x="1705" y="980"/>
                </a:cxn>
                <a:cxn ang="0">
                  <a:pos x="46" y="22"/>
                </a:cxn>
                <a:cxn ang="0">
                  <a:pos x="0" y="0"/>
                </a:cxn>
              </a:cxnLst>
              <a:rect l="0" t="0" r="r" b="b"/>
              <a:pathLst>
                <a:path w="1705" h="980">
                  <a:moveTo>
                    <a:pt x="0" y="0"/>
                  </a:moveTo>
                  <a:lnTo>
                    <a:pt x="0" y="980"/>
                  </a:lnTo>
                  <a:lnTo>
                    <a:pt x="1705" y="980"/>
                  </a:lnTo>
                  <a:lnTo>
                    <a:pt x="46" y="22"/>
                  </a:lnTo>
                  <a:lnTo>
                    <a:pt x="0" y="0"/>
                  </a:lnTo>
                  <a:close/>
                </a:path>
              </a:pathLst>
            </a:cu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35859" name="Text Box 8"/>
            <p:cNvSpPr txBox="1">
              <a:spLocks noChangeArrowheads="1"/>
            </p:cNvSpPr>
            <p:nvPr/>
          </p:nvSpPr>
          <p:spPr bwMode="auto">
            <a:xfrm>
              <a:off x="7063907" y="2421719"/>
              <a:ext cx="1604517" cy="923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Lost surplus from $10 viewing fee</a:t>
              </a:r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 flipH="1">
              <a:off x="7539332" y="3277337"/>
              <a:ext cx="193740" cy="102547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5794375" y="2133600"/>
            <a:ext cx="2349500" cy="3100388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Additional Functions of Government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>
          <a:xfrm>
            <a:off x="550506" y="1722438"/>
            <a:ext cx="8481527" cy="4892966"/>
          </a:xfrm>
        </p:spPr>
        <p:txBody>
          <a:bodyPr/>
          <a:lstStyle/>
          <a:p>
            <a:pPr eaLnBrk="1" hangingPunct="1"/>
            <a:r>
              <a:rPr lang="en-US" dirty="0"/>
              <a:t>Two roles of government</a:t>
            </a:r>
          </a:p>
          <a:p>
            <a:pPr lvl="1" eaLnBrk="1" hangingPunct="1"/>
            <a:r>
              <a:rPr lang="en-US" dirty="0"/>
              <a:t>Regulation of activities that generate externalities</a:t>
            </a:r>
          </a:p>
          <a:p>
            <a:pPr lvl="2" eaLnBrk="1" hangingPunct="1"/>
            <a:r>
              <a:rPr lang="en-US" dirty="0"/>
              <a:t>Increase market efficiency</a:t>
            </a:r>
          </a:p>
          <a:p>
            <a:pPr lvl="2" eaLnBrk="1" hangingPunct="1"/>
            <a:r>
              <a:rPr lang="en-US" dirty="0"/>
              <a:t>Examples:  pollution, education, vaccinations, driving on the right</a:t>
            </a:r>
          </a:p>
          <a:p>
            <a:pPr lvl="1" eaLnBrk="1" hangingPunct="1"/>
            <a:r>
              <a:rPr lang="en-US" dirty="0"/>
              <a:t>Defining and enforcing property rights</a:t>
            </a:r>
          </a:p>
          <a:p>
            <a:pPr lvl="2" eaLnBrk="1" hangingPunct="1"/>
            <a:r>
              <a:rPr lang="en-US" dirty="0"/>
              <a:t>Example: regulating access to fishing waters and public forests</a:t>
            </a:r>
          </a:p>
          <a:p>
            <a:pPr eaLnBrk="1" hangingPunct="1"/>
            <a:r>
              <a:rPr lang="en-US" dirty="0"/>
              <a:t>Regulation entails costs</a:t>
            </a:r>
          </a:p>
          <a:p>
            <a:pPr lvl="1" eaLnBrk="1" hangingPunct="1"/>
            <a:r>
              <a:rPr lang="en-US" dirty="0"/>
              <a:t>Regulation costs may be greater than the inefficiency created by the externality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725" y="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Tax Considerations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1"/>
          </p:nvPr>
        </p:nvSpPr>
        <p:spPr>
          <a:xfrm>
            <a:off x="709128" y="985837"/>
            <a:ext cx="8294914" cy="5545591"/>
          </a:xfrm>
        </p:spPr>
        <p:txBody>
          <a:bodyPr/>
          <a:lstStyle/>
          <a:p>
            <a:pPr eaLnBrk="1" hangingPunct="1"/>
            <a:r>
              <a:rPr lang="en-US" dirty="0"/>
              <a:t>The objectives for the tax system are to</a:t>
            </a:r>
          </a:p>
          <a:p>
            <a:pPr lvl="1" eaLnBrk="1" hangingPunct="1"/>
            <a:r>
              <a:rPr lang="en-US" dirty="0"/>
              <a:t>Raise revenue to finance public goods and services</a:t>
            </a:r>
          </a:p>
          <a:p>
            <a:pPr lvl="1" eaLnBrk="1" hangingPunct="1"/>
            <a:r>
              <a:rPr lang="en-US" dirty="0"/>
              <a:t>Minimize the side-effects of the taxes</a:t>
            </a:r>
          </a:p>
          <a:p>
            <a:pPr lvl="2" eaLnBrk="1" hangingPunct="1"/>
            <a:r>
              <a:rPr lang="en-US" dirty="0"/>
              <a:t>Taxes affect costs and benefits of some activities</a:t>
            </a:r>
          </a:p>
          <a:p>
            <a:pPr eaLnBrk="1" hangingPunct="1"/>
            <a:r>
              <a:rPr lang="en-US" dirty="0"/>
              <a:t>Government spending generally exceeds tax revenues – Budget deficit</a:t>
            </a:r>
          </a:p>
          <a:p>
            <a:pPr lvl="1" eaLnBrk="1" hangingPunct="1"/>
            <a:r>
              <a:rPr lang="en-US" dirty="0"/>
              <a:t>Government deficits cause crowding out</a:t>
            </a:r>
          </a:p>
          <a:p>
            <a:pPr lvl="2" eaLnBrk="1" hangingPunct="1"/>
            <a:r>
              <a:rPr lang="en-US" b="1" dirty="0"/>
              <a:t>Crowding out</a:t>
            </a:r>
            <a:r>
              <a:rPr lang="en-US" dirty="0"/>
              <a:t> is the reduction in private investment caused by increases in interest rates from government borrowing</a:t>
            </a:r>
          </a:p>
          <a:p>
            <a:pPr eaLnBrk="1" hangingPunct="1"/>
            <a:r>
              <a:rPr lang="en-US" dirty="0"/>
              <a:t>If markets work efficiently, adding taxes creates inefficiency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Tax on Cars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9300" y="1550988"/>
            <a:ext cx="4391025" cy="4822825"/>
          </a:xfrm>
        </p:spPr>
        <p:txBody>
          <a:bodyPr/>
          <a:lstStyle/>
          <a:p>
            <a:pPr eaLnBrk="1" hangingPunct="1"/>
            <a:r>
              <a:rPr lang="en-US" sz="2500" dirty="0"/>
              <a:t>Assume the car market is constant-cost and perfectly competitive</a:t>
            </a:r>
          </a:p>
          <a:p>
            <a:pPr lvl="1" eaLnBrk="1" hangingPunct="1"/>
            <a:r>
              <a:rPr lang="en-US" sz="2000" dirty="0"/>
              <a:t>No external costs or benefits</a:t>
            </a:r>
          </a:p>
          <a:p>
            <a:pPr eaLnBrk="1" hangingPunct="1"/>
            <a:r>
              <a:rPr lang="en-US" sz="2500" dirty="0"/>
              <a:t>Initial equilibrium is $20,000 and 6 million cars</a:t>
            </a:r>
          </a:p>
          <a:p>
            <a:pPr lvl="1" eaLnBrk="1" hangingPunct="1"/>
            <a:r>
              <a:rPr lang="en-US" sz="2400" dirty="0"/>
              <a:t>$2,000 tax on cars shifts supply curve up</a:t>
            </a:r>
          </a:p>
          <a:p>
            <a:pPr lvl="2" eaLnBrk="1" hangingPunct="1"/>
            <a:r>
              <a:rPr lang="en-US" sz="2200" dirty="0"/>
              <a:t>New equilibrium at $22,000 and 4 million</a:t>
            </a:r>
          </a:p>
          <a:p>
            <a:pPr lvl="2" eaLnBrk="1" hangingPunct="1"/>
            <a:r>
              <a:rPr lang="en-US" sz="2200" dirty="0"/>
              <a:t>Total surplus decreases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5140037" y="1690255"/>
            <a:ext cx="3657600" cy="46828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222875" y="1766888"/>
            <a:ext cx="3490913" cy="4530725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Freeform 2"/>
          <p:cNvSpPr>
            <a:spLocks/>
          </p:cNvSpPr>
          <p:nvPr/>
        </p:nvSpPr>
        <p:spPr bwMode="auto">
          <a:xfrm>
            <a:off x="6646067" y="2959903"/>
            <a:ext cx="333283" cy="46355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0" y="292"/>
              </a:cxn>
              <a:cxn ang="0">
                <a:pos x="538" y="292"/>
              </a:cxn>
              <a:cxn ang="0">
                <a:pos x="7" y="0"/>
              </a:cxn>
              <a:cxn ang="0">
                <a:pos x="7" y="0"/>
              </a:cxn>
            </a:cxnLst>
            <a:rect l="0" t="0" r="r" b="b"/>
            <a:pathLst>
              <a:path w="538" h="292">
                <a:moveTo>
                  <a:pt x="7" y="0"/>
                </a:moveTo>
                <a:lnTo>
                  <a:pt x="0" y="292"/>
                </a:lnTo>
                <a:lnTo>
                  <a:pt x="538" y="292"/>
                </a:lnTo>
                <a:lnTo>
                  <a:pt x="7" y="0"/>
                </a:lnTo>
                <a:lnTo>
                  <a:pt x="7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9162" name="Text Box 5"/>
          <p:cNvSpPr txBox="1">
            <a:spLocks noChangeArrowheads="1"/>
          </p:cNvSpPr>
          <p:nvPr/>
        </p:nvSpPr>
        <p:spPr bwMode="auto">
          <a:xfrm>
            <a:off x="5622925" y="5843588"/>
            <a:ext cx="297973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Quantity (millions of cars/year)</a:t>
            </a:r>
          </a:p>
        </p:txBody>
      </p:sp>
      <p:sp>
        <p:nvSpPr>
          <p:cNvPr id="49163" name="Text Box 6"/>
          <p:cNvSpPr txBox="1">
            <a:spLocks noChangeArrowheads="1"/>
          </p:cNvSpPr>
          <p:nvPr/>
        </p:nvSpPr>
        <p:spPr bwMode="auto">
          <a:xfrm rot="-5400000">
            <a:off x="4155281" y="3634582"/>
            <a:ext cx="2671763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Cost ($000s/car)</a:t>
            </a:r>
          </a:p>
        </p:txBody>
      </p:sp>
      <p:sp>
        <p:nvSpPr>
          <p:cNvPr id="49164" name="Line 14"/>
          <p:cNvSpPr>
            <a:spLocks noChangeShapeType="1"/>
          </p:cNvSpPr>
          <p:nvPr/>
        </p:nvSpPr>
        <p:spPr bwMode="auto">
          <a:xfrm>
            <a:off x="5988050" y="5565775"/>
            <a:ext cx="2601913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5994400" y="3429000"/>
            <a:ext cx="1849438" cy="0"/>
          </a:xfrm>
          <a:prstGeom prst="line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>
            <a:off x="5991225" y="2027238"/>
            <a:ext cx="2489200" cy="3540125"/>
          </a:xfrm>
          <a:prstGeom prst="line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9167" name="Text Box 18"/>
          <p:cNvSpPr txBox="1">
            <a:spLocks noChangeArrowheads="1"/>
          </p:cNvSpPr>
          <p:nvPr/>
        </p:nvSpPr>
        <p:spPr bwMode="auto">
          <a:xfrm>
            <a:off x="7856538" y="3235325"/>
            <a:ext cx="2746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</a:t>
            </a: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5499100" y="3252788"/>
            <a:ext cx="1574800" cy="2673350"/>
            <a:chOff x="5498694" y="3252002"/>
            <a:chExt cx="1575326" cy="2673350"/>
          </a:xfrm>
        </p:grpSpPr>
        <p:sp>
          <p:nvSpPr>
            <p:cNvPr id="49188" name="Line 21"/>
            <p:cNvSpPr>
              <a:spLocks noChangeShapeType="1"/>
            </p:cNvSpPr>
            <p:nvPr/>
          </p:nvSpPr>
          <p:spPr bwMode="auto">
            <a:xfrm rot="-5400000">
              <a:off x="5915860" y="4493427"/>
              <a:ext cx="21288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89" name="Text Box 20"/>
            <p:cNvSpPr txBox="1">
              <a:spLocks noChangeArrowheads="1"/>
            </p:cNvSpPr>
            <p:nvPr/>
          </p:nvSpPr>
          <p:spPr bwMode="auto">
            <a:xfrm>
              <a:off x="5498694" y="3252002"/>
              <a:ext cx="49319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/>
                <a:t>20</a:t>
              </a:r>
            </a:p>
          </p:txBody>
        </p:sp>
        <p:sp>
          <p:nvSpPr>
            <p:cNvPr id="49190" name="Text Box 22"/>
            <p:cNvSpPr txBox="1">
              <a:spLocks noChangeArrowheads="1"/>
            </p:cNvSpPr>
            <p:nvPr/>
          </p:nvSpPr>
          <p:spPr bwMode="auto">
            <a:xfrm>
              <a:off x="6902422" y="5588802"/>
              <a:ext cx="171598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6</a:t>
              </a:r>
            </a:p>
          </p:txBody>
        </p:sp>
      </p:grpSp>
      <p:sp>
        <p:nvSpPr>
          <p:cNvPr id="49169" name="Line 13"/>
          <p:cNvSpPr>
            <a:spLocks noChangeShapeType="1"/>
          </p:cNvSpPr>
          <p:nvPr/>
        </p:nvSpPr>
        <p:spPr bwMode="auto">
          <a:xfrm>
            <a:off x="5991225" y="1882775"/>
            <a:ext cx="1588" cy="368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5484813" y="2771775"/>
            <a:ext cx="3105150" cy="566738"/>
            <a:chOff x="5484839" y="2770990"/>
            <a:chExt cx="3104552" cy="567955"/>
          </a:xfrm>
        </p:grpSpPr>
        <p:sp>
          <p:nvSpPr>
            <p:cNvPr id="49181" name="Text Box 19"/>
            <p:cNvSpPr txBox="1">
              <a:spLocks noChangeArrowheads="1"/>
            </p:cNvSpPr>
            <p:nvPr/>
          </p:nvSpPr>
          <p:spPr bwMode="auto">
            <a:xfrm>
              <a:off x="5484839" y="2850220"/>
              <a:ext cx="507052" cy="3385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600"/>
                <a:t>22</a:t>
              </a:r>
            </a:p>
          </p:txBody>
        </p:sp>
        <p:grpSp>
          <p:nvGrpSpPr>
            <p:cNvPr id="4" name="Group 29"/>
            <p:cNvGrpSpPr>
              <a:grpSpLocks/>
            </p:cNvGrpSpPr>
            <p:nvPr/>
          </p:nvGrpSpPr>
          <p:grpSpPr bwMode="auto">
            <a:xfrm>
              <a:off x="5994369" y="2770990"/>
              <a:ext cx="2595022" cy="567955"/>
              <a:chOff x="5994369" y="2770990"/>
              <a:chExt cx="2595022" cy="567955"/>
            </a:xfrm>
          </p:grpSpPr>
          <p:sp>
            <p:nvSpPr>
              <p:cNvPr id="11" name="Line 4"/>
              <p:cNvSpPr>
                <a:spLocks noChangeShapeType="1"/>
              </p:cNvSpPr>
              <p:nvPr/>
            </p:nvSpPr>
            <p:spPr bwMode="auto">
              <a:xfrm>
                <a:off x="5994328" y="2974626"/>
                <a:ext cx="1855431" cy="0"/>
              </a:xfrm>
              <a:prstGeom prst="line">
                <a:avLst/>
              </a:prstGeom>
              <a:ln>
                <a:solidFill>
                  <a:srgbClr val="FF0000"/>
                </a:solidFill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49184" name="Text Box 9"/>
              <p:cNvSpPr txBox="1">
                <a:spLocks noChangeArrowheads="1"/>
              </p:cNvSpPr>
              <p:nvPr/>
            </p:nvSpPr>
            <p:spPr bwMode="auto">
              <a:xfrm>
                <a:off x="7857159" y="2770990"/>
                <a:ext cx="73223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S + T</a:t>
                </a:r>
              </a:p>
            </p:txBody>
          </p:sp>
          <p:sp>
            <p:nvSpPr>
              <p:cNvPr id="26" name="Up Arrow 25"/>
              <p:cNvSpPr/>
              <p:nvPr/>
            </p:nvSpPr>
            <p:spPr bwMode="auto">
              <a:xfrm>
                <a:off x="7356764" y="3048000"/>
                <a:ext cx="180109" cy="290945"/>
              </a:xfrm>
              <a:prstGeom prst="upArrow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US" sz="2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6137275" y="2954338"/>
            <a:ext cx="817563" cy="2973387"/>
            <a:chOff x="6137519" y="2953553"/>
            <a:chExt cx="817463" cy="2973804"/>
          </a:xfrm>
        </p:grpSpPr>
        <p:sp>
          <p:nvSpPr>
            <p:cNvPr id="49173" name="Text Box 8"/>
            <p:cNvSpPr txBox="1">
              <a:spLocks noChangeArrowheads="1"/>
            </p:cNvSpPr>
            <p:nvPr/>
          </p:nvSpPr>
          <p:spPr bwMode="auto">
            <a:xfrm>
              <a:off x="6581584" y="5588803"/>
              <a:ext cx="14850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4</a:t>
              </a:r>
            </a:p>
          </p:txBody>
        </p:sp>
        <p:sp>
          <p:nvSpPr>
            <p:cNvPr id="49174" name="Line 10"/>
            <p:cNvSpPr>
              <a:spLocks noChangeShapeType="1"/>
            </p:cNvSpPr>
            <p:nvPr/>
          </p:nvSpPr>
          <p:spPr bwMode="auto">
            <a:xfrm rot="-5400000">
              <a:off x="5349892" y="4255303"/>
              <a:ext cx="26035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Up Arrow 26"/>
            <p:cNvSpPr/>
            <p:nvPr/>
          </p:nvSpPr>
          <p:spPr bwMode="auto">
            <a:xfrm>
              <a:off x="6137519" y="3061850"/>
              <a:ext cx="180109" cy="290945"/>
            </a:xfrm>
            <a:prstGeom prst="up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Left Arrow 27"/>
            <p:cNvSpPr/>
            <p:nvPr/>
          </p:nvSpPr>
          <p:spPr bwMode="auto">
            <a:xfrm>
              <a:off x="6691730" y="5223164"/>
              <a:ext cx="263252" cy="249381"/>
            </a:xfrm>
            <a:prstGeom prst="leftArrow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9172" name="Text Box 18"/>
          <p:cNvSpPr txBox="1">
            <a:spLocks noChangeArrowheads="1"/>
          </p:cNvSpPr>
          <p:nvPr/>
        </p:nvSpPr>
        <p:spPr bwMode="auto">
          <a:xfrm>
            <a:off x="8301038" y="4965700"/>
            <a:ext cx="273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D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Tax Policy Issues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idx="1"/>
          </p:nvPr>
        </p:nvSpPr>
        <p:spPr>
          <a:xfrm>
            <a:off x="671805" y="1390262"/>
            <a:ext cx="8341566" cy="5355772"/>
          </a:xfrm>
        </p:spPr>
        <p:txBody>
          <a:bodyPr/>
          <a:lstStyle/>
          <a:p>
            <a:pPr eaLnBrk="1" hangingPunct="1"/>
            <a:r>
              <a:rPr lang="en-US" dirty="0"/>
              <a:t>Some economists argue that the economy performs better with low taxes and smaller government spending</a:t>
            </a:r>
          </a:p>
          <a:p>
            <a:pPr lvl="1" eaLnBrk="1" hangingPunct="1"/>
            <a:r>
              <a:rPr lang="en-US" dirty="0"/>
              <a:t>The economic loss of a tax may be offset by the surplus created from the public good or service</a:t>
            </a:r>
          </a:p>
          <a:p>
            <a:pPr eaLnBrk="1" hangingPunct="1"/>
            <a:r>
              <a:rPr lang="en-US" dirty="0"/>
              <a:t>Deadweight loss from a tax is smaller if the good taxed has inelastic demand and supply</a:t>
            </a:r>
          </a:p>
          <a:p>
            <a:pPr eaLnBrk="1" hangingPunct="1"/>
            <a:r>
              <a:rPr lang="en-US" dirty="0"/>
              <a:t>Taxes on externalities increase economic efficiency</a:t>
            </a:r>
          </a:p>
          <a:p>
            <a:pPr lvl="1" eaLnBrk="1" hangingPunct="1"/>
            <a:r>
              <a:rPr lang="en-US" dirty="0"/>
              <a:t>Taxes to reduce traffic congestion</a:t>
            </a:r>
          </a:p>
          <a:p>
            <a:pPr lvl="1" eaLnBrk="1" hangingPunct="1"/>
            <a:r>
              <a:rPr lang="en-US" dirty="0"/>
              <a:t>Carbon taxes on greenhouse gas emissions by cars and factories reduce air pollution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Thank You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This is the end of </a:t>
            </a:r>
            <a:r>
              <a:rPr lang="en-US"/>
              <a:t>Lecture 6.  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Thank you for your participation.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Please send your query to me via my email at khayboon@ntu.edu.sg.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319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2257</TotalTime>
  <Words>3780</Words>
  <Application>Microsoft Office PowerPoint</Application>
  <PresentationFormat>On-screen Show (4:3)</PresentationFormat>
  <Paragraphs>653</Paragraphs>
  <Slides>54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Arial</vt:lpstr>
      <vt:lpstr>Arial Black</vt:lpstr>
      <vt:lpstr>Book Antiqua</vt:lpstr>
      <vt:lpstr>Calibri</vt:lpstr>
      <vt:lpstr>Symbol</vt:lpstr>
      <vt:lpstr>Times New Roman</vt:lpstr>
      <vt:lpstr>Wingdings</vt:lpstr>
      <vt:lpstr>1_Default Design</vt:lpstr>
      <vt:lpstr>2_Default Design</vt:lpstr>
      <vt:lpstr>HE5091 Principles of Economics Lecture 6 Economics of Public Policy</vt:lpstr>
      <vt:lpstr>Topics</vt:lpstr>
      <vt:lpstr>Economics of Health Care</vt:lpstr>
      <vt:lpstr>Health Care for the Employed</vt:lpstr>
      <vt:lpstr>Health Care Delivery</vt:lpstr>
      <vt:lpstr>The Demand for Hospital Care</vt:lpstr>
      <vt:lpstr>Full Insurance Coverage Creates Waste</vt:lpstr>
      <vt:lpstr>Alternative Coverage Scheme</vt:lpstr>
      <vt:lpstr>Insurance, Demand, and Waste</vt:lpstr>
      <vt:lpstr>Policy Implications</vt:lpstr>
      <vt:lpstr>Health Care and Asymmetric Information</vt:lpstr>
      <vt:lpstr>Health Insurance and Adverse Selection </vt:lpstr>
      <vt:lpstr>Health Insurance Market</vt:lpstr>
      <vt:lpstr>Price Incentives and the Environment</vt:lpstr>
      <vt:lpstr>Reduce Pollution</vt:lpstr>
      <vt:lpstr>Price Incentives and the Environment</vt:lpstr>
      <vt:lpstr>Reducing Pollution by Regulation</vt:lpstr>
      <vt:lpstr>Taxing Pollution</vt:lpstr>
      <vt:lpstr>Taxing Pollution</vt:lpstr>
      <vt:lpstr>Auctioning Pollution Permits</vt:lpstr>
      <vt:lpstr>Auctioning Pollution Permits</vt:lpstr>
      <vt:lpstr>Auctioning Pollution Permits</vt:lpstr>
      <vt:lpstr>Advantages of the Auction</vt:lpstr>
      <vt:lpstr>Climate and Carbon Taxes</vt:lpstr>
      <vt:lpstr>Workplace Safety</vt:lpstr>
      <vt:lpstr>Competition through Safety</vt:lpstr>
      <vt:lpstr>Public Health and Public Safety</vt:lpstr>
      <vt:lpstr>Public Health Policy</vt:lpstr>
      <vt:lpstr>Government Is Unique</vt:lpstr>
      <vt:lpstr>Public Goods</vt:lpstr>
      <vt:lpstr>Public Goods and Government</vt:lpstr>
      <vt:lpstr>Types of Goods</vt:lpstr>
      <vt:lpstr>Private,Collective &amp; Common Goods</vt:lpstr>
      <vt:lpstr>Tragedy of Commons</vt:lpstr>
      <vt:lpstr>Government Decisions about Public Goods</vt:lpstr>
      <vt:lpstr>Paying for Public Goods</vt:lpstr>
      <vt:lpstr>Scenario 1:  Sharing the Cost</vt:lpstr>
      <vt:lpstr>Scenario 2:  "Equal tax" Rule</vt:lpstr>
      <vt:lpstr>Scenario 3:   Proportional Tax on Income</vt:lpstr>
      <vt:lpstr>Private and Public Goods</vt:lpstr>
      <vt:lpstr>The Market for Public Goods</vt:lpstr>
      <vt:lpstr>Private Good Market Demand – Horizontal Summation</vt:lpstr>
      <vt:lpstr>Public Good Market Demand – Vertical Summation</vt:lpstr>
      <vt:lpstr>The Optimal Quantity of Parkland</vt:lpstr>
      <vt:lpstr>Government Provision  of Public Goods</vt:lpstr>
      <vt:lpstr>Private Provision of Public Goods</vt:lpstr>
      <vt:lpstr>Funding by Advertising</vt:lpstr>
      <vt:lpstr>Making Advertising Work</vt:lpstr>
      <vt:lpstr>Pay-Per-View Market</vt:lpstr>
      <vt:lpstr>Additional Functions of Government</vt:lpstr>
      <vt:lpstr>Tax Considerations</vt:lpstr>
      <vt:lpstr>Tax on Cars</vt:lpstr>
      <vt:lpstr>Tax Policy Issues</vt:lpstr>
      <vt:lpstr>Thank You</vt:lpstr>
    </vt:vector>
  </TitlesOfParts>
  <Company>UNC Charlotte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Carol</dc:creator>
  <cp:lastModifiedBy>Dr Tan Khay Boon</cp:lastModifiedBy>
  <cp:revision>97</cp:revision>
  <cp:lastPrinted>2016-08-03T06:00:32Z</cp:lastPrinted>
  <dcterms:created xsi:type="dcterms:W3CDTF">2008-06-10T11:10:19Z</dcterms:created>
  <dcterms:modified xsi:type="dcterms:W3CDTF">2025-09-15T06:22:58Z</dcterms:modified>
</cp:coreProperties>
</file>