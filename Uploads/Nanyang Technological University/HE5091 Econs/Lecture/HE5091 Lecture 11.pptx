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47"/>
  </p:notesMasterIdLst>
  <p:handoutMasterIdLst>
    <p:handoutMasterId r:id="rId48"/>
  </p:handoutMasterIdLst>
  <p:sldIdLst>
    <p:sldId id="384" r:id="rId2"/>
    <p:sldId id="385" r:id="rId3"/>
    <p:sldId id="389" r:id="rId4"/>
    <p:sldId id="390" r:id="rId5"/>
    <p:sldId id="391" r:id="rId6"/>
    <p:sldId id="441" r:id="rId7"/>
    <p:sldId id="442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43" r:id="rId28"/>
    <p:sldId id="411" r:id="rId29"/>
    <p:sldId id="412" r:id="rId30"/>
    <p:sldId id="413" r:id="rId31"/>
    <p:sldId id="444" r:id="rId32"/>
    <p:sldId id="415" r:id="rId33"/>
    <p:sldId id="416" r:id="rId34"/>
    <p:sldId id="419" r:id="rId35"/>
    <p:sldId id="420" r:id="rId36"/>
    <p:sldId id="421" r:id="rId37"/>
    <p:sldId id="422" r:id="rId38"/>
    <p:sldId id="423" r:id="rId39"/>
    <p:sldId id="428" r:id="rId40"/>
    <p:sldId id="429" r:id="rId41"/>
    <p:sldId id="433" r:id="rId42"/>
    <p:sldId id="435" r:id="rId43"/>
    <p:sldId id="438" r:id="rId44"/>
    <p:sldId id="439" r:id="rId45"/>
    <p:sldId id="460" r:id="rId46"/>
  </p:sldIdLst>
  <p:sldSz cx="9144000" cy="6858000" type="screen4x3"/>
  <p:notesSz cx="6858000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1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5726">
          <p15:clr>
            <a:srgbClr val="A4A3A4"/>
          </p15:clr>
        </p15:guide>
        <p15:guide id="2" pos="43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6A5218"/>
    <a:srgbClr val="FFFFCC"/>
    <a:srgbClr val="5CBE02"/>
    <a:srgbClr val="C5E3E5"/>
    <a:srgbClr val="CBE2C8"/>
    <a:srgbClr val="AFD3FB"/>
    <a:srgbClr val="F7FFF4"/>
    <a:srgbClr val="F1FFFF"/>
    <a:srgbClr val="F6F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8" autoAdjust="0"/>
    <p:restoredTop sz="86509" autoAdjust="0"/>
  </p:normalViewPr>
  <p:slideViewPr>
    <p:cSldViewPr snapToGrid="0">
      <p:cViewPr varScale="1">
        <p:scale>
          <a:sx n="58" d="100"/>
          <a:sy n="58" d="100"/>
        </p:scale>
        <p:origin x="816" y="36"/>
      </p:cViewPr>
      <p:guideLst>
        <p:guide orient="horz" pos="4311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-7804"/>
    </p:cViewPr>
  </p:sorterViewPr>
  <p:notesViewPr>
    <p:cSldViewPr snapToGrid="0">
      <p:cViewPr>
        <p:scale>
          <a:sx n="110" d="100"/>
          <a:sy n="110" d="100"/>
        </p:scale>
        <p:origin x="-2320" y="1456"/>
      </p:cViewPr>
      <p:guideLst>
        <p:guide orient="horz" pos="5726"/>
        <p:guide pos="431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04D28-AD25-480A-AC23-D1BCEAA59BB0}" type="doc">
      <dgm:prSet loTypeId="urn:microsoft.com/office/officeart/2005/8/layout/process1" loCatId="process" qsTypeId="urn:microsoft.com/office/officeart/2005/8/quickstyle/3d2#1" qsCatId="3D" csTypeId="urn:microsoft.com/office/officeart/2005/8/colors/accent2_2" csCatId="accent2" phldr="1"/>
      <dgm:spPr/>
    </dgm:pt>
    <dgm:pt modelId="{02E55053-5427-4976-9F0C-E149ABCB84FD}">
      <dgm:prSet phldrT="[Text]" custT="1"/>
      <dgm:spPr/>
      <dgm:t>
        <a:bodyPr/>
        <a:lstStyle/>
        <a:p>
          <a:r>
            <a:rPr lang="en-US" sz="2400" b="1" dirty="0"/>
            <a:t>C, </a:t>
          </a:r>
          <a:r>
            <a:rPr lang="en-US" sz="2400" b="1" dirty="0" err="1"/>
            <a:t>I</a:t>
          </a:r>
          <a:r>
            <a:rPr lang="en-US" sz="2400" b="1" baseline="30000" dirty="0" err="1"/>
            <a:t>p</a:t>
          </a:r>
          <a:r>
            <a:rPr lang="en-US" sz="2400" b="1" baseline="0" dirty="0" err="1"/>
            <a:t>,NX</a:t>
          </a:r>
          <a:r>
            <a:rPr lang="en-US" sz="2400" b="1" dirty="0" err="1">
              <a:sym typeface="Symbol"/>
            </a:rPr>
            <a:t></a:t>
          </a:r>
          <a:r>
            <a:rPr lang="en-US" sz="2400" b="1" dirty="0"/>
            <a:t> </a:t>
          </a:r>
        </a:p>
      </dgm:t>
    </dgm:pt>
    <dgm:pt modelId="{5EF56916-5C16-438B-A90D-6524C65CD68F}" type="parTrans" cxnId="{53FB11BE-529E-4C2B-93D1-FCC1C61A5CC0}">
      <dgm:prSet/>
      <dgm:spPr/>
      <dgm:t>
        <a:bodyPr/>
        <a:lstStyle/>
        <a:p>
          <a:endParaRPr lang="en-US" sz="2400" b="1"/>
        </a:p>
      </dgm:t>
    </dgm:pt>
    <dgm:pt modelId="{DE7D1741-448B-464F-BF4E-52E249D0B2D8}" type="sibTrans" cxnId="{53FB11BE-529E-4C2B-93D1-FCC1C61A5CC0}">
      <dgm:prSet custT="1"/>
      <dgm:spPr/>
      <dgm:t>
        <a:bodyPr/>
        <a:lstStyle/>
        <a:p>
          <a:endParaRPr lang="en-US" sz="2400" b="1"/>
        </a:p>
      </dgm:t>
    </dgm:pt>
    <dgm:pt modelId="{89D0B6BD-FED6-42C2-8AFB-CD9F4B942B39}">
      <dgm:prSet phldrT="[Text]" custT="1"/>
      <dgm:spPr/>
      <dgm:t>
        <a:bodyPr/>
        <a:lstStyle/>
        <a:p>
          <a:r>
            <a:rPr lang="en-US" sz="2400" b="1" dirty="0"/>
            <a:t>Y </a:t>
          </a:r>
          <a:r>
            <a:rPr lang="en-US" sz="2400" b="1" dirty="0">
              <a:sym typeface="Symbol"/>
            </a:rPr>
            <a:t></a:t>
          </a:r>
          <a:endParaRPr lang="en-US" sz="2400" b="1" dirty="0"/>
        </a:p>
      </dgm:t>
    </dgm:pt>
    <dgm:pt modelId="{A569310D-B050-4601-8633-61AF01D905CF}" type="parTrans" cxnId="{BA8A58AD-BBD7-43A5-A200-4334777DDE90}">
      <dgm:prSet/>
      <dgm:spPr/>
      <dgm:t>
        <a:bodyPr/>
        <a:lstStyle/>
        <a:p>
          <a:endParaRPr lang="en-US" sz="2400" b="1"/>
        </a:p>
      </dgm:t>
    </dgm:pt>
    <dgm:pt modelId="{65E1D993-DD27-4549-A8B3-6704B4CAB46D}" type="sibTrans" cxnId="{BA8A58AD-BBD7-43A5-A200-4334777DDE90}">
      <dgm:prSet/>
      <dgm:spPr/>
      <dgm:t>
        <a:bodyPr/>
        <a:lstStyle/>
        <a:p>
          <a:endParaRPr lang="en-US" sz="2400" b="1"/>
        </a:p>
      </dgm:t>
    </dgm:pt>
    <dgm:pt modelId="{EBFAAC2A-5F82-4D89-A3BD-BBD231FF6DC5}">
      <dgm:prSet phldrT="[Text]" custT="1"/>
      <dgm:spPr/>
      <dgm:t>
        <a:bodyPr/>
        <a:lstStyle/>
        <a:p>
          <a:r>
            <a:rPr lang="en-US" sz="2400" b="1" dirty="0"/>
            <a:t>PAE </a:t>
          </a:r>
          <a:r>
            <a:rPr lang="en-US" sz="2400" b="1" dirty="0">
              <a:sym typeface="Symbol"/>
            </a:rPr>
            <a:t></a:t>
          </a:r>
          <a:r>
            <a:rPr lang="en-US" sz="2400" b="1" dirty="0"/>
            <a:t> </a:t>
          </a:r>
        </a:p>
      </dgm:t>
    </dgm:pt>
    <dgm:pt modelId="{E5A07815-27A5-4359-B2ED-39207CF89851}" type="parTrans" cxnId="{77D7D000-BC07-447F-A0AB-97DDDC569334}">
      <dgm:prSet/>
      <dgm:spPr/>
      <dgm:t>
        <a:bodyPr/>
        <a:lstStyle/>
        <a:p>
          <a:endParaRPr lang="en-US" sz="2400" b="1"/>
        </a:p>
      </dgm:t>
    </dgm:pt>
    <dgm:pt modelId="{E4B13E03-109F-43C4-8582-DED5EEB9A17D}" type="sibTrans" cxnId="{77D7D000-BC07-447F-A0AB-97DDDC569334}">
      <dgm:prSet custT="1"/>
      <dgm:spPr/>
      <dgm:t>
        <a:bodyPr/>
        <a:lstStyle/>
        <a:p>
          <a:endParaRPr lang="en-US" sz="2400" b="1"/>
        </a:p>
      </dgm:t>
    </dgm:pt>
    <dgm:pt modelId="{31C8B0E9-9533-45A5-A682-A6C3467978C2}">
      <dgm:prSet phldrT="[Text]" custT="1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 dirty="0">
              <a:noFill/>
            </a:rPr>
            <a:t> </a:t>
          </a:r>
        </a:p>
      </dgm:t>
    </dgm:pt>
    <dgm:pt modelId="{4B4755EF-7505-48C6-BF44-EAB30E24F857}" type="parTrans" cxnId="{8B1705E9-17F2-432D-8F9A-61C265F4B73B}">
      <dgm:prSet/>
      <dgm:spPr/>
      <dgm:t>
        <a:bodyPr/>
        <a:lstStyle/>
        <a:p>
          <a:endParaRPr lang="en-US"/>
        </a:p>
      </dgm:t>
    </dgm:pt>
    <dgm:pt modelId="{4FE27265-48AE-4004-BCA3-444DD86856BD}" type="sibTrans" cxnId="{8B1705E9-17F2-432D-8F9A-61C265F4B73B}">
      <dgm:prSet/>
      <dgm:spPr/>
      <dgm:t>
        <a:bodyPr/>
        <a:lstStyle/>
        <a:p>
          <a:endParaRPr lang="en-US"/>
        </a:p>
      </dgm:t>
    </dgm:pt>
    <dgm:pt modelId="{BF315171-E209-441A-BDD6-1CA63D1A6242}" type="pres">
      <dgm:prSet presAssocID="{E9204D28-AD25-480A-AC23-D1BCEAA59BB0}" presName="Name0" presStyleCnt="0">
        <dgm:presLayoutVars>
          <dgm:dir/>
          <dgm:resizeHandles val="exact"/>
        </dgm:presLayoutVars>
      </dgm:prSet>
      <dgm:spPr/>
    </dgm:pt>
    <dgm:pt modelId="{A8250CD7-3AD5-46E9-8492-A894D6CB7159}" type="pres">
      <dgm:prSet presAssocID="{31C8B0E9-9533-45A5-A682-A6C3467978C2}" presName="node" presStyleLbl="node1" presStyleIdx="0" presStyleCnt="4" custScaleX="59624">
        <dgm:presLayoutVars>
          <dgm:bulletEnabled val="1"/>
        </dgm:presLayoutVars>
      </dgm:prSet>
      <dgm:spPr/>
    </dgm:pt>
    <dgm:pt modelId="{F127F629-A42A-4962-9786-0FA7CDF4D4B6}" type="pres">
      <dgm:prSet presAssocID="{4FE27265-48AE-4004-BCA3-444DD86856BD}" presName="sibTrans" presStyleLbl="sibTrans2D1" presStyleIdx="0" presStyleCnt="3"/>
      <dgm:spPr/>
    </dgm:pt>
    <dgm:pt modelId="{B4F42E89-859D-4FBF-B10D-A7BB50A63C1C}" type="pres">
      <dgm:prSet presAssocID="{4FE27265-48AE-4004-BCA3-444DD86856BD}" presName="connectorText" presStyleLbl="sibTrans2D1" presStyleIdx="0" presStyleCnt="3"/>
      <dgm:spPr/>
    </dgm:pt>
    <dgm:pt modelId="{563EE3C3-B019-40A1-A39F-B7597F845D8E}" type="pres">
      <dgm:prSet presAssocID="{02E55053-5427-4976-9F0C-E149ABCB84FD}" presName="node" presStyleLbl="node1" presStyleIdx="1" presStyleCnt="4" custScaleX="114886">
        <dgm:presLayoutVars>
          <dgm:bulletEnabled val="1"/>
        </dgm:presLayoutVars>
      </dgm:prSet>
      <dgm:spPr/>
    </dgm:pt>
    <dgm:pt modelId="{B39EA355-8EFD-4E1E-8131-36C83F564235}" type="pres">
      <dgm:prSet presAssocID="{DE7D1741-448B-464F-BF4E-52E249D0B2D8}" presName="sibTrans" presStyleLbl="sibTrans2D1" presStyleIdx="1" presStyleCnt="3"/>
      <dgm:spPr/>
    </dgm:pt>
    <dgm:pt modelId="{3AE0B0B0-E8A7-4ED4-8540-F38008C607CC}" type="pres">
      <dgm:prSet presAssocID="{DE7D1741-448B-464F-BF4E-52E249D0B2D8}" presName="connectorText" presStyleLbl="sibTrans2D1" presStyleIdx="1" presStyleCnt="3"/>
      <dgm:spPr/>
    </dgm:pt>
    <dgm:pt modelId="{D140FCDC-36ED-4651-B954-8DC899549259}" type="pres">
      <dgm:prSet presAssocID="{EBFAAC2A-5F82-4D89-A3BD-BBD231FF6DC5}" presName="node" presStyleLbl="node1" presStyleIdx="2" presStyleCnt="4" custScaleX="88773">
        <dgm:presLayoutVars>
          <dgm:bulletEnabled val="1"/>
        </dgm:presLayoutVars>
      </dgm:prSet>
      <dgm:spPr/>
    </dgm:pt>
    <dgm:pt modelId="{30CAA2C4-A72C-4392-8A55-4D9AA281059C}" type="pres">
      <dgm:prSet presAssocID="{E4B13E03-109F-43C4-8582-DED5EEB9A17D}" presName="sibTrans" presStyleLbl="sibTrans2D1" presStyleIdx="2" presStyleCnt="3"/>
      <dgm:spPr/>
    </dgm:pt>
    <dgm:pt modelId="{4C8AE31E-EEB8-4CAA-AC58-2945233A1A71}" type="pres">
      <dgm:prSet presAssocID="{E4B13E03-109F-43C4-8582-DED5EEB9A17D}" presName="connectorText" presStyleLbl="sibTrans2D1" presStyleIdx="2" presStyleCnt="3"/>
      <dgm:spPr/>
    </dgm:pt>
    <dgm:pt modelId="{22835E65-87F6-46D5-AA3A-27DD8F132ABA}" type="pres">
      <dgm:prSet presAssocID="{89D0B6BD-FED6-42C2-8AFB-CD9F4B942B39}" presName="node" presStyleLbl="node1" presStyleIdx="3" presStyleCnt="4">
        <dgm:presLayoutVars>
          <dgm:bulletEnabled val="1"/>
        </dgm:presLayoutVars>
      </dgm:prSet>
      <dgm:spPr/>
    </dgm:pt>
  </dgm:ptLst>
  <dgm:cxnLst>
    <dgm:cxn modelId="{77D7D000-BC07-447F-A0AB-97DDDC569334}" srcId="{E9204D28-AD25-480A-AC23-D1BCEAA59BB0}" destId="{EBFAAC2A-5F82-4D89-A3BD-BBD231FF6DC5}" srcOrd="2" destOrd="0" parTransId="{E5A07815-27A5-4359-B2ED-39207CF89851}" sibTransId="{E4B13E03-109F-43C4-8582-DED5EEB9A17D}"/>
    <dgm:cxn modelId="{1E105E0A-1CD1-4BE0-B02B-3E81BBEF267C}" type="presOf" srcId="{31C8B0E9-9533-45A5-A682-A6C3467978C2}" destId="{A8250CD7-3AD5-46E9-8492-A894D6CB7159}" srcOrd="0" destOrd="0" presId="urn:microsoft.com/office/officeart/2005/8/layout/process1"/>
    <dgm:cxn modelId="{D523A834-88E4-464C-9B7D-D05B19F60B44}" type="presOf" srcId="{02E55053-5427-4976-9F0C-E149ABCB84FD}" destId="{563EE3C3-B019-40A1-A39F-B7597F845D8E}" srcOrd="0" destOrd="0" presId="urn:microsoft.com/office/officeart/2005/8/layout/process1"/>
    <dgm:cxn modelId="{EAF4C844-FCD9-4191-B5F8-D1C52B8C2DED}" type="presOf" srcId="{89D0B6BD-FED6-42C2-8AFB-CD9F4B942B39}" destId="{22835E65-87F6-46D5-AA3A-27DD8F132ABA}" srcOrd="0" destOrd="0" presId="urn:microsoft.com/office/officeart/2005/8/layout/process1"/>
    <dgm:cxn modelId="{B8096E4F-D558-46D1-B7C6-5F8EB926CE78}" type="presOf" srcId="{EBFAAC2A-5F82-4D89-A3BD-BBD231FF6DC5}" destId="{D140FCDC-36ED-4651-B954-8DC899549259}" srcOrd="0" destOrd="0" presId="urn:microsoft.com/office/officeart/2005/8/layout/process1"/>
    <dgm:cxn modelId="{1D82F689-F248-4718-8C27-07C1B7C883A5}" type="presOf" srcId="{E9204D28-AD25-480A-AC23-D1BCEAA59BB0}" destId="{BF315171-E209-441A-BDD6-1CA63D1A6242}" srcOrd="0" destOrd="0" presId="urn:microsoft.com/office/officeart/2005/8/layout/process1"/>
    <dgm:cxn modelId="{B609B18D-A99F-4D18-9334-E9D0BA41CD11}" type="presOf" srcId="{DE7D1741-448B-464F-BF4E-52E249D0B2D8}" destId="{3AE0B0B0-E8A7-4ED4-8540-F38008C607CC}" srcOrd="1" destOrd="0" presId="urn:microsoft.com/office/officeart/2005/8/layout/process1"/>
    <dgm:cxn modelId="{81F0B090-E993-4AD6-AFE2-D628955F50E4}" type="presOf" srcId="{DE7D1741-448B-464F-BF4E-52E249D0B2D8}" destId="{B39EA355-8EFD-4E1E-8131-36C83F564235}" srcOrd="0" destOrd="0" presId="urn:microsoft.com/office/officeart/2005/8/layout/process1"/>
    <dgm:cxn modelId="{BA8A58AD-BBD7-43A5-A200-4334777DDE90}" srcId="{E9204D28-AD25-480A-AC23-D1BCEAA59BB0}" destId="{89D0B6BD-FED6-42C2-8AFB-CD9F4B942B39}" srcOrd="3" destOrd="0" parTransId="{A569310D-B050-4601-8633-61AF01D905CF}" sibTransId="{65E1D993-DD27-4549-A8B3-6704B4CAB46D}"/>
    <dgm:cxn modelId="{6A8E48BA-07E1-42E6-94CA-56FD753D3F6D}" type="presOf" srcId="{E4B13E03-109F-43C4-8582-DED5EEB9A17D}" destId="{4C8AE31E-EEB8-4CAA-AC58-2945233A1A71}" srcOrd="1" destOrd="0" presId="urn:microsoft.com/office/officeart/2005/8/layout/process1"/>
    <dgm:cxn modelId="{930233BC-4244-461A-9305-F2491617CF49}" type="presOf" srcId="{E4B13E03-109F-43C4-8582-DED5EEB9A17D}" destId="{30CAA2C4-A72C-4392-8A55-4D9AA281059C}" srcOrd="0" destOrd="0" presId="urn:microsoft.com/office/officeart/2005/8/layout/process1"/>
    <dgm:cxn modelId="{53FB11BE-529E-4C2B-93D1-FCC1C61A5CC0}" srcId="{E9204D28-AD25-480A-AC23-D1BCEAA59BB0}" destId="{02E55053-5427-4976-9F0C-E149ABCB84FD}" srcOrd="1" destOrd="0" parTransId="{5EF56916-5C16-438B-A90D-6524C65CD68F}" sibTransId="{DE7D1741-448B-464F-BF4E-52E249D0B2D8}"/>
    <dgm:cxn modelId="{305602E8-D23B-42A6-9890-63EF9C308AF8}" type="presOf" srcId="{4FE27265-48AE-4004-BCA3-444DD86856BD}" destId="{F127F629-A42A-4962-9786-0FA7CDF4D4B6}" srcOrd="0" destOrd="0" presId="urn:microsoft.com/office/officeart/2005/8/layout/process1"/>
    <dgm:cxn modelId="{8B1705E9-17F2-432D-8F9A-61C265F4B73B}" srcId="{E9204D28-AD25-480A-AC23-D1BCEAA59BB0}" destId="{31C8B0E9-9533-45A5-A682-A6C3467978C2}" srcOrd="0" destOrd="0" parTransId="{4B4755EF-7505-48C6-BF44-EAB30E24F857}" sibTransId="{4FE27265-48AE-4004-BCA3-444DD86856BD}"/>
    <dgm:cxn modelId="{28794FFC-3751-4AFE-8E06-C39C08B849DF}" type="presOf" srcId="{4FE27265-48AE-4004-BCA3-444DD86856BD}" destId="{B4F42E89-859D-4FBF-B10D-A7BB50A63C1C}" srcOrd="1" destOrd="0" presId="urn:microsoft.com/office/officeart/2005/8/layout/process1"/>
    <dgm:cxn modelId="{B60C3FE8-5549-48F9-AEAB-069EE64E2D84}" type="presParOf" srcId="{BF315171-E209-441A-BDD6-1CA63D1A6242}" destId="{A8250CD7-3AD5-46E9-8492-A894D6CB7159}" srcOrd="0" destOrd="0" presId="urn:microsoft.com/office/officeart/2005/8/layout/process1"/>
    <dgm:cxn modelId="{D9223732-D23E-46A7-858F-D363A85E22F3}" type="presParOf" srcId="{BF315171-E209-441A-BDD6-1CA63D1A6242}" destId="{F127F629-A42A-4962-9786-0FA7CDF4D4B6}" srcOrd="1" destOrd="0" presId="urn:microsoft.com/office/officeart/2005/8/layout/process1"/>
    <dgm:cxn modelId="{C97AF4A1-FF0B-437A-A8F5-5CE7A6FD8C1E}" type="presParOf" srcId="{F127F629-A42A-4962-9786-0FA7CDF4D4B6}" destId="{B4F42E89-859D-4FBF-B10D-A7BB50A63C1C}" srcOrd="0" destOrd="0" presId="urn:microsoft.com/office/officeart/2005/8/layout/process1"/>
    <dgm:cxn modelId="{6620780C-7D2B-49D5-93A8-58687A8196B4}" type="presParOf" srcId="{BF315171-E209-441A-BDD6-1CA63D1A6242}" destId="{563EE3C3-B019-40A1-A39F-B7597F845D8E}" srcOrd="2" destOrd="0" presId="urn:microsoft.com/office/officeart/2005/8/layout/process1"/>
    <dgm:cxn modelId="{8B5B6BA2-1EB8-4058-B060-E42D018B6835}" type="presParOf" srcId="{BF315171-E209-441A-BDD6-1CA63D1A6242}" destId="{B39EA355-8EFD-4E1E-8131-36C83F564235}" srcOrd="3" destOrd="0" presId="urn:microsoft.com/office/officeart/2005/8/layout/process1"/>
    <dgm:cxn modelId="{55C33E8C-6ADB-48EF-A995-A47274759BA0}" type="presParOf" srcId="{B39EA355-8EFD-4E1E-8131-36C83F564235}" destId="{3AE0B0B0-E8A7-4ED4-8540-F38008C607CC}" srcOrd="0" destOrd="0" presId="urn:microsoft.com/office/officeart/2005/8/layout/process1"/>
    <dgm:cxn modelId="{EDDA177E-A4A4-4FC9-8B13-46A20E11BB1D}" type="presParOf" srcId="{BF315171-E209-441A-BDD6-1CA63D1A6242}" destId="{D140FCDC-36ED-4651-B954-8DC899549259}" srcOrd="4" destOrd="0" presId="urn:microsoft.com/office/officeart/2005/8/layout/process1"/>
    <dgm:cxn modelId="{96BE091A-22E2-47C1-A078-8644E7E39244}" type="presParOf" srcId="{BF315171-E209-441A-BDD6-1CA63D1A6242}" destId="{30CAA2C4-A72C-4392-8A55-4D9AA281059C}" srcOrd="5" destOrd="0" presId="urn:microsoft.com/office/officeart/2005/8/layout/process1"/>
    <dgm:cxn modelId="{5BA227E7-8994-4D8B-A620-25BD86F27425}" type="presParOf" srcId="{30CAA2C4-A72C-4392-8A55-4D9AA281059C}" destId="{4C8AE31E-EEB8-4CAA-AC58-2945233A1A71}" srcOrd="0" destOrd="0" presId="urn:microsoft.com/office/officeart/2005/8/layout/process1"/>
    <dgm:cxn modelId="{10C33AA3-4460-470C-A989-A48096282257}" type="presParOf" srcId="{BF315171-E209-441A-BDD6-1CA63D1A6242}" destId="{22835E65-87F6-46D5-AA3A-27DD8F132AB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0A2AD5-4200-46F3-8796-B31E5BDFA6C8}" type="doc">
      <dgm:prSet loTypeId="urn:microsoft.com/office/officeart/2005/8/layout/cycle1" loCatId="cycle" qsTypeId="urn:microsoft.com/office/officeart/2005/8/quickstyle/3d2#2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73F5CEC-C32B-4BE1-800E-53946D0C6443}">
      <dgm:prSet phldrT="[Text]" custT="1"/>
      <dgm:spPr/>
      <dgm:t>
        <a:bodyPr/>
        <a:lstStyle/>
        <a:p>
          <a:r>
            <a:rPr lang="en-US" sz="2000" b="1" dirty="0"/>
            <a:t>Low Inflation</a:t>
          </a:r>
        </a:p>
      </dgm:t>
    </dgm:pt>
    <dgm:pt modelId="{4F69E305-ECAE-4B70-98B2-E1A79F354802}" type="parTrans" cxnId="{486DBC9C-8E07-451F-B7D6-8EB00597FF01}">
      <dgm:prSet/>
      <dgm:spPr/>
      <dgm:t>
        <a:bodyPr/>
        <a:lstStyle/>
        <a:p>
          <a:endParaRPr lang="en-US" sz="2400" b="1"/>
        </a:p>
      </dgm:t>
    </dgm:pt>
    <dgm:pt modelId="{AEA149B2-C497-4E71-A438-FFB82381591A}" type="sibTrans" cxnId="{486DBC9C-8E07-451F-B7D6-8EB00597FF01}">
      <dgm:prSet custT="1"/>
      <dgm:spPr/>
      <dgm:t>
        <a:bodyPr/>
        <a:lstStyle/>
        <a:p>
          <a:endParaRPr lang="en-US" sz="2400" b="1"/>
        </a:p>
      </dgm:t>
    </dgm:pt>
    <dgm:pt modelId="{9D82D1E7-51A5-4C81-97A2-C68429E08198}">
      <dgm:prSet phldrT="[Text]" custT="1"/>
      <dgm:spPr/>
      <dgm:t>
        <a:bodyPr/>
        <a:lstStyle/>
        <a:p>
          <a:r>
            <a:rPr lang="en-US" sz="2000" b="1" dirty="0"/>
            <a:t>Low Expected Inflation</a:t>
          </a:r>
        </a:p>
      </dgm:t>
    </dgm:pt>
    <dgm:pt modelId="{68A5E461-42C5-4549-88EF-2DF98008EB9B}" type="parTrans" cxnId="{1EED3625-D65C-4133-822F-7D79FD66ED66}">
      <dgm:prSet/>
      <dgm:spPr/>
      <dgm:t>
        <a:bodyPr/>
        <a:lstStyle/>
        <a:p>
          <a:endParaRPr lang="en-US" sz="2400" b="1"/>
        </a:p>
      </dgm:t>
    </dgm:pt>
    <dgm:pt modelId="{B8436281-8E7F-40C8-AED0-077572EA37A7}" type="sibTrans" cxnId="{1EED3625-D65C-4133-822F-7D79FD66ED66}">
      <dgm:prSet custT="1"/>
      <dgm:spPr/>
      <dgm:t>
        <a:bodyPr/>
        <a:lstStyle/>
        <a:p>
          <a:endParaRPr lang="en-US" sz="2400" b="1"/>
        </a:p>
      </dgm:t>
    </dgm:pt>
    <dgm:pt modelId="{EDB98012-E271-4CAC-B3C0-6A585A6A26EE}">
      <dgm:prSet phldrT="[Text]" custT="1"/>
      <dgm:spPr/>
      <dgm:t>
        <a:bodyPr/>
        <a:lstStyle/>
        <a:p>
          <a:r>
            <a:rPr lang="en-US" sz="2000" b="1" dirty="0"/>
            <a:t>Slow Increase in Wages and Production Costs</a:t>
          </a:r>
        </a:p>
      </dgm:t>
    </dgm:pt>
    <dgm:pt modelId="{84E83EF9-913B-4430-A2EE-F014D575171E}" type="parTrans" cxnId="{1A97F6BB-DC44-43F0-861E-74C6E5B09A4A}">
      <dgm:prSet/>
      <dgm:spPr/>
      <dgm:t>
        <a:bodyPr/>
        <a:lstStyle/>
        <a:p>
          <a:endParaRPr lang="en-US" sz="2400" b="1"/>
        </a:p>
      </dgm:t>
    </dgm:pt>
    <dgm:pt modelId="{105E080B-B200-4A7F-A0BB-EE2EBD13298D}" type="sibTrans" cxnId="{1A97F6BB-DC44-43F0-861E-74C6E5B09A4A}">
      <dgm:prSet custT="1"/>
      <dgm:spPr/>
      <dgm:t>
        <a:bodyPr/>
        <a:lstStyle/>
        <a:p>
          <a:endParaRPr lang="en-US" sz="2400" b="1"/>
        </a:p>
      </dgm:t>
    </dgm:pt>
    <dgm:pt modelId="{02CEEF08-FDA9-47BB-8736-9DF3EE352957}" type="pres">
      <dgm:prSet presAssocID="{300A2AD5-4200-46F3-8796-B31E5BDFA6C8}" presName="cycle" presStyleCnt="0">
        <dgm:presLayoutVars>
          <dgm:dir/>
          <dgm:resizeHandles val="exact"/>
        </dgm:presLayoutVars>
      </dgm:prSet>
      <dgm:spPr/>
    </dgm:pt>
    <dgm:pt modelId="{A41D1135-2C9F-4AA9-A932-E1DDA614CB63}" type="pres">
      <dgm:prSet presAssocID="{173F5CEC-C32B-4BE1-800E-53946D0C6443}" presName="dummy" presStyleCnt="0"/>
      <dgm:spPr/>
    </dgm:pt>
    <dgm:pt modelId="{C3D37505-3FD7-4D29-854F-A134733B7613}" type="pres">
      <dgm:prSet presAssocID="{173F5CEC-C32B-4BE1-800E-53946D0C6443}" presName="node" presStyleLbl="revTx" presStyleIdx="0" presStyleCnt="3">
        <dgm:presLayoutVars>
          <dgm:bulletEnabled val="1"/>
        </dgm:presLayoutVars>
      </dgm:prSet>
      <dgm:spPr/>
    </dgm:pt>
    <dgm:pt modelId="{726805DD-DDF8-49C1-A2EB-1A998D283E63}" type="pres">
      <dgm:prSet presAssocID="{AEA149B2-C497-4E71-A438-FFB82381591A}" presName="sibTrans" presStyleLbl="node1" presStyleIdx="0" presStyleCnt="3"/>
      <dgm:spPr/>
    </dgm:pt>
    <dgm:pt modelId="{C2FD9C88-57BA-406C-B4EE-8E8DDA5B585A}" type="pres">
      <dgm:prSet presAssocID="{9D82D1E7-51A5-4C81-97A2-C68429E08198}" presName="dummy" presStyleCnt="0"/>
      <dgm:spPr/>
    </dgm:pt>
    <dgm:pt modelId="{502CF6FF-1194-437E-87ED-C464D1E7747B}" type="pres">
      <dgm:prSet presAssocID="{9D82D1E7-51A5-4C81-97A2-C68429E08198}" presName="node" presStyleLbl="revTx" presStyleIdx="1" presStyleCnt="3">
        <dgm:presLayoutVars>
          <dgm:bulletEnabled val="1"/>
        </dgm:presLayoutVars>
      </dgm:prSet>
      <dgm:spPr/>
    </dgm:pt>
    <dgm:pt modelId="{EB4C8083-F053-4F9C-8C31-9143EFC65316}" type="pres">
      <dgm:prSet presAssocID="{B8436281-8E7F-40C8-AED0-077572EA37A7}" presName="sibTrans" presStyleLbl="node1" presStyleIdx="1" presStyleCnt="3"/>
      <dgm:spPr/>
    </dgm:pt>
    <dgm:pt modelId="{97BEDC64-51EC-4C37-826C-60B5988CC2EF}" type="pres">
      <dgm:prSet presAssocID="{EDB98012-E271-4CAC-B3C0-6A585A6A26EE}" presName="dummy" presStyleCnt="0"/>
      <dgm:spPr/>
    </dgm:pt>
    <dgm:pt modelId="{9D787311-6789-4044-8D90-04EAA770A974}" type="pres">
      <dgm:prSet presAssocID="{EDB98012-E271-4CAC-B3C0-6A585A6A26EE}" presName="node" presStyleLbl="revTx" presStyleIdx="2" presStyleCnt="3" custScaleX="133452">
        <dgm:presLayoutVars>
          <dgm:bulletEnabled val="1"/>
        </dgm:presLayoutVars>
      </dgm:prSet>
      <dgm:spPr/>
    </dgm:pt>
    <dgm:pt modelId="{D0E32658-70A8-4114-AEB3-CF753B1A64B7}" type="pres">
      <dgm:prSet presAssocID="{105E080B-B200-4A7F-A0BB-EE2EBD13298D}" presName="sibTrans" presStyleLbl="node1" presStyleIdx="2" presStyleCnt="3"/>
      <dgm:spPr/>
    </dgm:pt>
  </dgm:ptLst>
  <dgm:cxnLst>
    <dgm:cxn modelId="{5FD16218-5294-4CCB-9995-FB428C4B7C2C}" type="presOf" srcId="{105E080B-B200-4A7F-A0BB-EE2EBD13298D}" destId="{D0E32658-70A8-4114-AEB3-CF753B1A64B7}" srcOrd="0" destOrd="0" presId="urn:microsoft.com/office/officeart/2005/8/layout/cycle1"/>
    <dgm:cxn modelId="{1EED3625-D65C-4133-822F-7D79FD66ED66}" srcId="{300A2AD5-4200-46F3-8796-B31E5BDFA6C8}" destId="{9D82D1E7-51A5-4C81-97A2-C68429E08198}" srcOrd="1" destOrd="0" parTransId="{68A5E461-42C5-4549-88EF-2DF98008EB9B}" sibTransId="{B8436281-8E7F-40C8-AED0-077572EA37A7}"/>
    <dgm:cxn modelId="{D6813640-456B-4ABD-BEAA-6D07A5FEA717}" type="presOf" srcId="{AEA149B2-C497-4E71-A438-FFB82381591A}" destId="{726805DD-DDF8-49C1-A2EB-1A998D283E63}" srcOrd="0" destOrd="0" presId="urn:microsoft.com/office/officeart/2005/8/layout/cycle1"/>
    <dgm:cxn modelId="{BD642D6A-16DA-48DC-BDB0-99559D6CD382}" type="presOf" srcId="{EDB98012-E271-4CAC-B3C0-6A585A6A26EE}" destId="{9D787311-6789-4044-8D90-04EAA770A974}" srcOrd="0" destOrd="0" presId="urn:microsoft.com/office/officeart/2005/8/layout/cycle1"/>
    <dgm:cxn modelId="{25B1F988-19CD-46D6-B37B-108FD6F290BC}" type="presOf" srcId="{9D82D1E7-51A5-4C81-97A2-C68429E08198}" destId="{502CF6FF-1194-437E-87ED-C464D1E7747B}" srcOrd="0" destOrd="0" presId="urn:microsoft.com/office/officeart/2005/8/layout/cycle1"/>
    <dgm:cxn modelId="{392A7B89-8A77-48F7-8268-265B854AE96B}" type="presOf" srcId="{B8436281-8E7F-40C8-AED0-077572EA37A7}" destId="{EB4C8083-F053-4F9C-8C31-9143EFC65316}" srcOrd="0" destOrd="0" presId="urn:microsoft.com/office/officeart/2005/8/layout/cycle1"/>
    <dgm:cxn modelId="{3FA0B48D-F156-4C9E-9C3C-7A158307CE78}" type="presOf" srcId="{300A2AD5-4200-46F3-8796-B31E5BDFA6C8}" destId="{02CEEF08-FDA9-47BB-8736-9DF3EE352957}" srcOrd="0" destOrd="0" presId="urn:microsoft.com/office/officeart/2005/8/layout/cycle1"/>
    <dgm:cxn modelId="{486DBC9C-8E07-451F-B7D6-8EB00597FF01}" srcId="{300A2AD5-4200-46F3-8796-B31E5BDFA6C8}" destId="{173F5CEC-C32B-4BE1-800E-53946D0C6443}" srcOrd="0" destOrd="0" parTransId="{4F69E305-ECAE-4B70-98B2-E1A79F354802}" sibTransId="{AEA149B2-C497-4E71-A438-FFB82381591A}"/>
    <dgm:cxn modelId="{1A97F6BB-DC44-43F0-861E-74C6E5B09A4A}" srcId="{300A2AD5-4200-46F3-8796-B31E5BDFA6C8}" destId="{EDB98012-E271-4CAC-B3C0-6A585A6A26EE}" srcOrd="2" destOrd="0" parTransId="{84E83EF9-913B-4430-A2EE-F014D575171E}" sibTransId="{105E080B-B200-4A7F-A0BB-EE2EBD13298D}"/>
    <dgm:cxn modelId="{2731C9C0-5B1A-4051-A370-A92E277FEEC2}" type="presOf" srcId="{173F5CEC-C32B-4BE1-800E-53946D0C6443}" destId="{C3D37505-3FD7-4D29-854F-A134733B7613}" srcOrd="0" destOrd="0" presId="urn:microsoft.com/office/officeart/2005/8/layout/cycle1"/>
    <dgm:cxn modelId="{7A4951CE-E20C-4873-8E2A-6D58D4B2DD38}" type="presParOf" srcId="{02CEEF08-FDA9-47BB-8736-9DF3EE352957}" destId="{A41D1135-2C9F-4AA9-A932-E1DDA614CB63}" srcOrd="0" destOrd="0" presId="urn:microsoft.com/office/officeart/2005/8/layout/cycle1"/>
    <dgm:cxn modelId="{1AB6EBF5-2073-48CC-859F-EEA833E499B5}" type="presParOf" srcId="{02CEEF08-FDA9-47BB-8736-9DF3EE352957}" destId="{C3D37505-3FD7-4D29-854F-A134733B7613}" srcOrd="1" destOrd="0" presId="urn:microsoft.com/office/officeart/2005/8/layout/cycle1"/>
    <dgm:cxn modelId="{6D5FEA3C-EF47-45AE-A0EA-5459FF172061}" type="presParOf" srcId="{02CEEF08-FDA9-47BB-8736-9DF3EE352957}" destId="{726805DD-DDF8-49C1-A2EB-1A998D283E63}" srcOrd="2" destOrd="0" presId="urn:microsoft.com/office/officeart/2005/8/layout/cycle1"/>
    <dgm:cxn modelId="{03391AE5-B7B4-4F0F-B828-C5B6EDCEB79D}" type="presParOf" srcId="{02CEEF08-FDA9-47BB-8736-9DF3EE352957}" destId="{C2FD9C88-57BA-406C-B4EE-8E8DDA5B585A}" srcOrd="3" destOrd="0" presId="urn:microsoft.com/office/officeart/2005/8/layout/cycle1"/>
    <dgm:cxn modelId="{41BA2795-1D6B-4661-95C3-BC532346C871}" type="presParOf" srcId="{02CEEF08-FDA9-47BB-8736-9DF3EE352957}" destId="{502CF6FF-1194-437E-87ED-C464D1E7747B}" srcOrd="4" destOrd="0" presId="urn:microsoft.com/office/officeart/2005/8/layout/cycle1"/>
    <dgm:cxn modelId="{FA224261-DECB-45E5-82FF-6A2191D849FC}" type="presParOf" srcId="{02CEEF08-FDA9-47BB-8736-9DF3EE352957}" destId="{EB4C8083-F053-4F9C-8C31-9143EFC65316}" srcOrd="5" destOrd="0" presId="urn:microsoft.com/office/officeart/2005/8/layout/cycle1"/>
    <dgm:cxn modelId="{AF1A283C-99C5-43ED-B16E-4E8A7ECCBCF2}" type="presParOf" srcId="{02CEEF08-FDA9-47BB-8736-9DF3EE352957}" destId="{97BEDC64-51EC-4C37-826C-60B5988CC2EF}" srcOrd="6" destOrd="0" presId="urn:microsoft.com/office/officeart/2005/8/layout/cycle1"/>
    <dgm:cxn modelId="{F96EFE0A-50E4-40AD-BC97-22829B799A96}" type="presParOf" srcId="{02CEEF08-FDA9-47BB-8736-9DF3EE352957}" destId="{9D787311-6789-4044-8D90-04EAA770A974}" srcOrd="7" destOrd="0" presId="urn:microsoft.com/office/officeart/2005/8/layout/cycle1"/>
    <dgm:cxn modelId="{27B5FD8A-2A16-468C-AEBD-3E685C86882D}" type="presParOf" srcId="{02CEEF08-FDA9-47BB-8736-9DF3EE352957}" destId="{D0E32658-70A8-4114-AEB3-CF753B1A64B7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0A2AD5-4200-46F3-8796-B31E5BDFA6C8}" type="doc">
      <dgm:prSet loTypeId="urn:microsoft.com/office/officeart/2005/8/layout/cycle1" loCatId="cycle" qsTypeId="urn:microsoft.com/office/officeart/2005/8/quickstyle/3d2#3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73F5CEC-C32B-4BE1-800E-53946D0C6443}">
      <dgm:prSet phldrT="[Text]" custT="1"/>
      <dgm:spPr/>
      <dgm:t>
        <a:bodyPr/>
        <a:lstStyle/>
        <a:p>
          <a:r>
            <a:rPr lang="en-US" sz="2000" b="1" dirty="0"/>
            <a:t>Low Inflation</a:t>
          </a:r>
        </a:p>
      </dgm:t>
    </dgm:pt>
    <dgm:pt modelId="{4F69E305-ECAE-4B70-98B2-E1A79F354802}" type="parTrans" cxnId="{486DBC9C-8E07-451F-B7D6-8EB00597FF01}">
      <dgm:prSet/>
      <dgm:spPr/>
      <dgm:t>
        <a:bodyPr/>
        <a:lstStyle/>
        <a:p>
          <a:endParaRPr lang="en-US" sz="2400" b="1"/>
        </a:p>
      </dgm:t>
    </dgm:pt>
    <dgm:pt modelId="{AEA149B2-C497-4E71-A438-FFB82381591A}" type="sibTrans" cxnId="{486DBC9C-8E07-451F-B7D6-8EB00597FF01}">
      <dgm:prSet custT="1"/>
      <dgm:spPr/>
      <dgm:t>
        <a:bodyPr/>
        <a:lstStyle/>
        <a:p>
          <a:endParaRPr lang="en-US" sz="2400" b="1"/>
        </a:p>
      </dgm:t>
    </dgm:pt>
    <dgm:pt modelId="{9D82D1E7-51A5-4C81-97A2-C68429E08198}">
      <dgm:prSet phldrT="[Text]" custT="1"/>
      <dgm:spPr/>
      <dgm:t>
        <a:bodyPr/>
        <a:lstStyle/>
        <a:p>
          <a:r>
            <a:rPr lang="en-US" sz="2000" b="1" dirty="0"/>
            <a:t>Low Expected Inflation</a:t>
          </a:r>
        </a:p>
      </dgm:t>
    </dgm:pt>
    <dgm:pt modelId="{68A5E461-42C5-4549-88EF-2DF98008EB9B}" type="parTrans" cxnId="{1EED3625-D65C-4133-822F-7D79FD66ED66}">
      <dgm:prSet/>
      <dgm:spPr/>
      <dgm:t>
        <a:bodyPr/>
        <a:lstStyle/>
        <a:p>
          <a:endParaRPr lang="en-US" sz="2400" b="1"/>
        </a:p>
      </dgm:t>
    </dgm:pt>
    <dgm:pt modelId="{B8436281-8E7F-40C8-AED0-077572EA37A7}" type="sibTrans" cxnId="{1EED3625-D65C-4133-822F-7D79FD66ED66}">
      <dgm:prSet custT="1"/>
      <dgm:spPr/>
      <dgm:t>
        <a:bodyPr/>
        <a:lstStyle/>
        <a:p>
          <a:endParaRPr lang="en-US" sz="2400" b="1"/>
        </a:p>
      </dgm:t>
    </dgm:pt>
    <dgm:pt modelId="{EDB98012-E271-4CAC-B3C0-6A585A6A26EE}">
      <dgm:prSet phldrT="[Text]" custT="1"/>
      <dgm:spPr/>
      <dgm:t>
        <a:bodyPr/>
        <a:lstStyle/>
        <a:p>
          <a:r>
            <a:rPr lang="en-US" sz="1900" b="1" dirty="0"/>
            <a:t>Slow Increase in Wages and Production Costs</a:t>
          </a:r>
        </a:p>
      </dgm:t>
    </dgm:pt>
    <dgm:pt modelId="{84E83EF9-913B-4430-A2EE-F014D575171E}" type="parTrans" cxnId="{1A97F6BB-DC44-43F0-861E-74C6E5B09A4A}">
      <dgm:prSet/>
      <dgm:spPr/>
      <dgm:t>
        <a:bodyPr/>
        <a:lstStyle/>
        <a:p>
          <a:endParaRPr lang="en-US" sz="2400" b="1"/>
        </a:p>
      </dgm:t>
    </dgm:pt>
    <dgm:pt modelId="{105E080B-B200-4A7F-A0BB-EE2EBD13298D}" type="sibTrans" cxnId="{1A97F6BB-DC44-43F0-861E-74C6E5B09A4A}">
      <dgm:prSet custT="1"/>
      <dgm:spPr/>
      <dgm:t>
        <a:bodyPr/>
        <a:lstStyle/>
        <a:p>
          <a:endParaRPr lang="en-US" sz="2400" b="1"/>
        </a:p>
      </dgm:t>
    </dgm:pt>
    <dgm:pt modelId="{02CEEF08-FDA9-47BB-8736-9DF3EE352957}" type="pres">
      <dgm:prSet presAssocID="{300A2AD5-4200-46F3-8796-B31E5BDFA6C8}" presName="cycle" presStyleCnt="0">
        <dgm:presLayoutVars>
          <dgm:dir/>
          <dgm:resizeHandles val="exact"/>
        </dgm:presLayoutVars>
      </dgm:prSet>
      <dgm:spPr/>
    </dgm:pt>
    <dgm:pt modelId="{A41D1135-2C9F-4AA9-A932-E1DDA614CB63}" type="pres">
      <dgm:prSet presAssocID="{173F5CEC-C32B-4BE1-800E-53946D0C6443}" presName="dummy" presStyleCnt="0"/>
      <dgm:spPr/>
    </dgm:pt>
    <dgm:pt modelId="{C3D37505-3FD7-4D29-854F-A134733B7613}" type="pres">
      <dgm:prSet presAssocID="{173F5CEC-C32B-4BE1-800E-53946D0C6443}" presName="node" presStyleLbl="revTx" presStyleIdx="0" presStyleCnt="3">
        <dgm:presLayoutVars>
          <dgm:bulletEnabled val="1"/>
        </dgm:presLayoutVars>
      </dgm:prSet>
      <dgm:spPr/>
    </dgm:pt>
    <dgm:pt modelId="{726805DD-DDF8-49C1-A2EB-1A998D283E63}" type="pres">
      <dgm:prSet presAssocID="{AEA149B2-C497-4E71-A438-FFB82381591A}" presName="sibTrans" presStyleLbl="node1" presStyleIdx="0" presStyleCnt="3"/>
      <dgm:spPr/>
    </dgm:pt>
    <dgm:pt modelId="{C2FD9C88-57BA-406C-B4EE-8E8DDA5B585A}" type="pres">
      <dgm:prSet presAssocID="{9D82D1E7-51A5-4C81-97A2-C68429E08198}" presName="dummy" presStyleCnt="0"/>
      <dgm:spPr/>
    </dgm:pt>
    <dgm:pt modelId="{502CF6FF-1194-437E-87ED-C464D1E7747B}" type="pres">
      <dgm:prSet presAssocID="{9D82D1E7-51A5-4C81-97A2-C68429E08198}" presName="node" presStyleLbl="revTx" presStyleIdx="1" presStyleCnt="3" custRadScaleRad="92235">
        <dgm:presLayoutVars>
          <dgm:bulletEnabled val="1"/>
        </dgm:presLayoutVars>
      </dgm:prSet>
      <dgm:spPr/>
    </dgm:pt>
    <dgm:pt modelId="{EB4C8083-F053-4F9C-8C31-9143EFC65316}" type="pres">
      <dgm:prSet presAssocID="{B8436281-8E7F-40C8-AED0-077572EA37A7}" presName="sibTrans" presStyleLbl="node1" presStyleIdx="1" presStyleCnt="3"/>
      <dgm:spPr/>
    </dgm:pt>
    <dgm:pt modelId="{97BEDC64-51EC-4C37-826C-60B5988CC2EF}" type="pres">
      <dgm:prSet presAssocID="{EDB98012-E271-4CAC-B3C0-6A585A6A26EE}" presName="dummy" presStyleCnt="0"/>
      <dgm:spPr/>
    </dgm:pt>
    <dgm:pt modelId="{9D787311-6789-4044-8D90-04EAA770A974}" type="pres">
      <dgm:prSet presAssocID="{EDB98012-E271-4CAC-B3C0-6A585A6A26EE}" presName="node" presStyleLbl="revTx" presStyleIdx="2" presStyleCnt="3" custScaleX="133452" custRadScaleRad="106695" custRadScaleInc="6944">
        <dgm:presLayoutVars>
          <dgm:bulletEnabled val="1"/>
        </dgm:presLayoutVars>
      </dgm:prSet>
      <dgm:spPr/>
    </dgm:pt>
    <dgm:pt modelId="{D0E32658-70A8-4114-AEB3-CF753B1A64B7}" type="pres">
      <dgm:prSet presAssocID="{105E080B-B200-4A7F-A0BB-EE2EBD13298D}" presName="sibTrans" presStyleLbl="node1" presStyleIdx="2" presStyleCnt="3"/>
      <dgm:spPr/>
    </dgm:pt>
  </dgm:ptLst>
  <dgm:cxnLst>
    <dgm:cxn modelId="{1EED3625-D65C-4133-822F-7D79FD66ED66}" srcId="{300A2AD5-4200-46F3-8796-B31E5BDFA6C8}" destId="{9D82D1E7-51A5-4C81-97A2-C68429E08198}" srcOrd="1" destOrd="0" parTransId="{68A5E461-42C5-4549-88EF-2DF98008EB9B}" sibTransId="{B8436281-8E7F-40C8-AED0-077572EA37A7}"/>
    <dgm:cxn modelId="{480E3C33-3C6A-448C-B1E2-29FF00D4E83E}" type="presOf" srcId="{EDB98012-E271-4CAC-B3C0-6A585A6A26EE}" destId="{9D787311-6789-4044-8D90-04EAA770A974}" srcOrd="0" destOrd="0" presId="urn:microsoft.com/office/officeart/2005/8/layout/cycle1"/>
    <dgm:cxn modelId="{F2673C40-64D8-46DF-8CA2-50C9CD52CC2E}" type="presOf" srcId="{9D82D1E7-51A5-4C81-97A2-C68429E08198}" destId="{502CF6FF-1194-437E-87ED-C464D1E7747B}" srcOrd="0" destOrd="0" presId="urn:microsoft.com/office/officeart/2005/8/layout/cycle1"/>
    <dgm:cxn modelId="{4BBFAE4C-5F96-4C69-B0FE-D4C3CAB30B5A}" type="presOf" srcId="{300A2AD5-4200-46F3-8796-B31E5BDFA6C8}" destId="{02CEEF08-FDA9-47BB-8736-9DF3EE352957}" srcOrd="0" destOrd="0" presId="urn:microsoft.com/office/officeart/2005/8/layout/cycle1"/>
    <dgm:cxn modelId="{499F4C57-5FE4-4B8F-AB07-9C9150AEE824}" type="presOf" srcId="{105E080B-B200-4A7F-A0BB-EE2EBD13298D}" destId="{D0E32658-70A8-4114-AEB3-CF753B1A64B7}" srcOrd="0" destOrd="0" presId="urn:microsoft.com/office/officeart/2005/8/layout/cycle1"/>
    <dgm:cxn modelId="{A4059B82-9F5C-43B6-8462-B700ECACFA4A}" type="presOf" srcId="{173F5CEC-C32B-4BE1-800E-53946D0C6443}" destId="{C3D37505-3FD7-4D29-854F-A134733B7613}" srcOrd="0" destOrd="0" presId="urn:microsoft.com/office/officeart/2005/8/layout/cycle1"/>
    <dgm:cxn modelId="{486DBC9C-8E07-451F-B7D6-8EB00597FF01}" srcId="{300A2AD5-4200-46F3-8796-B31E5BDFA6C8}" destId="{173F5CEC-C32B-4BE1-800E-53946D0C6443}" srcOrd="0" destOrd="0" parTransId="{4F69E305-ECAE-4B70-98B2-E1A79F354802}" sibTransId="{AEA149B2-C497-4E71-A438-FFB82381591A}"/>
    <dgm:cxn modelId="{1A97F6BB-DC44-43F0-861E-74C6E5B09A4A}" srcId="{300A2AD5-4200-46F3-8796-B31E5BDFA6C8}" destId="{EDB98012-E271-4CAC-B3C0-6A585A6A26EE}" srcOrd="2" destOrd="0" parTransId="{84E83EF9-913B-4430-A2EE-F014D575171E}" sibTransId="{105E080B-B200-4A7F-A0BB-EE2EBD13298D}"/>
    <dgm:cxn modelId="{BD2DBAC3-7A66-4732-9C2A-12C21A992059}" type="presOf" srcId="{B8436281-8E7F-40C8-AED0-077572EA37A7}" destId="{EB4C8083-F053-4F9C-8C31-9143EFC65316}" srcOrd="0" destOrd="0" presId="urn:microsoft.com/office/officeart/2005/8/layout/cycle1"/>
    <dgm:cxn modelId="{270D7DE7-D3BE-4B1D-B347-185B3A4CD8CF}" type="presOf" srcId="{AEA149B2-C497-4E71-A438-FFB82381591A}" destId="{726805DD-DDF8-49C1-A2EB-1A998D283E63}" srcOrd="0" destOrd="0" presId="urn:microsoft.com/office/officeart/2005/8/layout/cycle1"/>
    <dgm:cxn modelId="{AF11D0B7-6B90-47EA-9251-4848D2052107}" type="presParOf" srcId="{02CEEF08-FDA9-47BB-8736-9DF3EE352957}" destId="{A41D1135-2C9F-4AA9-A932-E1DDA614CB63}" srcOrd="0" destOrd="0" presId="urn:microsoft.com/office/officeart/2005/8/layout/cycle1"/>
    <dgm:cxn modelId="{501FB4EA-EFAC-475C-AFA3-F86168BC9653}" type="presParOf" srcId="{02CEEF08-FDA9-47BB-8736-9DF3EE352957}" destId="{C3D37505-3FD7-4D29-854F-A134733B7613}" srcOrd="1" destOrd="0" presId="urn:microsoft.com/office/officeart/2005/8/layout/cycle1"/>
    <dgm:cxn modelId="{7AE3408A-994B-438E-9267-2D65B80C5FA1}" type="presParOf" srcId="{02CEEF08-FDA9-47BB-8736-9DF3EE352957}" destId="{726805DD-DDF8-49C1-A2EB-1A998D283E63}" srcOrd="2" destOrd="0" presId="urn:microsoft.com/office/officeart/2005/8/layout/cycle1"/>
    <dgm:cxn modelId="{697D8E04-70CA-4146-AB24-29094EF2E837}" type="presParOf" srcId="{02CEEF08-FDA9-47BB-8736-9DF3EE352957}" destId="{C2FD9C88-57BA-406C-B4EE-8E8DDA5B585A}" srcOrd="3" destOrd="0" presId="urn:microsoft.com/office/officeart/2005/8/layout/cycle1"/>
    <dgm:cxn modelId="{5D69CFC1-4932-404E-B15A-0C86346118FF}" type="presParOf" srcId="{02CEEF08-FDA9-47BB-8736-9DF3EE352957}" destId="{502CF6FF-1194-437E-87ED-C464D1E7747B}" srcOrd="4" destOrd="0" presId="urn:microsoft.com/office/officeart/2005/8/layout/cycle1"/>
    <dgm:cxn modelId="{77EAFED4-372A-464D-8825-734B096D1E28}" type="presParOf" srcId="{02CEEF08-FDA9-47BB-8736-9DF3EE352957}" destId="{EB4C8083-F053-4F9C-8C31-9143EFC65316}" srcOrd="5" destOrd="0" presId="urn:microsoft.com/office/officeart/2005/8/layout/cycle1"/>
    <dgm:cxn modelId="{346CA4C0-ACCD-4899-84A7-72924E3514DD}" type="presParOf" srcId="{02CEEF08-FDA9-47BB-8736-9DF3EE352957}" destId="{97BEDC64-51EC-4C37-826C-60B5988CC2EF}" srcOrd="6" destOrd="0" presId="urn:microsoft.com/office/officeart/2005/8/layout/cycle1"/>
    <dgm:cxn modelId="{E3516138-B8D4-4662-B5E2-6EB2548A8D21}" type="presParOf" srcId="{02CEEF08-FDA9-47BB-8736-9DF3EE352957}" destId="{9D787311-6789-4044-8D90-04EAA770A974}" srcOrd="7" destOrd="0" presId="urn:microsoft.com/office/officeart/2005/8/layout/cycle1"/>
    <dgm:cxn modelId="{74CD21A6-845E-471D-92D1-B619D966A1F7}" type="presParOf" srcId="{02CEEF08-FDA9-47BB-8736-9DF3EE352957}" destId="{D0E32658-70A8-4114-AEB3-CF753B1A64B7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250CD7-3AD5-46E9-8492-A894D6CB7159}">
      <dsp:nvSpPr>
        <dsp:cNvPr id="0" name=""/>
        <dsp:cNvSpPr/>
      </dsp:nvSpPr>
      <dsp:spPr>
        <a:xfrm>
          <a:off x="2508" y="115971"/>
          <a:ext cx="977086" cy="98324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noFill/>
            </a:rPr>
            <a:t> </a:t>
          </a:r>
        </a:p>
      </dsp:txBody>
      <dsp:txXfrm>
        <a:off x="2508" y="115971"/>
        <a:ext cx="977086" cy="983247"/>
      </dsp:txXfrm>
    </dsp:sp>
    <dsp:sp modelId="{F127F629-A42A-4962-9786-0FA7CDF4D4B6}">
      <dsp:nvSpPr>
        <dsp:cNvPr id="0" name=""/>
        <dsp:cNvSpPr/>
      </dsp:nvSpPr>
      <dsp:spPr>
        <a:xfrm>
          <a:off x="1143469" y="404390"/>
          <a:ext cx="347414" cy="4064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143469" y="404390"/>
        <a:ext cx="347414" cy="406409"/>
      </dsp:txXfrm>
    </dsp:sp>
    <dsp:sp modelId="{563EE3C3-B019-40A1-A39F-B7597F845D8E}">
      <dsp:nvSpPr>
        <dsp:cNvPr id="0" name=""/>
        <dsp:cNvSpPr/>
      </dsp:nvSpPr>
      <dsp:spPr>
        <a:xfrm>
          <a:off x="1635093" y="115971"/>
          <a:ext cx="1882690" cy="9832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C, </a:t>
          </a:r>
          <a:r>
            <a:rPr lang="en-US" sz="2400" b="1" kern="1200" dirty="0" err="1"/>
            <a:t>I</a:t>
          </a:r>
          <a:r>
            <a:rPr lang="en-US" sz="2400" b="1" kern="1200" baseline="30000" dirty="0" err="1"/>
            <a:t>p</a:t>
          </a:r>
          <a:r>
            <a:rPr lang="en-US" sz="2400" b="1" kern="1200" baseline="0" dirty="0" err="1"/>
            <a:t>,NX</a:t>
          </a:r>
          <a:r>
            <a:rPr lang="en-US" sz="2400" b="1" kern="1200" dirty="0" err="1">
              <a:sym typeface="Symbol"/>
            </a:rPr>
            <a:t></a:t>
          </a:r>
          <a:r>
            <a:rPr lang="en-US" sz="2400" b="1" kern="1200" dirty="0"/>
            <a:t> </a:t>
          </a:r>
        </a:p>
      </dsp:txBody>
      <dsp:txXfrm>
        <a:off x="1635093" y="115971"/>
        <a:ext cx="1882690" cy="983247"/>
      </dsp:txXfrm>
    </dsp:sp>
    <dsp:sp modelId="{B39EA355-8EFD-4E1E-8131-36C83F564235}">
      <dsp:nvSpPr>
        <dsp:cNvPr id="0" name=""/>
        <dsp:cNvSpPr/>
      </dsp:nvSpPr>
      <dsp:spPr>
        <a:xfrm>
          <a:off x="3681658" y="404390"/>
          <a:ext cx="347414" cy="4064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/>
        </a:p>
      </dsp:txBody>
      <dsp:txXfrm>
        <a:off x="3681658" y="404390"/>
        <a:ext cx="347414" cy="406409"/>
      </dsp:txXfrm>
    </dsp:sp>
    <dsp:sp modelId="{D140FCDC-36ED-4651-B954-8DC899549259}">
      <dsp:nvSpPr>
        <dsp:cNvPr id="0" name=""/>
        <dsp:cNvSpPr/>
      </dsp:nvSpPr>
      <dsp:spPr>
        <a:xfrm>
          <a:off x="4173282" y="115971"/>
          <a:ext cx="1454764" cy="9832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PAE </a:t>
          </a:r>
          <a:r>
            <a:rPr lang="en-US" sz="2400" b="1" kern="1200" dirty="0">
              <a:sym typeface="Symbol"/>
            </a:rPr>
            <a:t></a:t>
          </a:r>
          <a:r>
            <a:rPr lang="en-US" sz="2400" b="1" kern="1200" dirty="0"/>
            <a:t> </a:t>
          </a:r>
        </a:p>
      </dsp:txBody>
      <dsp:txXfrm>
        <a:off x="4173282" y="115971"/>
        <a:ext cx="1454764" cy="983247"/>
      </dsp:txXfrm>
    </dsp:sp>
    <dsp:sp modelId="{30CAA2C4-A72C-4392-8A55-4D9AA281059C}">
      <dsp:nvSpPr>
        <dsp:cNvPr id="0" name=""/>
        <dsp:cNvSpPr/>
      </dsp:nvSpPr>
      <dsp:spPr>
        <a:xfrm>
          <a:off x="5791921" y="404390"/>
          <a:ext cx="347414" cy="4064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/>
        </a:p>
      </dsp:txBody>
      <dsp:txXfrm>
        <a:off x="5791921" y="404390"/>
        <a:ext cx="347414" cy="406409"/>
      </dsp:txXfrm>
    </dsp:sp>
    <dsp:sp modelId="{22835E65-87F6-46D5-AA3A-27DD8F132ABA}">
      <dsp:nvSpPr>
        <dsp:cNvPr id="0" name=""/>
        <dsp:cNvSpPr/>
      </dsp:nvSpPr>
      <dsp:spPr>
        <a:xfrm>
          <a:off x="6283545" y="115971"/>
          <a:ext cx="1638746" cy="9832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Y </a:t>
          </a:r>
          <a:r>
            <a:rPr lang="en-US" sz="2400" b="1" kern="1200" dirty="0">
              <a:sym typeface="Symbol"/>
            </a:rPr>
            <a:t></a:t>
          </a:r>
          <a:endParaRPr lang="en-US" sz="2400" b="1" kern="1200" dirty="0"/>
        </a:p>
      </dsp:txBody>
      <dsp:txXfrm>
        <a:off x="6283545" y="115971"/>
        <a:ext cx="1638746" cy="9832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37505-3FD7-4D29-854F-A134733B7613}">
      <dsp:nvSpPr>
        <dsp:cNvPr id="0" name=""/>
        <dsp:cNvSpPr/>
      </dsp:nvSpPr>
      <dsp:spPr>
        <a:xfrm>
          <a:off x="2958288" y="278329"/>
          <a:ext cx="1415843" cy="141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Low Inflation</a:t>
          </a:r>
        </a:p>
      </dsp:txBody>
      <dsp:txXfrm>
        <a:off x="2958288" y="278329"/>
        <a:ext cx="1415843" cy="1415843"/>
      </dsp:txXfrm>
    </dsp:sp>
    <dsp:sp modelId="{726805DD-DDF8-49C1-A2EB-1A998D283E63}">
      <dsp:nvSpPr>
        <dsp:cNvPr id="0" name=""/>
        <dsp:cNvSpPr/>
      </dsp:nvSpPr>
      <dsp:spPr>
        <a:xfrm>
          <a:off x="802230" y="-103"/>
          <a:ext cx="3347227" cy="3347227"/>
        </a:xfrm>
        <a:prstGeom prst="circularArrow">
          <a:avLst>
            <a:gd name="adj1" fmla="val 8248"/>
            <a:gd name="adj2" fmla="val 576104"/>
            <a:gd name="adj3" fmla="val 2963915"/>
            <a:gd name="adj4" fmla="val 51682"/>
            <a:gd name="adj5" fmla="val 9623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2CF6FF-1194-437E-87ED-C464D1E7747B}">
      <dsp:nvSpPr>
        <dsp:cNvPr id="0" name=""/>
        <dsp:cNvSpPr/>
      </dsp:nvSpPr>
      <dsp:spPr>
        <a:xfrm>
          <a:off x="1767922" y="2340104"/>
          <a:ext cx="1415843" cy="141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Low Expected Inflation</a:t>
          </a:r>
        </a:p>
      </dsp:txBody>
      <dsp:txXfrm>
        <a:off x="1767922" y="2340104"/>
        <a:ext cx="1415843" cy="1415843"/>
      </dsp:txXfrm>
    </dsp:sp>
    <dsp:sp modelId="{EB4C8083-F053-4F9C-8C31-9143EFC65316}">
      <dsp:nvSpPr>
        <dsp:cNvPr id="0" name=""/>
        <dsp:cNvSpPr/>
      </dsp:nvSpPr>
      <dsp:spPr>
        <a:xfrm>
          <a:off x="802230" y="-103"/>
          <a:ext cx="3347227" cy="3347227"/>
        </a:xfrm>
        <a:prstGeom prst="circularArrow">
          <a:avLst>
            <a:gd name="adj1" fmla="val 8248"/>
            <a:gd name="adj2" fmla="val 576104"/>
            <a:gd name="adj3" fmla="val 10172214"/>
            <a:gd name="adj4" fmla="val 7259981"/>
            <a:gd name="adj5" fmla="val 9623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787311-6789-4044-8D90-04EAA770A974}">
      <dsp:nvSpPr>
        <dsp:cNvPr id="0" name=""/>
        <dsp:cNvSpPr/>
      </dsp:nvSpPr>
      <dsp:spPr>
        <a:xfrm>
          <a:off x="340741" y="278329"/>
          <a:ext cx="1889471" cy="141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Slow Increase in Wages and Production Costs</a:t>
          </a:r>
        </a:p>
      </dsp:txBody>
      <dsp:txXfrm>
        <a:off x="340741" y="278329"/>
        <a:ext cx="1889471" cy="1415843"/>
      </dsp:txXfrm>
    </dsp:sp>
    <dsp:sp modelId="{D0E32658-70A8-4114-AEB3-CF753B1A64B7}">
      <dsp:nvSpPr>
        <dsp:cNvPr id="0" name=""/>
        <dsp:cNvSpPr/>
      </dsp:nvSpPr>
      <dsp:spPr>
        <a:xfrm>
          <a:off x="802230" y="-103"/>
          <a:ext cx="3347227" cy="3347227"/>
        </a:xfrm>
        <a:prstGeom prst="circularArrow">
          <a:avLst>
            <a:gd name="adj1" fmla="val 8248"/>
            <a:gd name="adj2" fmla="val 576104"/>
            <a:gd name="adj3" fmla="val 16856777"/>
            <a:gd name="adj4" fmla="val 15582346"/>
            <a:gd name="adj5" fmla="val 9623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37505-3FD7-4D29-854F-A134733B7613}">
      <dsp:nvSpPr>
        <dsp:cNvPr id="0" name=""/>
        <dsp:cNvSpPr/>
      </dsp:nvSpPr>
      <dsp:spPr>
        <a:xfrm>
          <a:off x="2765510" y="247286"/>
          <a:ext cx="1262398" cy="1262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Low Inflation</a:t>
          </a:r>
        </a:p>
      </dsp:txBody>
      <dsp:txXfrm>
        <a:off x="2765510" y="247286"/>
        <a:ext cx="1262398" cy="1262398"/>
      </dsp:txXfrm>
    </dsp:sp>
    <dsp:sp modelId="{726805DD-DDF8-49C1-A2EB-1A998D283E63}">
      <dsp:nvSpPr>
        <dsp:cNvPr id="0" name=""/>
        <dsp:cNvSpPr/>
      </dsp:nvSpPr>
      <dsp:spPr>
        <a:xfrm>
          <a:off x="848308" y="-118731"/>
          <a:ext cx="2986754" cy="2986754"/>
        </a:xfrm>
        <a:prstGeom prst="circularArrow">
          <a:avLst>
            <a:gd name="adj1" fmla="val 8242"/>
            <a:gd name="adj2" fmla="val 575565"/>
            <a:gd name="adj3" fmla="val 2990275"/>
            <a:gd name="adj4" fmla="val 379206"/>
            <a:gd name="adj5" fmla="val 9616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2CF6FF-1194-437E-87ED-C464D1E7747B}">
      <dsp:nvSpPr>
        <dsp:cNvPr id="0" name=""/>
        <dsp:cNvSpPr/>
      </dsp:nvSpPr>
      <dsp:spPr>
        <a:xfrm>
          <a:off x="1703161" y="1992076"/>
          <a:ext cx="1262398" cy="1262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Low Expected Inflation</a:t>
          </a:r>
        </a:p>
      </dsp:txBody>
      <dsp:txXfrm>
        <a:off x="1703161" y="1992076"/>
        <a:ext cx="1262398" cy="1262398"/>
      </dsp:txXfrm>
    </dsp:sp>
    <dsp:sp modelId="{EB4C8083-F053-4F9C-8C31-9143EFC65316}">
      <dsp:nvSpPr>
        <dsp:cNvPr id="0" name=""/>
        <dsp:cNvSpPr/>
      </dsp:nvSpPr>
      <dsp:spPr>
        <a:xfrm>
          <a:off x="758483" y="-159665"/>
          <a:ext cx="2986754" cy="2986754"/>
        </a:xfrm>
        <a:prstGeom prst="circularArrow">
          <a:avLst>
            <a:gd name="adj1" fmla="val 8242"/>
            <a:gd name="adj2" fmla="val 575565"/>
            <a:gd name="adj3" fmla="val 9997971"/>
            <a:gd name="adj4" fmla="val 6994232"/>
            <a:gd name="adj5" fmla="val 9616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787311-6789-4044-8D90-04EAA770A974}">
      <dsp:nvSpPr>
        <dsp:cNvPr id="0" name=""/>
        <dsp:cNvSpPr/>
      </dsp:nvSpPr>
      <dsp:spPr>
        <a:xfrm>
          <a:off x="391582" y="152064"/>
          <a:ext cx="1684695" cy="1262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Slow Increase in Wages and Production Costs</a:t>
          </a:r>
        </a:p>
      </dsp:txBody>
      <dsp:txXfrm>
        <a:off x="391582" y="152064"/>
        <a:ext cx="1684695" cy="1262398"/>
      </dsp:txXfrm>
    </dsp:sp>
    <dsp:sp modelId="{D0E32658-70A8-4114-AEB3-CF753B1A64B7}">
      <dsp:nvSpPr>
        <dsp:cNvPr id="0" name=""/>
        <dsp:cNvSpPr/>
      </dsp:nvSpPr>
      <dsp:spPr>
        <a:xfrm>
          <a:off x="702082" y="-63777"/>
          <a:ext cx="2986754" cy="2986754"/>
        </a:xfrm>
        <a:prstGeom prst="circularArrow">
          <a:avLst>
            <a:gd name="adj1" fmla="val 8242"/>
            <a:gd name="adj2" fmla="val 575565"/>
            <a:gd name="adj3" fmla="val 17285903"/>
            <a:gd name="adj4" fmla="val 15865474"/>
            <a:gd name="adj5" fmla="val 9616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#3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92F30890-E24B-4E0D-A976-A0E934AD3E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0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30400" y="231775"/>
            <a:ext cx="2994025" cy="224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6400" y="2705100"/>
            <a:ext cx="6032500" cy="595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effectLst/>
              </a:defRPr>
            </a:lvl1pPr>
          </a:lstStyle>
          <a:p>
            <a:pPr>
              <a:defRPr/>
            </a:pPr>
            <a:fld id="{77CA596C-6E61-41B8-83D6-76FC19BA50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Font typeface="Arial" charset="0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064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6350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800100" indent="-1651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CA596C-6E61-41B8-83D6-76FC19BA500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E19683-7938-4422-8B8F-8E1BA21B4E9E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US"/>
          </a:p>
        </p:txBody>
      </p:sp>
      <p:sp>
        <p:nvSpPr>
          <p:cNvPr id="57347" name="Rectangle 5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0375"/>
            <a:ext cx="7772400" cy="1470025"/>
          </a:xfrm>
        </p:spPr>
        <p:txBody>
          <a:bodyPr/>
          <a:lstStyle>
            <a:lvl1pPr algn="l">
              <a:defRPr sz="42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200400"/>
            <a:ext cx="7467600" cy="1676400"/>
          </a:xfrm>
        </p:spPr>
        <p:txBody>
          <a:bodyPr/>
          <a:lstStyle>
            <a:lvl1pPr marL="0" indent="0" algn="ctr">
              <a:buFontTx/>
              <a:buNone/>
              <a:defRPr sz="48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F46E13C4-7005-4115-B010-EAA29903E6C1}" type="datetime1">
              <a:rPr lang="en-US"/>
              <a:pPr>
                <a:defRPr/>
              </a:pPr>
              <a:t>8/7/2024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0E8318A-202A-4F66-B94C-9B952149AB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Frank Brief 2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6858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33" name="Rectangle 21"/>
          <p:cNvSpPr>
            <a:spLocks noChangeArrowheads="1"/>
          </p:cNvSpPr>
          <p:nvPr userDrawn="1"/>
        </p:nvSpPr>
        <p:spPr bwMode="auto">
          <a:xfrm>
            <a:off x="69342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r>
              <a:rPr lang="en-US" sz="1000">
                <a:latin typeface="Times New Roman" pitchFamily="18" charset="0"/>
              </a:rPr>
              <a:t>1-</a:t>
            </a:r>
            <a:fld id="{B9D74E89-6214-45AC-BC4B-D378039338D8}" type="slidenum">
              <a:rPr lang="en-US" sz="1000">
                <a:latin typeface="Times New Roman" pitchFamily="18" charset="0"/>
              </a:rPr>
              <a:pPr algn="r">
                <a:defRPr/>
              </a:pPr>
              <a:t>‹#›</a:t>
            </a:fld>
            <a:endParaRPr lang="en-US" sz="10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hayboon@ntu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171574" y="266699"/>
            <a:ext cx="7515225" cy="4010026"/>
          </a:xfrm>
        </p:spPr>
        <p:txBody>
          <a:bodyPr/>
          <a:lstStyle/>
          <a:p>
            <a:r>
              <a:rPr lang="en-US">
                <a:latin typeface="Arial" charset="0"/>
              </a:rPr>
              <a:t>HE5091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Principles of Economics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Lecture 11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Aggregate Demand, Aggregate Supply and Macroeconomic Policy</a:t>
            </a:r>
            <a:endParaRPr lang="en-US" dirty="0"/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4229100"/>
            <a:ext cx="7721600" cy="1819275"/>
          </a:xfrm>
        </p:spPr>
        <p:txBody>
          <a:bodyPr/>
          <a:lstStyle/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Tan Khay Boon</a:t>
            </a:r>
          </a:p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Email</a:t>
            </a:r>
            <a:r>
              <a:rPr lang="en-US"/>
              <a:t>: </a:t>
            </a:r>
            <a:r>
              <a:rPr lang="en-US">
                <a:hlinkClick r:id="rId3"/>
              </a:rPr>
              <a:t>khayboon@ntu.edu.sg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Topics</a:t>
            </a:r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873303" y="1752600"/>
            <a:ext cx="8003997" cy="4324350"/>
          </a:xfrm>
        </p:spPr>
        <p:txBody>
          <a:bodyPr/>
          <a:lstStyle/>
          <a:p>
            <a:r>
              <a:rPr lang="en-US" dirty="0"/>
              <a:t>The Aggregate Demand Curve</a:t>
            </a:r>
          </a:p>
          <a:p>
            <a:r>
              <a:rPr lang="en-US" dirty="0"/>
              <a:t>The Aggregate Supply Curve</a:t>
            </a:r>
          </a:p>
          <a:p>
            <a:r>
              <a:rPr lang="en-US" dirty="0"/>
              <a:t>Aggregate Demand-Aggregate Supply Analysis</a:t>
            </a:r>
          </a:p>
          <a:p>
            <a:r>
              <a:rPr lang="en-US" dirty="0"/>
              <a:t>Anti-inflationary Monetary Policy</a:t>
            </a:r>
          </a:p>
          <a:p>
            <a:r>
              <a:rPr lang="en-US" dirty="0"/>
              <a:t>Response to Aggregate Demand Shock</a:t>
            </a:r>
          </a:p>
          <a:p>
            <a:r>
              <a:rPr lang="en-US" dirty="0"/>
              <a:t>Response to Aggregate Supply Shock</a:t>
            </a:r>
          </a:p>
          <a:p>
            <a:r>
              <a:rPr lang="en-US" dirty="0"/>
              <a:t>Reference</a:t>
            </a:r>
            <a:r>
              <a:rPr lang="en-US"/>
              <a:t>: FBAH or FBL, </a:t>
            </a:r>
            <a:r>
              <a:rPr lang="en-US" dirty="0"/>
              <a:t>chapters 24 &amp; 25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3"/>
          <p:cNvSpPr>
            <a:spLocks noGrp="1"/>
          </p:cNvSpPr>
          <p:nvPr>
            <p:ph type="title" idx="4294967295"/>
          </p:nvPr>
        </p:nvSpPr>
        <p:spPr>
          <a:xfrm>
            <a:off x="685800" y="1270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Aggregate Demand and Aggregate Supply </a:t>
            </a:r>
            <a:endParaRPr lang="en-US" b="1"/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825500" y="1473200"/>
            <a:ext cx="8082194" cy="5184454"/>
          </a:xfrm>
        </p:spPr>
        <p:txBody>
          <a:bodyPr/>
          <a:lstStyle/>
          <a:p>
            <a:pPr marL="228600" indent="-228600" eaLnBrk="1" hangingPunct="1"/>
            <a:r>
              <a:rPr lang="en-US" sz="2400" dirty="0"/>
              <a:t>Analyze fluctuations in both output and the inflation rate</a:t>
            </a:r>
          </a:p>
          <a:p>
            <a:pPr lvl="1" eaLnBrk="1" hangingPunct="1"/>
            <a:r>
              <a:rPr lang="en-US" sz="2400" dirty="0"/>
              <a:t>Short run and long run analysis</a:t>
            </a:r>
          </a:p>
          <a:p>
            <a:pPr marL="228600" indent="-228600" eaLnBrk="1" hangingPunct="1"/>
            <a:r>
              <a:rPr lang="en-US" sz="2400" dirty="0"/>
              <a:t>Inflation rate (</a:t>
            </a:r>
            <a:r>
              <a:rPr lang="el-GR" sz="2400" dirty="0">
                <a:latin typeface="Batang"/>
                <a:ea typeface="Batang"/>
              </a:rPr>
              <a:t>Π</a:t>
            </a:r>
            <a:r>
              <a:rPr lang="en-US" sz="2400" dirty="0"/>
              <a:t>) and output (Y) on the axis</a:t>
            </a:r>
          </a:p>
          <a:p>
            <a:pPr marL="228600" indent="-228600" eaLnBrk="1" hangingPunct="1"/>
            <a:r>
              <a:rPr lang="en-US" sz="2400" dirty="0"/>
              <a:t>AD shows the relationship </a:t>
            </a:r>
          </a:p>
          <a:p>
            <a:pPr marL="228600" indent="-228600" eaLnBrk="1" hangingPunct="1">
              <a:buFontTx/>
              <a:buNone/>
            </a:pPr>
            <a:r>
              <a:rPr lang="en-US" sz="2400" dirty="0"/>
              <a:t>  between planned spending</a:t>
            </a:r>
          </a:p>
          <a:p>
            <a:pPr marL="228600" indent="-228600" eaLnBrk="1" hangingPunct="1">
              <a:buFontTx/>
              <a:buNone/>
            </a:pPr>
            <a:r>
              <a:rPr lang="en-US" sz="2400" dirty="0"/>
              <a:t>  and the inflation rate</a:t>
            </a:r>
          </a:p>
          <a:p>
            <a:pPr marL="228600" indent="-228600" eaLnBrk="1" hangingPunct="1"/>
            <a:r>
              <a:rPr lang="en-US" sz="2400" dirty="0"/>
              <a:t>AS shows how output </a:t>
            </a:r>
          </a:p>
          <a:p>
            <a:pPr marL="228600" indent="-228600" eaLnBrk="1" hangingPunct="1">
              <a:buFontTx/>
              <a:buNone/>
            </a:pPr>
            <a:r>
              <a:rPr lang="en-US" sz="2400" dirty="0"/>
              <a:t>  produced by firms depends</a:t>
            </a:r>
          </a:p>
          <a:p>
            <a:pPr marL="228600" indent="-228600" eaLnBrk="1" hangingPunct="1">
              <a:buFontTx/>
              <a:buNone/>
            </a:pPr>
            <a:r>
              <a:rPr lang="en-US" sz="2400" dirty="0"/>
              <a:t>  on the inflation rate</a:t>
            </a:r>
          </a:p>
          <a:p>
            <a:pPr marL="228600" indent="-228600" eaLnBrk="1" hangingPunct="1"/>
            <a:r>
              <a:rPr lang="en-US" sz="2400" dirty="0"/>
              <a:t>Potential output (Y*) is </a:t>
            </a:r>
          </a:p>
          <a:p>
            <a:pPr marL="228600" indent="-228600" eaLnBrk="1" hangingPunct="1">
              <a:buNone/>
            </a:pPr>
            <a:r>
              <a:rPr lang="en-US" sz="2400" dirty="0"/>
              <a:t>  	shown to measure output </a:t>
            </a:r>
          </a:p>
          <a:p>
            <a:pPr marL="228600" indent="-228600" eaLnBrk="1" hangingPunct="1">
              <a:buNone/>
            </a:pPr>
            <a:r>
              <a:rPr lang="en-US" sz="2400" dirty="0"/>
              <a:t>  gaps</a:t>
            </a:r>
          </a:p>
        </p:txBody>
      </p:sp>
      <p:grpSp>
        <p:nvGrpSpPr>
          <p:cNvPr id="2" name="Group 19"/>
          <p:cNvGrpSpPr/>
          <p:nvPr/>
        </p:nvGrpSpPr>
        <p:grpSpPr>
          <a:xfrm>
            <a:off x="5039028" y="3317875"/>
            <a:ext cx="4104972" cy="3200400"/>
            <a:chOff x="5039028" y="3241675"/>
            <a:chExt cx="4104972" cy="3200400"/>
          </a:xfrm>
        </p:grpSpPr>
        <p:grpSp>
          <p:nvGrpSpPr>
            <p:cNvPr id="3" name="Group 24"/>
            <p:cNvGrpSpPr>
              <a:grpSpLocks/>
            </p:cNvGrpSpPr>
            <p:nvPr/>
          </p:nvGrpSpPr>
          <p:grpSpPr bwMode="auto">
            <a:xfrm>
              <a:off x="5039028" y="3241675"/>
              <a:ext cx="4051300" cy="3200400"/>
              <a:chOff x="4932950" y="3284624"/>
              <a:chExt cx="4051271" cy="3200400"/>
            </a:xfrm>
          </p:grpSpPr>
          <p:sp>
            <p:nvSpPr>
              <p:cNvPr id="35" name="Rectangle 34"/>
              <p:cNvSpPr/>
              <p:nvPr/>
            </p:nvSpPr>
            <p:spPr bwMode="auto">
              <a:xfrm>
                <a:off x="4932950" y="3284624"/>
                <a:ext cx="4051271" cy="32004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6" name="Rectangle 35"/>
              <p:cNvSpPr/>
              <p:nvPr/>
            </p:nvSpPr>
            <p:spPr bwMode="auto">
              <a:xfrm>
                <a:off x="5015499" y="3356061"/>
                <a:ext cx="3886172" cy="3057525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28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8" name="TextBox 13"/>
              <p:cNvSpPr txBox="1">
                <a:spLocks noChangeArrowheads="1"/>
              </p:cNvSpPr>
              <p:nvPr/>
            </p:nvSpPr>
            <p:spPr bwMode="auto">
              <a:xfrm>
                <a:off x="7463726" y="6013533"/>
                <a:ext cx="992059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600" dirty="0"/>
                  <a:t>Output Y</a:t>
                </a:r>
              </a:p>
            </p:txBody>
          </p:sp>
          <p:cxnSp>
            <p:nvCxnSpPr>
              <p:cNvPr id="39" name="Straight Connector 38"/>
              <p:cNvCxnSpPr>
                <a:cxnSpLocks noChangeShapeType="1"/>
              </p:cNvCxnSpPr>
              <p:nvPr/>
            </p:nvCxnSpPr>
            <p:spPr bwMode="auto">
              <a:xfrm rot="10800000">
                <a:off x="5526761" y="5962720"/>
                <a:ext cx="2395663" cy="1226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0" name="Straight Connector 39"/>
              <p:cNvCxnSpPr>
                <a:cxnSpLocks noChangeShapeType="1"/>
              </p:cNvCxnSpPr>
              <p:nvPr/>
            </p:nvCxnSpPr>
            <p:spPr bwMode="auto">
              <a:xfrm rot="5400000">
                <a:off x="4513605" y="4961302"/>
                <a:ext cx="2024245" cy="1226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4" name="Group 25"/>
            <p:cNvGrpSpPr>
              <a:grpSpLocks/>
            </p:cNvGrpSpPr>
            <p:nvPr/>
          </p:nvGrpSpPr>
          <p:grpSpPr bwMode="auto">
            <a:xfrm>
              <a:off x="5828014" y="4044951"/>
              <a:ext cx="3315986" cy="1947697"/>
              <a:chOff x="5721755" y="4088462"/>
              <a:chExt cx="3315295" cy="1947324"/>
            </a:xfrm>
          </p:grpSpPr>
          <p:cxnSp>
            <p:nvCxnSpPr>
              <p:cNvPr id="33" name="Straight Connector 32"/>
              <p:cNvCxnSpPr/>
              <p:nvPr/>
            </p:nvCxnSpPr>
            <p:spPr bwMode="auto">
              <a:xfrm>
                <a:off x="5721755" y="4088462"/>
                <a:ext cx="1847465" cy="1736393"/>
              </a:xfrm>
              <a:prstGeom prst="line">
                <a:avLst/>
              </a:prstGeom>
              <a:ln>
                <a:solidFill>
                  <a:srgbClr val="00B0F0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4" name="TextBox 17"/>
              <p:cNvSpPr txBox="1">
                <a:spLocks noChangeArrowheads="1"/>
              </p:cNvSpPr>
              <p:nvPr/>
            </p:nvSpPr>
            <p:spPr bwMode="auto">
              <a:xfrm>
                <a:off x="6592311" y="5697297"/>
                <a:ext cx="2444739" cy="3384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pPr marL="228600" indent="-228600"/>
                <a:r>
                  <a:rPr lang="en-US" sz="1600" dirty="0"/>
                  <a:t>Aggregate Demand (AD)</a:t>
                </a:r>
              </a:p>
            </p:txBody>
          </p:sp>
        </p:grpSp>
        <p:grpSp>
          <p:nvGrpSpPr>
            <p:cNvPr id="6" name="Group 26"/>
            <p:cNvGrpSpPr>
              <a:grpSpLocks/>
            </p:cNvGrpSpPr>
            <p:nvPr/>
          </p:nvGrpSpPr>
          <p:grpSpPr bwMode="auto">
            <a:xfrm>
              <a:off x="5883582" y="3624533"/>
              <a:ext cx="3013839" cy="2101577"/>
              <a:chOff x="5777469" y="3666789"/>
              <a:chExt cx="3014068" cy="2102352"/>
            </a:xfrm>
          </p:grpSpPr>
          <p:cxnSp>
            <p:nvCxnSpPr>
              <p:cNvPr id="31" name="Straight Connector 30"/>
              <p:cNvCxnSpPr/>
              <p:nvPr/>
            </p:nvCxnSpPr>
            <p:spPr bwMode="auto">
              <a:xfrm rot="5400000" flipH="1" flipV="1">
                <a:off x="5643066" y="4204293"/>
                <a:ext cx="1699251" cy="1430446"/>
              </a:xfrm>
              <a:prstGeom prst="line">
                <a:avLst/>
              </a:prstGeom>
              <a:ln>
                <a:solidFill>
                  <a:srgbClr val="CC0099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18"/>
              <p:cNvSpPr txBox="1">
                <a:spLocks noChangeArrowheads="1"/>
              </p:cNvSpPr>
              <p:nvPr/>
            </p:nvSpPr>
            <p:spPr bwMode="auto">
              <a:xfrm>
                <a:off x="6294727" y="3666789"/>
                <a:ext cx="2496810" cy="3386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pPr indent="228600" algn="ctr"/>
                <a:r>
                  <a:rPr lang="en-US" sz="1600" dirty="0"/>
                  <a:t>Aggregate Supply (AS)</a:t>
                </a:r>
              </a:p>
            </p:txBody>
          </p:sp>
        </p:grpSp>
        <p:grpSp>
          <p:nvGrpSpPr>
            <p:cNvPr id="7" name="Group 27"/>
            <p:cNvGrpSpPr>
              <a:grpSpLocks/>
            </p:cNvGrpSpPr>
            <p:nvPr/>
          </p:nvGrpSpPr>
          <p:grpSpPr bwMode="auto">
            <a:xfrm>
              <a:off x="6492894" y="3925887"/>
              <a:ext cx="350735" cy="2328863"/>
              <a:chOff x="6387217" y="3968362"/>
              <a:chExt cx="351595" cy="2329328"/>
            </a:xfrm>
          </p:grpSpPr>
          <p:cxnSp>
            <p:nvCxnSpPr>
              <p:cNvPr id="29" name="Straight Connector 28"/>
              <p:cNvCxnSpPr>
                <a:cxnSpLocks noChangeShapeType="1"/>
              </p:cNvCxnSpPr>
              <p:nvPr/>
            </p:nvCxnSpPr>
            <p:spPr bwMode="auto">
              <a:xfrm rot="5400000">
                <a:off x="5554616" y="4961301"/>
                <a:ext cx="1987103" cy="1226"/>
              </a:xfrm>
              <a:prstGeom prst="line">
                <a:avLst/>
              </a:prstGeom>
              <a:noFill/>
              <a:ln w="5715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sp>
            <p:nvSpPr>
              <p:cNvPr id="30" name="TextBox 16"/>
              <p:cNvSpPr txBox="1">
                <a:spLocks noChangeArrowheads="1"/>
              </p:cNvSpPr>
              <p:nvPr/>
            </p:nvSpPr>
            <p:spPr bwMode="auto">
              <a:xfrm>
                <a:off x="6387217" y="5988900"/>
                <a:ext cx="351595" cy="3087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Y*</a:t>
                </a:r>
              </a:p>
            </p:txBody>
          </p:sp>
        </p:grp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24" name="TextBox 5"/>
          <p:cNvSpPr txBox="1">
            <a:spLocks noChangeArrowheads="1"/>
          </p:cNvSpPr>
          <p:nvPr/>
        </p:nvSpPr>
        <p:spPr bwMode="auto">
          <a:xfrm rot="-5400000">
            <a:off x="4517188" y="4376971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Long-Run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98500" y="1485900"/>
            <a:ext cx="7924800" cy="4648200"/>
          </a:xfrm>
        </p:spPr>
        <p:txBody>
          <a:bodyPr/>
          <a:lstStyle/>
          <a:p>
            <a:pPr eaLnBrk="1" hangingPunct="1"/>
            <a:r>
              <a:rPr lang="en-US" sz="2400"/>
              <a:t>In the long run, </a:t>
            </a:r>
          </a:p>
          <a:p>
            <a:pPr lvl="1" eaLnBrk="1" hangingPunct="1"/>
            <a:r>
              <a:rPr lang="en-US" sz="2400"/>
              <a:t>Actual output equals potential output</a:t>
            </a:r>
          </a:p>
          <a:p>
            <a:pPr lvl="1" eaLnBrk="1" hangingPunct="1"/>
            <a:r>
              <a:rPr lang="en-US" sz="2400"/>
              <a:t>Actual inflation rate equals expected price level</a:t>
            </a:r>
          </a:p>
          <a:p>
            <a:pPr eaLnBrk="1" hangingPunct="1"/>
            <a:r>
              <a:rPr lang="en-US" sz="2400"/>
              <a:t>Long-run equilibrium </a:t>
            </a:r>
            <a:br>
              <a:rPr lang="en-US" sz="2400"/>
            </a:br>
            <a:r>
              <a:rPr lang="en-US" sz="2400"/>
              <a:t>occurs at the intersection of</a:t>
            </a:r>
          </a:p>
          <a:p>
            <a:pPr lvl="1" eaLnBrk="1" hangingPunct="1"/>
            <a:r>
              <a:rPr lang="en-US" sz="2400"/>
              <a:t>Aggregate demand	</a:t>
            </a:r>
          </a:p>
          <a:p>
            <a:pPr lvl="1" eaLnBrk="1" hangingPunct="1"/>
            <a:r>
              <a:rPr lang="en-US" sz="2400"/>
              <a:t>Aggregate supply and</a:t>
            </a:r>
          </a:p>
          <a:p>
            <a:pPr lvl="1" eaLnBrk="1" hangingPunct="1"/>
            <a:r>
              <a:rPr lang="en-US" sz="2400"/>
              <a:t>Potential output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027612" y="3317875"/>
            <a:ext cx="4075292" cy="3200400"/>
            <a:chOff x="4932950" y="3272592"/>
            <a:chExt cx="4075262" cy="3200400"/>
          </a:xfrm>
        </p:grpSpPr>
        <p:sp>
          <p:nvSpPr>
            <p:cNvPr id="21" name="Rectangle 20"/>
            <p:cNvSpPr/>
            <p:nvPr/>
          </p:nvSpPr>
          <p:spPr bwMode="auto">
            <a:xfrm>
              <a:off x="4932950" y="3272592"/>
              <a:ext cx="4051271" cy="3200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5015499" y="3344030"/>
              <a:ext cx="3886171" cy="3057525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TextBox 6"/>
            <p:cNvSpPr txBox="1">
              <a:spLocks noChangeArrowheads="1"/>
            </p:cNvSpPr>
            <p:nvPr/>
          </p:nvSpPr>
          <p:spPr bwMode="auto">
            <a:xfrm>
              <a:off x="7566468" y="5991227"/>
              <a:ext cx="99205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dirty="0"/>
                <a:t>Output Y</a:t>
              </a:r>
            </a:p>
          </p:txBody>
        </p:sp>
        <p:cxnSp>
          <p:nvCxnSpPr>
            <p:cNvPr id="25" name="Straight Connector 7"/>
            <p:cNvCxnSpPr>
              <a:cxnSpLocks noChangeShapeType="1"/>
            </p:cNvCxnSpPr>
            <p:nvPr/>
          </p:nvCxnSpPr>
          <p:spPr bwMode="auto">
            <a:xfrm rot="10800000">
              <a:off x="5526761" y="5950688"/>
              <a:ext cx="2395663" cy="122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6" name="Straight Connector 8"/>
            <p:cNvCxnSpPr>
              <a:cxnSpLocks noChangeShapeType="1"/>
            </p:cNvCxnSpPr>
            <p:nvPr/>
          </p:nvCxnSpPr>
          <p:spPr bwMode="auto">
            <a:xfrm rot="5400000">
              <a:off x="4513605" y="4949270"/>
              <a:ext cx="2024245" cy="122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5721931" y="4075867"/>
              <a:ext cx="3286281" cy="1830558"/>
              <a:chOff x="5721931" y="4087899"/>
              <a:chExt cx="3286281" cy="1830558"/>
            </a:xfrm>
          </p:grpSpPr>
          <p:cxnSp>
            <p:nvCxnSpPr>
              <p:cNvPr id="34" name="Straight Connector 33"/>
              <p:cNvCxnSpPr/>
              <p:nvPr/>
            </p:nvCxnSpPr>
            <p:spPr bwMode="auto">
              <a:xfrm>
                <a:off x="5721931" y="4087899"/>
                <a:ext cx="1847836" cy="1736725"/>
              </a:xfrm>
              <a:prstGeom prst="line">
                <a:avLst/>
              </a:prstGeom>
              <a:ln>
                <a:solidFill>
                  <a:srgbClr val="00B0F0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5" name="TextBox 11"/>
              <p:cNvSpPr txBox="1">
                <a:spLocks noChangeArrowheads="1"/>
              </p:cNvSpPr>
              <p:nvPr/>
            </p:nvSpPr>
            <p:spPr bwMode="auto">
              <a:xfrm>
                <a:off x="6573254" y="5579903"/>
                <a:ext cx="243495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228600" indent="-228600"/>
                <a:r>
                  <a:rPr lang="en-US" sz="1600" dirty="0"/>
                  <a:t>Aggregate Demand (AD)</a:t>
                </a:r>
              </a:p>
            </p:txBody>
          </p:sp>
        </p:grpSp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5777495" y="3822125"/>
              <a:ext cx="3138250" cy="1934904"/>
              <a:chOff x="5777495" y="3834157"/>
              <a:chExt cx="3138250" cy="1934904"/>
            </a:xfrm>
          </p:grpSpPr>
          <p:cxnSp>
            <p:nvCxnSpPr>
              <p:cNvPr id="32" name="Straight Connector 31"/>
              <p:cNvCxnSpPr/>
              <p:nvPr/>
            </p:nvCxnSpPr>
            <p:spPr bwMode="auto">
              <a:xfrm rot="5400000" flipH="1" flipV="1">
                <a:off x="5643345" y="4204586"/>
                <a:ext cx="1698625" cy="1430326"/>
              </a:xfrm>
              <a:prstGeom prst="line">
                <a:avLst/>
              </a:prstGeom>
              <a:ln>
                <a:solidFill>
                  <a:srgbClr val="CC0099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14"/>
              <p:cNvSpPr txBox="1">
                <a:spLocks noChangeArrowheads="1"/>
              </p:cNvSpPr>
              <p:nvPr/>
            </p:nvSpPr>
            <p:spPr bwMode="auto">
              <a:xfrm>
                <a:off x="6419143" y="3834157"/>
                <a:ext cx="2496602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indent="228600" algn="ctr"/>
                <a:r>
                  <a:rPr lang="en-US" sz="1600" dirty="0"/>
                  <a:t>Aggregate Supply(AS)</a:t>
                </a:r>
              </a:p>
            </p:txBody>
          </p:sp>
        </p:grpSp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6387217" y="3956330"/>
              <a:ext cx="351595" cy="2329328"/>
              <a:chOff x="6387217" y="3968362"/>
              <a:chExt cx="351595" cy="2329328"/>
            </a:xfrm>
          </p:grpSpPr>
          <p:cxnSp>
            <p:nvCxnSpPr>
              <p:cNvPr id="30" name="Straight Connector 16"/>
              <p:cNvCxnSpPr>
                <a:cxnSpLocks noChangeShapeType="1"/>
              </p:cNvCxnSpPr>
              <p:nvPr/>
            </p:nvCxnSpPr>
            <p:spPr bwMode="auto">
              <a:xfrm rot="5400000">
                <a:off x="5554616" y="4961301"/>
                <a:ext cx="1987103" cy="1226"/>
              </a:xfrm>
              <a:prstGeom prst="line">
                <a:avLst/>
              </a:prstGeom>
              <a:noFill/>
              <a:ln w="5715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sp>
            <p:nvSpPr>
              <p:cNvPr id="31" name="TextBox 17"/>
              <p:cNvSpPr txBox="1">
                <a:spLocks noChangeArrowheads="1"/>
              </p:cNvSpPr>
              <p:nvPr/>
            </p:nvSpPr>
            <p:spPr bwMode="auto">
              <a:xfrm>
                <a:off x="6387217" y="5988900"/>
                <a:ext cx="351595" cy="3087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Y*</a:t>
                </a:r>
              </a:p>
            </p:txBody>
          </p:sp>
        </p:grpSp>
      </p:grpSp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27" name="TextBox 5"/>
          <p:cNvSpPr txBox="1">
            <a:spLocks noChangeArrowheads="1"/>
          </p:cNvSpPr>
          <p:nvPr/>
        </p:nvSpPr>
        <p:spPr bwMode="auto">
          <a:xfrm rot="-5400000">
            <a:off x="4517188" y="4376971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Short-Run Equilibrium:</a:t>
            </a:r>
            <a:br>
              <a:rPr lang="en-US" dirty="0"/>
            </a:br>
            <a:r>
              <a:rPr lang="en-US" dirty="0" err="1"/>
              <a:t>Contractionary</a:t>
            </a:r>
            <a:r>
              <a:rPr lang="en-US" dirty="0"/>
              <a:t>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74700" y="1600200"/>
            <a:ext cx="7924800" cy="4648200"/>
          </a:xfrm>
        </p:spPr>
        <p:txBody>
          <a:bodyPr/>
          <a:lstStyle/>
          <a:p>
            <a:pPr eaLnBrk="1" hangingPunct="1"/>
            <a:r>
              <a:rPr lang="en-US" dirty="0"/>
              <a:t>Short-run equilibrium occurs when the AD and AS curves intersect at a level of output different from Y*</a:t>
            </a:r>
          </a:p>
          <a:p>
            <a:pPr lvl="1" eaLnBrk="1" hangingPunct="1"/>
            <a:r>
              <a:rPr lang="en-US" dirty="0"/>
              <a:t>Point A in the graph</a:t>
            </a:r>
          </a:p>
          <a:p>
            <a:pPr lvl="1" eaLnBrk="1" hangingPunct="1"/>
            <a:r>
              <a:rPr lang="en-US" dirty="0" err="1"/>
              <a:t>Contractionary</a:t>
            </a:r>
            <a:r>
              <a:rPr lang="en-US" dirty="0"/>
              <a:t> Gap</a:t>
            </a:r>
          </a:p>
          <a:p>
            <a:pPr lvl="1" eaLnBrk="1" hangingPunct="1"/>
            <a:r>
              <a:rPr lang="en-US" dirty="0"/>
              <a:t>Actual output is less</a:t>
            </a:r>
          </a:p>
          <a:p>
            <a:pPr lvl="1" eaLnBrk="1" hangingPunct="1">
              <a:buNone/>
            </a:pPr>
            <a:r>
              <a:rPr lang="en-US" dirty="0"/>
              <a:t>   than potential output</a:t>
            </a:r>
          </a:p>
          <a:p>
            <a:pPr lvl="1" eaLnBrk="1" hangingPunct="1"/>
            <a:r>
              <a:rPr lang="en-US" dirty="0"/>
              <a:t>Slow or negative growth</a:t>
            </a:r>
          </a:p>
          <a:p>
            <a:pPr lvl="1" eaLnBrk="1" hangingPunct="1"/>
            <a:r>
              <a:rPr lang="en-US" dirty="0"/>
              <a:t>Unemployment occurs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5028200" y="3284624"/>
            <a:ext cx="4051271" cy="3200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5110163" y="3355975"/>
            <a:ext cx="3887787" cy="30575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Box 22"/>
          <p:cNvSpPr txBox="1">
            <a:spLocks noChangeArrowheads="1"/>
          </p:cNvSpPr>
          <p:nvPr/>
        </p:nvSpPr>
        <p:spPr bwMode="auto">
          <a:xfrm>
            <a:off x="7974530" y="5947614"/>
            <a:ext cx="100508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/>
              <a:t>Output Y</a:t>
            </a:r>
          </a:p>
        </p:txBody>
      </p:sp>
      <p:cxnSp>
        <p:nvCxnSpPr>
          <p:cNvPr id="26" name="Straight Connector 23"/>
          <p:cNvCxnSpPr>
            <a:cxnSpLocks noChangeShapeType="1"/>
          </p:cNvCxnSpPr>
          <p:nvPr/>
        </p:nvCxnSpPr>
        <p:spPr bwMode="auto">
          <a:xfrm rot="10800000">
            <a:off x="5875338" y="5962650"/>
            <a:ext cx="239553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8" name="Straight Connector 24"/>
          <p:cNvCxnSpPr>
            <a:cxnSpLocks noChangeShapeType="1"/>
          </p:cNvCxnSpPr>
          <p:nvPr/>
        </p:nvCxnSpPr>
        <p:spPr bwMode="auto">
          <a:xfrm rot="5400000">
            <a:off x="4861718" y="4961732"/>
            <a:ext cx="2024063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9" name="Straight Connector 28"/>
          <p:cNvCxnSpPr/>
          <p:nvPr/>
        </p:nvCxnSpPr>
        <p:spPr bwMode="auto">
          <a:xfrm>
            <a:off x="6069013" y="4087813"/>
            <a:ext cx="1847850" cy="1736725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7"/>
          <p:cNvSpPr txBox="1">
            <a:spLocks noChangeArrowheads="1"/>
          </p:cNvSpPr>
          <p:nvPr/>
        </p:nvSpPr>
        <p:spPr bwMode="auto">
          <a:xfrm>
            <a:off x="7854950" y="5446713"/>
            <a:ext cx="5413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AD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143875" y="4119563"/>
            <a:ext cx="6619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endParaRPr lang="en-US" sz="2000" baseline="-25000" dirty="0"/>
          </a:p>
        </p:txBody>
      </p:sp>
      <p:sp>
        <p:nvSpPr>
          <p:cNvPr id="32" name="TextBox 33"/>
          <p:cNvSpPr txBox="1">
            <a:spLocks noChangeArrowheads="1"/>
          </p:cNvSpPr>
          <p:nvPr/>
        </p:nvSpPr>
        <p:spPr bwMode="auto">
          <a:xfrm>
            <a:off x="7486258" y="5926048"/>
            <a:ext cx="469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Y*</a:t>
            </a:r>
          </a:p>
        </p:txBody>
      </p:sp>
      <p:cxnSp>
        <p:nvCxnSpPr>
          <p:cNvPr id="33" name="Straight Connector 32"/>
          <p:cNvCxnSpPr/>
          <p:nvPr/>
        </p:nvCxnSpPr>
        <p:spPr bwMode="auto">
          <a:xfrm rot="5400000">
            <a:off x="6538610" y="4797336"/>
            <a:ext cx="230981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44"/>
          <p:cNvCxnSpPr>
            <a:cxnSpLocks noChangeShapeType="1"/>
          </p:cNvCxnSpPr>
          <p:nvPr/>
        </p:nvCxnSpPr>
        <p:spPr bwMode="auto">
          <a:xfrm rot="5400000">
            <a:off x="7005638" y="5624513"/>
            <a:ext cx="661987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35" name="TextBox 45"/>
          <p:cNvSpPr txBox="1">
            <a:spLocks noChangeArrowheads="1"/>
          </p:cNvSpPr>
          <p:nvPr/>
        </p:nvSpPr>
        <p:spPr bwMode="auto">
          <a:xfrm>
            <a:off x="7049517" y="5956872"/>
            <a:ext cx="4699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/>
              <a:t>Y</a:t>
            </a:r>
            <a:r>
              <a:rPr lang="en-US" sz="1600" baseline="-25000" dirty="0"/>
              <a:t>1</a:t>
            </a:r>
          </a:p>
        </p:txBody>
      </p:sp>
      <p:cxnSp>
        <p:nvCxnSpPr>
          <p:cNvPr id="36" name="Straight Connector 47"/>
          <p:cNvCxnSpPr>
            <a:cxnSpLocks noChangeShapeType="1"/>
          </p:cNvCxnSpPr>
          <p:nvPr/>
        </p:nvCxnSpPr>
        <p:spPr bwMode="auto">
          <a:xfrm rot="10800000">
            <a:off x="5870575" y="5273675"/>
            <a:ext cx="147955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37" name="TextBox 52"/>
          <p:cNvSpPr txBox="1">
            <a:spLocks noChangeArrowheads="1"/>
          </p:cNvSpPr>
          <p:nvPr/>
        </p:nvSpPr>
        <p:spPr bwMode="auto">
          <a:xfrm>
            <a:off x="5449888" y="5041900"/>
            <a:ext cx="5127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600" dirty="0">
                <a:sym typeface="Symbol"/>
              </a:rPr>
              <a:t></a:t>
            </a:r>
            <a:r>
              <a:rPr lang="en-US" sz="2000" baseline="-25000" dirty="0"/>
              <a:t>1</a:t>
            </a:r>
          </a:p>
        </p:txBody>
      </p:sp>
      <p:sp>
        <p:nvSpPr>
          <p:cNvPr id="38" name="TextBox 53"/>
          <p:cNvSpPr txBox="1">
            <a:spLocks noChangeArrowheads="1"/>
          </p:cNvSpPr>
          <p:nvPr/>
        </p:nvSpPr>
        <p:spPr bwMode="auto">
          <a:xfrm>
            <a:off x="7128053" y="4853916"/>
            <a:ext cx="32092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/>
              <a:t>A</a:t>
            </a:r>
          </a:p>
        </p:txBody>
      </p:sp>
      <p:cxnSp>
        <p:nvCxnSpPr>
          <p:cNvPr id="41" name="Straight Connector 40"/>
          <p:cNvCxnSpPr/>
          <p:nvPr/>
        </p:nvCxnSpPr>
        <p:spPr bwMode="auto">
          <a:xfrm rot="5400000" flipH="1" flipV="1">
            <a:off x="6649244" y="4356894"/>
            <a:ext cx="1698625" cy="1430337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39" name="TextBox 5"/>
          <p:cNvSpPr txBox="1">
            <a:spLocks noChangeArrowheads="1"/>
          </p:cNvSpPr>
          <p:nvPr/>
        </p:nvSpPr>
        <p:spPr bwMode="auto">
          <a:xfrm rot="-5400000">
            <a:off x="4517188" y="4376971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Short-Run Equilibrium:</a:t>
            </a:r>
            <a:br>
              <a:rPr lang="en-US" dirty="0"/>
            </a:br>
            <a:r>
              <a:rPr lang="en-US" dirty="0"/>
              <a:t>Expansionary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74700" y="1600200"/>
            <a:ext cx="7924800" cy="4648200"/>
          </a:xfrm>
        </p:spPr>
        <p:txBody>
          <a:bodyPr/>
          <a:lstStyle/>
          <a:p>
            <a:pPr eaLnBrk="1" hangingPunct="1"/>
            <a:r>
              <a:rPr lang="en-US" dirty="0"/>
              <a:t>Short-run equilibrium occurs when the AD and AS curves intersect at a level of output different from Y*</a:t>
            </a:r>
          </a:p>
          <a:p>
            <a:pPr lvl="1" eaLnBrk="1" hangingPunct="1"/>
            <a:r>
              <a:rPr lang="en-US" dirty="0"/>
              <a:t>Point B in the graph</a:t>
            </a:r>
          </a:p>
          <a:p>
            <a:pPr lvl="1" eaLnBrk="1" hangingPunct="1"/>
            <a:r>
              <a:rPr lang="en-US" dirty="0"/>
              <a:t>Expansionary Gap</a:t>
            </a:r>
          </a:p>
          <a:p>
            <a:pPr lvl="1" eaLnBrk="1" hangingPunct="1"/>
            <a:r>
              <a:rPr lang="en-US" dirty="0"/>
              <a:t>Actual output is larger</a:t>
            </a:r>
          </a:p>
          <a:p>
            <a:pPr lvl="1" eaLnBrk="1" hangingPunct="1">
              <a:buNone/>
            </a:pPr>
            <a:r>
              <a:rPr lang="en-US" dirty="0"/>
              <a:t>   than potential output</a:t>
            </a:r>
          </a:p>
          <a:p>
            <a:pPr lvl="1" eaLnBrk="1" hangingPunct="1"/>
            <a:r>
              <a:rPr lang="en-US" dirty="0"/>
              <a:t>Excess growth</a:t>
            </a:r>
          </a:p>
          <a:p>
            <a:pPr lvl="1" eaLnBrk="1" hangingPunct="1"/>
            <a:r>
              <a:rPr lang="en-US" dirty="0"/>
              <a:t>Inflationary</a:t>
            </a:r>
          </a:p>
          <a:p>
            <a:pPr lvl="1" eaLnBrk="1" hangingPunct="1">
              <a:buNone/>
            </a:pPr>
            <a:endParaRPr lang="en-US" dirty="0"/>
          </a:p>
          <a:p>
            <a:pPr lvl="1" eaLnBrk="1" hangingPunct="1">
              <a:buNone/>
            </a:pPr>
            <a:endParaRPr lang="en-US" dirty="0"/>
          </a:p>
        </p:txBody>
      </p:sp>
      <p:sp>
        <p:nvSpPr>
          <p:cNvPr id="22" name="Rectangle 21"/>
          <p:cNvSpPr/>
          <p:nvPr/>
        </p:nvSpPr>
        <p:spPr bwMode="auto">
          <a:xfrm>
            <a:off x="5028200" y="3284624"/>
            <a:ext cx="4051271" cy="3200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5110163" y="3355975"/>
            <a:ext cx="3887787" cy="30575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Box 22"/>
          <p:cNvSpPr txBox="1">
            <a:spLocks noChangeArrowheads="1"/>
          </p:cNvSpPr>
          <p:nvPr/>
        </p:nvSpPr>
        <p:spPr bwMode="auto">
          <a:xfrm>
            <a:off x="7727950" y="5957888"/>
            <a:ext cx="13795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/>
              <a:t>Output Y</a:t>
            </a:r>
          </a:p>
        </p:txBody>
      </p:sp>
      <p:cxnSp>
        <p:nvCxnSpPr>
          <p:cNvPr id="26" name="Straight Connector 23"/>
          <p:cNvCxnSpPr>
            <a:cxnSpLocks noChangeShapeType="1"/>
          </p:cNvCxnSpPr>
          <p:nvPr/>
        </p:nvCxnSpPr>
        <p:spPr bwMode="auto">
          <a:xfrm rot="10800000">
            <a:off x="5875338" y="5962650"/>
            <a:ext cx="239553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8" name="Straight Connector 24"/>
          <p:cNvCxnSpPr>
            <a:cxnSpLocks noChangeShapeType="1"/>
          </p:cNvCxnSpPr>
          <p:nvPr/>
        </p:nvCxnSpPr>
        <p:spPr bwMode="auto">
          <a:xfrm rot="5400000">
            <a:off x="4861718" y="4961732"/>
            <a:ext cx="2024063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9" name="Straight Connector 28"/>
          <p:cNvCxnSpPr/>
          <p:nvPr/>
        </p:nvCxnSpPr>
        <p:spPr bwMode="auto">
          <a:xfrm>
            <a:off x="6069013" y="4087813"/>
            <a:ext cx="1847850" cy="1736725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7"/>
          <p:cNvSpPr txBox="1">
            <a:spLocks noChangeArrowheads="1"/>
          </p:cNvSpPr>
          <p:nvPr/>
        </p:nvSpPr>
        <p:spPr bwMode="auto">
          <a:xfrm>
            <a:off x="7854950" y="5446713"/>
            <a:ext cx="5413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AD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143875" y="4119563"/>
            <a:ext cx="6619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endParaRPr lang="en-US" sz="2000" baseline="-25000" dirty="0"/>
          </a:p>
        </p:txBody>
      </p:sp>
      <p:sp>
        <p:nvSpPr>
          <p:cNvPr id="32" name="TextBox 33"/>
          <p:cNvSpPr txBox="1">
            <a:spLocks noChangeArrowheads="1"/>
          </p:cNvSpPr>
          <p:nvPr/>
        </p:nvSpPr>
        <p:spPr bwMode="auto">
          <a:xfrm>
            <a:off x="6664325" y="5905500"/>
            <a:ext cx="469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Y*</a:t>
            </a:r>
          </a:p>
        </p:txBody>
      </p:sp>
      <p:cxnSp>
        <p:nvCxnSpPr>
          <p:cNvPr id="33" name="Straight Connector 32"/>
          <p:cNvCxnSpPr/>
          <p:nvPr/>
        </p:nvCxnSpPr>
        <p:spPr bwMode="auto">
          <a:xfrm rot="5400000">
            <a:off x="5737225" y="4776788"/>
            <a:ext cx="230981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44"/>
          <p:cNvCxnSpPr>
            <a:cxnSpLocks noChangeShapeType="1"/>
          </p:cNvCxnSpPr>
          <p:nvPr/>
        </p:nvCxnSpPr>
        <p:spPr bwMode="auto">
          <a:xfrm rot="5400000">
            <a:off x="7005638" y="5624513"/>
            <a:ext cx="661987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35" name="TextBox 45"/>
          <p:cNvSpPr txBox="1">
            <a:spLocks noChangeArrowheads="1"/>
          </p:cNvSpPr>
          <p:nvPr/>
        </p:nvSpPr>
        <p:spPr bwMode="auto">
          <a:xfrm>
            <a:off x="7100888" y="5905500"/>
            <a:ext cx="4699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/>
              <a:t>Y</a:t>
            </a:r>
            <a:r>
              <a:rPr lang="en-US" sz="1600" baseline="-25000" dirty="0"/>
              <a:t>2</a:t>
            </a:r>
          </a:p>
        </p:txBody>
      </p:sp>
      <p:cxnSp>
        <p:nvCxnSpPr>
          <p:cNvPr id="36" name="Straight Connector 47"/>
          <p:cNvCxnSpPr>
            <a:cxnSpLocks noChangeShapeType="1"/>
          </p:cNvCxnSpPr>
          <p:nvPr/>
        </p:nvCxnSpPr>
        <p:spPr bwMode="auto">
          <a:xfrm rot="10800000">
            <a:off x="5870575" y="5273675"/>
            <a:ext cx="147955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37" name="TextBox 52"/>
          <p:cNvSpPr txBox="1">
            <a:spLocks noChangeArrowheads="1"/>
          </p:cNvSpPr>
          <p:nvPr/>
        </p:nvSpPr>
        <p:spPr bwMode="auto">
          <a:xfrm>
            <a:off x="5449888" y="5041900"/>
            <a:ext cx="5127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600" dirty="0">
                <a:sym typeface="Symbol"/>
              </a:rPr>
              <a:t></a:t>
            </a:r>
            <a:r>
              <a:rPr lang="en-US" sz="2000" baseline="-25000" dirty="0"/>
              <a:t>2</a:t>
            </a:r>
          </a:p>
        </p:txBody>
      </p:sp>
      <p:sp>
        <p:nvSpPr>
          <p:cNvPr id="38" name="TextBox 53"/>
          <p:cNvSpPr txBox="1">
            <a:spLocks noChangeArrowheads="1"/>
          </p:cNvSpPr>
          <p:nvPr/>
        </p:nvSpPr>
        <p:spPr bwMode="auto">
          <a:xfrm>
            <a:off x="7169150" y="4884738"/>
            <a:ext cx="32092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/>
              <a:t>B</a:t>
            </a:r>
          </a:p>
        </p:txBody>
      </p:sp>
      <p:cxnSp>
        <p:nvCxnSpPr>
          <p:cNvPr id="41" name="Straight Connector 40"/>
          <p:cNvCxnSpPr/>
          <p:nvPr/>
        </p:nvCxnSpPr>
        <p:spPr bwMode="auto">
          <a:xfrm rot="5400000" flipH="1" flipV="1">
            <a:off x="6649244" y="4356894"/>
            <a:ext cx="1698625" cy="1430337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24" name="TextBox 5"/>
          <p:cNvSpPr txBox="1">
            <a:spLocks noChangeArrowheads="1"/>
          </p:cNvSpPr>
          <p:nvPr/>
        </p:nvSpPr>
        <p:spPr bwMode="auto">
          <a:xfrm rot="-5400000">
            <a:off x="4517188" y="4376971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Adjustment to Long-Run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16448" y="1600200"/>
            <a:ext cx="8527551" cy="5088276"/>
          </a:xfrm>
        </p:spPr>
        <p:txBody>
          <a:bodyPr/>
          <a:lstStyle/>
          <a:p>
            <a:pPr eaLnBrk="1" hangingPunct="1"/>
            <a:r>
              <a:rPr lang="en-US" dirty="0"/>
              <a:t>Short-run equilibrium is  temporary</a:t>
            </a:r>
          </a:p>
          <a:p>
            <a:pPr eaLnBrk="1" hangingPunct="1"/>
            <a:r>
              <a:rPr lang="en-US" dirty="0"/>
              <a:t>Caused by a shift in either AD or AS</a:t>
            </a:r>
          </a:p>
          <a:p>
            <a:pPr eaLnBrk="1" hangingPunct="1"/>
            <a:r>
              <a:rPr lang="en-US" dirty="0"/>
              <a:t>Eventually market will move to long run equilibrium</a:t>
            </a:r>
          </a:p>
          <a:p>
            <a:pPr eaLnBrk="1" hangingPunct="1"/>
            <a:r>
              <a:rPr lang="en-US" dirty="0"/>
              <a:t>AS shifts to close output</a:t>
            </a:r>
          </a:p>
          <a:p>
            <a:pPr eaLnBrk="1" hangingPunct="1">
              <a:buNone/>
            </a:pPr>
            <a:r>
              <a:rPr lang="en-US" dirty="0"/>
              <a:t> gap through self correcting</a:t>
            </a:r>
          </a:p>
          <a:p>
            <a:pPr eaLnBrk="1" hangingPunct="1">
              <a:buNone/>
            </a:pPr>
            <a:r>
              <a:rPr lang="en-US" dirty="0"/>
              <a:t> mechanism</a:t>
            </a:r>
          </a:p>
          <a:p>
            <a:pPr eaLnBrk="1" hangingPunct="1"/>
            <a:r>
              <a:rPr lang="en-US" dirty="0"/>
              <a:t>Inflation can take high</a:t>
            </a:r>
          </a:p>
          <a:p>
            <a:pPr eaLnBrk="1" hangingPunct="1">
              <a:buNone/>
            </a:pPr>
            <a:r>
              <a:rPr lang="en-US" dirty="0"/>
              <a:t>   or low level</a:t>
            </a:r>
          </a:p>
          <a:p>
            <a:pPr eaLnBrk="1" hangingPunct="1"/>
            <a:r>
              <a:rPr lang="en-US" dirty="0"/>
              <a:t>Actual output equals</a:t>
            </a:r>
          </a:p>
          <a:p>
            <a:pPr eaLnBrk="1" hangingPunct="1">
              <a:buNone/>
            </a:pPr>
            <a:r>
              <a:rPr lang="en-US" dirty="0"/>
              <a:t>  potential output</a:t>
            </a:r>
          </a:p>
          <a:p>
            <a:pPr eaLnBrk="1" hangingPunct="1">
              <a:buNone/>
            </a:pPr>
            <a:endParaRPr lang="en-US" dirty="0"/>
          </a:p>
        </p:txBody>
      </p:sp>
      <p:sp>
        <p:nvSpPr>
          <p:cNvPr id="22" name="Rectangle 21"/>
          <p:cNvSpPr/>
          <p:nvPr/>
        </p:nvSpPr>
        <p:spPr bwMode="auto">
          <a:xfrm>
            <a:off x="5028200" y="3284624"/>
            <a:ext cx="4051271" cy="3200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5110163" y="3355975"/>
            <a:ext cx="3887787" cy="30575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Box 22"/>
          <p:cNvSpPr txBox="1">
            <a:spLocks noChangeArrowheads="1"/>
          </p:cNvSpPr>
          <p:nvPr/>
        </p:nvSpPr>
        <p:spPr bwMode="auto">
          <a:xfrm>
            <a:off x="7943707" y="5968162"/>
            <a:ext cx="106672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/>
              <a:t>Output Y</a:t>
            </a:r>
          </a:p>
        </p:txBody>
      </p:sp>
      <p:cxnSp>
        <p:nvCxnSpPr>
          <p:cNvPr id="26" name="Straight Connector 23"/>
          <p:cNvCxnSpPr>
            <a:cxnSpLocks noChangeShapeType="1"/>
          </p:cNvCxnSpPr>
          <p:nvPr/>
        </p:nvCxnSpPr>
        <p:spPr bwMode="auto">
          <a:xfrm rot="10800000">
            <a:off x="5875338" y="5962650"/>
            <a:ext cx="239553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8" name="Straight Connector 24"/>
          <p:cNvCxnSpPr>
            <a:cxnSpLocks noChangeShapeType="1"/>
          </p:cNvCxnSpPr>
          <p:nvPr/>
        </p:nvCxnSpPr>
        <p:spPr bwMode="auto">
          <a:xfrm rot="5400000">
            <a:off x="4861718" y="4961732"/>
            <a:ext cx="2024063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9" name="Straight Connector 28"/>
          <p:cNvCxnSpPr/>
          <p:nvPr/>
        </p:nvCxnSpPr>
        <p:spPr bwMode="auto">
          <a:xfrm>
            <a:off x="6069013" y="4087813"/>
            <a:ext cx="1847850" cy="1736725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7"/>
          <p:cNvSpPr txBox="1">
            <a:spLocks noChangeArrowheads="1"/>
          </p:cNvSpPr>
          <p:nvPr/>
        </p:nvSpPr>
        <p:spPr bwMode="auto">
          <a:xfrm>
            <a:off x="7854950" y="5446713"/>
            <a:ext cx="5413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AD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143875" y="4119563"/>
            <a:ext cx="6619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endParaRPr lang="en-US" sz="2000" baseline="-25000" dirty="0"/>
          </a:p>
        </p:txBody>
      </p:sp>
      <p:cxnSp>
        <p:nvCxnSpPr>
          <p:cNvPr id="33" name="Straight Connector 32"/>
          <p:cNvCxnSpPr/>
          <p:nvPr/>
        </p:nvCxnSpPr>
        <p:spPr bwMode="auto">
          <a:xfrm rot="5400000">
            <a:off x="6179014" y="4787062"/>
            <a:ext cx="230981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44"/>
          <p:cNvCxnSpPr>
            <a:cxnSpLocks noChangeShapeType="1"/>
          </p:cNvCxnSpPr>
          <p:nvPr/>
        </p:nvCxnSpPr>
        <p:spPr bwMode="auto">
          <a:xfrm rot="5400000">
            <a:off x="7005638" y="5624513"/>
            <a:ext cx="661987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35" name="TextBox 45"/>
          <p:cNvSpPr txBox="1">
            <a:spLocks noChangeArrowheads="1"/>
          </p:cNvSpPr>
          <p:nvPr/>
        </p:nvSpPr>
        <p:spPr bwMode="auto">
          <a:xfrm>
            <a:off x="6926228" y="5915774"/>
            <a:ext cx="10156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E </a:t>
            </a:r>
            <a:r>
              <a:rPr lang="en-US" sz="2000" dirty="0"/>
              <a:t>= Y*</a:t>
            </a:r>
          </a:p>
        </p:txBody>
      </p:sp>
      <p:cxnSp>
        <p:nvCxnSpPr>
          <p:cNvPr id="36" name="Straight Connector 47"/>
          <p:cNvCxnSpPr>
            <a:cxnSpLocks noChangeShapeType="1"/>
          </p:cNvCxnSpPr>
          <p:nvPr/>
        </p:nvCxnSpPr>
        <p:spPr bwMode="auto">
          <a:xfrm rot="10800000">
            <a:off x="5870575" y="5273675"/>
            <a:ext cx="147955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37" name="TextBox 52"/>
          <p:cNvSpPr txBox="1">
            <a:spLocks noChangeArrowheads="1"/>
          </p:cNvSpPr>
          <p:nvPr/>
        </p:nvSpPr>
        <p:spPr bwMode="auto">
          <a:xfrm>
            <a:off x="5449888" y="5041900"/>
            <a:ext cx="5127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600" dirty="0">
                <a:sym typeface="Symbol"/>
              </a:rPr>
              <a:t></a:t>
            </a:r>
            <a:r>
              <a:rPr lang="en-US" sz="2000" baseline="-25000" dirty="0"/>
              <a:t>E</a:t>
            </a:r>
          </a:p>
        </p:txBody>
      </p:sp>
      <p:sp>
        <p:nvSpPr>
          <p:cNvPr id="38" name="TextBox 53"/>
          <p:cNvSpPr txBox="1">
            <a:spLocks noChangeArrowheads="1"/>
          </p:cNvSpPr>
          <p:nvPr/>
        </p:nvSpPr>
        <p:spPr bwMode="auto">
          <a:xfrm>
            <a:off x="7405455" y="5059398"/>
            <a:ext cx="32092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/>
              <a:t>E</a:t>
            </a:r>
          </a:p>
        </p:txBody>
      </p:sp>
      <p:cxnSp>
        <p:nvCxnSpPr>
          <p:cNvPr id="41" name="Straight Connector 40"/>
          <p:cNvCxnSpPr/>
          <p:nvPr/>
        </p:nvCxnSpPr>
        <p:spPr bwMode="auto">
          <a:xfrm rot="5400000" flipH="1" flipV="1">
            <a:off x="6649244" y="4356894"/>
            <a:ext cx="1698625" cy="1430337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24" name="TextBox 5"/>
          <p:cNvSpPr txBox="1">
            <a:spLocks noChangeArrowheads="1"/>
          </p:cNvSpPr>
          <p:nvPr/>
        </p:nvSpPr>
        <p:spPr bwMode="auto">
          <a:xfrm rot="-5400000">
            <a:off x="4517188" y="4376971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The Aggregate Demand Curve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384300"/>
            <a:ext cx="7924800" cy="3228975"/>
          </a:xfrm>
        </p:spPr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b="1" dirty="0"/>
              <a:t>aggregate demand (AD) curve </a:t>
            </a:r>
            <a:r>
              <a:rPr lang="en-US" dirty="0"/>
              <a:t>shows the amount of output consumers, firms, government, and customers abroad want to purchase at each inflation rate</a:t>
            </a:r>
          </a:p>
          <a:p>
            <a:pPr lvl="1" eaLnBrk="1" hangingPunct="1"/>
            <a:r>
              <a:rPr lang="en-US" dirty="0"/>
              <a:t>All else the same</a:t>
            </a:r>
          </a:p>
          <a:p>
            <a:pPr lvl="1" eaLnBrk="1" hangingPunct="1"/>
            <a:r>
              <a:rPr lang="en-US" dirty="0"/>
              <a:t>Slopes downwards</a:t>
            </a:r>
          </a:p>
          <a:p>
            <a:pPr lvl="1" eaLnBrk="1" hangingPunct="1"/>
            <a:r>
              <a:rPr lang="en-US" dirty="0"/>
              <a:t>A higher inflation rate reduces planned aggregate expenditure which reduces output via the multiplier effect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866336" y="5425100"/>
          <a:ext cx="7924800" cy="1215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43092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Shifts in AD Curve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4294967295"/>
          </p:nvPr>
        </p:nvSpPr>
        <p:spPr>
          <a:xfrm>
            <a:off x="885498" y="1726328"/>
            <a:ext cx="7924800" cy="4800600"/>
          </a:xfrm>
        </p:spPr>
        <p:txBody>
          <a:bodyPr/>
          <a:lstStyle/>
          <a:p>
            <a:pPr eaLnBrk="1" hangingPunct="1"/>
            <a:r>
              <a:rPr lang="en-US"/>
              <a:t>A shift of the aggregate demand curve is called a </a:t>
            </a:r>
            <a:r>
              <a:rPr lang="en-US" b="1"/>
              <a:t>change in aggregate demand</a:t>
            </a:r>
            <a:endParaRPr lang="en-US"/>
          </a:p>
          <a:p>
            <a:pPr eaLnBrk="1" hangingPunct="1"/>
            <a:r>
              <a:rPr lang="en-US"/>
              <a:t>At the given inflation rate, something causes output to rise (an increase in aggregate demand) or fall (a decrease in aggregate demand)</a:t>
            </a:r>
          </a:p>
          <a:p>
            <a:pPr eaLnBrk="1" hangingPunct="1"/>
            <a:r>
              <a:rPr lang="en-US"/>
              <a:t>Two main causes:</a:t>
            </a:r>
          </a:p>
          <a:p>
            <a:pPr lvl="1" eaLnBrk="1" hangingPunct="1"/>
            <a:r>
              <a:rPr lang="en-US"/>
              <a:t>Demand shocks</a:t>
            </a:r>
          </a:p>
          <a:p>
            <a:pPr lvl="1" eaLnBrk="1" hangingPunct="1"/>
            <a:r>
              <a:rPr lang="en-US"/>
              <a:t>Stabilization policy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Shifts in AD Curve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4294967295"/>
          </p:nvPr>
        </p:nvSpPr>
        <p:spPr>
          <a:xfrm>
            <a:off x="720398" y="1600200"/>
            <a:ext cx="7924800" cy="4800600"/>
          </a:xfrm>
        </p:spPr>
        <p:txBody>
          <a:bodyPr/>
          <a:lstStyle/>
          <a:p>
            <a:pPr eaLnBrk="1" hangingPunct="1"/>
            <a:r>
              <a:rPr lang="en-US" b="1" dirty="0"/>
              <a:t>Demand shocks </a:t>
            </a:r>
            <a:r>
              <a:rPr lang="en-US" dirty="0"/>
              <a:t>are changes in planned spending not caused by a change in output or a change in the inflation rate</a:t>
            </a:r>
            <a:endParaRPr lang="en-US" b="1" dirty="0"/>
          </a:p>
          <a:p>
            <a:pPr lvl="1" eaLnBrk="1" hangingPunct="1"/>
            <a:r>
              <a:rPr lang="en-US" dirty="0"/>
              <a:t>Consumer confidence</a:t>
            </a:r>
          </a:p>
          <a:p>
            <a:pPr lvl="1" eaLnBrk="1" hangingPunct="1"/>
            <a:r>
              <a:rPr lang="en-US" dirty="0"/>
              <a:t>Consumer wealth</a:t>
            </a:r>
          </a:p>
          <a:p>
            <a:pPr lvl="1" eaLnBrk="1" hangingPunct="1"/>
            <a:r>
              <a:rPr lang="en-US" dirty="0"/>
              <a:t>Business confidence</a:t>
            </a:r>
          </a:p>
          <a:p>
            <a:pPr lvl="1" eaLnBrk="1" hangingPunct="1"/>
            <a:r>
              <a:rPr lang="en-US" dirty="0"/>
              <a:t>Opportunities for firms</a:t>
            </a:r>
          </a:p>
          <a:p>
            <a:pPr lvl="1" eaLnBrk="1" hangingPunct="1">
              <a:buFontTx/>
              <a:buNone/>
            </a:pPr>
            <a:r>
              <a:rPr lang="en-US" dirty="0"/>
              <a:t>   to purchase new </a:t>
            </a:r>
          </a:p>
          <a:p>
            <a:pPr lvl="1" eaLnBrk="1" hangingPunct="1">
              <a:buFontTx/>
              <a:buNone/>
            </a:pPr>
            <a:r>
              <a:rPr lang="en-US" dirty="0"/>
              <a:t>   technologies</a:t>
            </a:r>
          </a:p>
          <a:p>
            <a:pPr lvl="1" eaLnBrk="1" hangingPunct="1"/>
            <a:r>
              <a:rPr lang="en-US" dirty="0"/>
              <a:t>Foreign demand for </a:t>
            </a:r>
            <a:br>
              <a:rPr lang="en-US" dirty="0"/>
            </a:br>
            <a:r>
              <a:rPr lang="en-US" dirty="0"/>
              <a:t>domestic goods</a:t>
            </a:r>
          </a:p>
        </p:txBody>
      </p:sp>
      <p:grpSp>
        <p:nvGrpSpPr>
          <p:cNvPr id="2" name="Group 22"/>
          <p:cNvGrpSpPr>
            <a:grpSpLocks noChangeAspect="1"/>
          </p:cNvGrpSpPr>
          <p:nvPr/>
        </p:nvGrpSpPr>
        <p:grpSpPr bwMode="auto">
          <a:xfrm>
            <a:off x="4840288" y="3186113"/>
            <a:ext cx="4113212" cy="3200400"/>
            <a:chOff x="1937982" y="2634018"/>
            <a:chExt cx="4738048" cy="3687170"/>
          </a:xfrm>
        </p:grpSpPr>
        <p:sp>
          <p:nvSpPr>
            <p:cNvPr id="18" name="Rectangle 17"/>
            <p:cNvSpPr/>
            <p:nvPr/>
          </p:nvSpPr>
          <p:spPr bwMode="auto">
            <a:xfrm>
              <a:off x="1937982" y="2634018"/>
              <a:ext cx="4738048" cy="368717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2014786" y="2710834"/>
              <a:ext cx="4584441" cy="3533538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3" name="Group 19"/>
            <p:cNvGrpSpPr>
              <a:grpSpLocks noChangeAspect="1"/>
            </p:cNvGrpSpPr>
            <p:nvPr/>
          </p:nvGrpSpPr>
          <p:grpSpPr bwMode="auto">
            <a:xfrm>
              <a:off x="2654150" y="2819609"/>
              <a:ext cx="3945446" cy="3315988"/>
              <a:chOff x="2246313" y="1270000"/>
              <a:chExt cx="5955351" cy="5005235"/>
            </a:xfrm>
          </p:grpSpPr>
          <p:sp>
            <p:nvSpPr>
              <p:cNvPr id="24" name="Text Box 3"/>
              <p:cNvSpPr txBox="1">
                <a:spLocks noChangeArrowheads="1"/>
              </p:cNvSpPr>
              <p:nvPr/>
            </p:nvSpPr>
            <p:spPr bwMode="auto">
              <a:xfrm>
                <a:off x="3325806" y="5764213"/>
                <a:ext cx="3513134" cy="5110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/>
                  <a:t>Output (Y)</a:t>
                </a:r>
              </a:p>
            </p:txBody>
          </p:sp>
          <p:sp>
            <p:nvSpPr>
              <p:cNvPr id="25" name="Line 5"/>
              <p:cNvSpPr>
                <a:spLocks noChangeShapeType="1"/>
              </p:cNvSpPr>
              <p:nvPr/>
            </p:nvSpPr>
            <p:spPr bwMode="auto">
              <a:xfrm>
                <a:off x="2255838" y="1270000"/>
                <a:ext cx="1587" cy="4445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4"/>
              <p:cNvSpPr>
                <a:spLocks noChangeShapeType="1"/>
              </p:cNvSpPr>
              <p:nvPr/>
            </p:nvSpPr>
            <p:spPr bwMode="auto">
              <a:xfrm>
                <a:off x="2246313" y="5715000"/>
                <a:ext cx="5764212" cy="15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7"/>
              <p:cNvSpPr>
                <a:spLocks noChangeShapeType="1"/>
              </p:cNvSpPr>
              <p:nvPr/>
            </p:nvSpPr>
            <p:spPr bwMode="auto">
              <a:xfrm>
                <a:off x="2636506" y="1798739"/>
                <a:ext cx="3836703" cy="3790398"/>
              </a:xfrm>
              <a:prstGeom prst="line">
                <a:avLst/>
              </a:pr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8" name="Text Box 6"/>
              <p:cNvSpPr txBox="1">
                <a:spLocks noChangeArrowheads="1"/>
              </p:cNvSpPr>
              <p:nvPr/>
            </p:nvSpPr>
            <p:spPr bwMode="auto">
              <a:xfrm>
                <a:off x="5319042" y="5138403"/>
                <a:ext cx="987278" cy="6957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/>
                  <a:t>AD</a:t>
                </a:r>
              </a:p>
            </p:txBody>
          </p:sp>
          <p:sp>
            <p:nvSpPr>
              <p:cNvPr id="29" name="Line 9"/>
              <p:cNvSpPr>
                <a:spLocks noChangeShapeType="1"/>
              </p:cNvSpPr>
              <p:nvPr/>
            </p:nvSpPr>
            <p:spPr bwMode="auto">
              <a:xfrm>
                <a:off x="3296199" y="1588928"/>
                <a:ext cx="4052000" cy="4000209"/>
              </a:xfrm>
              <a:prstGeom prst="line">
                <a:avLst/>
              </a:pr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0" name="Text Box 10"/>
              <p:cNvSpPr txBox="1">
                <a:spLocks noChangeArrowheads="1"/>
              </p:cNvSpPr>
              <p:nvPr/>
            </p:nvSpPr>
            <p:spPr bwMode="auto">
              <a:xfrm>
                <a:off x="7079731" y="4716022"/>
                <a:ext cx="1121933" cy="6957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/>
                  <a:t>AD'</a:t>
                </a:r>
              </a:p>
            </p:txBody>
          </p:sp>
          <p:sp>
            <p:nvSpPr>
              <p:cNvPr id="32" name="Right Arrow 31"/>
              <p:cNvSpPr/>
              <p:nvPr/>
            </p:nvSpPr>
            <p:spPr bwMode="auto">
              <a:xfrm>
                <a:off x="4401137" y="3200421"/>
                <a:ext cx="570024" cy="372660"/>
              </a:xfrm>
              <a:prstGeom prst="rightArrow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22" name="TextBox 5"/>
          <p:cNvSpPr txBox="1">
            <a:spLocks noChangeArrowheads="1"/>
          </p:cNvSpPr>
          <p:nvPr/>
        </p:nvSpPr>
        <p:spPr bwMode="auto">
          <a:xfrm rot="-5400000">
            <a:off x="4342528" y="4376971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Shifts in AD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83898" y="1511300"/>
            <a:ext cx="7924800" cy="4800600"/>
          </a:xfrm>
        </p:spPr>
        <p:txBody>
          <a:bodyPr/>
          <a:lstStyle/>
          <a:p>
            <a:pPr eaLnBrk="1" hangingPunct="1"/>
            <a:r>
              <a:rPr lang="en-US" b="1" dirty="0"/>
              <a:t>Stabilization policies </a:t>
            </a:r>
            <a:r>
              <a:rPr lang="en-US" dirty="0"/>
              <a:t>are government policies used to affect planned aggregate expenditure and eliminate output gaps</a:t>
            </a:r>
          </a:p>
          <a:p>
            <a:pPr eaLnBrk="1" hangingPunct="1"/>
            <a:r>
              <a:rPr lang="en-US" dirty="0"/>
              <a:t>Fiscal policy</a:t>
            </a:r>
          </a:p>
          <a:p>
            <a:pPr lvl="1" eaLnBrk="1" hangingPunct="1"/>
            <a:r>
              <a:rPr lang="en-US" dirty="0"/>
              <a:t>Change in government</a:t>
            </a:r>
          </a:p>
          <a:p>
            <a:pPr lvl="1" eaLnBrk="1" hangingPunct="1">
              <a:buFontTx/>
              <a:buNone/>
            </a:pPr>
            <a:r>
              <a:rPr lang="en-US" dirty="0"/>
              <a:t>    spending or taxes</a:t>
            </a:r>
          </a:p>
          <a:p>
            <a:pPr eaLnBrk="1" hangingPunct="1"/>
            <a:r>
              <a:rPr lang="en-US" dirty="0"/>
              <a:t>Monetary policy</a:t>
            </a:r>
          </a:p>
          <a:p>
            <a:pPr lvl="1" eaLnBrk="1" hangingPunct="1"/>
            <a:r>
              <a:rPr lang="en-US" dirty="0"/>
              <a:t>Change in the nominal </a:t>
            </a:r>
          </a:p>
          <a:p>
            <a:pPr lvl="1" eaLnBrk="1" hangingPunct="1">
              <a:buFontTx/>
              <a:buNone/>
            </a:pPr>
            <a:r>
              <a:rPr lang="en-US" dirty="0"/>
              <a:t>    money supply which </a:t>
            </a:r>
          </a:p>
          <a:p>
            <a:pPr lvl="1" eaLnBrk="1" hangingPunct="1">
              <a:buFontTx/>
              <a:buNone/>
            </a:pPr>
            <a:r>
              <a:rPr lang="en-US" dirty="0"/>
              <a:t>    changes the interest </a:t>
            </a:r>
          </a:p>
          <a:p>
            <a:pPr lvl="1" eaLnBrk="1" hangingPunct="1">
              <a:buFontTx/>
              <a:buNone/>
            </a:pPr>
            <a:r>
              <a:rPr lang="en-US" dirty="0"/>
              <a:t>    rate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4929125" y="3290823"/>
            <a:ext cx="4113273" cy="3200216"/>
            <a:chOff x="1937982" y="2634018"/>
            <a:chExt cx="4738048" cy="3687170"/>
          </a:xfrm>
        </p:grpSpPr>
        <p:sp>
          <p:nvSpPr>
            <p:cNvPr id="19" name="Rectangle 18"/>
            <p:cNvSpPr/>
            <p:nvPr/>
          </p:nvSpPr>
          <p:spPr bwMode="auto">
            <a:xfrm>
              <a:off x="1937982" y="2634018"/>
              <a:ext cx="4738048" cy="368717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2014856" y="2710914"/>
              <a:ext cx="4584373" cy="3533742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4" name="Group 19"/>
            <p:cNvGrpSpPr>
              <a:grpSpLocks noChangeAspect="1"/>
            </p:cNvGrpSpPr>
            <p:nvPr/>
          </p:nvGrpSpPr>
          <p:grpSpPr bwMode="auto">
            <a:xfrm>
              <a:off x="2654151" y="2819609"/>
              <a:ext cx="3973227" cy="3365370"/>
              <a:chOff x="2246313" y="1270000"/>
              <a:chExt cx="5997282" cy="5079775"/>
            </a:xfrm>
          </p:grpSpPr>
          <p:sp>
            <p:nvSpPr>
              <p:cNvPr id="22" name="Text Box 3"/>
              <p:cNvSpPr txBox="1">
                <a:spLocks noChangeArrowheads="1"/>
              </p:cNvSpPr>
              <p:nvPr/>
            </p:nvSpPr>
            <p:spPr bwMode="auto">
              <a:xfrm>
                <a:off x="3326813" y="5764497"/>
                <a:ext cx="3510849" cy="5852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/>
                  <a:t>Output (Y)</a:t>
                </a:r>
              </a:p>
            </p:txBody>
          </p:sp>
          <p:sp>
            <p:nvSpPr>
              <p:cNvPr id="23" name="Line 5"/>
              <p:cNvSpPr>
                <a:spLocks noChangeShapeType="1"/>
              </p:cNvSpPr>
              <p:nvPr/>
            </p:nvSpPr>
            <p:spPr bwMode="auto">
              <a:xfrm>
                <a:off x="2255838" y="1270000"/>
                <a:ext cx="1587" cy="4445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4"/>
              <p:cNvSpPr>
                <a:spLocks noChangeShapeType="1"/>
              </p:cNvSpPr>
              <p:nvPr/>
            </p:nvSpPr>
            <p:spPr bwMode="auto">
              <a:xfrm>
                <a:off x="2246313" y="5715000"/>
                <a:ext cx="5764212" cy="15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Line 7"/>
              <p:cNvSpPr>
                <a:spLocks noChangeShapeType="1"/>
              </p:cNvSpPr>
              <p:nvPr/>
            </p:nvSpPr>
            <p:spPr bwMode="auto">
              <a:xfrm>
                <a:off x="2636590" y="1798900"/>
                <a:ext cx="3836643" cy="3787855"/>
              </a:xfrm>
              <a:prstGeom prst="line">
                <a:avLst/>
              </a:pr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6" name="Text Box 6"/>
              <p:cNvSpPr txBox="1">
                <a:spLocks noChangeArrowheads="1"/>
              </p:cNvSpPr>
              <p:nvPr/>
            </p:nvSpPr>
            <p:spPr bwMode="auto">
              <a:xfrm>
                <a:off x="5319606" y="5137807"/>
                <a:ext cx="985357" cy="6958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/>
                  <a:t>AD</a:t>
                </a:r>
              </a:p>
            </p:txBody>
          </p:sp>
          <p:sp>
            <p:nvSpPr>
              <p:cNvPr id="27" name="Line 9"/>
              <p:cNvSpPr>
                <a:spLocks noChangeShapeType="1"/>
              </p:cNvSpPr>
              <p:nvPr/>
            </p:nvSpPr>
            <p:spPr bwMode="auto">
              <a:xfrm>
                <a:off x="3296273" y="1589077"/>
                <a:ext cx="4051937" cy="3997678"/>
              </a:xfrm>
              <a:prstGeom prst="line">
                <a:avLst/>
              </a:pr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8" name="Text Box 10"/>
              <p:cNvSpPr txBox="1">
                <a:spLocks noChangeArrowheads="1"/>
              </p:cNvSpPr>
              <p:nvPr/>
            </p:nvSpPr>
            <p:spPr bwMode="auto">
              <a:xfrm>
                <a:off x="7080552" y="4716273"/>
                <a:ext cx="1163043" cy="6958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/>
                  <a:t>AD'</a:t>
                </a:r>
              </a:p>
            </p:txBody>
          </p:sp>
          <p:sp>
            <p:nvSpPr>
              <p:cNvPr id="30" name="Right Arrow 29"/>
              <p:cNvSpPr/>
              <p:nvPr/>
            </p:nvSpPr>
            <p:spPr bwMode="auto">
              <a:xfrm>
                <a:off x="4401137" y="3200421"/>
                <a:ext cx="570024" cy="372660"/>
              </a:xfrm>
              <a:prstGeom prst="rightArrow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29" name="TextBox 5"/>
          <p:cNvSpPr txBox="1">
            <a:spLocks noChangeArrowheads="1"/>
          </p:cNvSpPr>
          <p:nvPr/>
        </p:nvSpPr>
        <p:spPr bwMode="auto">
          <a:xfrm rot="-5400000">
            <a:off x="4414447" y="4418067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 idx="4294967295"/>
          </p:nvPr>
        </p:nvSpPr>
        <p:spPr>
          <a:xfrm>
            <a:off x="685800" y="25750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The Aggregate Supply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1416704"/>
            <a:ext cx="7924800" cy="4648200"/>
          </a:xfrm>
        </p:spPr>
        <p:txBody>
          <a:bodyPr/>
          <a:lstStyle/>
          <a:p>
            <a:pPr eaLnBrk="1" hangingPunct="1"/>
            <a:r>
              <a:rPr lang="en-US" sz="2500"/>
              <a:t>The </a:t>
            </a:r>
            <a:r>
              <a:rPr lang="en-US" sz="2500" b="1"/>
              <a:t>aggregate supply curve </a:t>
            </a:r>
            <a:r>
              <a:rPr lang="en-US" sz="2500"/>
              <a:t>(AS) shows the relationship between the amount of output firms want to produce and the inflation rate</a:t>
            </a:r>
          </a:p>
          <a:p>
            <a:pPr lvl="1" eaLnBrk="1" hangingPunct="1"/>
            <a:r>
              <a:rPr lang="en-US"/>
              <a:t>Holds all other factors constant</a:t>
            </a:r>
          </a:p>
          <a:p>
            <a:pPr eaLnBrk="1" hangingPunct="1"/>
            <a:r>
              <a:rPr lang="en-US" sz="2500"/>
              <a:t>The aggregate supply curve is upward sloping</a:t>
            </a:r>
          </a:p>
          <a:p>
            <a:pPr lvl="1" eaLnBrk="1" hangingPunct="1"/>
            <a:r>
              <a:rPr lang="en-US"/>
              <a:t>An increase in aggregate demand will increase the willingness to supply and increase the inflation rate</a:t>
            </a:r>
          </a:p>
          <a:p>
            <a:pPr eaLnBrk="1" hangingPunct="1"/>
            <a:r>
              <a:rPr lang="en-US" sz="2500"/>
              <a:t>In past chapters firms met demand at present prices</a:t>
            </a:r>
          </a:p>
          <a:p>
            <a:pPr lvl="1" eaLnBrk="1" hangingPunct="1"/>
            <a:r>
              <a:rPr lang="en-US"/>
              <a:t>Holds in the very short run</a:t>
            </a:r>
          </a:p>
          <a:p>
            <a:pPr lvl="1" eaLnBrk="1" hangingPunct="1"/>
            <a:r>
              <a:rPr lang="en-US"/>
              <a:t>Not possible to indefinitely hold inflation constant and increase 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 idx="4294967295"/>
          </p:nvPr>
        </p:nvSpPr>
        <p:spPr>
          <a:xfrm>
            <a:off x="685800" y="27326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The Aggregate Supply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1505604"/>
            <a:ext cx="7924800" cy="4648200"/>
          </a:xfrm>
        </p:spPr>
        <p:txBody>
          <a:bodyPr/>
          <a:lstStyle/>
          <a:p>
            <a:pPr eaLnBrk="1" hangingPunct="1"/>
            <a:r>
              <a:rPr lang="en-US" sz="2500"/>
              <a:t>Some firms have high menu costs</a:t>
            </a:r>
          </a:p>
          <a:p>
            <a:pPr lvl="1" eaLnBrk="1" hangingPunct="1"/>
            <a:r>
              <a:rPr lang="en-US"/>
              <a:t>Costly to change price</a:t>
            </a:r>
          </a:p>
          <a:p>
            <a:pPr eaLnBrk="1" hangingPunct="1"/>
            <a:r>
              <a:rPr lang="en-US" sz="2500"/>
              <a:t>Some firms have very low menu costs</a:t>
            </a:r>
          </a:p>
          <a:p>
            <a:pPr lvl="1" eaLnBrk="1" hangingPunct="1"/>
            <a:r>
              <a:rPr lang="en-US"/>
              <a:t>Internet retailers</a:t>
            </a:r>
          </a:p>
          <a:p>
            <a:pPr lvl="1" eaLnBrk="1" hangingPunct="1"/>
            <a:r>
              <a:rPr lang="en-US"/>
              <a:t>Can increase price immediately in response to an increase in aggregate demand</a:t>
            </a:r>
          </a:p>
          <a:p>
            <a:pPr eaLnBrk="1" hangingPunct="1"/>
            <a:r>
              <a:rPr lang="en-US" sz="2500"/>
              <a:t>To produce more output, some firms need to eventually charge higher prices</a:t>
            </a:r>
          </a:p>
          <a:p>
            <a:pPr lvl="1" eaLnBrk="1" hangingPunct="1"/>
            <a:r>
              <a:rPr lang="en-US"/>
              <a:t>Overworked resources</a:t>
            </a:r>
          </a:p>
          <a:p>
            <a:pPr eaLnBrk="1" hangingPunct="1"/>
            <a:r>
              <a:rPr lang="en-US" sz="2500"/>
              <a:t>Movement along the AS curve is related to inflation inertia and output gaps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Inflation Inertia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7924800" cy="4648200"/>
          </a:xfrm>
        </p:spPr>
        <p:txBody>
          <a:bodyPr/>
          <a:lstStyle/>
          <a:p>
            <a:r>
              <a:rPr lang="en-US"/>
              <a:t>Inflation will remain relatively constant, have inertia, as long as the economy is at potential output and there are no external shocks to the price level</a:t>
            </a:r>
          </a:p>
          <a:p>
            <a:r>
              <a:rPr lang="en-US"/>
              <a:t>Two closely related factors that play an important role in determining the inflation rate</a:t>
            </a:r>
          </a:p>
          <a:p>
            <a:pPr lvl="1"/>
            <a:r>
              <a:rPr lang="en-US"/>
              <a:t>Inflation expectations</a:t>
            </a:r>
          </a:p>
          <a:p>
            <a:pPr lvl="1"/>
            <a:r>
              <a:rPr lang="en-US"/>
              <a:t>Long-term wage and price contracts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752975" y="2614613"/>
            <a:ext cx="4305300" cy="3773487"/>
            <a:chOff x="4524384" y="2550319"/>
            <a:chExt cx="4495800" cy="3838575"/>
          </a:xfrm>
        </p:grpSpPr>
        <p:sp>
          <p:nvSpPr>
            <p:cNvPr id="8" name="Rectangle 7"/>
            <p:cNvSpPr/>
            <p:nvPr/>
          </p:nvSpPr>
          <p:spPr bwMode="auto">
            <a:xfrm>
              <a:off x="4524384" y="2550319"/>
              <a:ext cx="4495800" cy="38385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4607271" y="2634293"/>
              <a:ext cx="4330026" cy="3670627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aphicFrame>
        <p:nvGraphicFramePr>
          <p:cNvPr id="10" name="Content Placeholder 4"/>
          <p:cNvGraphicFramePr>
            <a:graphicFrameLocks/>
          </p:cNvGraphicFramePr>
          <p:nvPr/>
        </p:nvGraphicFramePr>
        <p:xfrm>
          <a:off x="4567251" y="2762255"/>
          <a:ext cx="4714874" cy="3757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742732" y="63064"/>
            <a:ext cx="8229600" cy="1143000"/>
          </a:xfrm>
        </p:spPr>
        <p:txBody>
          <a:bodyPr/>
          <a:lstStyle/>
          <a:p>
            <a:r>
              <a:rPr lang="en-US" dirty="0"/>
              <a:t>Inflation Expectations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79438" y="1103592"/>
            <a:ext cx="7405687" cy="5702300"/>
          </a:xfrm>
        </p:spPr>
        <p:txBody>
          <a:bodyPr/>
          <a:lstStyle/>
          <a:p>
            <a:pPr indent="-228600"/>
            <a:r>
              <a:rPr lang="en-US" sz="2600" dirty="0"/>
              <a:t>Today's expectations affect tomorrow's inflation</a:t>
            </a:r>
          </a:p>
          <a:p>
            <a:pPr lvl="1"/>
            <a:r>
              <a:rPr lang="en-US" sz="2400" dirty="0"/>
              <a:t>Inflation expectations are built into the pricing in multi-period contracts</a:t>
            </a:r>
          </a:p>
          <a:p>
            <a:pPr indent="-228600"/>
            <a:r>
              <a:rPr lang="en-US" sz="2600" dirty="0"/>
              <a:t>The higher the expected </a:t>
            </a:r>
            <a:br>
              <a:rPr lang="en-US" sz="2600" dirty="0"/>
            </a:br>
            <a:r>
              <a:rPr lang="en-US" sz="2600" dirty="0"/>
              <a:t>rate of inflation, the more </a:t>
            </a:r>
            <a:br>
              <a:rPr lang="en-US" sz="2600" dirty="0"/>
            </a:br>
            <a:r>
              <a:rPr lang="en-US" sz="2600" dirty="0"/>
              <a:t>nominal wages and the </a:t>
            </a:r>
            <a:br>
              <a:rPr lang="en-US" sz="2600" dirty="0"/>
            </a:br>
            <a:r>
              <a:rPr lang="en-US" sz="2600" dirty="0"/>
              <a:t>cost of other inputs will </a:t>
            </a:r>
            <a:br>
              <a:rPr lang="en-US" sz="2600" dirty="0"/>
            </a:br>
            <a:r>
              <a:rPr lang="en-US" sz="2600" dirty="0"/>
              <a:t>increase</a:t>
            </a:r>
          </a:p>
          <a:p>
            <a:pPr lvl="1"/>
            <a:r>
              <a:rPr lang="en-US" sz="2400" dirty="0"/>
              <a:t>With rising input costs, </a:t>
            </a:r>
            <a:br>
              <a:rPr lang="en-US" sz="2400" dirty="0"/>
            </a:br>
            <a:r>
              <a:rPr lang="en-US" sz="2400" dirty="0"/>
              <a:t>firms increase their </a:t>
            </a:r>
            <a:br>
              <a:rPr lang="en-US" sz="2400" dirty="0"/>
            </a:br>
            <a:r>
              <a:rPr lang="en-US" sz="2400" dirty="0"/>
              <a:t>prices to cover costs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775857" y="204952"/>
            <a:ext cx="8229600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Expected Inflation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idx="1"/>
          </p:nvPr>
        </p:nvSpPr>
        <p:spPr>
          <a:xfrm>
            <a:off x="792049" y="1535114"/>
            <a:ext cx="8229599" cy="4648200"/>
          </a:xfrm>
        </p:spPr>
        <p:txBody>
          <a:bodyPr/>
          <a:lstStyle/>
          <a:p>
            <a:pPr indent="-285750">
              <a:lnSpc>
                <a:spcPct val="90000"/>
              </a:lnSpc>
            </a:pPr>
            <a:r>
              <a:rPr lang="en-US" sz="2500" dirty="0"/>
              <a:t>Expectations are influenced by recent experience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If inflation is low and stable, people expect that to continue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Volatile inflation leads </a:t>
            </a:r>
            <a:br>
              <a:rPr lang="en-US" dirty="0"/>
            </a:br>
            <a:r>
              <a:rPr lang="en-US" dirty="0"/>
              <a:t>to volatile expectations</a:t>
            </a:r>
          </a:p>
          <a:p>
            <a:pPr indent="-285750">
              <a:lnSpc>
                <a:spcPct val="90000"/>
              </a:lnSpc>
            </a:pPr>
            <a:r>
              <a:rPr lang="en-US" sz="2500" dirty="0"/>
              <a:t>Low and stable inflation </a:t>
            </a:r>
            <a:br>
              <a:rPr lang="en-US" sz="2500" dirty="0"/>
            </a:br>
            <a:r>
              <a:rPr lang="en-US" sz="2500" dirty="0"/>
              <a:t>creates a virtuous circle</a:t>
            </a:r>
            <a:br>
              <a:rPr lang="en-US" sz="2500" dirty="0"/>
            </a:br>
            <a:r>
              <a:rPr lang="en-US" sz="2500" dirty="0"/>
              <a:t>that keeps inflation low</a:t>
            </a:r>
          </a:p>
          <a:p>
            <a:pPr indent="-285750">
              <a:lnSpc>
                <a:spcPct val="90000"/>
              </a:lnSpc>
            </a:pPr>
            <a:r>
              <a:rPr lang="en-US" sz="2500" dirty="0"/>
              <a:t>High and unstable inflation </a:t>
            </a:r>
            <a:br>
              <a:rPr lang="en-US" sz="2500" dirty="0"/>
            </a:br>
            <a:r>
              <a:rPr lang="en-US" sz="2500" dirty="0"/>
              <a:t>creates a vicious circle </a:t>
            </a:r>
            <a:br>
              <a:rPr lang="en-US" sz="2500" dirty="0"/>
            </a:br>
            <a:r>
              <a:rPr lang="en-US" sz="2500" dirty="0"/>
              <a:t>that keeps inflation high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010150" y="2819400"/>
            <a:ext cx="4070350" cy="3363914"/>
            <a:chOff x="4524384" y="2550319"/>
            <a:chExt cx="4495800" cy="3838575"/>
          </a:xfrm>
        </p:grpSpPr>
        <p:sp>
          <p:nvSpPr>
            <p:cNvPr id="8" name="Rectangle 7"/>
            <p:cNvSpPr/>
            <p:nvPr/>
          </p:nvSpPr>
          <p:spPr bwMode="auto">
            <a:xfrm>
              <a:off x="4524384" y="2550319"/>
              <a:ext cx="4495800" cy="38385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4607271" y="2634293"/>
              <a:ext cx="4330026" cy="3670627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aphicFrame>
        <p:nvGraphicFramePr>
          <p:cNvPr id="10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5426839"/>
              </p:ext>
            </p:extLst>
          </p:nvPr>
        </p:nvGraphicFramePr>
        <p:xfrm>
          <a:off x="4835602" y="2966181"/>
          <a:ext cx="4457572" cy="3349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>
          <a:xfrm>
            <a:off x="695325" y="114300"/>
            <a:ext cx="8229600" cy="1143000"/>
          </a:xfrm>
        </p:spPr>
        <p:txBody>
          <a:bodyPr/>
          <a:lstStyle/>
          <a:p>
            <a:r>
              <a:rPr lang="en-US" dirty="0"/>
              <a:t>The Role of Long-Term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725" y="1301750"/>
            <a:ext cx="7924800" cy="5386726"/>
          </a:xfrm>
        </p:spPr>
        <p:txBody>
          <a:bodyPr/>
          <a:lstStyle/>
          <a:p>
            <a:r>
              <a:rPr lang="en-US" dirty="0"/>
              <a:t>Long-term contracts reduce the cost of negotiations between buyers and sellers</a:t>
            </a:r>
          </a:p>
          <a:p>
            <a:pPr lvl="1"/>
            <a:r>
              <a:rPr lang="en-US" dirty="0"/>
              <a:t>Labor contracts may be multi-year agreements</a:t>
            </a:r>
          </a:p>
          <a:p>
            <a:pPr lvl="1"/>
            <a:r>
              <a:rPr lang="en-US" dirty="0"/>
              <a:t>Supply agreements, particularly for high cost inputs, extend over several years</a:t>
            </a:r>
          </a:p>
          <a:p>
            <a:r>
              <a:rPr lang="en-US" dirty="0"/>
              <a:t>Long-term contracts build in wage and price increases that build in current expectations about inflation</a:t>
            </a:r>
          </a:p>
          <a:p>
            <a:r>
              <a:rPr lang="en-US" dirty="0"/>
              <a:t>In the absence of external shocks, inflation tends to be stable over time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r>
              <a:rPr lang="en-US"/>
              <a:t>The Output Gap and Inflation</a:t>
            </a:r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3217996"/>
              </p:ext>
            </p:extLst>
          </p:nvPr>
        </p:nvGraphicFramePr>
        <p:xfrm>
          <a:off x="869732" y="1600200"/>
          <a:ext cx="7924800" cy="458223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1003">
                <a:tc>
                  <a:txBody>
                    <a:bodyPr/>
                    <a:lstStyle/>
                    <a:p>
                      <a:pPr algn="ctr">
                        <a:tabLst>
                          <a:tab pos="2286000" algn="ctr"/>
                          <a:tab pos="6807200" algn="ctr"/>
                        </a:tabLst>
                      </a:pPr>
                      <a:r>
                        <a:rPr lang="en-US" sz="2400" dirty="0"/>
                        <a:t>Relationship of Output</a:t>
                      </a:r>
                      <a:r>
                        <a:rPr lang="en-US" sz="2400" baseline="0" dirty="0"/>
                        <a:t> </a:t>
                      </a:r>
                      <a:br>
                        <a:rPr lang="en-US" sz="2400" baseline="0" dirty="0"/>
                      </a:br>
                      <a:r>
                        <a:rPr lang="en-US" sz="2400" dirty="0"/>
                        <a:t>to Potential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Behavior of Inflation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10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Expansionary gap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 &gt; Y*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Inflation increases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100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 output</a:t>
                      </a:r>
                      <a:r>
                        <a:rPr lang="en-US" sz="2400" baseline="0" dirty="0"/>
                        <a:t> gap</a:t>
                      </a:r>
                      <a:br>
                        <a:rPr lang="en-US" sz="2400" baseline="0" dirty="0"/>
                      </a:br>
                      <a:r>
                        <a:rPr lang="en-US" sz="2400" baseline="0" dirty="0"/>
                        <a:t>Y = Y*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Inflation</a:t>
                      </a:r>
                      <a:r>
                        <a:rPr lang="en-US" sz="2400" baseline="0" dirty="0"/>
                        <a:t> is stable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922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Recessionary gap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 &lt; Y*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Inflation decreases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>
          <a:xfrm>
            <a:off x="673100" y="80963"/>
            <a:ext cx="8229600" cy="1143000"/>
          </a:xfrm>
        </p:spPr>
        <p:txBody>
          <a:bodyPr/>
          <a:lstStyle/>
          <a:p>
            <a:r>
              <a:rPr lang="en-US"/>
              <a:t>The Aggregate Supply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150" y="977899"/>
            <a:ext cx="7924800" cy="5597561"/>
          </a:xfrm>
        </p:spPr>
        <p:txBody>
          <a:bodyPr/>
          <a:lstStyle/>
          <a:p>
            <a:pPr lvl="2">
              <a:buFontTx/>
              <a:buNone/>
              <a:tabLst>
                <a:tab pos="3200400" algn="l"/>
              </a:tabLst>
            </a:pPr>
            <a:r>
              <a:rPr lang="en-US" dirty="0"/>
              <a:t>Current inflation (</a:t>
            </a:r>
            <a:r>
              <a:rPr lang="en-US" sz="2800" dirty="0">
                <a:sym typeface="Symbol" pitchFamily="18" charset="2"/>
              </a:rPr>
              <a:t></a:t>
            </a:r>
            <a:r>
              <a:rPr lang="en-US" dirty="0">
                <a:sym typeface="Symbol" pitchFamily="18" charset="2"/>
              </a:rPr>
              <a:t>) =  expected inflation (</a:t>
            </a:r>
            <a:r>
              <a:rPr lang="en-US" sz="2800" dirty="0">
                <a:sym typeface="Symbol" pitchFamily="18" charset="2"/>
              </a:rPr>
              <a:t></a:t>
            </a:r>
            <a:r>
              <a:rPr lang="en-US" baseline="30000" dirty="0">
                <a:sym typeface="Symbol" pitchFamily="18" charset="2"/>
              </a:rPr>
              <a:t>e</a:t>
            </a:r>
            <a:r>
              <a:rPr lang="en-US" dirty="0">
                <a:sym typeface="Symbol" pitchFamily="18" charset="2"/>
              </a:rPr>
              <a:t>) + 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		  inflation from an output gap</a:t>
            </a:r>
          </a:p>
          <a:p>
            <a:pPr>
              <a:tabLst>
                <a:tab pos="3200400" algn="l"/>
              </a:tabLst>
            </a:pPr>
            <a:r>
              <a:rPr lang="en-US" dirty="0"/>
              <a:t>If the economy is operating at potential output, then</a:t>
            </a:r>
            <a:br>
              <a:rPr lang="en-US" dirty="0"/>
            </a:br>
            <a:r>
              <a:rPr lang="en-US" dirty="0">
                <a:sym typeface="Symbol" pitchFamily="18" charset="2"/>
              </a:rPr>
              <a:t> </a:t>
            </a:r>
            <a:r>
              <a:rPr lang="en-US" baseline="30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= </a:t>
            </a:r>
            <a:r>
              <a:rPr lang="en-US" baseline="30000" dirty="0">
                <a:sym typeface="Symbol" pitchFamily="18" charset="2"/>
              </a:rPr>
              <a:t>e = </a:t>
            </a:r>
            <a:r>
              <a:rPr lang="en-US" dirty="0">
                <a:sym typeface="Symbol" pitchFamily="18" charset="2"/>
              </a:rPr>
              <a:t></a:t>
            </a:r>
            <a:r>
              <a:rPr lang="en-US" baseline="-25000" dirty="0">
                <a:sym typeface="Symbol" pitchFamily="18" charset="2"/>
              </a:rPr>
              <a:t>1 </a:t>
            </a:r>
            <a:r>
              <a:rPr lang="en-US" dirty="0">
                <a:sym typeface="Symbol" pitchFamily="18" charset="2"/>
              </a:rPr>
              <a:t>at A</a:t>
            </a:r>
          </a:p>
          <a:p>
            <a:pPr>
              <a:tabLst>
                <a:tab pos="3200400" algn="l"/>
              </a:tabLst>
            </a:pPr>
            <a:r>
              <a:rPr lang="en-US" dirty="0">
                <a:sym typeface="Symbol" pitchFamily="18" charset="2"/>
              </a:rPr>
              <a:t>If the economy has an 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expansionary gap, Y&gt;Y* 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and </a:t>
            </a:r>
            <a:r>
              <a:rPr lang="en-US" baseline="-25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aseline="30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&gt; </a:t>
            </a:r>
            <a:r>
              <a:rPr lang="en-US" baseline="30000" dirty="0">
                <a:sym typeface="Symbol" pitchFamily="18" charset="2"/>
              </a:rPr>
              <a:t>e</a:t>
            </a:r>
            <a:r>
              <a:rPr lang="en-US" dirty="0">
                <a:sym typeface="Symbol" pitchFamily="18" charset="2"/>
              </a:rPr>
              <a:t> at B</a:t>
            </a:r>
          </a:p>
          <a:p>
            <a:pPr>
              <a:tabLst>
                <a:tab pos="3200400" algn="l"/>
              </a:tabLst>
            </a:pPr>
            <a:r>
              <a:rPr lang="en-US" dirty="0">
                <a:sym typeface="Symbol" pitchFamily="18" charset="2"/>
              </a:rPr>
              <a:t>If the economy has a 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recessionary gap, </a:t>
            </a:r>
          </a:p>
          <a:p>
            <a:pPr>
              <a:tabLst>
                <a:tab pos="3200400" algn="l"/>
              </a:tabLst>
            </a:pPr>
            <a:r>
              <a:rPr lang="en-US" dirty="0">
                <a:sym typeface="Symbol" pitchFamily="18" charset="2"/>
              </a:rPr>
              <a:t>Y &lt; Y* and </a:t>
            </a:r>
            <a:r>
              <a:rPr lang="en-US" baseline="-25000" dirty="0">
                <a:sym typeface="Symbol" pitchFamily="18" charset="2"/>
              </a:rPr>
              <a:t>3</a:t>
            </a:r>
            <a:r>
              <a:rPr lang="en-US" baseline="30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&lt; </a:t>
            </a:r>
            <a:r>
              <a:rPr lang="en-US" baseline="30000" dirty="0">
                <a:sym typeface="Symbol" pitchFamily="18" charset="2"/>
              </a:rPr>
              <a:t>e</a:t>
            </a:r>
            <a:r>
              <a:rPr lang="en-US" dirty="0">
                <a:sym typeface="Symbol" pitchFamily="18" charset="2"/>
              </a:rPr>
              <a:t> at C</a:t>
            </a:r>
          </a:p>
          <a:p>
            <a:pPr>
              <a:tabLst>
                <a:tab pos="3200400" algn="l"/>
              </a:tabLst>
            </a:pPr>
            <a:r>
              <a:rPr lang="en-US" dirty="0">
                <a:sym typeface="Symbol" pitchFamily="18" charset="2"/>
              </a:rPr>
              <a:t>The AS curve slopes up</a:t>
            </a:r>
            <a:endParaRPr lang="en-US" baseline="30000" dirty="0">
              <a:sym typeface="Symbol" pitchFamily="18" charset="2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5066300" y="2760744"/>
            <a:ext cx="4051271" cy="3200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148263" y="2832100"/>
            <a:ext cx="3887787" cy="30575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871" name="TextBox 5"/>
          <p:cNvSpPr txBox="1">
            <a:spLocks noChangeArrowheads="1"/>
          </p:cNvSpPr>
          <p:nvPr/>
        </p:nvSpPr>
        <p:spPr bwMode="auto">
          <a:xfrm rot="-5400000">
            <a:off x="4506912" y="3698876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  <p:sp>
        <p:nvSpPr>
          <p:cNvPr id="36872" name="TextBox 6"/>
          <p:cNvSpPr txBox="1">
            <a:spLocks noChangeArrowheads="1"/>
          </p:cNvSpPr>
          <p:nvPr/>
        </p:nvSpPr>
        <p:spPr bwMode="auto">
          <a:xfrm>
            <a:off x="7634288" y="5459413"/>
            <a:ext cx="13858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000"/>
              <a:t>Output (Y)</a:t>
            </a:r>
          </a:p>
        </p:txBody>
      </p:sp>
      <p:cxnSp>
        <p:nvCxnSpPr>
          <p:cNvPr id="36873" name="Straight Connector 7"/>
          <p:cNvCxnSpPr>
            <a:cxnSpLocks noChangeShapeType="1"/>
          </p:cNvCxnSpPr>
          <p:nvPr/>
        </p:nvCxnSpPr>
        <p:spPr bwMode="auto">
          <a:xfrm rot="10800000">
            <a:off x="5902325" y="5438775"/>
            <a:ext cx="239712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874" name="Straight Connector 8"/>
          <p:cNvCxnSpPr>
            <a:cxnSpLocks noChangeShapeType="1"/>
          </p:cNvCxnSpPr>
          <p:nvPr/>
        </p:nvCxnSpPr>
        <p:spPr bwMode="auto">
          <a:xfrm rot="5400000">
            <a:off x="4889500" y="4437063"/>
            <a:ext cx="2024063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5897366" y="3115372"/>
            <a:ext cx="3071973" cy="2129728"/>
            <a:chOff x="5764563" y="3638766"/>
            <a:chExt cx="3072192" cy="2130378"/>
          </a:xfrm>
        </p:grpSpPr>
        <p:cxnSp>
          <p:nvCxnSpPr>
            <p:cNvPr id="14" name="Straight Connector 13"/>
            <p:cNvCxnSpPr/>
            <p:nvPr/>
          </p:nvCxnSpPr>
          <p:spPr bwMode="auto">
            <a:xfrm rot="5400000" flipH="1" flipV="1">
              <a:off x="5940785" y="4165458"/>
              <a:ext cx="1683264" cy="1524108"/>
            </a:xfrm>
            <a:prstGeom prst="line">
              <a:avLst/>
            </a:prstGeom>
            <a:ln>
              <a:solidFill>
                <a:srgbClr val="CC0099"/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6898" name="TextBox 14"/>
            <p:cNvSpPr txBox="1">
              <a:spLocks noChangeArrowheads="1"/>
            </p:cNvSpPr>
            <p:nvPr/>
          </p:nvSpPr>
          <p:spPr bwMode="auto">
            <a:xfrm>
              <a:off x="5764563" y="3638766"/>
              <a:ext cx="3072192" cy="400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indent="228600" algn="ctr"/>
              <a:r>
                <a:rPr lang="en-US" sz="2000" dirty="0"/>
                <a:t>Aggregate Supply (AS)</a:t>
              </a:r>
            </a:p>
          </p:txBody>
        </p: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5553075" y="3462338"/>
            <a:ext cx="2125663" cy="2360612"/>
            <a:chOff x="5419726" y="3986213"/>
            <a:chExt cx="2125990" cy="2359931"/>
          </a:xfrm>
        </p:grpSpPr>
        <p:cxnSp>
          <p:nvCxnSpPr>
            <p:cNvPr id="36891" name="Straight Connector 25"/>
            <p:cNvCxnSpPr>
              <a:cxnSpLocks noChangeShapeType="1"/>
            </p:cNvCxnSpPr>
            <p:nvPr/>
          </p:nvCxnSpPr>
          <p:spPr bwMode="auto">
            <a:xfrm rot="5400000">
              <a:off x="6455569" y="5142706"/>
              <a:ext cx="1630363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36892" name="Straight Connector 27"/>
            <p:cNvCxnSpPr>
              <a:cxnSpLocks noChangeShapeType="1"/>
            </p:cNvCxnSpPr>
            <p:nvPr/>
          </p:nvCxnSpPr>
          <p:spPr bwMode="auto">
            <a:xfrm rot="10800000">
              <a:off x="5772150" y="4327525"/>
              <a:ext cx="1498600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36893" name="TextBox 28"/>
            <p:cNvSpPr txBox="1">
              <a:spLocks noChangeArrowheads="1"/>
            </p:cNvSpPr>
            <p:nvPr/>
          </p:nvSpPr>
          <p:spPr bwMode="auto">
            <a:xfrm>
              <a:off x="5419726" y="4127470"/>
              <a:ext cx="41069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</a:t>
              </a:r>
              <a:r>
                <a:rPr lang="en-US" baseline="-25000">
                  <a:sym typeface="Symbol" pitchFamily="18" charset="2"/>
                </a:rPr>
                <a:t>2</a:t>
              </a:r>
              <a:endParaRPr lang="en-US" baseline="-25000"/>
            </a:p>
          </p:txBody>
        </p:sp>
        <p:sp>
          <p:nvSpPr>
            <p:cNvPr id="36894" name="TextBox 29"/>
            <p:cNvSpPr txBox="1">
              <a:spLocks noChangeArrowheads="1"/>
            </p:cNvSpPr>
            <p:nvPr/>
          </p:nvSpPr>
          <p:spPr bwMode="auto">
            <a:xfrm>
              <a:off x="7094952" y="5946034"/>
              <a:ext cx="45076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Y</a:t>
              </a:r>
              <a:r>
                <a:rPr lang="en-US" sz="2000" baseline="-25000"/>
                <a:t>1</a:t>
              </a:r>
            </a:p>
          </p:txBody>
        </p:sp>
        <p:sp>
          <p:nvSpPr>
            <p:cNvPr id="36895" name="TextBox 38"/>
            <p:cNvSpPr txBox="1">
              <a:spLocks noChangeArrowheads="1"/>
            </p:cNvSpPr>
            <p:nvPr/>
          </p:nvSpPr>
          <p:spPr bwMode="auto">
            <a:xfrm>
              <a:off x="6938961" y="3986213"/>
              <a:ext cx="3714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B</a:t>
              </a:r>
            </a:p>
          </p:txBody>
        </p:sp>
        <p:sp>
          <p:nvSpPr>
            <p:cNvPr id="42" name="Oval 41"/>
            <p:cNvSpPr/>
            <p:nvPr/>
          </p:nvSpPr>
          <p:spPr bwMode="auto">
            <a:xfrm>
              <a:off x="7215465" y="4257597"/>
              <a:ext cx="157186" cy="157118"/>
            </a:xfrm>
            <a:prstGeom prst="ellipse">
              <a:avLst/>
            </a:prstGeom>
            <a:solidFill>
              <a:srgbClr val="FFF05B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5546725" y="4633913"/>
            <a:ext cx="1096963" cy="1189037"/>
            <a:chOff x="5413140" y="5157790"/>
            <a:chExt cx="1097155" cy="1188354"/>
          </a:xfrm>
        </p:grpSpPr>
        <p:cxnSp>
          <p:nvCxnSpPr>
            <p:cNvPr id="36885" name="Straight Connector 32"/>
            <p:cNvCxnSpPr>
              <a:cxnSpLocks noChangeShapeType="1"/>
            </p:cNvCxnSpPr>
            <p:nvPr/>
          </p:nvCxnSpPr>
          <p:spPr bwMode="auto">
            <a:xfrm rot="5400000">
              <a:off x="6027740" y="5714208"/>
              <a:ext cx="515140" cy="238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36886" name="Straight Connector 34"/>
            <p:cNvCxnSpPr>
              <a:cxnSpLocks noChangeShapeType="1"/>
            </p:cNvCxnSpPr>
            <p:nvPr/>
          </p:nvCxnSpPr>
          <p:spPr bwMode="auto">
            <a:xfrm rot="10800000">
              <a:off x="5772151" y="5470525"/>
              <a:ext cx="512763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36887" name="TextBox 35"/>
            <p:cNvSpPr txBox="1">
              <a:spLocks noChangeArrowheads="1"/>
            </p:cNvSpPr>
            <p:nvPr/>
          </p:nvSpPr>
          <p:spPr bwMode="auto">
            <a:xfrm>
              <a:off x="6059531" y="5946034"/>
              <a:ext cx="45076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Y</a:t>
              </a:r>
              <a:r>
                <a:rPr lang="en-US" sz="2000" baseline="-25000"/>
                <a:t>2</a:t>
              </a:r>
            </a:p>
          </p:txBody>
        </p:sp>
        <p:sp>
          <p:nvSpPr>
            <p:cNvPr id="36888" name="TextBox 36"/>
            <p:cNvSpPr txBox="1">
              <a:spLocks noChangeArrowheads="1"/>
            </p:cNvSpPr>
            <p:nvPr/>
          </p:nvSpPr>
          <p:spPr bwMode="auto">
            <a:xfrm>
              <a:off x="5413140" y="5251420"/>
              <a:ext cx="42386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dirty="0">
                  <a:sym typeface="Symbol" pitchFamily="18" charset="2"/>
                </a:rPr>
                <a:t></a:t>
              </a:r>
              <a:r>
                <a:rPr lang="en-US" sz="2000" baseline="-25000" dirty="0">
                  <a:sym typeface="Symbol" pitchFamily="18" charset="2"/>
                </a:rPr>
                <a:t>3</a:t>
              </a:r>
              <a:endParaRPr lang="en-US" baseline="-25000" dirty="0"/>
            </a:p>
          </p:txBody>
        </p:sp>
        <p:sp>
          <p:nvSpPr>
            <p:cNvPr id="36889" name="TextBox 39"/>
            <p:cNvSpPr txBox="1">
              <a:spLocks noChangeArrowheads="1"/>
            </p:cNvSpPr>
            <p:nvPr/>
          </p:nvSpPr>
          <p:spPr bwMode="auto">
            <a:xfrm>
              <a:off x="5905497" y="5157790"/>
              <a:ext cx="3714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C</a:t>
              </a:r>
            </a:p>
          </p:txBody>
        </p:sp>
        <p:sp>
          <p:nvSpPr>
            <p:cNvPr id="43" name="Oval 42"/>
            <p:cNvSpPr/>
            <p:nvPr/>
          </p:nvSpPr>
          <p:spPr bwMode="auto">
            <a:xfrm>
              <a:off x="6181624" y="5410057"/>
              <a:ext cx="157191" cy="157073"/>
            </a:xfrm>
            <a:prstGeom prst="ellipse">
              <a:avLst/>
            </a:prstGeom>
            <a:solidFill>
              <a:srgbClr val="FFF05B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8" name="Group 48"/>
          <p:cNvGrpSpPr>
            <a:grpSpLocks/>
          </p:cNvGrpSpPr>
          <p:nvPr/>
        </p:nvGrpSpPr>
        <p:grpSpPr bwMode="auto">
          <a:xfrm>
            <a:off x="5553075" y="4019550"/>
            <a:ext cx="1562100" cy="1700213"/>
            <a:chOff x="5419726" y="4543425"/>
            <a:chExt cx="1561982" cy="1699907"/>
          </a:xfrm>
        </p:grpSpPr>
        <p:sp>
          <p:nvSpPr>
            <p:cNvPr id="36879" name="TextBox 17"/>
            <p:cNvSpPr txBox="1">
              <a:spLocks noChangeArrowheads="1"/>
            </p:cNvSpPr>
            <p:nvPr/>
          </p:nvSpPr>
          <p:spPr bwMode="auto">
            <a:xfrm>
              <a:off x="6630113" y="5934542"/>
              <a:ext cx="351595" cy="3087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Y*</a:t>
              </a:r>
            </a:p>
          </p:txBody>
        </p:sp>
        <p:cxnSp>
          <p:nvCxnSpPr>
            <p:cNvPr id="36880" name="Straight Connector 20"/>
            <p:cNvCxnSpPr>
              <a:cxnSpLocks noChangeShapeType="1"/>
              <a:stCxn id="44" idx="0"/>
              <a:endCxn id="36879" idx="0"/>
            </p:cNvCxnSpPr>
            <p:nvPr/>
          </p:nvCxnSpPr>
          <p:spPr bwMode="auto">
            <a:xfrm rot="-5400000" flipH="1" flipV="1">
              <a:off x="6251888" y="5373673"/>
              <a:ext cx="1114892" cy="684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36881" name="Straight Connector 22"/>
            <p:cNvCxnSpPr>
              <a:cxnSpLocks noChangeShapeType="1"/>
            </p:cNvCxnSpPr>
            <p:nvPr/>
          </p:nvCxnSpPr>
          <p:spPr bwMode="auto">
            <a:xfrm rot="10800000">
              <a:off x="5757864" y="4884739"/>
              <a:ext cx="1055687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36882" name="TextBox 23"/>
            <p:cNvSpPr txBox="1">
              <a:spLocks noChangeArrowheads="1"/>
            </p:cNvSpPr>
            <p:nvPr/>
          </p:nvSpPr>
          <p:spPr bwMode="auto">
            <a:xfrm>
              <a:off x="5419726" y="4672013"/>
              <a:ext cx="41069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</a:t>
              </a:r>
              <a:r>
                <a:rPr lang="en-US" baseline="-25000">
                  <a:sym typeface="Symbol" pitchFamily="18" charset="2"/>
                </a:rPr>
                <a:t>1</a:t>
              </a:r>
              <a:endParaRPr lang="en-US" baseline="-25000"/>
            </a:p>
          </p:txBody>
        </p:sp>
        <p:sp>
          <p:nvSpPr>
            <p:cNvPr id="36883" name="TextBox 37"/>
            <p:cNvSpPr txBox="1">
              <a:spLocks noChangeArrowheads="1"/>
            </p:cNvSpPr>
            <p:nvPr/>
          </p:nvSpPr>
          <p:spPr bwMode="auto">
            <a:xfrm>
              <a:off x="6386507" y="4543425"/>
              <a:ext cx="3714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A</a:t>
              </a:r>
            </a:p>
          </p:txBody>
        </p:sp>
        <p:sp>
          <p:nvSpPr>
            <p:cNvPr id="44" name="Oval 43"/>
            <p:cNvSpPr/>
            <p:nvPr/>
          </p:nvSpPr>
          <p:spPr bwMode="auto">
            <a:xfrm>
              <a:off x="6734077" y="4819600"/>
              <a:ext cx="157151" cy="157135"/>
            </a:xfrm>
            <a:prstGeom prst="ellipse">
              <a:avLst/>
            </a:prstGeom>
            <a:solidFill>
              <a:srgbClr val="FFF05B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 idx="4294967295"/>
          </p:nvPr>
        </p:nvSpPr>
        <p:spPr>
          <a:xfrm>
            <a:off x="685800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Shifts in the AS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4577" y="909638"/>
            <a:ext cx="7924800" cy="5624726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dirty="0"/>
              <a:t>A </a:t>
            </a:r>
            <a:r>
              <a:rPr lang="en-US" sz="2600" b="1" dirty="0"/>
              <a:t>change in aggregate supply </a:t>
            </a:r>
            <a:r>
              <a:rPr lang="en-US" sz="2600" dirty="0"/>
              <a:t>is a shift of the aggregate supply curve</a:t>
            </a:r>
          </a:p>
          <a:p>
            <a:pPr eaLnBrk="1" hangingPunct="1">
              <a:defRPr/>
            </a:pPr>
            <a:r>
              <a:rPr lang="en-US" sz="2600" dirty="0"/>
              <a:t>An increase in aggregate supply is a rightward shift of the curve</a:t>
            </a:r>
          </a:p>
          <a:p>
            <a:pPr eaLnBrk="1" hangingPunct="1">
              <a:defRPr/>
            </a:pPr>
            <a:r>
              <a:rPr lang="en-US" sz="2600" dirty="0"/>
              <a:t>A decrease in aggregate</a:t>
            </a:r>
          </a:p>
          <a:p>
            <a:pPr eaLnBrk="1" hangingPunct="1">
              <a:buFontTx/>
              <a:buNone/>
              <a:defRPr/>
            </a:pPr>
            <a:r>
              <a:rPr lang="en-US" sz="2600" dirty="0"/>
              <a:t>   supply is a leftward</a:t>
            </a:r>
          </a:p>
          <a:p>
            <a:pPr eaLnBrk="1" hangingPunct="1">
              <a:buFontTx/>
              <a:buNone/>
              <a:defRPr/>
            </a:pPr>
            <a:r>
              <a:rPr lang="en-US" sz="2600" dirty="0"/>
              <a:t>   shift of the curve</a:t>
            </a:r>
          </a:p>
          <a:p>
            <a:pPr eaLnBrk="1" hangingPunct="1">
              <a:defRPr/>
            </a:pPr>
            <a:r>
              <a:rPr lang="en-US" sz="2600" dirty="0"/>
              <a:t>Three main causes</a:t>
            </a:r>
          </a:p>
          <a:p>
            <a:pPr lvl="1" eaLnBrk="1" hangingPunct="1">
              <a:defRPr/>
            </a:pPr>
            <a:r>
              <a:rPr lang="en-US" sz="2200" dirty="0"/>
              <a:t>Changes in available 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sz="2200" dirty="0"/>
              <a:t>   resources and technology</a:t>
            </a:r>
          </a:p>
          <a:p>
            <a:pPr lvl="1" eaLnBrk="1" hangingPunct="1">
              <a:defRPr/>
            </a:pPr>
            <a:r>
              <a:rPr lang="en-US" sz="2200" dirty="0"/>
              <a:t>Changes in inflation 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sz="2200" dirty="0"/>
              <a:t>	expectations</a:t>
            </a:r>
          </a:p>
          <a:p>
            <a:pPr lvl="1" eaLnBrk="1" hangingPunct="1">
              <a:defRPr/>
            </a:pPr>
            <a:r>
              <a:rPr lang="en-US" sz="2200" dirty="0"/>
              <a:t>Inflation shock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4961526" y="3332744"/>
            <a:ext cx="4051271" cy="310565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5043488" y="3402013"/>
            <a:ext cx="3887787" cy="2967037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6"/>
          <p:cNvSpPr txBox="1">
            <a:spLocks noChangeArrowheads="1"/>
          </p:cNvSpPr>
          <p:nvPr/>
        </p:nvSpPr>
        <p:spPr bwMode="auto">
          <a:xfrm>
            <a:off x="7529513" y="5951538"/>
            <a:ext cx="138588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600" dirty="0"/>
              <a:t>Output Y</a:t>
            </a:r>
          </a:p>
        </p:txBody>
      </p:sp>
      <p:cxnSp>
        <p:nvCxnSpPr>
          <p:cNvPr id="24" name="Straight Connector 7"/>
          <p:cNvCxnSpPr>
            <a:cxnSpLocks noChangeShapeType="1"/>
          </p:cNvCxnSpPr>
          <p:nvPr/>
        </p:nvCxnSpPr>
        <p:spPr bwMode="auto">
          <a:xfrm rot="10800000">
            <a:off x="5797550" y="5930900"/>
            <a:ext cx="239712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" name="Straight Connector 8"/>
          <p:cNvCxnSpPr>
            <a:cxnSpLocks noChangeShapeType="1"/>
          </p:cNvCxnSpPr>
          <p:nvPr/>
        </p:nvCxnSpPr>
        <p:spPr bwMode="auto">
          <a:xfrm rot="5400000">
            <a:off x="4814888" y="4959350"/>
            <a:ext cx="1963738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7" name="TextBox 13"/>
          <p:cNvSpPr txBox="1">
            <a:spLocks noChangeArrowheads="1"/>
          </p:cNvSpPr>
          <p:nvPr/>
        </p:nvSpPr>
        <p:spPr bwMode="auto">
          <a:xfrm>
            <a:off x="7878763" y="3930650"/>
            <a:ext cx="712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r>
              <a:rPr lang="en-US" sz="2000" baseline="-25000" dirty="0"/>
              <a:t>1</a:t>
            </a:r>
          </a:p>
        </p:txBody>
      </p:sp>
      <p:cxnSp>
        <p:nvCxnSpPr>
          <p:cNvPr id="28" name="Straight Connector 18"/>
          <p:cNvCxnSpPr>
            <a:cxnSpLocks noChangeShapeType="1"/>
          </p:cNvCxnSpPr>
          <p:nvPr/>
        </p:nvCxnSpPr>
        <p:spPr bwMode="auto">
          <a:xfrm rot="5400000">
            <a:off x="6695281" y="5323682"/>
            <a:ext cx="121602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29" name="Straight Connector 20"/>
          <p:cNvCxnSpPr>
            <a:cxnSpLocks noChangeShapeType="1"/>
          </p:cNvCxnSpPr>
          <p:nvPr/>
        </p:nvCxnSpPr>
        <p:spPr bwMode="auto">
          <a:xfrm rot="10800000">
            <a:off x="5762625" y="4716463"/>
            <a:ext cx="1539875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30" name="TextBox 21"/>
          <p:cNvSpPr txBox="1">
            <a:spLocks noChangeArrowheads="1"/>
          </p:cNvSpPr>
          <p:nvPr/>
        </p:nvSpPr>
        <p:spPr bwMode="auto">
          <a:xfrm>
            <a:off x="7107149" y="5928189"/>
            <a:ext cx="56764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/>
              <a:t>Y*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22"/>
              <p:cNvSpPr txBox="1">
                <a:spLocks noChangeArrowheads="1"/>
              </p:cNvSpPr>
              <p:nvPr/>
            </p:nvSpPr>
            <p:spPr bwMode="auto">
              <a:xfrm>
                <a:off x="5432425" y="4495800"/>
                <a:ext cx="410818" cy="3629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  <a:sym typeface="Symbol" pitchFamily="18" charset="2"/>
                      </a:rPr>
                      <m:t>𝜋</m:t>
                    </m:r>
                  </m:oMath>
                </a14:m>
                <a:r>
                  <a:rPr lang="en-US" baseline="-25000" dirty="0">
                    <a:sym typeface="Symbol" pitchFamily="18" charset="2"/>
                  </a:rPr>
                  <a:t>1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31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2425" y="4495800"/>
                <a:ext cx="410818" cy="362984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b="-2033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5916612" y="3494088"/>
            <a:ext cx="1893887" cy="2146300"/>
            <a:chOff x="5916712" y="3556358"/>
            <a:chExt cx="1893097" cy="2147651"/>
          </a:xfrm>
        </p:grpSpPr>
        <p:cxnSp>
          <p:nvCxnSpPr>
            <p:cNvPr id="34" name="Straight Connector 33"/>
            <p:cNvCxnSpPr/>
            <p:nvPr/>
          </p:nvCxnSpPr>
          <p:spPr bwMode="auto">
            <a:xfrm rot="5400000" flipH="1" flipV="1">
              <a:off x="5848210" y="3742409"/>
              <a:ext cx="2030102" cy="1893097"/>
            </a:xfrm>
            <a:prstGeom prst="line">
              <a:avLst/>
            </a:prstGeom>
            <a:ln>
              <a:solidFill>
                <a:srgbClr val="CC0099"/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11"/>
            <p:cNvSpPr txBox="1">
              <a:spLocks noChangeArrowheads="1"/>
            </p:cNvSpPr>
            <p:nvPr/>
          </p:nvSpPr>
          <p:spPr bwMode="auto">
            <a:xfrm>
              <a:off x="6843741" y="3556358"/>
              <a:ext cx="712197" cy="40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dirty="0"/>
                <a:t>AS</a:t>
              </a:r>
              <a:r>
                <a:rPr lang="en-US" sz="2000" baseline="-25000" dirty="0"/>
                <a:t>2</a:t>
              </a:r>
            </a:p>
          </p:txBody>
        </p:sp>
        <p:sp>
          <p:nvSpPr>
            <p:cNvPr id="36" name="Left Arrow 35"/>
            <p:cNvSpPr/>
            <p:nvPr/>
          </p:nvSpPr>
          <p:spPr bwMode="auto">
            <a:xfrm>
              <a:off x="7459125" y="4117330"/>
              <a:ext cx="236483" cy="220717"/>
            </a:xfrm>
            <a:prstGeom prst="lef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37" name="Straight Connector 36"/>
          <p:cNvCxnSpPr/>
          <p:nvPr/>
        </p:nvCxnSpPr>
        <p:spPr bwMode="auto">
          <a:xfrm rot="5400000" flipH="1" flipV="1">
            <a:off x="6133306" y="3929857"/>
            <a:ext cx="2028825" cy="1893888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32" name="TextBox 5"/>
          <p:cNvSpPr txBox="1">
            <a:spLocks noChangeArrowheads="1"/>
          </p:cNvSpPr>
          <p:nvPr/>
        </p:nvSpPr>
        <p:spPr bwMode="auto">
          <a:xfrm rot="-5400000">
            <a:off x="4455544" y="4171488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 idx="4294967295"/>
          </p:nvPr>
        </p:nvSpPr>
        <p:spPr>
          <a:xfrm>
            <a:off x="70156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Shifts in the AS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98500" y="1600200"/>
            <a:ext cx="7924800" cy="4648200"/>
          </a:xfrm>
        </p:spPr>
        <p:txBody>
          <a:bodyPr/>
          <a:lstStyle/>
          <a:p>
            <a:pPr eaLnBrk="1" hangingPunct="1"/>
            <a:r>
              <a:rPr lang="en-US" sz="2600" dirty="0"/>
              <a:t>Increasing available resources and technology will shift the AS curve to the right</a:t>
            </a:r>
          </a:p>
          <a:p>
            <a:pPr eaLnBrk="1" hangingPunct="1"/>
            <a:r>
              <a:rPr lang="en-US" sz="2600" dirty="0"/>
              <a:t>Supply more output without having to increase price</a:t>
            </a:r>
          </a:p>
          <a:p>
            <a:pPr eaLnBrk="1" hangingPunct="1"/>
            <a:r>
              <a:rPr lang="en-US" sz="2600" dirty="0"/>
              <a:t>Hire more labor, capital,</a:t>
            </a:r>
          </a:p>
          <a:p>
            <a:pPr eaLnBrk="1" hangingPunct="1">
              <a:buFontTx/>
              <a:buNone/>
            </a:pPr>
            <a:r>
              <a:rPr lang="en-US" sz="2600" dirty="0"/>
              <a:t>   	or natural resources</a:t>
            </a:r>
          </a:p>
          <a:p>
            <a:pPr eaLnBrk="1" hangingPunct="1"/>
            <a:r>
              <a:rPr lang="en-US" sz="2600" dirty="0"/>
              <a:t>Use existing labor and</a:t>
            </a:r>
          </a:p>
          <a:p>
            <a:pPr eaLnBrk="1" hangingPunct="1">
              <a:buFontTx/>
              <a:buNone/>
            </a:pPr>
            <a:r>
              <a:rPr lang="en-US" sz="2600" dirty="0"/>
              <a:t>   	machines more efficiently</a:t>
            </a:r>
          </a:p>
          <a:p>
            <a:pPr eaLnBrk="1" hangingPunct="1"/>
            <a:endParaRPr lang="en-US" sz="2600" dirty="0"/>
          </a:p>
        </p:txBody>
      </p:sp>
      <p:sp>
        <p:nvSpPr>
          <p:cNvPr id="24" name="Rectangle 23"/>
          <p:cNvSpPr/>
          <p:nvPr/>
        </p:nvSpPr>
        <p:spPr bwMode="auto">
          <a:xfrm>
            <a:off x="4961526" y="3332744"/>
            <a:ext cx="4051271" cy="310565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5043488" y="3402013"/>
            <a:ext cx="3887787" cy="2967037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TextBox 6"/>
          <p:cNvSpPr txBox="1">
            <a:spLocks noChangeArrowheads="1"/>
          </p:cNvSpPr>
          <p:nvPr/>
        </p:nvSpPr>
        <p:spPr bwMode="auto">
          <a:xfrm>
            <a:off x="7529513" y="5951538"/>
            <a:ext cx="13858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000" dirty="0"/>
              <a:t>Output Y</a:t>
            </a:r>
          </a:p>
        </p:txBody>
      </p:sp>
      <p:cxnSp>
        <p:nvCxnSpPr>
          <p:cNvPr id="28" name="Straight Connector 7"/>
          <p:cNvCxnSpPr>
            <a:cxnSpLocks noChangeShapeType="1"/>
          </p:cNvCxnSpPr>
          <p:nvPr/>
        </p:nvCxnSpPr>
        <p:spPr bwMode="auto">
          <a:xfrm rot="10800000">
            <a:off x="5797550" y="5930900"/>
            <a:ext cx="239712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9" name="Straight Connector 8"/>
          <p:cNvCxnSpPr>
            <a:cxnSpLocks noChangeShapeType="1"/>
          </p:cNvCxnSpPr>
          <p:nvPr/>
        </p:nvCxnSpPr>
        <p:spPr bwMode="auto">
          <a:xfrm rot="5400000">
            <a:off x="4814888" y="4959350"/>
            <a:ext cx="1963738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0" name="TextBox 13"/>
          <p:cNvSpPr txBox="1">
            <a:spLocks noChangeArrowheads="1"/>
          </p:cNvSpPr>
          <p:nvPr/>
        </p:nvSpPr>
        <p:spPr bwMode="auto">
          <a:xfrm>
            <a:off x="7878763" y="3930650"/>
            <a:ext cx="712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r>
              <a:rPr lang="en-US" sz="2000" baseline="-25000" dirty="0"/>
              <a:t>2</a:t>
            </a:r>
          </a:p>
        </p:txBody>
      </p:sp>
      <p:cxnSp>
        <p:nvCxnSpPr>
          <p:cNvPr id="31" name="Straight Connector 18"/>
          <p:cNvCxnSpPr>
            <a:cxnSpLocks noChangeShapeType="1"/>
          </p:cNvCxnSpPr>
          <p:nvPr/>
        </p:nvCxnSpPr>
        <p:spPr bwMode="auto">
          <a:xfrm rot="5400000">
            <a:off x="6695281" y="5323682"/>
            <a:ext cx="121602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32" name="Straight Connector 20"/>
          <p:cNvCxnSpPr>
            <a:cxnSpLocks noChangeShapeType="1"/>
          </p:cNvCxnSpPr>
          <p:nvPr/>
        </p:nvCxnSpPr>
        <p:spPr bwMode="auto">
          <a:xfrm rot="10800000">
            <a:off x="5762625" y="4716463"/>
            <a:ext cx="1539875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33" name="TextBox 21"/>
          <p:cNvSpPr txBox="1">
            <a:spLocks noChangeArrowheads="1"/>
          </p:cNvSpPr>
          <p:nvPr/>
        </p:nvSpPr>
        <p:spPr bwMode="auto">
          <a:xfrm>
            <a:off x="7086600" y="5943600"/>
            <a:ext cx="4507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sp>
        <p:nvSpPr>
          <p:cNvPr id="34" name="Up Arrow 33"/>
          <p:cNvSpPr/>
          <p:nvPr/>
        </p:nvSpPr>
        <p:spPr bwMode="auto">
          <a:xfrm rot="5400000">
            <a:off x="7345617" y="4049162"/>
            <a:ext cx="252934" cy="330630"/>
          </a:xfrm>
          <a:prstGeom prst="up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5862638" y="3546475"/>
            <a:ext cx="1893887" cy="2081213"/>
            <a:chOff x="5863821" y="3609299"/>
            <a:chExt cx="1893097" cy="2081474"/>
          </a:xfrm>
        </p:grpSpPr>
        <p:cxnSp>
          <p:nvCxnSpPr>
            <p:cNvPr id="36" name="Straight Connector 35"/>
            <p:cNvCxnSpPr/>
            <p:nvPr/>
          </p:nvCxnSpPr>
          <p:spPr bwMode="auto">
            <a:xfrm rot="5400000" flipH="1" flipV="1">
              <a:off x="5795830" y="3729685"/>
              <a:ext cx="2029079" cy="1893097"/>
            </a:xfrm>
            <a:prstGeom prst="line">
              <a:avLst/>
            </a:prstGeom>
            <a:ln>
              <a:solidFill>
                <a:srgbClr val="CC0099"/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11"/>
            <p:cNvSpPr txBox="1">
              <a:spLocks noChangeArrowheads="1"/>
            </p:cNvSpPr>
            <p:nvPr/>
          </p:nvSpPr>
          <p:spPr bwMode="auto">
            <a:xfrm>
              <a:off x="6764405" y="3609299"/>
              <a:ext cx="712197" cy="400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dirty="0"/>
                <a:t>AS</a:t>
              </a:r>
              <a:r>
                <a:rPr lang="en-US" sz="2000" baseline="-25000" dirty="0"/>
                <a:t>1</a:t>
              </a:r>
            </a:p>
          </p:txBody>
        </p:sp>
      </p:grpSp>
      <p:cxnSp>
        <p:nvCxnSpPr>
          <p:cNvPr id="38" name="Straight Connector 37"/>
          <p:cNvCxnSpPr/>
          <p:nvPr/>
        </p:nvCxnSpPr>
        <p:spPr bwMode="auto">
          <a:xfrm rot="5400000" flipH="1" flipV="1">
            <a:off x="6133306" y="3929857"/>
            <a:ext cx="2028825" cy="1893888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18"/>
          <p:cNvCxnSpPr>
            <a:cxnSpLocks noChangeShapeType="1"/>
          </p:cNvCxnSpPr>
          <p:nvPr/>
        </p:nvCxnSpPr>
        <p:spPr bwMode="auto">
          <a:xfrm rot="5400000">
            <a:off x="6133306" y="5317332"/>
            <a:ext cx="121602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40" name="TextBox 21"/>
          <p:cNvSpPr txBox="1">
            <a:spLocks noChangeArrowheads="1"/>
          </p:cNvSpPr>
          <p:nvPr/>
        </p:nvSpPr>
        <p:spPr bwMode="auto">
          <a:xfrm>
            <a:off x="6524625" y="5924550"/>
            <a:ext cx="4507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1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>
                <a:spLocks noChangeArrowheads="1"/>
              </p:cNvSpPr>
              <p:nvPr/>
            </p:nvSpPr>
            <p:spPr bwMode="auto">
              <a:xfrm>
                <a:off x="5432425" y="4495800"/>
                <a:ext cx="410818" cy="3629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  <a:sym typeface="Symbol" pitchFamily="18" charset="2"/>
                      </a:rPr>
                      <m:t>𝜋</m:t>
                    </m:r>
                  </m:oMath>
                </a14:m>
                <a:r>
                  <a:rPr lang="en-US" baseline="-25000" dirty="0">
                    <a:sym typeface="Symbol" pitchFamily="18" charset="2"/>
                  </a:rPr>
                  <a:t>1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2425" y="4495800"/>
                <a:ext cx="410818" cy="362984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b="-2033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23" name="TextBox 5"/>
          <p:cNvSpPr txBox="1">
            <a:spLocks noChangeArrowheads="1"/>
          </p:cNvSpPr>
          <p:nvPr/>
        </p:nvSpPr>
        <p:spPr bwMode="auto">
          <a:xfrm rot="-5400000">
            <a:off x="4465816" y="4418067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8229600" cy="1022350"/>
          </a:xfrm>
        </p:spPr>
        <p:txBody>
          <a:bodyPr/>
          <a:lstStyle/>
          <a:p>
            <a:r>
              <a:rPr lang="en-US" dirty="0"/>
              <a:t>Inflation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982" y="1519189"/>
            <a:ext cx="7924800" cy="5107641"/>
          </a:xfrm>
        </p:spPr>
        <p:txBody>
          <a:bodyPr/>
          <a:lstStyle/>
          <a:p>
            <a:r>
              <a:rPr lang="en-US" dirty="0"/>
              <a:t>If actual inflation exceeds expectations, expected inflation increases</a:t>
            </a:r>
          </a:p>
          <a:p>
            <a:pPr lvl="1"/>
            <a:r>
              <a:rPr lang="en-US" dirty="0"/>
              <a:t> AS curve shifts to the left</a:t>
            </a:r>
          </a:p>
          <a:p>
            <a:pPr lvl="1"/>
            <a:r>
              <a:rPr lang="en-US" dirty="0"/>
              <a:t>At each level of output, inflation is higher</a:t>
            </a:r>
          </a:p>
          <a:p>
            <a:pPr lvl="1"/>
            <a:r>
              <a:rPr lang="en-US" dirty="0"/>
              <a:t>AS curve shifts right if</a:t>
            </a:r>
          </a:p>
          <a:p>
            <a:pPr lvl="1">
              <a:buNone/>
            </a:pPr>
            <a:r>
              <a:rPr lang="en-US" dirty="0"/>
              <a:t>actual inflation is below</a:t>
            </a:r>
          </a:p>
          <a:p>
            <a:pPr lvl="1">
              <a:buNone/>
            </a:pPr>
            <a:r>
              <a:rPr lang="en-US" dirty="0"/>
              <a:t>expected inflation and </a:t>
            </a:r>
          </a:p>
          <a:p>
            <a:pPr lvl="1">
              <a:buNone/>
            </a:pPr>
            <a:r>
              <a:rPr lang="en-US" dirty="0"/>
              <a:t>Cause expected inflation </a:t>
            </a:r>
          </a:p>
          <a:p>
            <a:pPr lvl="1">
              <a:buNone/>
            </a:pPr>
            <a:r>
              <a:rPr lang="en-US" dirty="0"/>
              <a:t>To decrease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4961526" y="3332744"/>
            <a:ext cx="4051271" cy="310565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043488" y="3402013"/>
            <a:ext cx="3887787" cy="2967037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991" name="TextBox 5"/>
          <p:cNvSpPr txBox="1">
            <a:spLocks noChangeArrowheads="1"/>
          </p:cNvSpPr>
          <p:nvPr/>
        </p:nvSpPr>
        <p:spPr bwMode="auto">
          <a:xfrm rot="-5400000">
            <a:off x="4427537" y="4235451"/>
            <a:ext cx="16557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Inflation (</a:t>
            </a:r>
            <a:r>
              <a:rPr lang="en-US" sz="2400">
                <a:sym typeface="Symbol" pitchFamily="18" charset="2"/>
              </a:rPr>
              <a:t></a:t>
            </a:r>
            <a:r>
              <a:rPr lang="en-US" sz="2000">
                <a:sym typeface="Symbol" pitchFamily="18" charset="2"/>
              </a:rPr>
              <a:t>)</a:t>
            </a:r>
            <a:endParaRPr lang="en-US" sz="2000"/>
          </a:p>
        </p:txBody>
      </p:sp>
      <p:sp>
        <p:nvSpPr>
          <p:cNvPr id="41992" name="TextBox 6"/>
          <p:cNvSpPr txBox="1">
            <a:spLocks noChangeArrowheads="1"/>
          </p:cNvSpPr>
          <p:nvPr/>
        </p:nvSpPr>
        <p:spPr bwMode="auto">
          <a:xfrm>
            <a:off x="7529513" y="5951538"/>
            <a:ext cx="1385887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000"/>
              <a:t>Output (Y)</a:t>
            </a:r>
          </a:p>
        </p:txBody>
      </p:sp>
      <p:cxnSp>
        <p:nvCxnSpPr>
          <p:cNvPr id="41993" name="Straight Connector 7"/>
          <p:cNvCxnSpPr>
            <a:cxnSpLocks noChangeShapeType="1"/>
          </p:cNvCxnSpPr>
          <p:nvPr/>
        </p:nvCxnSpPr>
        <p:spPr bwMode="auto">
          <a:xfrm rot="10800000">
            <a:off x="5797550" y="5930900"/>
            <a:ext cx="239712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1994" name="Straight Connector 8"/>
          <p:cNvCxnSpPr>
            <a:cxnSpLocks noChangeShapeType="1"/>
          </p:cNvCxnSpPr>
          <p:nvPr/>
        </p:nvCxnSpPr>
        <p:spPr bwMode="auto">
          <a:xfrm rot="5400000">
            <a:off x="4814888" y="4959350"/>
            <a:ext cx="1963738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1995" name="TextBox 13"/>
          <p:cNvSpPr txBox="1">
            <a:spLocks noChangeArrowheads="1"/>
          </p:cNvSpPr>
          <p:nvPr/>
        </p:nvSpPr>
        <p:spPr bwMode="auto">
          <a:xfrm>
            <a:off x="7878763" y="3930650"/>
            <a:ext cx="712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r>
              <a:rPr lang="en-US" sz="2000" baseline="-25000" dirty="0"/>
              <a:t>1</a:t>
            </a:r>
          </a:p>
        </p:txBody>
      </p:sp>
      <p:cxnSp>
        <p:nvCxnSpPr>
          <p:cNvPr id="41996" name="Straight Connector 18"/>
          <p:cNvCxnSpPr>
            <a:cxnSpLocks noChangeShapeType="1"/>
          </p:cNvCxnSpPr>
          <p:nvPr/>
        </p:nvCxnSpPr>
        <p:spPr bwMode="auto">
          <a:xfrm rot="5400000">
            <a:off x="6695281" y="5323682"/>
            <a:ext cx="121602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41997" name="Straight Connector 20"/>
          <p:cNvCxnSpPr>
            <a:cxnSpLocks noChangeShapeType="1"/>
          </p:cNvCxnSpPr>
          <p:nvPr/>
        </p:nvCxnSpPr>
        <p:spPr bwMode="auto">
          <a:xfrm rot="10800000">
            <a:off x="5762625" y="4716463"/>
            <a:ext cx="1539875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41998" name="TextBox 21"/>
          <p:cNvSpPr txBox="1">
            <a:spLocks noChangeArrowheads="1"/>
          </p:cNvSpPr>
          <p:nvPr/>
        </p:nvSpPr>
        <p:spPr bwMode="auto">
          <a:xfrm>
            <a:off x="7086600" y="5943600"/>
            <a:ext cx="4555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Y*</a:t>
            </a:r>
          </a:p>
        </p:txBody>
      </p:sp>
      <p:sp>
        <p:nvSpPr>
          <p:cNvPr id="41999" name="TextBox 22"/>
          <p:cNvSpPr txBox="1">
            <a:spLocks noChangeArrowheads="1"/>
          </p:cNvSpPr>
          <p:nvPr/>
        </p:nvSpPr>
        <p:spPr bwMode="auto">
          <a:xfrm>
            <a:off x="5432425" y="4495800"/>
            <a:ext cx="4111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ym typeface="Symbol" pitchFamily="18" charset="2"/>
              </a:rPr>
              <a:t></a:t>
            </a:r>
            <a:r>
              <a:rPr lang="en-US" baseline="-25000">
                <a:sym typeface="Symbol" pitchFamily="18" charset="2"/>
              </a:rPr>
              <a:t>1</a:t>
            </a:r>
            <a:endParaRPr lang="en-US" baseline="-2500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5432425" y="4106863"/>
            <a:ext cx="1870075" cy="590550"/>
            <a:chOff x="5432261" y="4106780"/>
            <a:chExt cx="1870907" cy="591346"/>
          </a:xfrm>
        </p:grpSpPr>
        <p:cxnSp>
          <p:nvCxnSpPr>
            <p:cNvPr id="42009" name="Straight Connector 27"/>
            <p:cNvCxnSpPr>
              <a:cxnSpLocks noChangeShapeType="1"/>
            </p:cNvCxnSpPr>
            <p:nvPr/>
          </p:nvCxnSpPr>
          <p:spPr bwMode="auto">
            <a:xfrm rot="10800000">
              <a:off x="5763126" y="4331368"/>
              <a:ext cx="1540042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42010" name="TextBox 29"/>
            <p:cNvSpPr txBox="1">
              <a:spLocks noChangeArrowheads="1"/>
            </p:cNvSpPr>
            <p:nvPr/>
          </p:nvSpPr>
          <p:spPr bwMode="auto">
            <a:xfrm>
              <a:off x="5432261" y="4106780"/>
              <a:ext cx="41069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</a:t>
              </a:r>
              <a:r>
                <a:rPr lang="en-US" baseline="-25000">
                  <a:sym typeface="Symbol" pitchFamily="18" charset="2"/>
                </a:rPr>
                <a:t>2</a:t>
              </a:r>
              <a:endParaRPr lang="en-US" baseline="-25000"/>
            </a:p>
          </p:txBody>
        </p:sp>
        <p:sp>
          <p:nvSpPr>
            <p:cNvPr id="27" name="Up Arrow 26"/>
            <p:cNvSpPr/>
            <p:nvPr/>
          </p:nvSpPr>
          <p:spPr bwMode="auto">
            <a:xfrm>
              <a:off x="5943600" y="4367050"/>
              <a:ext cx="173421" cy="331076"/>
            </a:xfrm>
            <a:prstGeom prst="up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6048374" y="3427413"/>
            <a:ext cx="1957389" cy="2252663"/>
            <a:chOff x="6048938" y="3490184"/>
            <a:chExt cx="1956571" cy="2253528"/>
          </a:xfrm>
        </p:grpSpPr>
        <p:cxnSp>
          <p:nvCxnSpPr>
            <p:cNvPr id="42003" name="Straight Connector 24"/>
            <p:cNvCxnSpPr>
              <a:cxnSpLocks noChangeShapeType="1"/>
            </p:cNvCxnSpPr>
            <p:nvPr/>
          </p:nvCxnSpPr>
          <p:spPr bwMode="auto">
            <a:xfrm rot="5400000" flipH="1" flipV="1">
              <a:off x="7098610" y="4561045"/>
              <a:ext cx="409074" cy="1278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11" name="Straight Connector 10"/>
            <p:cNvCxnSpPr/>
            <p:nvPr/>
          </p:nvCxnSpPr>
          <p:spPr bwMode="auto">
            <a:xfrm rot="5400000" flipH="1" flipV="1">
              <a:off x="5980685" y="3782361"/>
              <a:ext cx="2029604" cy="1893097"/>
            </a:xfrm>
            <a:prstGeom prst="line">
              <a:avLst/>
            </a:prstGeom>
            <a:ln>
              <a:solidFill>
                <a:srgbClr val="CC0099"/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2005" name="TextBox 11"/>
            <p:cNvSpPr txBox="1">
              <a:spLocks noChangeArrowheads="1"/>
            </p:cNvSpPr>
            <p:nvPr/>
          </p:nvSpPr>
          <p:spPr bwMode="auto">
            <a:xfrm>
              <a:off x="7293312" y="3490184"/>
              <a:ext cx="712197" cy="400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dirty="0"/>
                <a:t>AS</a:t>
              </a:r>
              <a:r>
                <a:rPr lang="en-US" sz="2000" baseline="-25000" dirty="0"/>
                <a:t>2</a:t>
              </a:r>
            </a:p>
          </p:txBody>
        </p:sp>
        <p:sp>
          <p:nvSpPr>
            <p:cNvPr id="26" name="Left Arrow 25"/>
            <p:cNvSpPr/>
            <p:nvPr/>
          </p:nvSpPr>
          <p:spPr bwMode="auto">
            <a:xfrm>
              <a:off x="7551683" y="4130565"/>
              <a:ext cx="236483" cy="220717"/>
            </a:xfrm>
            <a:prstGeom prst="lef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13" name="Straight Connector 12"/>
          <p:cNvCxnSpPr/>
          <p:nvPr/>
        </p:nvCxnSpPr>
        <p:spPr bwMode="auto">
          <a:xfrm rot="5400000" flipH="1" flipV="1">
            <a:off x="6133306" y="3929857"/>
            <a:ext cx="2028825" cy="1893888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695325" y="0"/>
            <a:ext cx="8229600" cy="958850"/>
          </a:xfrm>
        </p:spPr>
        <p:txBody>
          <a:bodyPr/>
          <a:lstStyle/>
          <a:p>
            <a:r>
              <a:rPr lang="en-US"/>
              <a:t>Inflation Shock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>
          <a:xfrm>
            <a:off x="847725" y="855663"/>
            <a:ext cx="8296275" cy="5913437"/>
          </a:xfrm>
        </p:spPr>
        <p:txBody>
          <a:bodyPr/>
          <a:lstStyle/>
          <a:p>
            <a:r>
              <a:rPr lang="en-US" dirty="0"/>
              <a:t>An inflation shock is a sudden change in the normal behavior of inflation</a:t>
            </a:r>
          </a:p>
          <a:p>
            <a:pPr lvl="1"/>
            <a:r>
              <a:rPr lang="en-US" dirty="0"/>
              <a:t>A shock is not related to an output gap</a:t>
            </a:r>
          </a:p>
          <a:p>
            <a:r>
              <a:rPr lang="en-US" dirty="0"/>
              <a:t>A sudden rise in the price of oil increases prices of </a:t>
            </a:r>
          </a:p>
          <a:p>
            <a:pPr lvl="1"/>
            <a:r>
              <a:rPr lang="en-US" dirty="0"/>
              <a:t>Gasoline, diesel fuel, jet fuel, heating oil</a:t>
            </a:r>
          </a:p>
          <a:p>
            <a:pPr lvl="1"/>
            <a:r>
              <a:rPr lang="en-US" dirty="0"/>
              <a:t>Goods made with oil (synthetic rubber, plastics, etc.)</a:t>
            </a:r>
          </a:p>
          <a:p>
            <a:pPr lvl="1"/>
            <a:r>
              <a:rPr lang="en-US" dirty="0"/>
              <a:t>Transportation of most goods</a:t>
            </a:r>
          </a:p>
          <a:p>
            <a:r>
              <a:rPr lang="en-US" dirty="0"/>
              <a:t>OPEC reduced supplies in 1973; price of oil quadrupled</a:t>
            </a:r>
          </a:p>
          <a:p>
            <a:pPr lvl="1"/>
            <a:r>
              <a:rPr lang="en-US" dirty="0"/>
              <a:t>Sharp increase in inflation in 1974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Inflation Shocks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924800" cy="4648200"/>
          </a:xfrm>
        </p:spPr>
        <p:txBody>
          <a:bodyPr/>
          <a:lstStyle/>
          <a:p>
            <a:r>
              <a:rPr lang="en-US"/>
              <a:t>An adverse inflation shock shifts the aggregate supply curve to the left</a:t>
            </a:r>
          </a:p>
          <a:p>
            <a:pPr lvl="1"/>
            <a:r>
              <a:rPr lang="en-US"/>
              <a:t>Increases inflation at each output level</a:t>
            </a:r>
          </a:p>
          <a:p>
            <a:pPr lvl="1"/>
            <a:r>
              <a:rPr lang="en-US"/>
              <a:t>Oil price increases in 1973</a:t>
            </a:r>
          </a:p>
          <a:p>
            <a:r>
              <a:rPr lang="en-US"/>
              <a:t>A favorable inflation shock shifts the aggregate supply curve to the right</a:t>
            </a:r>
          </a:p>
          <a:p>
            <a:pPr lvl="1"/>
            <a:r>
              <a:rPr lang="en-US"/>
              <a:t>Lower inflation at each output level</a:t>
            </a:r>
          </a:p>
          <a:p>
            <a:pPr lvl="1"/>
            <a:r>
              <a:rPr lang="en-US"/>
              <a:t>Oil price decrease in 1986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Favourable</a:t>
            </a:r>
            <a:r>
              <a:rPr lang="en-US" dirty="0"/>
              <a:t> Demand Shock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35000" y="1600200"/>
            <a:ext cx="7924800" cy="4648200"/>
          </a:xfrm>
        </p:spPr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The economy is in long run equilibrium at </a:t>
            </a:r>
            <a:r>
              <a:rPr lang="en-US" dirty="0">
                <a:sym typeface="Symbol"/>
              </a:rPr>
              <a:t>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and Y*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Aggregate demand shifts from AD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to AD</a:t>
            </a:r>
            <a:r>
              <a:rPr lang="en-US" baseline="-25000" dirty="0">
                <a:sym typeface="Symbol" pitchFamily="18" charset="2"/>
              </a:rPr>
              <a:t>2</a:t>
            </a:r>
          </a:p>
          <a:p>
            <a:pPr lvl="2" eaLnBrk="1" hangingPunct="1"/>
            <a:r>
              <a:rPr lang="en-US" dirty="0">
                <a:sym typeface="Symbol" pitchFamily="18" charset="2"/>
              </a:rPr>
              <a:t>Positive demand shock</a:t>
            </a:r>
          </a:p>
          <a:p>
            <a:pPr lvl="2" eaLnBrk="1" hangingPunct="1"/>
            <a:r>
              <a:rPr lang="en-US" dirty="0">
                <a:sym typeface="Symbol" pitchFamily="18" charset="2"/>
              </a:rPr>
              <a:t>Increase in government</a:t>
            </a:r>
          </a:p>
          <a:p>
            <a:pPr lvl="2" eaLnBrk="1" hangingPunct="1">
              <a:buFontTx/>
              <a:buNone/>
            </a:pPr>
            <a:r>
              <a:rPr lang="en-US" baseline="-25000" dirty="0">
                <a:sym typeface="Symbol" pitchFamily="18" charset="2"/>
              </a:rPr>
              <a:t>    </a:t>
            </a:r>
            <a:r>
              <a:rPr lang="en-US" dirty="0">
                <a:sym typeface="Symbol" pitchFamily="18" charset="2"/>
              </a:rPr>
              <a:t>spending</a:t>
            </a:r>
          </a:p>
          <a:p>
            <a:pPr lvl="2" eaLnBrk="1" hangingPunct="1"/>
            <a:r>
              <a:rPr lang="en-US" dirty="0">
                <a:sym typeface="Symbol" pitchFamily="18" charset="2"/>
              </a:rPr>
              <a:t>Decrease in taxes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Expansionary gap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5019172" y="3208698"/>
            <a:ext cx="4039325" cy="3200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100638" y="3279775"/>
            <a:ext cx="3875087" cy="30575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TextBox 6"/>
          <p:cNvSpPr txBox="1">
            <a:spLocks noChangeArrowheads="1"/>
          </p:cNvSpPr>
          <p:nvPr/>
        </p:nvSpPr>
        <p:spPr bwMode="auto">
          <a:xfrm>
            <a:off x="7710488" y="5883275"/>
            <a:ext cx="13747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Output (Y)</a:t>
            </a:r>
          </a:p>
        </p:txBody>
      </p:sp>
      <p:cxnSp>
        <p:nvCxnSpPr>
          <p:cNvPr id="33" name="Straight Connector 7"/>
          <p:cNvCxnSpPr>
            <a:cxnSpLocks noChangeShapeType="1"/>
          </p:cNvCxnSpPr>
          <p:nvPr/>
        </p:nvCxnSpPr>
        <p:spPr bwMode="auto">
          <a:xfrm rot="10800000">
            <a:off x="5862638" y="5886450"/>
            <a:ext cx="238918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4" name="Straight Connector 8"/>
          <p:cNvCxnSpPr>
            <a:cxnSpLocks noChangeShapeType="1"/>
          </p:cNvCxnSpPr>
          <p:nvPr/>
        </p:nvCxnSpPr>
        <p:spPr bwMode="auto">
          <a:xfrm rot="5400000">
            <a:off x="4605338" y="4632325"/>
            <a:ext cx="2520950" cy="952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" name="Straight Connector 34"/>
          <p:cNvCxnSpPr/>
          <p:nvPr/>
        </p:nvCxnSpPr>
        <p:spPr bwMode="auto">
          <a:xfrm>
            <a:off x="6057900" y="4013200"/>
            <a:ext cx="1841500" cy="1735138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TextBox 10"/>
          <p:cNvSpPr txBox="1">
            <a:spLocks noChangeArrowheads="1"/>
          </p:cNvSpPr>
          <p:nvPr/>
        </p:nvSpPr>
        <p:spPr bwMode="auto">
          <a:xfrm>
            <a:off x="7874000" y="5527675"/>
            <a:ext cx="7460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AD</a:t>
            </a:r>
            <a:r>
              <a:rPr lang="en-US" sz="2000" baseline="-25000" dirty="0"/>
              <a:t>1</a:t>
            </a:r>
          </a:p>
        </p:txBody>
      </p:sp>
      <p:sp>
        <p:nvSpPr>
          <p:cNvPr id="37" name="TextBox 11"/>
          <p:cNvSpPr txBox="1">
            <a:spLocks noChangeArrowheads="1"/>
          </p:cNvSpPr>
          <p:nvPr/>
        </p:nvSpPr>
        <p:spPr bwMode="auto">
          <a:xfrm>
            <a:off x="7478713" y="3851275"/>
            <a:ext cx="6588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r>
              <a:rPr lang="en-US" sz="2000" baseline="-25000" dirty="0"/>
              <a:t>1</a:t>
            </a:r>
          </a:p>
        </p:txBody>
      </p:sp>
      <p:sp>
        <p:nvSpPr>
          <p:cNvPr id="38" name="TextBox 12"/>
          <p:cNvSpPr txBox="1">
            <a:spLocks noChangeArrowheads="1"/>
          </p:cNvSpPr>
          <p:nvPr/>
        </p:nvSpPr>
        <p:spPr bwMode="auto">
          <a:xfrm>
            <a:off x="6650038" y="5821363"/>
            <a:ext cx="4683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Y*</a:t>
            </a:r>
          </a:p>
        </p:txBody>
      </p:sp>
      <p:cxnSp>
        <p:nvCxnSpPr>
          <p:cNvPr id="39" name="Straight Connector 38"/>
          <p:cNvCxnSpPr/>
          <p:nvPr/>
        </p:nvCxnSpPr>
        <p:spPr bwMode="auto">
          <a:xfrm rot="5400000">
            <a:off x="5722938" y="4724400"/>
            <a:ext cx="2309812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27"/>
          <p:cNvCxnSpPr>
            <a:cxnSpLocks noChangeShapeType="1"/>
          </p:cNvCxnSpPr>
          <p:nvPr/>
        </p:nvCxnSpPr>
        <p:spPr bwMode="auto">
          <a:xfrm rot="10800000">
            <a:off x="5859463" y="4806950"/>
            <a:ext cx="103187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653213" y="3671886"/>
            <a:ext cx="2308225" cy="1770720"/>
            <a:chOff x="6615285" y="3687408"/>
            <a:chExt cx="2308505" cy="1770921"/>
          </a:xfrm>
        </p:grpSpPr>
        <p:cxnSp>
          <p:nvCxnSpPr>
            <p:cNvPr id="42" name="Straight Connector 41"/>
            <p:cNvCxnSpPr/>
            <p:nvPr/>
          </p:nvCxnSpPr>
          <p:spPr bwMode="auto">
            <a:xfrm>
              <a:off x="6615285" y="3687408"/>
              <a:ext cx="1841723" cy="1736922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TextBox 31"/>
            <p:cNvSpPr txBox="1">
              <a:spLocks noChangeArrowheads="1"/>
            </p:cNvSpPr>
            <p:nvPr/>
          </p:nvSpPr>
          <p:spPr bwMode="auto">
            <a:xfrm>
              <a:off x="8232965" y="5058174"/>
              <a:ext cx="690825" cy="400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/>
                <a:t>AD</a:t>
              </a:r>
              <a:r>
                <a:rPr lang="en-US" sz="2000" baseline="-25000" dirty="0"/>
                <a:t>2</a:t>
              </a:r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5478463" y="4052882"/>
            <a:ext cx="1819275" cy="392993"/>
            <a:chOff x="5440922" y="4069062"/>
            <a:chExt cx="1819405" cy="392152"/>
          </a:xfrm>
        </p:grpSpPr>
        <p:cxnSp>
          <p:nvCxnSpPr>
            <p:cNvPr id="45" name="Straight Connector 37"/>
            <p:cNvCxnSpPr>
              <a:cxnSpLocks noChangeShapeType="1"/>
            </p:cNvCxnSpPr>
            <p:nvPr/>
          </p:nvCxnSpPr>
          <p:spPr bwMode="auto">
            <a:xfrm rot="10800000">
              <a:off x="5832791" y="4295284"/>
              <a:ext cx="1427536" cy="1203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3"/>
                <p:cNvSpPr txBox="1">
                  <a:spLocks noChangeArrowheads="1"/>
                </p:cNvSpPr>
                <p:nvPr/>
              </p:nvSpPr>
              <p:spPr bwMode="auto">
                <a:xfrm>
                  <a:off x="5440922" y="4069062"/>
                  <a:ext cx="467847" cy="3921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𝜋</m:t>
                      </m:r>
                    </m:oMath>
                  </a14:m>
                  <a:r>
                    <a:rPr lang="en-US" sz="2000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60442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40922" y="4069062"/>
                  <a:ext cx="467847" cy="392152"/>
                </a:xfrm>
                <a:prstGeom prst="rect">
                  <a:avLst/>
                </a:prstGeom>
                <a:blipFill rotWithShape="1">
                  <a:blip r:embed="rId3" cstate="print"/>
                  <a:stretch>
                    <a:fillRect r="-3896" b="-2656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7150100" y="4279900"/>
            <a:ext cx="468313" cy="1941513"/>
            <a:chOff x="7112377" y="4296077"/>
            <a:chExt cx="467847" cy="1941731"/>
          </a:xfrm>
        </p:grpSpPr>
        <p:sp>
          <p:nvSpPr>
            <p:cNvPr id="48" name="TextBox 42"/>
            <p:cNvSpPr txBox="1">
              <a:spLocks noChangeArrowheads="1"/>
            </p:cNvSpPr>
            <p:nvPr/>
          </p:nvSpPr>
          <p:spPr bwMode="auto">
            <a:xfrm>
              <a:off x="7112377" y="5837698"/>
              <a:ext cx="46784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Y</a:t>
              </a:r>
              <a:r>
                <a:rPr lang="en-US" sz="2000" baseline="-25000"/>
                <a:t>2</a:t>
              </a:r>
            </a:p>
          </p:txBody>
        </p:sp>
        <p:cxnSp>
          <p:nvCxnSpPr>
            <p:cNvPr id="49" name="Straight Connector 47"/>
            <p:cNvCxnSpPr>
              <a:cxnSpLocks noChangeShapeType="1"/>
            </p:cNvCxnSpPr>
            <p:nvPr/>
          </p:nvCxnSpPr>
          <p:spPr bwMode="auto">
            <a:xfrm rot="5400000">
              <a:off x="6494252" y="5083354"/>
              <a:ext cx="1576137" cy="158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cxnSp>
        <p:nvCxnSpPr>
          <p:cNvPr id="50" name="Straight Connector 49"/>
          <p:cNvCxnSpPr/>
          <p:nvPr/>
        </p:nvCxnSpPr>
        <p:spPr bwMode="auto">
          <a:xfrm rot="5400000" flipH="1" flipV="1">
            <a:off x="5976938" y="4130675"/>
            <a:ext cx="1698625" cy="1425575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22"/>
              <p:cNvSpPr txBox="1">
                <a:spLocks noChangeArrowheads="1"/>
              </p:cNvSpPr>
              <p:nvPr/>
            </p:nvSpPr>
            <p:spPr bwMode="auto">
              <a:xfrm>
                <a:off x="5506961" y="4627406"/>
                <a:ext cx="410818" cy="3629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  <a:sym typeface="Symbol" pitchFamily="18" charset="2"/>
                      </a:rPr>
                      <m:t>𝜋</m:t>
                    </m:r>
                  </m:oMath>
                </a14:m>
                <a:r>
                  <a:rPr lang="en-US" baseline="-25000" dirty="0">
                    <a:sym typeface="Symbol" pitchFamily="18" charset="2"/>
                  </a:rPr>
                  <a:t>1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51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6961" y="4627406"/>
                <a:ext cx="410818" cy="36298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b="-20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31" name="TextBox 5"/>
          <p:cNvSpPr txBox="1">
            <a:spLocks noChangeArrowheads="1"/>
          </p:cNvSpPr>
          <p:nvPr/>
        </p:nvSpPr>
        <p:spPr bwMode="auto">
          <a:xfrm rot="-5400000">
            <a:off x="4476090" y="4305051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Adverse Demand Shock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98500" y="1600200"/>
            <a:ext cx="7924800" cy="4648200"/>
          </a:xfrm>
        </p:spPr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The economy is in long run equilibrium at </a:t>
            </a:r>
            <a:r>
              <a:rPr lang="en-US" dirty="0">
                <a:sym typeface="Symbol"/>
              </a:rPr>
              <a:t>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and Y*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Aggregate demand shifts from AD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to AD</a:t>
            </a:r>
            <a:r>
              <a:rPr lang="en-US" baseline="-25000" dirty="0">
                <a:sym typeface="Symbol" pitchFamily="18" charset="2"/>
              </a:rPr>
              <a:t>2</a:t>
            </a:r>
          </a:p>
          <a:p>
            <a:pPr lvl="2" eaLnBrk="1" hangingPunct="1"/>
            <a:r>
              <a:rPr lang="en-US" sz="2200" dirty="0">
                <a:sym typeface="Symbol" pitchFamily="18" charset="2"/>
              </a:rPr>
              <a:t>Negative demand shock</a:t>
            </a:r>
          </a:p>
          <a:p>
            <a:pPr lvl="2" eaLnBrk="1" hangingPunct="1"/>
            <a:r>
              <a:rPr lang="en-US" sz="2200" dirty="0">
                <a:sym typeface="Symbol" pitchFamily="18" charset="2"/>
              </a:rPr>
              <a:t>Decrease in government</a:t>
            </a:r>
          </a:p>
          <a:p>
            <a:pPr lvl="2" eaLnBrk="1" hangingPunct="1">
              <a:buFontTx/>
              <a:buNone/>
            </a:pPr>
            <a:r>
              <a:rPr lang="en-US" sz="2200" baseline="-25000" dirty="0">
                <a:sym typeface="Symbol" pitchFamily="18" charset="2"/>
              </a:rPr>
              <a:t>    </a:t>
            </a:r>
            <a:r>
              <a:rPr lang="en-US" sz="2200" dirty="0">
                <a:sym typeface="Symbol" pitchFamily="18" charset="2"/>
              </a:rPr>
              <a:t>spending</a:t>
            </a:r>
          </a:p>
          <a:p>
            <a:pPr lvl="2" eaLnBrk="1" hangingPunct="1"/>
            <a:r>
              <a:rPr lang="en-US" sz="2200" dirty="0">
                <a:sym typeface="Symbol" pitchFamily="18" charset="2"/>
              </a:rPr>
              <a:t>Increase in taxes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Recessionary gap</a:t>
            </a:r>
          </a:p>
          <a:p>
            <a:pPr lvl="1" eaLnBrk="1" hangingPunct="1">
              <a:buFontTx/>
              <a:buNone/>
            </a:pPr>
            <a:endParaRPr lang="en-US" dirty="0">
              <a:sym typeface="Symbol" pitchFamily="18" charset="2"/>
            </a:endParaRPr>
          </a:p>
          <a:p>
            <a:pPr eaLnBrk="1" hangingPunct="1"/>
            <a:endParaRPr lang="en-US" dirty="0">
              <a:sym typeface="Symbol" pitchFamily="18" charset="2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5079607" y="3284013"/>
            <a:ext cx="3942159" cy="312672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5149850" y="3341688"/>
            <a:ext cx="3787775" cy="299561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TextBox 6"/>
          <p:cNvSpPr txBox="1">
            <a:spLocks noChangeArrowheads="1"/>
          </p:cNvSpPr>
          <p:nvPr/>
        </p:nvSpPr>
        <p:spPr bwMode="auto">
          <a:xfrm>
            <a:off x="7672388" y="5883275"/>
            <a:ext cx="13747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Output (Y)</a:t>
            </a:r>
          </a:p>
        </p:txBody>
      </p:sp>
      <p:cxnSp>
        <p:nvCxnSpPr>
          <p:cNvPr id="33" name="Straight Connector 7"/>
          <p:cNvCxnSpPr>
            <a:cxnSpLocks noChangeShapeType="1"/>
          </p:cNvCxnSpPr>
          <p:nvPr/>
        </p:nvCxnSpPr>
        <p:spPr bwMode="auto">
          <a:xfrm rot="10800000">
            <a:off x="5824538" y="5886450"/>
            <a:ext cx="238918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4" name="Straight Connector 8"/>
          <p:cNvCxnSpPr>
            <a:cxnSpLocks noChangeShapeType="1"/>
          </p:cNvCxnSpPr>
          <p:nvPr/>
        </p:nvCxnSpPr>
        <p:spPr bwMode="auto">
          <a:xfrm rot="5400000">
            <a:off x="4567238" y="4632325"/>
            <a:ext cx="2520950" cy="952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" name="Straight Connector 34"/>
          <p:cNvCxnSpPr/>
          <p:nvPr/>
        </p:nvCxnSpPr>
        <p:spPr bwMode="auto">
          <a:xfrm>
            <a:off x="6019800" y="3589338"/>
            <a:ext cx="1841500" cy="1735137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TextBox 10"/>
          <p:cNvSpPr txBox="1">
            <a:spLocks noChangeArrowheads="1"/>
          </p:cNvSpPr>
          <p:nvPr/>
        </p:nvSpPr>
        <p:spPr bwMode="auto">
          <a:xfrm>
            <a:off x="7981950" y="5157788"/>
            <a:ext cx="67916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AD</a:t>
            </a:r>
            <a:r>
              <a:rPr lang="en-US" sz="2000" baseline="-25000" dirty="0"/>
              <a:t>1</a:t>
            </a:r>
          </a:p>
        </p:txBody>
      </p:sp>
      <p:sp>
        <p:nvSpPr>
          <p:cNvPr id="37" name="TextBox 11"/>
          <p:cNvSpPr txBox="1">
            <a:spLocks noChangeArrowheads="1"/>
          </p:cNvSpPr>
          <p:nvPr/>
        </p:nvSpPr>
        <p:spPr bwMode="auto">
          <a:xfrm>
            <a:off x="7493000" y="3494088"/>
            <a:ext cx="6588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r>
              <a:rPr lang="en-US" sz="2000" baseline="-25000" dirty="0"/>
              <a:t>1</a:t>
            </a:r>
          </a:p>
        </p:txBody>
      </p:sp>
      <p:sp>
        <p:nvSpPr>
          <p:cNvPr id="38" name="TextBox 12"/>
          <p:cNvSpPr txBox="1">
            <a:spLocks noChangeArrowheads="1"/>
          </p:cNvSpPr>
          <p:nvPr/>
        </p:nvSpPr>
        <p:spPr bwMode="auto">
          <a:xfrm>
            <a:off x="6810375" y="5861050"/>
            <a:ext cx="4683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Y*</a:t>
            </a:r>
          </a:p>
        </p:txBody>
      </p:sp>
      <p:cxnSp>
        <p:nvCxnSpPr>
          <p:cNvPr id="39" name="Straight Connector 38"/>
          <p:cNvCxnSpPr/>
          <p:nvPr/>
        </p:nvCxnSpPr>
        <p:spPr bwMode="auto">
          <a:xfrm rot="5400000">
            <a:off x="5684838" y="4724400"/>
            <a:ext cx="2309812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27"/>
          <p:cNvCxnSpPr>
            <a:cxnSpLocks noChangeShapeType="1"/>
          </p:cNvCxnSpPr>
          <p:nvPr/>
        </p:nvCxnSpPr>
        <p:spPr bwMode="auto">
          <a:xfrm rot="10800000">
            <a:off x="5821363" y="4383088"/>
            <a:ext cx="1031875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5953125" y="4298952"/>
            <a:ext cx="2030413" cy="1553186"/>
            <a:chOff x="6204151" y="4209429"/>
            <a:chExt cx="2031687" cy="1553168"/>
          </a:xfrm>
        </p:grpSpPr>
        <p:cxnSp>
          <p:nvCxnSpPr>
            <p:cNvPr id="42" name="Straight Connector 41"/>
            <p:cNvCxnSpPr/>
            <p:nvPr/>
          </p:nvCxnSpPr>
          <p:spPr bwMode="auto">
            <a:xfrm>
              <a:off x="6204151" y="4209429"/>
              <a:ext cx="1405820" cy="1333485"/>
            </a:xfrm>
            <a:prstGeom prst="line">
              <a:avLst/>
            </a:prstGeom>
            <a:ln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TextBox 31"/>
            <p:cNvSpPr txBox="1">
              <a:spLocks noChangeArrowheads="1"/>
            </p:cNvSpPr>
            <p:nvPr/>
          </p:nvSpPr>
          <p:spPr bwMode="auto">
            <a:xfrm>
              <a:off x="7525958" y="5362492"/>
              <a:ext cx="709880" cy="400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/>
                <a:t>AD</a:t>
              </a:r>
              <a:r>
                <a:rPr lang="en-US" sz="2000" baseline="-25000" dirty="0"/>
                <a:t>2</a:t>
              </a:r>
            </a:p>
          </p:txBody>
        </p:sp>
      </p:grpSp>
      <p:cxnSp>
        <p:nvCxnSpPr>
          <p:cNvPr id="44" name="Straight Connector 37"/>
          <p:cNvCxnSpPr>
            <a:cxnSpLocks noChangeShapeType="1"/>
          </p:cNvCxnSpPr>
          <p:nvPr/>
        </p:nvCxnSpPr>
        <p:spPr bwMode="auto">
          <a:xfrm rot="10800000">
            <a:off x="5767917" y="4802601"/>
            <a:ext cx="740833" cy="13193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6305550" y="4921250"/>
            <a:ext cx="468313" cy="1327150"/>
            <a:chOff x="6306259" y="4937738"/>
            <a:chExt cx="467847" cy="1326530"/>
          </a:xfrm>
        </p:grpSpPr>
        <p:sp>
          <p:nvSpPr>
            <p:cNvPr id="46" name="TextBox 42"/>
            <p:cNvSpPr txBox="1">
              <a:spLocks noChangeArrowheads="1"/>
            </p:cNvSpPr>
            <p:nvPr/>
          </p:nvSpPr>
          <p:spPr bwMode="auto">
            <a:xfrm>
              <a:off x="6306259" y="5864158"/>
              <a:ext cx="46784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Y</a:t>
              </a:r>
              <a:r>
                <a:rPr lang="en-US" sz="2000" baseline="-25000"/>
                <a:t>2</a:t>
              </a:r>
            </a:p>
          </p:txBody>
        </p:sp>
        <p:cxnSp>
          <p:nvCxnSpPr>
            <p:cNvPr id="47" name="Straight Connector 47"/>
            <p:cNvCxnSpPr>
              <a:cxnSpLocks noChangeShapeType="1"/>
            </p:cNvCxnSpPr>
            <p:nvPr/>
          </p:nvCxnSpPr>
          <p:spPr bwMode="auto">
            <a:xfrm rot="16200000" flipH="1">
              <a:off x="6039541" y="5407455"/>
              <a:ext cx="952650" cy="1321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cxnSp>
        <p:nvCxnSpPr>
          <p:cNvPr id="48" name="Straight Connector 47"/>
          <p:cNvCxnSpPr/>
          <p:nvPr/>
        </p:nvCxnSpPr>
        <p:spPr bwMode="auto">
          <a:xfrm rot="5400000" flipH="1" flipV="1">
            <a:off x="5859463" y="3865563"/>
            <a:ext cx="1698625" cy="1425575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22"/>
              <p:cNvSpPr txBox="1">
                <a:spLocks noChangeArrowheads="1"/>
              </p:cNvSpPr>
              <p:nvPr/>
            </p:nvSpPr>
            <p:spPr bwMode="auto">
              <a:xfrm>
                <a:off x="5471242" y="4180816"/>
                <a:ext cx="410818" cy="3629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  <a:sym typeface="Symbol" pitchFamily="18" charset="2"/>
                      </a:rPr>
                      <m:t>𝜋</m:t>
                    </m:r>
                  </m:oMath>
                </a14:m>
                <a:r>
                  <a:rPr lang="en-US" baseline="-25000" dirty="0">
                    <a:sym typeface="Symbol" pitchFamily="18" charset="2"/>
                  </a:rPr>
                  <a:t>1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49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71242" y="4180816"/>
                <a:ext cx="410818" cy="362984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b="-2203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3"/>
              <p:cNvSpPr txBox="1">
                <a:spLocks noChangeArrowheads="1"/>
              </p:cNvSpPr>
              <p:nvPr/>
            </p:nvSpPr>
            <p:spPr bwMode="auto">
              <a:xfrm>
                <a:off x="5417655" y="4528256"/>
                <a:ext cx="436935" cy="3929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sz="2000" baseline="-25000" dirty="0"/>
                  <a:t>2</a:t>
                </a:r>
              </a:p>
            </p:txBody>
          </p:sp>
        </mc:Choice>
        <mc:Fallback xmlns="">
          <p:sp>
            <p:nvSpPr>
              <p:cNvPr id="50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7655" y="4528256"/>
                <a:ext cx="436935" cy="392993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r="-4225" b="-265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29" name="TextBox 5"/>
          <p:cNvSpPr txBox="1">
            <a:spLocks noChangeArrowheads="1"/>
          </p:cNvSpPr>
          <p:nvPr/>
        </p:nvSpPr>
        <p:spPr bwMode="auto">
          <a:xfrm rot="-5400000">
            <a:off x="4486366" y="4438616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Favourable</a:t>
            </a:r>
            <a:r>
              <a:rPr lang="en-US" dirty="0"/>
              <a:t> Supply Shock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73099" y="1600200"/>
            <a:ext cx="8121579" cy="4648200"/>
          </a:xfrm>
        </p:spPr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The economy is in long run equilibrium at </a:t>
            </a:r>
            <a:r>
              <a:rPr lang="en-US" dirty="0">
                <a:sym typeface="Symbol"/>
              </a:rPr>
              <a:t>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and Y*</a:t>
            </a:r>
            <a:endParaRPr lang="en-US" baseline="-25000" dirty="0">
              <a:sym typeface="Symbol" pitchFamily="18" charset="2"/>
            </a:endParaRPr>
          </a:p>
          <a:p>
            <a:pPr lvl="1" eaLnBrk="1" hangingPunct="1"/>
            <a:r>
              <a:rPr lang="en-US" dirty="0">
                <a:sym typeface="Symbol" pitchFamily="18" charset="2"/>
              </a:rPr>
              <a:t>AS shifts from AS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to AS</a:t>
            </a:r>
            <a:r>
              <a:rPr lang="en-US" baseline="-25000" dirty="0">
                <a:sym typeface="Symbol" pitchFamily="18" charset="2"/>
              </a:rPr>
              <a:t>2</a:t>
            </a:r>
            <a:endParaRPr lang="en-US" dirty="0">
              <a:sym typeface="Symbol" pitchFamily="18" charset="2"/>
            </a:endParaRPr>
          </a:p>
          <a:p>
            <a:pPr eaLnBrk="1" hangingPunct="1"/>
            <a:r>
              <a:rPr lang="en-US" dirty="0" err="1">
                <a:sym typeface="Symbol" pitchFamily="18" charset="2"/>
              </a:rPr>
              <a:t>Favourable</a:t>
            </a:r>
            <a:r>
              <a:rPr lang="en-US" dirty="0">
                <a:sym typeface="Symbol" pitchFamily="18" charset="2"/>
              </a:rPr>
              <a:t> supply shock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Resource price drops</a:t>
            </a:r>
          </a:p>
          <a:p>
            <a:pPr eaLnBrk="1" hangingPunct="1"/>
            <a:r>
              <a:rPr lang="en-US" dirty="0">
                <a:sym typeface="Symbol" pitchFamily="18" charset="2"/>
              </a:rPr>
              <a:t>Expansionary gap </a:t>
            </a:r>
          </a:p>
          <a:p>
            <a:pPr eaLnBrk="1" hangingPunct="1"/>
            <a:endParaRPr lang="en-US" dirty="0"/>
          </a:p>
        </p:txBody>
      </p:sp>
      <p:sp>
        <p:nvSpPr>
          <p:cNvPr id="28" name="Rectangle 27"/>
          <p:cNvSpPr/>
          <p:nvPr/>
        </p:nvSpPr>
        <p:spPr bwMode="auto">
          <a:xfrm>
            <a:off x="5007146" y="3049792"/>
            <a:ext cx="4051271" cy="3200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5089525" y="3121025"/>
            <a:ext cx="3886200" cy="30575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TextBox 22"/>
          <p:cNvSpPr txBox="1">
            <a:spLocks noChangeArrowheads="1"/>
          </p:cNvSpPr>
          <p:nvPr/>
        </p:nvSpPr>
        <p:spPr bwMode="auto">
          <a:xfrm>
            <a:off x="7707313" y="5724525"/>
            <a:ext cx="13779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Output Y</a:t>
            </a:r>
          </a:p>
        </p:txBody>
      </p:sp>
      <p:cxnSp>
        <p:nvCxnSpPr>
          <p:cNvPr id="38" name="Straight Connector 23"/>
          <p:cNvCxnSpPr>
            <a:cxnSpLocks noChangeShapeType="1"/>
          </p:cNvCxnSpPr>
          <p:nvPr/>
        </p:nvCxnSpPr>
        <p:spPr bwMode="auto">
          <a:xfrm rot="10800000">
            <a:off x="5853113" y="5727700"/>
            <a:ext cx="239553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1" name="Straight Connector 24"/>
          <p:cNvCxnSpPr>
            <a:cxnSpLocks noChangeShapeType="1"/>
          </p:cNvCxnSpPr>
          <p:nvPr/>
        </p:nvCxnSpPr>
        <p:spPr bwMode="auto">
          <a:xfrm rot="5400000">
            <a:off x="4840287" y="4725988"/>
            <a:ext cx="2024063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2" name="Straight Connector 41"/>
          <p:cNvCxnSpPr/>
          <p:nvPr/>
        </p:nvCxnSpPr>
        <p:spPr bwMode="auto">
          <a:xfrm>
            <a:off x="6048375" y="3852863"/>
            <a:ext cx="1847850" cy="1736725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TextBox 27"/>
          <p:cNvSpPr txBox="1">
            <a:spLocks noChangeArrowheads="1"/>
          </p:cNvSpPr>
          <p:nvPr/>
        </p:nvSpPr>
        <p:spPr bwMode="auto">
          <a:xfrm>
            <a:off x="7834313" y="5211763"/>
            <a:ext cx="541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AD</a:t>
            </a:r>
          </a:p>
        </p:txBody>
      </p:sp>
      <p:sp>
        <p:nvSpPr>
          <p:cNvPr id="44" name="TextBox 30"/>
          <p:cNvSpPr txBox="1">
            <a:spLocks noChangeArrowheads="1"/>
          </p:cNvSpPr>
          <p:nvPr/>
        </p:nvSpPr>
        <p:spPr bwMode="auto">
          <a:xfrm>
            <a:off x="7249935" y="3432550"/>
            <a:ext cx="661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r>
              <a:rPr lang="en-US" sz="2000" baseline="-25000" dirty="0"/>
              <a:t>1</a:t>
            </a:r>
          </a:p>
        </p:txBody>
      </p:sp>
      <p:sp>
        <p:nvSpPr>
          <p:cNvPr id="45" name="TextBox 33"/>
          <p:cNvSpPr txBox="1">
            <a:spLocks noChangeArrowheads="1"/>
          </p:cNvSpPr>
          <p:nvPr/>
        </p:nvSpPr>
        <p:spPr bwMode="auto">
          <a:xfrm>
            <a:off x="7106025" y="5732195"/>
            <a:ext cx="4683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cxnSp>
        <p:nvCxnSpPr>
          <p:cNvPr id="46" name="Straight Connector 45"/>
          <p:cNvCxnSpPr/>
          <p:nvPr/>
        </p:nvCxnSpPr>
        <p:spPr bwMode="auto">
          <a:xfrm rot="5400000">
            <a:off x="5699499" y="4533990"/>
            <a:ext cx="2309813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4"/>
          <p:cNvCxnSpPr>
            <a:cxnSpLocks noChangeShapeType="1"/>
          </p:cNvCxnSpPr>
          <p:nvPr/>
        </p:nvCxnSpPr>
        <p:spPr bwMode="auto">
          <a:xfrm rot="5400000">
            <a:off x="6993687" y="5410024"/>
            <a:ext cx="661988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48" name="TextBox 45"/>
          <p:cNvSpPr txBox="1">
            <a:spLocks noChangeArrowheads="1"/>
          </p:cNvSpPr>
          <p:nvPr/>
        </p:nvSpPr>
        <p:spPr bwMode="auto">
          <a:xfrm>
            <a:off x="6504897" y="5763018"/>
            <a:ext cx="469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Y*</a:t>
            </a:r>
            <a:endParaRPr lang="en-US" sz="2000" baseline="-25000" dirty="0"/>
          </a:p>
        </p:txBody>
      </p:sp>
      <p:cxnSp>
        <p:nvCxnSpPr>
          <p:cNvPr id="49" name="Straight Connector 47"/>
          <p:cNvCxnSpPr>
            <a:cxnSpLocks noChangeShapeType="1"/>
          </p:cNvCxnSpPr>
          <p:nvPr/>
        </p:nvCxnSpPr>
        <p:spPr bwMode="auto">
          <a:xfrm rot="10800000">
            <a:off x="5849938" y="5038725"/>
            <a:ext cx="147955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124487" y="3730179"/>
            <a:ext cx="2766139" cy="1762749"/>
            <a:chOff x="6066236" y="3645239"/>
            <a:chExt cx="2764579" cy="1762943"/>
          </a:xfrm>
        </p:grpSpPr>
        <p:cxnSp>
          <p:nvCxnSpPr>
            <p:cNvPr id="51" name="Straight Connector 50"/>
            <p:cNvCxnSpPr/>
            <p:nvPr/>
          </p:nvCxnSpPr>
          <p:spPr bwMode="auto">
            <a:xfrm rot="5400000" flipH="1" flipV="1">
              <a:off x="5931595" y="3844011"/>
              <a:ext cx="1698812" cy="1429530"/>
            </a:xfrm>
            <a:prstGeom prst="line">
              <a:avLst/>
            </a:prstGeom>
            <a:ln>
              <a:solidFill>
                <a:srgbClr val="CC0099"/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40"/>
            <p:cNvSpPr txBox="1">
              <a:spLocks noChangeArrowheads="1"/>
            </p:cNvSpPr>
            <p:nvPr/>
          </p:nvSpPr>
          <p:spPr bwMode="auto">
            <a:xfrm>
              <a:off x="8169079" y="3645239"/>
              <a:ext cx="661736" cy="400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dirty="0"/>
                <a:t>AS</a:t>
              </a:r>
              <a:r>
                <a:rPr lang="en-US" sz="2000" baseline="-25000" dirty="0"/>
                <a:t>2</a:t>
              </a:r>
            </a:p>
          </p:txBody>
        </p:sp>
      </p:grpSp>
      <p:sp>
        <p:nvSpPr>
          <p:cNvPr id="53" name="TextBox 25"/>
          <p:cNvSpPr txBox="1">
            <a:spLocks noChangeArrowheads="1"/>
          </p:cNvSpPr>
          <p:nvPr/>
        </p:nvSpPr>
        <p:spPr bwMode="auto">
          <a:xfrm>
            <a:off x="6528941" y="3999394"/>
            <a:ext cx="3561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54" name="Left Arrow 53"/>
          <p:cNvSpPr/>
          <p:nvPr/>
        </p:nvSpPr>
        <p:spPr bwMode="auto">
          <a:xfrm rot="10800000">
            <a:off x="7449292" y="4113921"/>
            <a:ext cx="372979" cy="240631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5" name="Straight Connector 49"/>
          <p:cNvCxnSpPr>
            <a:cxnSpLocks noChangeShapeType="1"/>
          </p:cNvCxnSpPr>
          <p:nvPr/>
        </p:nvCxnSpPr>
        <p:spPr bwMode="auto">
          <a:xfrm rot="10800000">
            <a:off x="5793085" y="4650319"/>
            <a:ext cx="1034755" cy="1591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56" name="Straight Connector 55"/>
          <p:cNvCxnSpPr/>
          <p:nvPr/>
        </p:nvCxnSpPr>
        <p:spPr bwMode="auto">
          <a:xfrm rot="5400000" flipH="1" flipV="1">
            <a:off x="6627812" y="4122738"/>
            <a:ext cx="1698625" cy="1428750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30" name="TextBox 5"/>
          <p:cNvSpPr txBox="1">
            <a:spLocks noChangeArrowheads="1"/>
          </p:cNvSpPr>
          <p:nvPr/>
        </p:nvSpPr>
        <p:spPr bwMode="auto">
          <a:xfrm rot="-5400000">
            <a:off x="4383624" y="4459164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  <p:sp>
        <p:nvSpPr>
          <p:cNvPr id="31" name="Text Box 62"/>
          <p:cNvSpPr txBox="1">
            <a:spLocks noChangeArrowheads="1"/>
          </p:cNvSpPr>
          <p:nvPr/>
        </p:nvSpPr>
        <p:spPr bwMode="auto">
          <a:xfrm flipH="1">
            <a:off x="5311223" y="4465477"/>
            <a:ext cx="5127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sym typeface="Symbol" pitchFamily="18" charset="2"/>
              </a:rPr>
              <a:t></a:t>
            </a:r>
            <a:r>
              <a:rPr lang="en-US" baseline="-25000" dirty="0">
                <a:sym typeface="Symbol" pitchFamily="18" charset="2"/>
              </a:rPr>
              <a:t>1</a:t>
            </a:r>
            <a:endParaRPr lang="en-US" baseline="-25000" dirty="0"/>
          </a:p>
        </p:txBody>
      </p:sp>
      <p:sp>
        <p:nvSpPr>
          <p:cNvPr id="32" name="Text Box 62"/>
          <p:cNvSpPr txBox="1">
            <a:spLocks noChangeArrowheads="1"/>
          </p:cNvSpPr>
          <p:nvPr/>
        </p:nvSpPr>
        <p:spPr bwMode="auto">
          <a:xfrm flipH="1">
            <a:off x="5350606" y="4874731"/>
            <a:ext cx="5127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sym typeface="Symbol" pitchFamily="18" charset="2"/>
              </a:rPr>
              <a:t></a:t>
            </a:r>
            <a:r>
              <a:rPr lang="en-US" baseline="-25000" dirty="0">
                <a:sym typeface="Symbol" pitchFamily="18" charset="2"/>
              </a:rPr>
              <a:t>2</a:t>
            </a:r>
            <a:endParaRPr lang="en-US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Adverse Supply Shock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73099" y="1600200"/>
            <a:ext cx="8121579" cy="4648200"/>
          </a:xfrm>
        </p:spPr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The economy is in long run equilibrium at </a:t>
            </a:r>
            <a:r>
              <a:rPr lang="en-US" dirty="0">
                <a:sym typeface="Symbol"/>
              </a:rPr>
              <a:t>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and Y*</a:t>
            </a:r>
            <a:endParaRPr lang="en-US" baseline="-25000" dirty="0">
              <a:sym typeface="Symbol" pitchFamily="18" charset="2"/>
            </a:endParaRPr>
          </a:p>
          <a:p>
            <a:pPr lvl="1" eaLnBrk="1" hangingPunct="1"/>
            <a:r>
              <a:rPr lang="en-US" dirty="0">
                <a:sym typeface="Symbol" pitchFamily="18" charset="2"/>
              </a:rPr>
              <a:t>AS shifts from AS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to AS</a:t>
            </a:r>
            <a:r>
              <a:rPr lang="en-US" baseline="-25000" dirty="0">
                <a:sym typeface="Symbol" pitchFamily="18" charset="2"/>
              </a:rPr>
              <a:t>2</a:t>
            </a:r>
            <a:endParaRPr lang="en-US" dirty="0">
              <a:sym typeface="Symbol" pitchFamily="18" charset="2"/>
            </a:endParaRPr>
          </a:p>
          <a:p>
            <a:pPr eaLnBrk="1" hangingPunct="1"/>
            <a:r>
              <a:rPr lang="en-US" dirty="0">
                <a:sym typeface="Symbol" pitchFamily="18" charset="2"/>
              </a:rPr>
              <a:t>Negative supply shock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Oil price shock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Natural disaster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Resource price shock</a:t>
            </a:r>
          </a:p>
          <a:p>
            <a:pPr eaLnBrk="1" hangingPunct="1"/>
            <a:r>
              <a:rPr lang="en-US" dirty="0">
                <a:sym typeface="Symbol" pitchFamily="18" charset="2"/>
              </a:rPr>
              <a:t>Recessionary gap </a:t>
            </a:r>
          </a:p>
          <a:p>
            <a:pPr eaLnBrk="1" hangingPunct="1"/>
            <a:endParaRPr lang="en-US" dirty="0"/>
          </a:p>
        </p:txBody>
      </p:sp>
      <p:sp>
        <p:nvSpPr>
          <p:cNvPr id="28" name="Rectangle 27"/>
          <p:cNvSpPr/>
          <p:nvPr/>
        </p:nvSpPr>
        <p:spPr bwMode="auto">
          <a:xfrm>
            <a:off x="5007146" y="3049792"/>
            <a:ext cx="4051271" cy="3200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5089525" y="3121025"/>
            <a:ext cx="3886200" cy="30575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TextBox 22"/>
          <p:cNvSpPr txBox="1">
            <a:spLocks noChangeArrowheads="1"/>
          </p:cNvSpPr>
          <p:nvPr/>
        </p:nvSpPr>
        <p:spPr bwMode="auto">
          <a:xfrm>
            <a:off x="7707313" y="5724525"/>
            <a:ext cx="13779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Output Y</a:t>
            </a:r>
          </a:p>
        </p:txBody>
      </p:sp>
      <p:cxnSp>
        <p:nvCxnSpPr>
          <p:cNvPr id="38" name="Straight Connector 23"/>
          <p:cNvCxnSpPr>
            <a:cxnSpLocks noChangeShapeType="1"/>
          </p:cNvCxnSpPr>
          <p:nvPr/>
        </p:nvCxnSpPr>
        <p:spPr bwMode="auto">
          <a:xfrm rot="10800000">
            <a:off x="5853113" y="5727700"/>
            <a:ext cx="239553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1" name="Straight Connector 24"/>
          <p:cNvCxnSpPr>
            <a:cxnSpLocks noChangeShapeType="1"/>
          </p:cNvCxnSpPr>
          <p:nvPr/>
        </p:nvCxnSpPr>
        <p:spPr bwMode="auto">
          <a:xfrm rot="5400000">
            <a:off x="4840287" y="4725988"/>
            <a:ext cx="2024063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2" name="Straight Connector 41"/>
          <p:cNvCxnSpPr/>
          <p:nvPr/>
        </p:nvCxnSpPr>
        <p:spPr bwMode="auto">
          <a:xfrm>
            <a:off x="6048375" y="3852863"/>
            <a:ext cx="1847850" cy="1736725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TextBox 27"/>
          <p:cNvSpPr txBox="1">
            <a:spLocks noChangeArrowheads="1"/>
          </p:cNvSpPr>
          <p:nvPr/>
        </p:nvSpPr>
        <p:spPr bwMode="auto">
          <a:xfrm>
            <a:off x="7834313" y="5211763"/>
            <a:ext cx="541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AD</a:t>
            </a:r>
          </a:p>
        </p:txBody>
      </p:sp>
      <p:sp>
        <p:nvSpPr>
          <p:cNvPr id="44" name="TextBox 30"/>
          <p:cNvSpPr txBox="1">
            <a:spLocks noChangeArrowheads="1"/>
          </p:cNvSpPr>
          <p:nvPr/>
        </p:nvSpPr>
        <p:spPr bwMode="auto">
          <a:xfrm>
            <a:off x="8123238" y="3884613"/>
            <a:ext cx="661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r>
              <a:rPr lang="en-US" sz="2000" baseline="-25000" dirty="0"/>
              <a:t>1</a:t>
            </a:r>
          </a:p>
        </p:txBody>
      </p:sp>
      <p:sp>
        <p:nvSpPr>
          <p:cNvPr id="45" name="TextBox 33"/>
          <p:cNvSpPr txBox="1">
            <a:spLocks noChangeArrowheads="1"/>
          </p:cNvSpPr>
          <p:nvPr/>
        </p:nvSpPr>
        <p:spPr bwMode="auto">
          <a:xfrm>
            <a:off x="6643688" y="5670550"/>
            <a:ext cx="4683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Y</a:t>
            </a:r>
            <a:r>
              <a:rPr lang="en-US" sz="2000" baseline="-25000"/>
              <a:t>2</a:t>
            </a:r>
            <a:endParaRPr lang="en-US" sz="2000"/>
          </a:p>
        </p:txBody>
      </p:sp>
      <p:cxnSp>
        <p:nvCxnSpPr>
          <p:cNvPr id="46" name="Straight Connector 45"/>
          <p:cNvCxnSpPr/>
          <p:nvPr/>
        </p:nvCxnSpPr>
        <p:spPr bwMode="auto">
          <a:xfrm rot="5400000">
            <a:off x="6151562" y="4554538"/>
            <a:ext cx="2309813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4"/>
          <p:cNvCxnSpPr>
            <a:cxnSpLocks noChangeShapeType="1"/>
          </p:cNvCxnSpPr>
          <p:nvPr/>
        </p:nvCxnSpPr>
        <p:spPr bwMode="auto">
          <a:xfrm rot="5400000">
            <a:off x="6983413" y="5368925"/>
            <a:ext cx="661988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48" name="TextBox 45"/>
          <p:cNvSpPr txBox="1">
            <a:spLocks noChangeArrowheads="1"/>
          </p:cNvSpPr>
          <p:nvPr/>
        </p:nvSpPr>
        <p:spPr bwMode="auto">
          <a:xfrm>
            <a:off x="7080250" y="5670550"/>
            <a:ext cx="469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Y*</a:t>
            </a:r>
            <a:endParaRPr lang="en-US" sz="2000" baseline="-25000"/>
          </a:p>
        </p:txBody>
      </p:sp>
      <p:cxnSp>
        <p:nvCxnSpPr>
          <p:cNvPr id="49" name="Straight Connector 47"/>
          <p:cNvCxnSpPr>
            <a:cxnSpLocks noChangeShapeType="1"/>
          </p:cNvCxnSpPr>
          <p:nvPr/>
        </p:nvCxnSpPr>
        <p:spPr bwMode="auto">
          <a:xfrm rot="10800000">
            <a:off x="5849938" y="5038725"/>
            <a:ext cx="147955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103938" y="3627438"/>
            <a:ext cx="2016125" cy="1906587"/>
            <a:chOff x="6066236" y="3501385"/>
            <a:chExt cx="2014988" cy="1906797"/>
          </a:xfrm>
        </p:grpSpPr>
        <p:cxnSp>
          <p:nvCxnSpPr>
            <p:cNvPr id="51" name="Straight Connector 50"/>
            <p:cNvCxnSpPr/>
            <p:nvPr/>
          </p:nvCxnSpPr>
          <p:spPr bwMode="auto">
            <a:xfrm rot="5400000" flipH="1" flipV="1">
              <a:off x="5931595" y="3844011"/>
              <a:ext cx="1698812" cy="1429530"/>
            </a:xfrm>
            <a:prstGeom prst="line">
              <a:avLst/>
            </a:prstGeom>
            <a:ln>
              <a:solidFill>
                <a:srgbClr val="CC0099"/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40"/>
            <p:cNvSpPr txBox="1">
              <a:spLocks noChangeArrowheads="1"/>
            </p:cNvSpPr>
            <p:nvPr/>
          </p:nvSpPr>
          <p:spPr bwMode="auto">
            <a:xfrm>
              <a:off x="7419488" y="3501385"/>
              <a:ext cx="661736" cy="400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dirty="0"/>
                <a:t>AS</a:t>
              </a:r>
              <a:r>
                <a:rPr lang="en-US" sz="2000" baseline="-25000" dirty="0"/>
                <a:t>2</a:t>
              </a:r>
            </a:p>
          </p:txBody>
        </p:sp>
      </p:grpSp>
      <p:sp>
        <p:nvSpPr>
          <p:cNvPr id="53" name="TextBox 25"/>
          <p:cNvSpPr txBox="1">
            <a:spLocks noChangeArrowheads="1"/>
          </p:cNvSpPr>
          <p:nvPr/>
        </p:nvSpPr>
        <p:spPr bwMode="auto">
          <a:xfrm>
            <a:off x="7340600" y="4841875"/>
            <a:ext cx="3561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54" name="Left Arrow 53"/>
          <p:cNvSpPr/>
          <p:nvPr/>
        </p:nvSpPr>
        <p:spPr bwMode="auto">
          <a:xfrm>
            <a:off x="7449292" y="4113921"/>
            <a:ext cx="372979" cy="240631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5" name="Straight Connector 49"/>
          <p:cNvCxnSpPr>
            <a:cxnSpLocks noChangeShapeType="1"/>
          </p:cNvCxnSpPr>
          <p:nvPr/>
        </p:nvCxnSpPr>
        <p:spPr bwMode="auto">
          <a:xfrm rot="10800000">
            <a:off x="5793085" y="4650319"/>
            <a:ext cx="1034755" cy="1591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56" name="Straight Connector 55"/>
          <p:cNvCxnSpPr/>
          <p:nvPr/>
        </p:nvCxnSpPr>
        <p:spPr bwMode="auto">
          <a:xfrm rot="5400000" flipH="1" flipV="1">
            <a:off x="6627812" y="4122738"/>
            <a:ext cx="1698625" cy="1428750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47"/>
          <p:cNvCxnSpPr>
            <a:cxnSpLocks noChangeShapeType="1"/>
          </p:cNvCxnSpPr>
          <p:nvPr/>
        </p:nvCxnSpPr>
        <p:spPr bwMode="auto">
          <a:xfrm rot="5400000" flipH="1" flipV="1">
            <a:off x="6307932" y="5172869"/>
            <a:ext cx="1071562" cy="1270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43"/>
              <p:cNvSpPr txBox="1">
                <a:spLocks noChangeArrowheads="1"/>
              </p:cNvSpPr>
              <p:nvPr/>
            </p:nvSpPr>
            <p:spPr bwMode="auto">
              <a:xfrm>
                <a:off x="5464254" y="4446941"/>
                <a:ext cx="467814" cy="3929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sz="2000" baseline="-25000" dirty="0"/>
                  <a:t>2</a:t>
                </a:r>
              </a:p>
            </p:txBody>
          </p:sp>
        </mc:Choice>
        <mc:Fallback xmlns="">
          <p:sp>
            <p:nvSpPr>
              <p:cNvPr id="58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4254" y="4446941"/>
                <a:ext cx="467814" cy="392993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r="-3896" b="-2461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22"/>
              <p:cNvSpPr txBox="1">
                <a:spLocks noChangeArrowheads="1"/>
              </p:cNvSpPr>
              <p:nvPr/>
            </p:nvSpPr>
            <p:spPr bwMode="auto">
              <a:xfrm>
                <a:off x="5511830" y="4848779"/>
                <a:ext cx="410818" cy="3629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  <a:sym typeface="Symbol" pitchFamily="18" charset="2"/>
                      </a:rPr>
                      <m:t>𝜋</m:t>
                    </m:r>
                  </m:oMath>
                </a14:m>
                <a:r>
                  <a:rPr lang="en-US" baseline="-25000" dirty="0">
                    <a:sym typeface="Symbol" pitchFamily="18" charset="2"/>
                  </a:rPr>
                  <a:t>1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59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1830" y="4848779"/>
                <a:ext cx="410818" cy="36298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b="-20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30" name="TextBox 5"/>
          <p:cNvSpPr txBox="1">
            <a:spLocks noChangeArrowheads="1"/>
          </p:cNvSpPr>
          <p:nvPr/>
        </p:nvSpPr>
        <p:spPr bwMode="auto">
          <a:xfrm rot="-5400000">
            <a:off x="4465816" y="4459164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An Expansionary Gap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5045246" y="3240292"/>
            <a:ext cx="4051271" cy="3200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127625" y="3311525"/>
            <a:ext cx="3886200" cy="30575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TextBox 22"/>
          <p:cNvSpPr txBox="1">
            <a:spLocks noChangeArrowheads="1"/>
          </p:cNvSpPr>
          <p:nvPr/>
        </p:nvSpPr>
        <p:spPr bwMode="auto">
          <a:xfrm>
            <a:off x="7745413" y="5915025"/>
            <a:ext cx="13779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Output Y</a:t>
            </a:r>
          </a:p>
        </p:txBody>
      </p:sp>
      <p:cxnSp>
        <p:nvCxnSpPr>
          <p:cNvPr id="33" name="Straight Connector 23"/>
          <p:cNvCxnSpPr>
            <a:cxnSpLocks noChangeShapeType="1"/>
          </p:cNvCxnSpPr>
          <p:nvPr/>
        </p:nvCxnSpPr>
        <p:spPr bwMode="auto">
          <a:xfrm rot="10800000">
            <a:off x="5891213" y="5918200"/>
            <a:ext cx="239553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4" name="Straight Connector 24"/>
          <p:cNvCxnSpPr>
            <a:cxnSpLocks noChangeShapeType="1"/>
          </p:cNvCxnSpPr>
          <p:nvPr/>
        </p:nvCxnSpPr>
        <p:spPr bwMode="auto">
          <a:xfrm rot="5400000">
            <a:off x="4878387" y="4916488"/>
            <a:ext cx="2024063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" name="Straight Connector 34"/>
          <p:cNvCxnSpPr/>
          <p:nvPr/>
        </p:nvCxnSpPr>
        <p:spPr bwMode="auto">
          <a:xfrm>
            <a:off x="6086475" y="4043363"/>
            <a:ext cx="1847850" cy="1736725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TextBox 27"/>
          <p:cNvSpPr txBox="1">
            <a:spLocks noChangeArrowheads="1"/>
          </p:cNvSpPr>
          <p:nvPr/>
        </p:nvSpPr>
        <p:spPr bwMode="auto">
          <a:xfrm>
            <a:off x="7872413" y="5402263"/>
            <a:ext cx="541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AD</a:t>
            </a:r>
          </a:p>
        </p:txBody>
      </p:sp>
      <p:sp>
        <p:nvSpPr>
          <p:cNvPr id="37" name="TextBox 30"/>
          <p:cNvSpPr txBox="1">
            <a:spLocks noChangeArrowheads="1"/>
          </p:cNvSpPr>
          <p:nvPr/>
        </p:nvSpPr>
        <p:spPr bwMode="auto">
          <a:xfrm>
            <a:off x="8161338" y="4075113"/>
            <a:ext cx="661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r>
              <a:rPr lang="en-US" sz="2000" baseline="-25000" dirty="0"/>
              <a:t>1</a:t>
            </a:r>
          </a:p>
        </p:txBody>
      </p:sp>
      <p:sp>
        <p:nvSpPr>
          <p:cNvPr id="38" name="TextBox 33"/>
          <p:cNvSpPr txBox="1">
            <a:spLocks noChangeArrowheads="1"/>
          </p:cNvSpPr>
          <p:nvPr/>
        </p:nvSpPr>
        <p:spPr bwMode="auto">
          <a:xfrm>
            <a:off x="6681788" y="5861050"/>
            <a:ext cx="4683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Y*</a:t>
            </a:r>
          </a:p>
        </p:txBody>
      </p:sp>
      <p:cxnSp>
        <p:nvCxnSpPr>
          <p:cNvPr id="41" name="Straight Connector 40"/>
          <p:cNvCxnSpPr/>
          <p:nvPr/>
        </p:nvCxnSpPr>
        <p:spPr bwMode="auto">
          <a:xfrm rot="5400000">
            <a:off x="5753100" y="4732338"/>
            <a:ext cx="230981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4"/>
          <p:cNvCxnSpPr>
            <a:cxnSpLocks noChangeShapeType="1"/>
          </p:cNvCxnSpPr>
          <p:nvPr/>
        </p:nvCxnSpPr>
        <p:spPr bwMode="auto">
          <a:xfrm rot="5400000">
            <a:off x="7021513" y="5559425"/>
            <a:ext cx="661988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43" name="TextBox 45"/>
          <p:cNvSpPr txBox="1">
            <a:spLocks noChangeArrowheads="1"/>
          </p:cNvSpPr>
          <p:nvPr/>
        </p:nvSpPr>
        <p:spPr bwMode="auto">
          <a:xfrm>
            <a:off x="7118350" y="5861050"/>
            <a:ext cx="469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Y</a:t>
            </a:r>
            <a:r>
              <a:rPr lang="en-US" sz="2000" baseline="-25000"/>
              <a:t>1</a:t>
            </a:r>
          </a:p>
        </p:txBody>
      </p:sp>
      <p:cxnSp>
        <p:nvCxnSpPr>
          <p:cNvPr id="44" name="Straight Connector 47"/>
          <p:cNvCxnSpPr>
            <a:cxnSpLocks noChangeShapeType="1"/>
          </p:cNvCxnSpPr>
          <p:nvPr/>
        </p:nvCxnSpPr>
        <p:spPr bwMode="auto">
          <a:xfrm rot="10800000">
            <a:off x="5888038" y="5229225"/>
            <a:ext cx="147955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6142038" y="3817938"/>
            <a:ext cx="2016125" cy="1906587"/>
            <a:chOff x="6066236" y="3501385"/>
            <a:chExt cx="2014988" cy="1906797"/>
          </a:xfrm>
        </p:grpSpPr>
        <p:cxnSp>
          <p:nvCxnSpPr>
            <p:cNvPr id="46" name="Straight Connector 45"/>
            <p:cNvCxnSpPr/>
            <p:nvPr/>
          </p:nvCxnSpPr>
          <p:spPr bwMode="auto">
            <a:xfrm rot="5400000" flipH="1" flipV="1">
              <a:off x="5931595" y="3844011"/>
              <a:ext cx="1698812" cy="1429530"/>
            </a:xfrm>
            <a:prstGeom prst="line">
              <a:avLst/>
            </a:prstGeom>
            <a:ln>
              <a:solidFill>
                <a:srgbClr val="CC0099"/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0"/>
            <p:cNvSpPr txBox="1">
              <a:spLocks noChangeArrowheads="1"/>
            </p:cNvSpPr>
            <p:nvPr/>
          </p:nvSpPr>
          <p:spPr bwMode="auto">
            <a:xfrm>
              <a:off x="7419488" y="3501385"/>
              <a:ext cx="661736" cy="400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dirty="0"/>
                <a:t>AS</a:t>
              </a:r>
              <a:r>
                <a:rPr lang="en-US" sz="2000" baseline="-25000" dirty="0"/>
                <a:t>2</a:t>
              </a:r>
            </a:p>
          </p:txBody>
        </p:sp>
        <p:sp>
          <p:nvSpPr>
            <p:cNvPr id="48" name="Left Arrow 47"/>
            <p:cNvSpPr/>
            <p:nvPr/>
          </p:nvSpPr>
          <p:spPr bwMode="auto">
            <a:xfrm>
              <a:off x="7074565" y="4199008"/>
              <a:ext cx="553453" cy="324853"/>
            </a:xfrm>
            <a:prstGeom prst="lef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52"/>
              <p:cNvSpPr txBox="1">
                <a:spLocks noChangeArrowheads="1"/>
              </p:cNvSpPr>
              <p:nvPr/>
            </p:nvSpPr>
            <p:spPr bwMode="auto">
              <a:xfrm>
                <a:off x="5435600" y="4997450"/>
                <a:ext cx="512763" cy="3929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sz="2000" baseline="-25000" dirty="0"/>
                  <a:t>1</a:t>
                </a:r>
              </a:p>
            </p:txBody>
          </p:sp>
        </mc:Choice>
        <mc:Fallback xmlns="">
          <p:sp>
            <p:nvSpPr>
              <p:cNvPr id="49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600" y="4997450"/>
                <a:ext cx="512763" cy="392993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r="-2381" b="-265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25"/>
          <p:cNvSpPr txBox="1">
            <a:spLocks noChangeArrowheads="1"/>
          </p:cNvSpPr>
          <p:nvPr/>
        </p:nvSpPr>
        <p:spPr bwMode="auto">
          <a:xfrm>
            <a:off x="7378700" y="5032375"/>
            <a:ext cx="3561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A</a:t>
            </a:r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5446713" y="4606916"/>
            <a:ext cx="1419225" cy="392993"/>
            <a:chOff x="5402735" y="4289625"/>
            <a:chExt cx="1419172" cy="392334"/>
          </a:xfrm>
        </p:grpSpPr>
        <p:cxnSp>
          <p:nvCxnSpPr>
            <p:cNvPr id="53" name="Straight Connector 49"/>
            <p:cNvCxnSpPr>
              <a:cxnSpLocks noChangeShapeType="1"/>
            </p:cNvCxnSpPr>
            <p:nvPr/>
          </p:nvCxnSpPr>
          <p:spPr bwMode="auto">
            <a:xfrm rot="10800000">
              <a:off x="5787191" y="4522190"/>
              <a:ext cx="1034716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1"/>
                <p:cNvSpPr txBox="1">
                  <a:spLocks noChangeArrowheads="1"/>
                </p:cNvSpPr>
                <p:nvPr/>
              </p:nvSpPr>
              <p:spPr bwMode="auto">
                <a:xfrm>
                  <a:off x="5402735" y="4289625"/>
                  <a:ext cx="469231" cy="3923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𝜋</m:t>
                        </m:r>
                        <m:r>
                          <a:rPr lang="en-US" sz="2000" b="0" i="0" baseline="-18000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2</m:t>
                        </m:r>
                      </m:oMath>
                    </m:oMathPara>
                  </a14:m>
                  <a:endParaRPr lang="en-US" sz="2000" baseline="-18000" dirty="0"/>
                </a:p>
              </p:txBody>
            </p:sp>
          </mc:Choice>
          <mc:Fallback xmlns="">
            <p:sp>
              <p:nvSpPr>
                <p:cNvPr id="66586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02735" y="4289625"/>
                  <a:ext cx="469231" cy="392334"/>
                </a:xfrm>
                <a:prstGeom prst="rect">
                  <a:avLst/>
                </a:prstGeom>
                <a:blipFill rotWithShape="1">
                  <a:blip r:embed="rId4" cstate="print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5" name="Straight Connector 54"/>
          <p:cNvCxnSpPr/>
          <p:nvPr/>
        </p:nvCxnSpPr>
        <p:spPr bwMode="auto">
          <a:xfrm rot="5400000" flipH="1" flipV="1">
            <a:off x="6665912" y="4313238"/>
            <a:ext cx="1698625" cy="1428750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698659" y="1361220"/>
            <a:ext cx="8035925" cy="4349750"/>
            <a:chOff x="-518" y="679"/>
            <a:chExt cx="5062" cy="2740"/>
          </a:xfrm>
        </p:grpSpPr>
        <p:pic>
          <p:nvPicPr>
            <p:cNvPr id="56" name="Picture 5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647"/>
            <a:stretch>
              <a:fillRect/>
            </a:stretch>
          </p:blipFill>
          <p:spPr bwMode="auto">
            <a:xfrm>
              <a:off x="-518" y="679"/>
              <a:ext cx="5062" cy="25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7" name="Picture 5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3977" r="79659" b="5859"/>
            <a:stretch>
              <a:fillRect/>
            </a:stretch>
          </p:blipFill>
          <p:spPr bwMode="auto">
            <a:xfrm>
              <a:off x="528" y="3120"/>
              <a:ext cx="1030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39" name="TextBox 5"/>
          <p:cNvSpPr txBox="1">
            <a:spLocks noChangeArrowheads="1"/>
          </p:cNvSpPr>
          <p:nvPr/>
        </p:nvSpPr>
        <p:spPr bwMode="auto">
          <a:xfrm rot="-5400000">
            <a:off x="4445269" y="4654372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876301" y="5657671"/>
            <a:ext cx="4095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Expected inflation is given by the AS curve at potential output </a:t>
            </a:r>
            <a:endParaRPr lang="en-SG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712788" y="0"/>
            <a:ext cx="8229600" cy="1238250"/>
          </a:xfrm>
        </p:spPr>
        <p:txBody>
          <a:bodyPr/>
          <a:lstStyle/>
          <a:p>
            <a:r>
              <a:rPr lang="en-US" sz="3600" dirty="0"/>
              <a:t>Adjustment from an Expansionary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76" y="1323975"/>
            <a:ext cx="8370888" cy="5429250"/>
          </a:xfrm>
        </p:spPr>
        <p:txBody>
          <a:bodyPr/>
          <a:lstStyle/>
          <a:p>
            <a:r>
              <a:rPr lang="en-US" dirty="0"/>
              <a:t>When output is above potential output, firms increase prices faster than expected inflation rate</a:t>
            </a:r>
          </a:p>
          <a:p>
            <a:pPr lvl="1"/>
            <a:r>
              <a:rPr lang="en-US" dirty="0"/>
              <a:t>Causes inflation to increase above expected level</a:t>
            </a:r>
          </a:p>
          <a:p>
            <a:pPr lvl="1"/>
            <a:r>
              <a:rPr lang="en-US" dirty="0"/>
              <a:t>Expected inflation rises, workers demand for higher wages, firms employ less workers, produce less output, AS decreases, AS curve shifts left</a:t>
            </a:r>
          </a:p>
          <a:p>
            <a:pPr lvl="1"/>
            <a:r>
              <a:rPr lang="en-US" dirty="0"/>
              <a:t>As inflation increases, consumption and planned investment spending decrease, PAE decrease, movement up AD curve, output decreases</a:t>
            </a:r>
          </a:p>
          <a:p>
            <a:r>
              <a:rPr lang="en-US" dirty="0"/>
              <a:t>Process continues until the economy reaches equilibrium at the potential level of output</a:t>
            </a:r>
          </a:p>
          <a:p>
            <a:pPr lvl="1"/>
            <a:r>
              <a:rPr lang="en-US" dirty="0"/>
              <a:t>Actual inflation is higher than initial level of inflation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 idx="4294967295"/>
          </p:nvPr>
        </p:nvSpPr>
        <p:spPr>
          <a:xfrm>
            <a:off x="676275" y="134938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 Recessionary Gap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5092729" y="3562349"/>
            <a:ext cx="4051271" cy="31718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003800" y="3581400"/>
            <a:ext cx="4140200" cy="31464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Box 6"/>
          <p:cNvSpPr txBox="1">
            <a:spLocks noChangeArrowheads="1"/>
          </p:cNvSpPr>
          <p:nvPr/>
        </p:nvSpPr>
        <p:spPr bwMode="auto">
          <a:xfrm>
            <a:off x="7745413" y="5959475"/>
            <a:ext cx="13779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Output Y</a:t>
            </a:r>
          </a:p>
        </p:txBody>
      </p:sp>
      <p:cxnSp>
        <p:nvCxnSpPr>
          <p:cNvPr id="32" name="Straight Connector 7"/>
          <p:cNvCxnSpPr>
            <a:cxnSpLocks noChangeShapeType="1"/>
          </p:cNvCxnSpPr>
          <p:nvPr/>
        </p:nvCxnSpPr>
        <p:spPr bwMode="auto">
          <a:xfrm rot="10800000">
            <a:off x="5891213" y="5964238"/>
            <a:ext cx="2395537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" name="Straight Connector 8"/>
          <p:cNvCxnSpPr>
            <a:cxnSpLocks noChangeShapeType="1"/>
          </p:cNvCxnSpPr>
          <p:nvPr/>
        </p:nvCxnSpPr>
        <p:spPr bwMode="auto">
          <a:xfrm rot="5400000">
            <a:off x="4878388" y="4962525"/>
            <a:ext cx="2024062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4" name="Straight Connector 33"/>
          <p:cNvCxnSpPr/>
          <p:nvPr/>
        </p:nvCxnSpPr>
        <p:spPr bwMode="auto">
          <a:xfrm>
            <a:off x="6086475" y="4089400"/>
            <a:ext cx="1847850" cy="1736725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TextBox 10"/>
          <p:cNvSpPr txBox="1">
            <a:spLocks noChangeArrowheads="1"/>
          </p:cNvSpPr>
          <p:nvPr/>
        </p:nvSpPr>
        <p:spPr bwMode="auto">
          <a:xfrm>
            <a:off x="7872413" y="5448300"/>
            <a:ext cx="541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AD</a:t>
            </a:r>
          </a:p>
        </p:txBody>
      </p:sp>
      <p:sp>
        <p:nvSpPr>
          <p:cNvPr id="38" name="TextBox 12"/>
          <p:cNvSpPr txBox="1">
            <a:spLocks noChangeArrowheads="1"/>
          </p:cNvSpPr>
          <p:nvPr/>
        </p:nvSpPr>
        <p:spPr bwMode="auto">
          <a:xfrm>
            <a:off x="6981825" y="3541713"/>
            <a:ext cx="6619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AS</a:t>
            </a:r>
            <a:r>
              <a:rPr lang="en-US" sz="2000" baseline="-25000" dirty="0"/>
              <a:t>1</a:t>
            </a:r>
          </a:p>
        </p:txBody>
      </p:sp>
      <p:sp>
        <p:nvSpPr>
          <p:cNvPr id="39" name="TextBox 13"/>
          <p:cNvSpPr txBox="1">
            <a:spLocks noChangeArrowheads="1"/>
          </p:cNvSpPr>
          <p:nvPr/>
        </p:nvSpPr>
        <p:spPr bwMode="auto">
          <a:xfrm>
            <a:off x="6681788" y="5907088"/>
            <a:ext cx="4683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Y*</a:t>
            </a:r>
          </a:p>
        </p:txBody>
      </p:sp>
      <p:cxnSp>
        <p:nvCxnSpPr>
          <p:cNvPr id="40" name="Straight Connector 39"/>
          <p:cNvCxnSpPr/>
          <p:nvPr/>
        </p:nvCxnSpPr>
        <p:spPr bwMode="auto">
          <a:xfrm rot="5400000">
            <a:off x="5752307" y="4777581"/>
            <a:ext cx="2311400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19"/>
          <p:cNvSpPr txBox="1">
            <a:spLocks noChangeArrowheads="1"/>
          </p:cNvSpPr>
          <p:nvPr/>
        </p:nvSpPr>
        <p:spPr bwMode="auto">
          <a:xfrm>
            <a:off x="6224588" y="5907088"/>
            <a:ext cx="504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Y</a:t>
            </a:r>
            <a:r>
              <a:rPr lang="en-US" sz="2000" baseline="-2500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24"/>
              <p:cNvSpPr txBox="1">
                <a:spLocks noChangeArrowheads="1"/>
              </p:cNvSpPr>
              <p:nvPr/>
            </p:nvSpPr>
            <p:spPr bwMode="auto">
              <a:xfrm>
                <a:off x="5454650" y="4224338"/>
                <a:ext cx="512763" cy="3929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sz="2000" baseline="-25000" dirty="0"/>
                  <a:t>1</a:t>
                </a:r>
              </a:p>
            </p:txBody>
          </p:sp>
        </mc:Choice>
        <mc:Fallback xmlns="">
          <p:sp>
            <p:nvSpPr>
              <p:cNvPr id="42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4650" y="4224338"/>
                <a:ext cx="512763" cy="392993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r="-2381" b="-265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25"/>
          <p:cNvSpPr txBox="1">
            <a:spLocks noChangeArrowheads="1"/>
          </p:cNvSpPr>
          <p:nvPr/>
        </p:nvSpPr>
        <p:spPr bwMode="auto">
          <a:xfrm>
            <a:off x="6264454" y="4028505"/>
            <a:ext cx="3561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A</a:t>
            </a:r>
          </a:p>
        </p:txBody>
      </p:sp>
      <p:cxnSp>
        <p:nvCxnSpPr>
          <p:cNvPr id="44" name="Straight Connector 30"/>
          <p:cNvCxnSpPr>
            <a:cxnSpLocks noChangeShapeType="1"/>
          </p:cNvCxnSpPr>
          <p:nvPr/>
        </p:nvCxnSpPr>
        <p:spPr bwMode="auto">
          <a:xfrm rot="10800000">
            <a:off x="5888038" y="4452938"/>
            <a:ext cx="574675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45" name="Straight Connector 32"/>
          <p:cNvCxnSpPr>
            <a:cxnSpLocks noChangeShapeType="1"/>
          </p:cNvCxnSpPr>
          <p:nvPr/>
        </p:nvCxnSpPr>
        <p:spPr bwMode="auto">
          <a:xfrm rot="5400000">
            <a:off x="5699126" y="5216525"/>
            <a:ext cx="1528762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5499100" y="4651385"/>
            <a:ext cx="1398588" cy="392993"/>
            <a:chOff x="5422235" y="4289625"/>
            <a:chExt cx="1399672" cy="392327"/>
          </a:xfrm>
        </p:grpSpPr>
        <p:cxnSp>
          <p:nvCxnSpPr>
            <p:cNvPr id="47" name="Straight Connector 21"/>
            <p:cNvCxnSpPr>
              <a:cxnSpLocks noChangeShapeType="1"/>
            </p:cNvCxnSpPr>
            <p:nvPr/>
          </p:nvCxnSpPr>
          <p:spPr bwMode="auto">
            <a:xfrm rot="10800000">
              <a:off x="5787191" y="4522190"/>
              <a:ext cx="1034716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23"/>
                <p:cNvSpPr txBox="1">
                  <a:spLocks noChangeArrowheads="1"/>
                </p:cNvSpPr>
                <p:nvPr/>
              </p:nvSpPr>
              <p:spPr bwMode="auto">
                <a:xfrm>
                  <a:off x="5422235" y="4289625"/>
                  <a:ext cx="469231" cy="392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𝜋</m:t>
                        </m:r>
                        <m:r>
                          <a:rPr lang="en-US" sz="2000" b="0" i="0" baseline="-25000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2</m:t>
                        </m:r>
                      </m:oMath>
                    </m:oMathPara>
                  </a14:m>
                  <a:endParaRPr lang="en-US" sz="2000" baseline="-25000" dirty="0"/>
                </a:p>
              </p:txBody>
            </p:sp>
          </mc:Choice>
          <mc:Fallback xmlns="">
            <p:sp>
              <p:nvSpPr>
                <p:cNvPr id="68639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22235" y="4289625"/>
                  <a:ext cx="469231" cy="392327"/>
                </a:xfrm>
                <a:prstGeom prst="rect">
                  <a:avLst/>
                </a:prstGeom>
                <a:blipFill rotWithShape="1">
                  <a:blip r:embed="rId4" cstate="print"/>
                  <a:stretch>
                    <a:fillRect b="-3125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Connector 48"/>
          <p:cNvCxnSpPr/>
          <p:nvPr/>
        </p:nvCxnSpPr>
        <p:spPr bwMode="auto">
          <a:xfrm rot="5400000" flipH="1" flipV="1">
            <a:off x="5813425" y="3802063"/>
            <a:ext cx="1385887" cy="1169988"/>
          </a:xfrm>
          <a:prstGeom prst="line">
            <a:avLst/>
          </a:prstGeom>
          <a:ln>
            <a:solidFill>
              <a:srgbClr val="CC0099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6142039" y="3863975"/>
            <a:ext cx="2016124" cy="1906587"/>
            <a:chOff x="6066237" y="3501385"/>
            <a:chExt cx="2014987" cy="1906796"/>
          </a:xfrm>
        </p:grpSpPr>
        <p:cxnSp>
          <p:nvCxnSpPr>
            <p:cNvPr id="51" name="Straight Connector 50"/>
            <p:cNvCxnSpPr/>
            <p:nvPr/>
          </p:nvCxnSpPr>
          <p:spPr bwMode="auto">
            <a:xfrm rot="5400000" flipH="1" flipV="1">
              <a:off x="5931596" y="3844011"/>
              <a:ext cx="1698811" cy="1429530"/>
            </a:xfrm>
            <a:prstGeom prst="line">
              <a:avLst/>
            </a:prstGeom>
            <a:ln>
              <a:solidFill>
                <a:srgbClr val="CC0099"/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17"/>
            <p:cNvSpPr txBox="1">
              <a:spLocks noChangeArrowheads="1"/>
            </p:cNvSpPr>
            <p:nvPr/>
          </p:nvSpPr>
          <p:spPr bwMode="auto">
            <a:xfrm>
              <a:off x="7419488" y="3501385"/>
              <a:ext cx="661736" cy="400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dirty="0"/>
                <a:t>AS</a:t>
              </a:r>
              <a:r>
                <a:rPr lang="en-US" sz="2000" baseline="-25000" dirty="0"/>
                <a:t>2</a:t>
              </a:r>
            </a:p>
          </p:txBody>
        </p:sp>
        <p:sp>
          <p:nvSpPr>
            <p:cNvPr id="53" name="Left Arrow 52"/>
            <p:cNvSpPr/>
            <p:nvPr/>
          </p:nvSpPr>
          <p:spPr bwMode="auto">
            <a:xfrm flipH="1">
              <a:off x="6596207" y="3850092"/>
              <a:ext cx="553453" cy="324853"/>
            </a:xfrm>
            <a:prstGeom prst="lef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36" name="Picture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37" name="TextBox 5"/>
          <p:cNvSpPr txBox="1">
            <a:spLocks noChangeArrowheads="1"/>
          </p:cNvSpPr>
          <p:nvPr/>
        </p:nvSpPr>
        <p:spPr bwMode="auto">
          <a:xfrm rot="-5400000">
            <a:off x="4476091" y="4623551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695325" y="1343025"/>
            <a:ext cx="813435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Initial</a:t>
            </a:r>
            <a:r>
              <a:rPr kumimoji="0" lang="en-US" sz="28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equilibrium is at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Symbol" pitchFamily="18" charset="2"/>
              </a:rPr>
              <a:t>AD curve remains stable unless government policy</a:t>
            </a:r>
            <a:r>
              <a:rPr kumimoji="0" lang="en-US" sz="25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Symbol" pitchFamily="18" charset="2"/>
              </a:rPr>
              <a:t> or exogenous spending changes</a:t>
            </a:r>
            <a:endParaRPr kumimoji="0" lang="en-US" sz="2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When inflation rate is below expected value, expected inflation decreases, wage decreases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Symbol" pitchFamily="18" charset="2"/>
              </a:rPr>
              <a:t>AS curve shifts to AS</a:t>
            </a:r>
            <a:r>
              <a:rPr kumimoji="0" lang="en-US" sz="25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Symbol" pitchFamily="18" charset="2"/>
              </a:rPr>
              <a:t>2</a:t>
            </a:r>
          </a:p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New long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run equilibrium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At potential rate Y*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Inflation rate 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</a:t>
            </a:r>
            <a:r>
              <a:rPr kumimoji="0" lang="en-US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2</a:t>
            </a:r>
            <a:endParaRPr kumimoji="0" lang="en-US" sz="2500" b="0" i="0" u="none" strike="noStrike" kern="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Self-Correcting Economy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95325" y="1489838"/>
            <a:ext cx="8239125" cy="4648200"/>
          </a:xfrm>
        </p:spPr>
        <p:txBody>
          <a:bodyPr/>
          <a:lstStyle/>
          <a:p>
            <a:pPr eaLnBrk="1" hangingPunct="1"/>
            <a:r>
              <a:rPr lang="en-US" sz="2400" dirty="0">
                <a:sym typeface="Symbol" pitchFamily="18" charset="2"/>
              </a:rPr>
              <a:t>In the long-run the economy tends to be </a:t>
            </a:r>
            <a:r>
              <a:rPr lang="en-US" sz="2400" b="1" dirty="0">
                <a:sym typeface="Symbol" pitchFamily="18" charset="2"/>
              </a:rPr>
              <a:t>self-correcting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Missing from Keynesian model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Keynesian model is short-run; no price adjustments</a:t>
            </a:r>
          </a:p>
          <a:p>
            <a:pPr eaLnBrk="1" hangingPunct="1"/>
            <a:r>
              <a:rPr lang="en-US" sz="2400" dirty="0">
                <a:sym typeface="Symbol" pitchFamily="18" charset="2"/>
              </a:rPr>
              <a:t>Given time, output gaps disappear without any changes in monetary or fiscal policy</a:t>
            </a:r>
          </a:p>
          <a:p>
            <a:pPr eaLnBrk="1" hangingPunct="1"/>
            <a:r>
              <a:rPr lang="en-US" sz="2400" dirty="0">
                <a:sym typeface="Symbol" pitchFamily="18" charset="2"/>
              </a:rPr>
              <a:t>Whether stabilization policies are needed depends on the speed of the self-correction process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If the economy returns to potential output quickly, stabilization policies may be destabilizing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The greater the gap, the longer the adjustment period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Self-Correcting Economy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600200"/>
            <a:ext cx="7924800" cy="4648200"/>
          </a:xfrm>
        </p:spPr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A slow self-correcting mechanism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Fiscal and monetary policy can help stabilize the economy</a:t>
            </a:r>
          </a:p>
          <a:p>
            <a:pPr eaLnBrk="1" hangingPunct="1"/>
            <a:r>
              <a:rPr lang="en-US" dirty="0">
                <a:sym typeface="Symbol" pitchFamily="18" charset="2"/>
              </a:rPr>
              <a:t>A fast self-correcting mechanism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Fiscal and monetary policy are not effective and may destabilize the economy</a:t>
            </a:r>
          </a:p>
          <a:p>
            <a:pPr eaLnBrk="1" hangingPunct="1"/>
            <a:r>
              <a:rPr lang="en-US" dirty="0">
                <a:sym typeface="Symbol" pitchFamily="18" charset="2"/>
              </a:rPr>
              <a:t>The speed of correction will depend on</a:t>
            </a:r>
          </a:p>
          <a:p>
            <a:pPr lvl="2" eaLnBrk="1" hangingPunct="1"/>
            <a:r>
              <a:rPr lang="en-US" dirty="0">
                <a:sym typeface="Symbol" pitchFamily="18" charset="2"/>
              </a:rPr>
              <a:t>The use of long-term contracts</a:t>
            </a:r>
          </a:p>
          <a:p>
            <a:pPr lvl="2" eaLnBrk="1" hangingPunct="1"/>
            <a:r>
              <a:rPr lang="en-US" dirty="0">
                <a:sym typeface="Symbol" pitchFamily="18" charset="2"/>
              </a:rPr>
              <a:t>The efficiency and flexibility of labor markets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Fiscal and monetary policy are most useful when attempting to eliminate large output gaps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0485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Stabilization Policy and Demand Shocks</a:t>
            </a:r>
          </a:p>
        </p:txBody>
      </p:sp>
      <p:sp>
        <p:nvSpPr>
          <p:cNvPr id="80" name="Content Placeholder 79"/>
          <p:cNvSpPr>
            <a:spLocks noGrp="1" noRot="1" noChangeAspect="1" noMove="1" noResize="1" noEditPoints="1" noAdjustHandles="1" noChangeArrowheads="1" noChangeShapeType="1" noTextEdit="1"/>
          </p:cNvSpPr>
          <p:nvPr>
            <p:ph idx="4294967295"/>
          </p:nvPr>
        </p:nvSpPr>
        <p:spPr>
          <a:xfrm>
            <a:off x="736600" y="1524000"/>
            <a:ext cx="7924800" cy="4648200"/>
          </a:xfrm>
          <a:blipFill rotWithShape="1">
            <a:blip r:embed="rId3" cstate="print"/>
            <a:stretch>
              <a:fillRect l="-1154" t="-917" b="-9961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5223164" y="2820102"/>
            <a:ext cx="3616036" cy="374072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299075" y="2889250"/>
            <a:ext cx="3463925" cy="360203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0" name="Line 25"/>
          <p:cNvSpPr>
            <a:spLocks noChangeShapeType="1"/>
          </p:cNvSpPr>
          <p:nvPr/>
        </p:nvSpPr>
        <p:spPr bwMode="auto">
          <a:xfrm>
            <a:off x="6267450" y="4000500"/>
            <a:ext cx="1538288" cy="1541463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 rot="16200000">
            <a:off x="5874544" y="4601369"/>
            <a:ext cx="2274888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3" name="Text Box 38"/>
          <p:cNvSpPr txBox="1">
            <a:spLocks noChangeArrowheads="1"/>
          </p:cNvSpPr>
          <p:nvPr/>
        </p:nvSpPr>
        <p:spPr bwMode="auto">
          <a:xfrm>
            <a:off x="7362825" y="6035675"/>
            <a:ext cx="139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Output Y</a:t>
            </a: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7748588" y="5294313"/>
            <a:ext cx="539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AD</a:t>
            </a:r>
            <a:r>
              <a:rPr lang="en-US" sz="1600" baseline="-25000"/>
              <a:t>1</a:t>
            </a:r>
          </a:p>
        </p:txBody>
      </p:sp>
      <p:sp>
        <p:nvSpPr>
          <p:cNvPr id="35" name="Text Box 19"/>
          <p:cNvSpPr txBox="1">
            <a:spLocks noChangeArrowheads="1"/>
          </p:cNvSpPr>
          <p:nvPr/>
        </p:nvSpPr>
        <p:spPr bwMode="auto">
          <a:xfrm flipH="1">
            <a:off x="6246688" y="5767388"/>
            <a:ext cx="6573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sym typeface="Symbol" pitchFamily="18" charset="2"/>
              </a:rPr>
              <a:t>Y </a:t>
            </a:r>
            <a:r>
              <a:rPr lang="en-US" sz="2000" baseline="-25000" dirty="0">
                <a:sym typeface="Symbol" pitchFamily="18" charset="2"/>
              </a:rPr>
              <a:t>1</a:t>
            </a:r>
            <a:endParaRPr lang="en-US" sz="2000" baseline="-25000" dirty="0"/>
          </a:p>
        </p:txBody>
      </p:sp>
      <p:sp>
        <p:nvSpPr>
          <p:cNvPr id="36" name="Line 39"/>
          <p:cNvSpPr>
            <a:spLocks noChangeShapeType="1"/>
          </p:cNvSpPr>
          <p:nvPr/>
        </p:nvSpPr>
        <p:spPr bwMode="auto">
          <a:xfrm>
            <a:off x="5870575" y="3046413"/>
            <a:ext cx="1588" cy="270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5867400" y="5748338"/>
            <a:ext cx="2368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0" name="Straight Connector 76"/>
          <p:cNvCxnSpPr>
            <a:cxnSpLocks noChangeShapeType="1"/>
          </p:cNvCxnSpPr>
          <p:nvPr/>
        </p:nvCxnSpPr>
        <p:spPr bwMode="auto">
          <a:xfrm rot="10800000">
            <a:off x="5860031" y="3824801"/>
            <a:ext cx="1150369" cy="159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5884529" y="3282950"/>
            <a:ext cx="2659395" cy="2870767"/>
            <a:chOff x="5884610" y="3283214"/>
            <a:chExt cx="2659952" cy="2870388"/>
          </a:xfrm>
        </p:grpSpPr>
        <p:sp>
          <p:nvSpPr>
            <p:cNvPr id="43" name="Line 6"/>
            <p:cNvSpPr>
              <a:spLocks noChangeShapeType="1"/>
            </p:cNvSpPr>
            <p:nvPr/>
          </p:nvSpPr>
          <p:spPr bwMode="auto">
            <a:xfrm>
              <a:off x="6442272" y="3283214"/>
              <a:ext cx="1537022" cy="1541259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4" name="Text Box 36"/>
            <p:cNvSpPr txBox="1">
              <a:spLocks noChangeArrowheads="1"/>
            </p:cNvSpPr>
            <p:nvPr/>
          </p:nvSpPr>
          <p:spPr bwMode="auto">
            <a:xfrm>
              <a:off x="8000823" y="4650699"/>
              <a:ext cx="54373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AD</a:t>
              </a:r>
              <a:r>
                <a:rPr lang="en-US" sz="1600" baseline="-25000"/>
                <a:t>2</a:t>
              </a:r>
            </a:p>
          </p:txBody>
        </p:sp>
        <p:sp>
          <p:nvSpPr>
            <p:cNvPr id="45" name="Text Box 35"/>
            <p:cNvSpPr txBox="1">
              <a:spLocks noChangeArrowheads="1"/>
            </p:cNvSpPr>
            <p:nvPr/>
          </p:nvSpPr>
          <p:spPr bwMode="auto">
            <a:xfrm flipH="1">
              <a:off x="6835178" y="5753545"/>
              <a:ext cx="458178" cy="4000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sym typeface="Symbol" pitchFamily="18" charset="2"/>
                </a:rPr>
                <a:t>Y</a:t>
              </a:r>
              <a:r>
                <a:rPr lang="en-US" sz="2000" baseline="30000" dirty="0">
                  <a:sym typeface="Symbol" pitchFamily="18" charset="2"/>
                </a:rPr>
                <a:t>*</a:t>
              </a:r>
              <a:endParaRPr lang="en-US" sz="2000" baseline="-25000" dirty="0"/>
            </a:p>
          </p:txBody>
        </p:sp>
        <p:cxnSp>
          <p:nvCxnSpPr>
            <p:cNvPr id="46" name="Straight Connector 75"/>
            <p:cNvCxnSpPr>
              <a:cxnSpLocks noChangeShapeType="1"/>
            </p:cNvCxnSpPr>
            <p:nvPr/>
          </p:nvCxnSpPr>
          <p:spPr bwMode="auto">
            <a:xfrm rot="10800000" flipV="1">
              <a:off x="5884610" y="4313236"/>
              <a:ext cx="703265" cy="849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48" name="Straight Connector 81"/>
            <p:cNvCxnSpPr>
              <a:cxnSpLocks noChangeShapeType="1"/>
            </p:cNvCxnSpPr>
            <p:nvPr/>
          </p:nvCxnSpPr>
          <p:spPr bwMode="auto">
            <a:xfrm rot="5400000">
              <a:off x="5846204" y="5057178"/>
              <a:ext cx="1415845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49" name="Right Arrow 48"/>
            <p:cNvSpPr/>
            <p:nvPr/>
          </p:nvSpPr>
          <p:spPr bwMode="auto">
            <a:xfrm>
              <a:off x="7241457" y="4793226"/>
              <a:ext cx="663677" cy="162232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5973763" y="3092450"/>
            <a:ext cx="2074862" cy="1730375"/>
            <a:chOff x="5973097" y="3092286"/>
            <a:chExt cx="2074937" cy="1730431"/>
          </a:xfrm>
        </p:grpSpPr>
        <p:cxnSp>
          <p:nvCxnSpPr>
            <p:cNvPr id="51" name="Straight Connector 50"/>
            <p:cNvCxnSpPr/>
            <p:nvPr/>
          </p:nvCxnSpPr>
          <p:spPr bwMode="auto">
            <a:xfrm flipV="1">
              <a:off x="5973097" y="3324069"/>
              <a:ext cx="1582794" cy="1498648"/>
            </a:xfrm>
            <a:prstGeom prst="line">
              <a:avLst/>
            </a:prstGeom>
            <a:ln>
              <a:solidFill>
                <a:srgbClr val="FF33CC"/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 Box 36"/>
            <p:cNvSpPr txBox="1">
              <a:spLocks noChangeArrowheads="1"/>
            </p:cNvSpPr>
            <p:nvPr/>
          </p:nvSpPr>
          <p:spPr bwMode="auto">
            <a:xfrm>
              <a:off x="7504295" y="3092286"/>
              <a:ext cx="54373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AS</a:t>
              </a:r>
              <a:r>
                <a:rPr lang="en-US" sz="1600" baseline="-25000"/>
                <a:t>2</a:t>
              </a:r>
            </a:p>
          </p:txBody>
        </p:sp>
      </p:grpSp>
      <p:pic>
        <p:nvPicPr>
          <p:cNvPr id="32" name="Picture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39" name="TextBox 5"/>
          <p:cNvSpPr txBox="1">
            <a:spLocks noChangeArrowheads="1"/>
          </p:cNvSpPr>
          <p:nvPr/>
        </p:nvSpPr>
        <p:spPr bwMode="auto">
          <a:xfrm rot="-5400000">
            <a:off x="4517188" y="4376971"/>
            <a:ext cx="1706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Inflation (</a:t>
            </a:r>
            <a:r>
              <a:rPr lang="en-US" sz="2400" dirty="0">
                <a:sym typeface="Symbol" pitchFamily="18" charset="2"/>
              </a:rPr>
              <a:t></a:t>
            </a:r>
            <a:r>
              <a:rPr lang="en-US" sz="2000" dirty="0">
                <a:sym typeface="Symbol" pitchFamily="18" charset="2"/>
              </a:rPr>
              <a:t>)</a:t>
            </a:r>
            <a:endParaRPr lang="en-US" sz="2000" dirty="0"/>
          </a:p>
        </p:txBody>
      </p:sp>
      <p:sp>
        <p:nvSpPr>
          <p:cNvPr id="41" name="TextBox 2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454650" y="4224338"/>
            <a:ext cx="512763" cy="392993"/>
          </a:xfrm>
          <a:prstGeom prst="rect">
            <a:avLst/>
          </a:prstGeom>
          <a:blipFill rotWithShape="1">
            <a:blip r:embed="rId5" cstate="print"/>
            <a:stretch>
              <a:fillRect r="-2381" b="-26563"/>
            </a:stretch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42" name="TextBox 36"/>
          <p:cNvSpPr txBox="1">
            <a:spLocks noChangeArrowheads="1"/>
          </p:cNvSpPr>
          <p:nvPr/>
        </p:nvSpPr>
        <p:spPr bwMode="auto">
          <a:xfrm>
            <a:off x="5382338" y="3607714"/>
            <a:ext cx="4237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ym typeface="Symbol" pitchFamily="18" charset="2"/>
              </a:rPr>
              <a:t></a:t>
            </a:r>
            <a:r>
              <a:rPr lang="en-US" sz="2000" baseline="30000" dirty="0">
                <a:sym typeface="Symbol" pitchFamily="18" charset="2"/>
              </a:rPr>
              <a:t>e</a:t>
            </a:r>
            <a:endParaRPr lang="en-US" baseline="30000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/>
          <p:cNvSpPr>
            <a:spLocks noGrp="1"/>
          </p:cNvSpPr>
          <p:nvPr>
            <p:ph type="title"/>
          </p:nvPr>
        </p:nvSpPr>
        <p:spPr>
          <a:xfrm>
            <a:off x="766763" y="101600"/>
            <a:ext cx="8229600" cy="1143000"/>
          </a:xfrm>
        </p:spPr>
        <p:txBody>
          <a:bodyPr/>
          <a:lstStyle/>
          <a:p>
            <a:r>
              <a:rPr lang="en-US"/>
              <a:t>Responding to Aggregate Inflation Shocks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147" y="1333500"/>
            <a:ext cx="8004328" cy="5324154"/>
          </a:xfrm>
        </p:spPr>
        <p:txBody>
          <a:bodyPr/>
          <a:lstStyle/>
          <a:p>
            <a:r>
              <a:rPr lang="en-US" dirty="0"/>
              <a:t>The economy begins in long-run equilibrium at Y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dirty="0">
                <a:sym typeface="Symbol" pitchFamily="18" charset="2"/>
              </a:rPr>
              <a:t></a:t>
            </a:r>
            <a:r>
              <a:rPr lang="en-US" baseline="-25000" dirty="0">
                <a:sym typeface="Symbol" pitchFamily="18" charset="2"/>
              </a:rPr>
              <a:t>1</a:t>
            </a:r>
          </a:p>
          <a:p>
            <a:r>
              <a:rPr lang="en-US" dirty="0">
                <a:sym typeface="Symbol" pitchFamily="18" charset="2"/>
              </a:rPr>
              <a:t>Adverse inflation shock shifts aggregate supply to AS</a:t>
            </a:r>
            <a:r>
              <a:rPr lang="en-US" baseline="-25000" dirty="0">
                <a:sym typeface="Symbol" pitchFamily="18" charset="2"/>
              </a:rPr>
              <a:t>2</a:t>
            </a:r>
          </a:p>
          <a:p>
            <a:pPr lvl="1"/>
            <a:r>
              <a:rPr lang="en-US" dirty="0"/>
              <a:t>Recessionary gap at Y</a:t>
            </a:r>
            <a:r>
              <a:rPr lang="en-US" baseline="-25000" dirty="0"/>
              <a:t>2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with higher inflation, </a:t>
            </a:r>
            <a:r>
              <a:rPr lang="en-US" dirty="0">
                <a:sym typeface="Symbol" pitchFamily="18" charset="2"/>
              </a:rPr>
              <a:t></a:t>
            </a:r>
            <a:r>
              <a:rPr lang="en-US" baseline="-25000" dirty="0">
                <a:sym typeface="Symbol" pitchFamily="18" charset="2"/>
              </a:rPr>
              <a:t>2</a:t>
            </a:r>
          </a:p>
          <a:p>
            <a:pPr lvl="1">
              <a:buClr>
                <a:schemeClr val="tx1"/>
              </a:buClr>
            </a:pPr>
            <a:r>
              <a:rPr lang="en-US" dirty="0">
                <a:sym typeface="Symbol" pitchFamily="18" charset="2"/>
              </a:rPr>
              <a:t>The central bank can </a:t>
            </a:r>
          </a:p>
          <a:p>
            <a:pPr lvl="1">
              <a:buClr>
                <a:schemeClr val="tx1"/>
              </a:buClr>
              <a:buNone/>
            </a:pPr>
            <a:r>
              <a:rPr lang="en-US" dirty="0">
                <a:sym typeface="Symbol" pitchFamily="18" charset="2"/>
              </a:rPr>
              <a:t>Choose to: </a:t>
            </a:r>
          </a:p>
          <a:p>
            <a:pPr marL="406400" lvl="2" indent="-225425">
              <a:buClr>
                <a:srgbClr val="298B1B"/>
              </a:buClr>
            </a:pPr>
            <a:r>
              <a:rPr lang="en-US" dirty="0">
                <a:sym typeface="Symbol" pitchFamily="18" charset="2"/>
              </a:rPr>
              <a:t>Close the recessionary gap </a:t>
            </a:r>
          </a:p>
          <a:p>
            <a:pPr marL="406400" lvl="2" indent="-225425">
              <a:buClr>
                <a:srgbClr val="298B1B"/>
              </a:buClr>
            </a:pPr>
            <a:r>
              <a:rPr lang="en-US" dirty="0">
                <a:sym typeface="Symbol" pitchFamily="18" charset="2"/>
              </a:rPr>
              <a:t>Restore target inflation rate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5370645" y="3211330"/>
            <a:ext cx="3625867" cy="3200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446713" y="3270250"/>
            <a:ext cx="3473450" cy="30829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Line 25"/>
          <p:cNvSpPr>
            <a:spLocks noChangeShapeType="1"/>
          </p:cNvSpPr>
          <p:nvPr/>
        </p:nvSpPr>
        <p:spPr bwMode="auto">
          <a:xfrm>
            <a:off x="6418263" y="4238625"/>
            <a:ext cx="1541462" cy="1317625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rot="16200000">
            <a:off x="6191250" y="4751388"/>
            <a:ext cx="1946275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321" name="Text Box 17"/>
          <p:cNvSpPr txBox="1">
            <a:spLocks noChangeArrowheads="1"/>
          </p:cNvSpPr>
          <p:nvPr/>
        </p:nvSpPr>
        <p:spPr bwMode="auto">
          <a:xfrm>
            <a:off x="6892925" y="3522663"/>
            <a:ext cx="5461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/>
              <a:t>LRAS</a:t>
            </a:r>
          </a:p>
        </p:txBody>
      </p:sp>
      <p:sp>
        <p:nvSpPr>
          <p:cNvPr id="13322" name="Text Box 38"/>
          <p:cNvSpPr txBox="1">
            <a:spLocks noChangeArrowheads="1"/>
          </p:cNvSpPr>
          <p:nvPr/>
        </p:nvSpPr>
        <p:spPr bwMode="auto">
          <a:xfrm>
            <a:off x="7535774" y="5811891"/>
            <a:ext cx="14017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Output (Y)</a:t>
            </a:r>
          </a:p>
        </p:txBody>
      </p:sp>
      <p:sp>
        <p:nvSpPr>
          <p:cNvPr id="13323" name="Text Box 62"/>
          <p:cNvSpPr txBox="1">
            <a:spLocks noChangeArrowheads="1"/>
          </p:cNvSpPr>
          <p:nvPr/>
        </p:nvSpPr>
        <p:spPr bwMode="auto">
          <a:xfrm flipH="1">
            <a:off x="5641975" y="4730750"/>
            <a:ext cx="512763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>
                <a:sym typeface="Symbol" pitchFamily="18" charset="2"/>
              </a:rPr>
              <a:t></a:t>
            </a:r>
            <a:r>
              <a:rPr lang="en-US" baseline="-25000">
                <a:sym typeface="Symbol" pitchFamily="18" charset="2"/>
              </a:rPr>
              <a:t>1</a:t>
            </a:r>
            <a:endParaRPr lang="en-US" baseline="-25000"/>
          </a:p>
        </p:txBody>
      </p:sp>
      <p:sp>
        <p:nvSpPr>
          <p:cNvPr id="13324" name="Text Box 23"/>
          <p:cNvSpPr txBox="1">
            <a:spLocks noChangeArrowheads="1"/>
          </p:cNvSpPr>
          <p:nvPr/>
        </p:nvSpPr>
        <p:spPr bwMode="auto">
          <a:xfrm>
            <a:off x="7902575" y="5345113"/>
            <a:ext cx="54133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AD</a:t>
            </a:r>
            <a:r>
              <a:rPr lang="en-US" sz="1600" baseline="-25000"/>
              <a:t>1</a:t>
            </a:r>
          </a:p>
        </p:txBody>
      </p:sp>
      <p:sp>
        <p:nvSpPr>
          <p:cNvPr id="13325" name="Text Box 19"/>
          <p:cNvSpPr txBox="1">
            <a:spLocks noChangeArrowheads="1"/>
          </p:cNvSpPr>
          <p:nvPr/>
        </p:nvSpPr>
        <p:spPr bwMode="auto">
          <a:xfrm flipH="1">
            <a:off x="6846888" y="5748338"/>
            <a:ext cx="5540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sym typeface="Symbol" pitchFamily="18" charset="2"/>
              </a:rPr>
              <a:t>Y </a:t>
            </a:r>
            <a:r>
              <a:rPr lang="en-US" sz="2000" baseline="-25000" dirty="0">
                <a:sym typeface="Symbol" pitchFamily="18" charset="2"/>
              </a:rPr>
              <a:t>1</a:t>
            </a:r>
            <a:endParaRPr lang="en-US" sz="2000" baseline="-25000" dirty="0"/>
          </a:p>
        </p:txBody>
      </p:sp>
      <p:sp>
        <p:nvSpPr>
          <p:cNvPr id="13326" name="Line 39"/>
          <p:cNvSpPr>
            <a:spLocks noChangeShapeType="1"/>
          </p:cNvSpPr>
          <p:nvPr/>
        </p:nvSpPr>
        <p:spPr bwMode="auto">
          <a:xfrm>
            <a:off x="6019800" y="3421063"/>
            <a:ext cx="1588" cy="231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7" name="Line 40"/>
          <p:cNvSpPr>
            <a:spLocks noChangeShapeType="1"/>
          </p:cNvSpPr>
          <p:nvPr/>
        </p:nvSpPr>
        <p:spPr bwMode="auto">
          <a:xfrm>
            <a:off x="6016625" y="5732463"/>
            <a:ext cx="2374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8" name="Text Box 41"/>
          <p:cNvSpPr txBox="1">
            <a:spLocks noChangeArrowheads="1"/>
          </p:cNvSpPr>
          <p:nvPr/>
        </p:nvSpPr>
        <p:spPr bwMode="auto">
          <a:xfrm rot="-5400000">
            <a:off x="4623327" y="4328636"/>
            <a:ext cx="199761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Inflation (</a:t>
            </a:r>
            <a:r>
              <a:rPr lang="en-US" sz="2000" dirty="0">
                <a:sym typeface="Symbol" pitchFamily="18" charset="2"/>
              </a:rPr>
              <a:t>)</a:t>
            </a:r>
            <a:endParaRPr lang="en-US" sz="2000" dirty="0"/>
          </a:p>
        </p:txBody>
      </p:sp>
      <p:sp>
        <p:nvSpPr>
          <p:cNvPr id="13329" name="Text Box 23"/>
          <p:cNvSpPr txBox="1">
            <a:spLocks noChangeArrowheads="1"/>
          </p:cNvSpPr>
          <p:nvPr/>
        </p:nvSpPr>
        <p:spPr bwMode="auto">
          <a:xfrm>
            <a:off x="8012113" y="4062413"/>
            <a:ext cx="54133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AS</a:t>
            </a:r>
            <a:r>
              <a:rPr lang="en-US" sz="1600" baseline="-25000"/>
              <a:t>1</a:t>
            </a:r>
          </a:p>
        </p:txBody>
      </p:sp>
      <p:cxnSp>
        <p:nvCxnSpPr>
          <p:cNvPr id="13330" name="Straight Connector 20"/>
          <p:cNvCxnSpPr>
            <a:cxnSpLocks noChangeShapeType="1"/>
          </p:cNvCxnSpPr>
          <p:nvPr/>
        </p:nvCxnSpPr>
        <p:spPr bwMode="auto">
          <a:xfrm rot="10800000">
            <a:off x="6019800" y="4916488"/>
            <a:ext cx="115252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16" name="Straight Connector 15"/>
          <p:cNvCxnSpPr/>
          <p:nvPr/>
        </p:nvCxnSpPr>
        <p:spPr bwMode="auto">
          <a:xfrm flipV="1">
            <a:off x="6315075" y="4195763"/>
            <a:ext cx="1730375" cy="1363662"/>
          </a:xfrm>
          <a:prstGeom prst="line">
            <a:avLst/>
          </a:prstGeom>
          <a:ln>
            <a:solidFill>
              <a:srgbClr val="FF33CC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5641975" y="4311651"/>
            <a:ext cx="1281113" cy="1837311"/>
            <a:chOff x="5494527" y="4311620"/>
            <a:chExt cx="1280686" cy="1837100"/>
          </a:xfrm>
        </p:grpSpPr>
        <p:sp>
          <p:nvSpPr>
            <p:cNvPr id="13339" name="Text Box 35"/>
            <p:cNvSpPr txBox="1">
              <a:spLocks noChangeArrowheads="1"/>
            </p:cNvSpPr>
            <p:nvPr/>
          </p:nvSpPr>
          <p:spPr bwMode="auto">
            <a:xfrm flipH="1">
              <a:off x="6315789" y="5748656"/>
              <a:ext cx="459424" cy="4000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sym typeface="Symbol" pitchFamily="18" charset="2"/>
                </a:rPr>
                <a:t>Y</a:t>
              </a:r>
              <a:r>
                <a:rPr lang="en-US" sz="2000" baseline="-25000" dirty="0">
                  <a:sym typeface="Symbol" pitchFamily="18" charset="2"/>
                </a:rPr>
                <a:t>2</a:t>
              </a:r>
              <a:endParaRPr lang="en-US" sz="2000" baseline="-25000" dirty="0"/>
            </a:p>
          </p:txBody>
        </p:sp>
        <p:sp>
          <p:nvSpPr>
            <p:cNvPr id="13340" name="Text Box 62"/>
            <p:cNvSpPr txBox="1">
              <a:spLocks noChangeArrowheads="1"/>
            </p:cNvSpPr>
            <p:nvPr/>
          </p:nvSpPr>
          <p:spPr bwMode="auto">
            <a:xfrm flipH="1">
              <a:off x="5494527" y="4311620"/>
              <a:ext cx="51193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>
                  <a:sym typeface="Symbol" pitchFamily="18" charset="2"/>
                </a:rPr>
                <a:t></a:t>
              </a:r>
              <a:r>
                <a:rPr lang="en-US" baseline="-25000">
                  <a:sym typeface="Symbol" pitchFamily="18" charset="2"/>
                </a:rPr>
                <a:t>2</a:t>
              </a:r>
              <a:endParaRPr lang="en-US" baseline="-25000"/>
            </a:p>
          </p:txBody>
        </p:sp>
        <p:cxnSp>
          <p:nvCxnSpPr>
            <p:cNvPr id="13341" name="Straight Connector 30"/>
            <p:cNvCxnSpPr>
              <a:cxnSpLocks noChangeShapeType="1"/>
            </p:cNvCxnSpPr>
            <p:nvPr/>
          </p:nvCxnSpPr>
          <p:spPr bwMode="auto">
            <a:xfrm rot="5400000">
              <a:off x="5932451" y="5130122"/>
              <a:ext cx="1211334" cy="159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13342" name="Straight Connector 41"/>
            <p:cNvCxnSpPr>
              <a:cxnSpLocks noChangeShapeType="1"/>
            </p:cNvCxnSpPr>
            <p:nvPr/>
          </p:nvCxnSpPr>
          <p:spPr bwMode="auto">
            <a:xfrm rot="10800000">
              <a:off x="5869859" y="4511675"/>
              <a:ext cx="663677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6122988" y="3460750"/>
            <a:ext cx="2079625" cy="1479550"/>
            <a:chOff x="6122617" y="3460484"/>
            <a:chExt cx="2080578" cy="1480479"/>
          </a:xfrm>
        </p:grpSpPr>
        <p:sp>
          <p:nvSpPr>
            <p:cNvPr id="13334" name="Text Box 36"/>
            <p:cNvSpPr txBox="1">
              <a:spLocks noChangeArrowheads="1"/>
            </p:cNvSpPr>
            <p:nvPr/>
          </p:nvSpPr>
          <p:spPr bwMode="auto">
            <a:xfrm>
              <a:off x="7657978" y="3460484"/>
              <a:ext cx="545217" cy="2896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AS</a:t>
              </a:r>
              <a:r>
                <a:rPr lang="en-US" sz="1600" baseline="-25000"/>
                <a:t>2</a:t>
              </a:r>
            </a:p>
          </p:txBody>
        </p:sp>
        <p:cxnSp>
          <p:nvCxnSpPr>
            <p:cNvPr id="19" name="Straight Connector 18"/>
            <p:cNvCxnSpPr/>
            <p:nvPr/>
          </p:nvCxnSpPr>
          <p:spPr bwMode="auto">
            <a:xfrm flipV="1">
              <a:off x="6122617" y="3657458"/>
              <a:ext cx="1586639" cy="1283505"/>
            </a:xfrm>
            <a:prstGeom prst="line">
              <a:avLst/>
            </a:prstGeom>
            <a:ln>
              <a:solidFill>
                <a:srgbClr val="FF33CC"/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Left Arrow 28"/>
            <p:cNvSpPr/>
            <p:nvPr/>
          </p:nvSpPr>
          <p:spPr bwMode="auto">
            <a:xfrm>
              <a:off x="6990734" y="4262286"/>
              <a:ext cx="722671" cy="221226"/>
            </a:xfrm>
            <a:prstGeom prst="lef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>
          <a:xfrm>
            <a:off x="687388" y="88900"/>
            <a:ext cx="8229600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/>
              <a:t>Accommodating an Aggregate Inflation Shock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5388"/>
            <a:ext cx="8386763" cy="5662612"/>
          </a:xfrm>
        </p:spPr>
        <p:txBody>
          <a:bodyPr/>
          <a:lstStyle/>
          <a:p>
            <a:r>
              <a:rPr lang="en-US" sz="2600" dirty="0"/>
              <a:t>Suppose the central bank moves to close the recessionary gap</a:t>
            </a:r>
          </a:p>
          <a:p>
            <a:pPr lvl="1"/>
            <a:r>
              <a:rPr lang="en-US" dirty="0"/>
              <a:t>Eases monetary policy, lowering interest rates at </a:t>
            </a:r>
            <a:r>
              <a:rPr lang="en-US" dirty="0">
                <a:sym typeface="Symbol" pitchFamily="18" charset="2"/>
              </a:rPr>
              <a:t></a:t>
            </a:r>
            <a:r>
              <a:rPr lang="en-US" baseline="-25000" dirty="0">
                <a:sym typeface="Symbol" pitchFamily="18" charset="2"/>
              </a:rPr>
              <a:t>2</a:t>
            </a:r>
          </a:p>
          <a:p>
            <a:pPr lvl="2"/>
            <a:r>
              <a:rPr lang="en-US" dirty="0">
                <a:sym typeface="Symbol" pitchFamily="18" charset="2"/>
              </a:rPr>
              <a:t>Resets target inflation rate to </a:t>
            </a:r>
            <a:r>
              <a:rPr lang="en-US" baseline="-25000" dirty="0">
                <a:sym typeface="Symbol" pitchFamily="18" charset="2"/>
              </a:rPr>
              <a:t>3</a:t>
            </a:r>
          </a:p>
          <a:p>
            <a:pPr lvl="1"/>
            <a:r>
              <a:rPr lang="en-US" dirty="0">
                <a:sym typeface="Symbol" pitchFamily="18" charset="2"/>
              </a:rPr>
              <a:t>Lower interest rates 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stimulate consumption and 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investment spending</a:t>
            </a:r>
          </a:p>
          <a:p>
            <a:pPr lvl="2"/>
            <a:r>
              <a:rPr lang="en-US" dirty="0">
                <a:sym typeface="Symbol" pitchFamily="18" charset="2"/>
              </a:rPr>
              <a:t>AD shifts to AD</a:t>
            </a:r>
            <a:r>
              <a:rPr lang="en-US" baseline="-25000" dirty="0">
                <a:sym typeface="Symbol" pitchFamily="18" charset="2"/>
              </a:rPr>
              <a:t>2</a:t>
            </a:r>
          </a:p>
          <a:p>
            <a:pPr lvl="1"/>
            <a:r>
              <a:rPr lang="en-US" dirty="0">
                <a:sym typeface="Symbol" pitchFamily="18" charset="2"/>
              </a:rPr>
              <a:t>Long-run equilibrium is now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at Y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and </a:t>
            </a:r>
            <a:r>
              <a:rPr lang="en-US" baseline="-25000" dirty="0">
                <a:sym typeface="Symbol" pitchFamily="18" charset="2"/>
              </a:rPr>
              <a:t>3</a:t>
            </a:r>
          </a:p>
          <a:p>
            <a:r>
              <a:rPr lang="en-US" sz="2600" dirty="0">
                <a:sym typeface="Symbol" pitchFamily="18" charset="2"/>
              </a:rPr>
              <a:t>Aggregate inflation shock </a:t>
            </a:r>
          </a:p>
          <a:p>
            <a:pPr>
              <a:buFontTx/>
              <a:buNone/>
            </a:pPr>
            <a:r>
              <a:rPr lang="en-US" sz="2600" dirty="0">
                <a:sym typeface="Symbol" pitchFamily="18" charset="2"/>
              </a:rPr>
              <a:t>    leads to higher long-run </a:t>
            </a:r>
          </a:p>
          <a:p>
            <a:pPr>
              <a:buFontTx/>
              <a:buNone/>
            </a:pPr>
            <a:r>
              <a:rPr lang="en-US" sz="2600" dirty="0">
                <a:sym typeface="Symbol" pitchFamily="18" charset="2"/>
              </a:rPr>
              <a:t>    inflation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5459545" y="3274830"/>
            <a:ext cx="3625867" cy="3200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535613" y="3333750"/>
            <a:ext cx="3473450" cy="30829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Line 25"/>
          <p:cNvSpPr>
            <a:spLocks noChangeShapeType="1"/>
          </p:cNvSpPr>
          <p:nvPr/>
        </p:nvSpPr>
        <p:spPr bwMode="auto">
          <a:xfrm>
            <a:off x="6507163" y="4302125"/>
            <a:ext cx="1541462" cy="1317625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rot="16200000">
            <a:off x="6280150" y="4814888"/>
            <a:ext cx="1946275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345" name="Text Box 17"/>
          <p:cNvSpPr txBox="1">
            <a:spLocks noChangeArrowheads="1"/>
          </p:cNvSpPr>
          <p:nvPr/>
        </p:nvSpPr>
        <p:spPr bwMode="auto">
          <a:xfrm>
            <a:off x="6981825" y="3586163"/>
            <a:ext cx="7127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LRAS</a:t>
            </a:r>
          </a:p>
        </p:txBody>
      </p:sp>
      <p:sp>
        <p:nvSpPr>
          <p:cNvPr id="14346" name="Text Box 38"/>
          <p:cNvSpPr txBox="1">
            <a:spLocks noChangeArrowheads="1"/>
          </p:cNvSpPr>
          <p:nvPr/>
        </p:nvSpPr>
        <p:spPr bwMode="auto">
          <a:xfrm>
            <a:off x="7573302" y="5844569"/>
            <a:ext cx="14017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Output (Y)</a:t>
            </a:r>
          </a:p>
        </p:txBody>
      </p:sp>
      <p:sp>
        <p:nvSpPr>
          <p:cNvPr id="14347" name="Text Box 62"/>
          <p:cNvSpPr txBox="1">
            <a:spLocks noChangeArrowheads="1"/>
          </p:cNvSpPr>
          <p:nvPr/>
        </p:nvSpPr>
        <p:spPr bwMode="auto">
          <a:xfrm flipH="1">
            <a:off x="5732463" y="4794250"/>
            <a:ext cx="5127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sym typeface="Symbol" pitchFamily="18" charset="2"/>
              </a:rPr>
              <a:t></a:t>
            </a:r>
            <a:r>
              <a:rPr lang="en-US" baseline="-25000" dirty="0">
                <a:sym typeface="Symbol" pitchFamily="18" charset="2"/>
              </a:rPr>
              <a:t>1</a:t>
            </a:r>
            <a:endParaRPr lang="en-US" baseline="-25000" dirty="0"/>
          </a:p>
        </p:txBody>
      </p:sp>
      <p:sp>
        <p:nvSpPr>
          <p:cNvPr id="14348" name="Text Box 23"/>
          <p:cNvSpPr txBox="1">
            <a:spLocks noChangeArrowheads="1"/>
          </p:cNvSpPr>
          <p:nvPr/>
        </p:nvSpPr>
        <p:spPr bwMode="auto">
          <a:xfrm>
            <a:off x="7991475" y="5408613"/>
            <a:ext cx="5413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AD</a:t>
            </a:r>
            <a:r>
              <a:rPr lang="en-US" sz="1600" baseline="-25000"/>
              <a:t>1</a:t>
            </a:r>
          </a:p>
        </p:txBody>
      </p:sp>
      <p:sp>
        <p:nvSpPr>
          <p:cNvPr id="14349" name="Text Box 19"/>
          <p:cNvSpPr txBox="1">
            <a:spLocks noChangeArrowheads="1"/>
          </p:cNvSpPr>
          <p:nvPr/>
        </p:nvSpPr>
        <p:spPr bwMode="auto">
          <a:xfrm flipH="1">
            <a:off x="6937375" y="5811838"/>
            <a:ext cx="5540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sym typeface="Symbol" pitchFamily="18" charset="2"/>
              </a:rPr>
              <a:t>Y </a:t>
            </a:r>
            <a:r>
              <a:rPr lang="en-US" sz="2000" baseline="-25000" dirty="0">
                <a:sym typeface="Symbol" pitchFamily="18" charset="2"/>
              </a:rPr>
              <a:t>1</a:t>
            </a:r>
            <a:endParaRPr lang="en-US" sz="2000" baseline="-25000" dirty="0"/>
          </a:p>
        </p:txBody>
      </p:sp>
      <p:sp>
        <p:nvSpPr>
          <p:cNvPr id="14350" name="Line 39"/>
          <p:cNvSpPr>
            <a:spLocks noChangeShapeType="1"/>
          </p:cNvSpPr>
          <p:nvPr/>
        </p:nvSpPr>
        <p:spPr bwMode="auto">
          <a:xfrm>
            <a:off x="6108700" y="3484563"/>
            <a:ext cx="1588" cy="231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1" name="Line 40"/>
          <p:cNvSpPr>
            <a:spLocks noChangeShapeType="1"/>
          </p:cNvSpPr>
          <p:nvPr/>
        </p:nvSpPr>
        <p:spPr bwMode="auto">
          <a:xfrm>
            <a:off x="6105525" y="5795963"/>
            <a:ext cx="2374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2" name="Text Box 41"/>
          <p:cNvSpPr txBox="1">
            <a:spLocks noChangeArrowheads="1"/>
          </p:cNvSpPr>
          <p:nvPr/>
        </p:nvSpPr>
        <p:spPr bwMode="auto">
          <a:xfrm rot="-5400000">
            <a:off x="4492260" y="4406619"/>
            <a:ext cx="235535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Inflation (</a:t>
            </a:r>
            <a:r>
              <a:rPr lang="en-US" sz="2000" dirty="0">
                <a:sym typeface="Symbol" pitchFamily="18" charset="2"/>
              </a:rPr>
              <a:t>)</a:t>
            </a:r>
            <a:endParaRPr lang="en-US" sz="2000" dirty="0"/>
          </a:p>
        </p:txBody>
      </p:sp>
      <p:sp>
        <p:nvSpPr>
          <p:cNvPr id="14353" name="Text Box 23"/>
          <p:cNvSpPr txBox="1">
            <a:spLocks noChangeArrowheads="1"/>
          </p:cNvSpPr>
          <p:nvPr/>
        </p:nvSpPr>
        <p:spPr bwMode="auto">
          <a:xfrm>
            <a:off x="8101013" y="4125913"/>
            <a:ext cx="5413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AS</a:t>
            </a:r>
            <a:r>
              <a:rPr lang="en-US" sz="1600" baseline="-25000"/>
              <a:t>1</a:t>
            </a:r>
          </a:p>
        </p:txBody>
      </p:sp>
      <p:cxnSp>
        <p:nvCxnSpPr>
          <p:cNvPr id="14354" name="Straight Connector 20"/>
          <p:cNvCxnSpPr>
            <a:cxnSpLocks noChangeShapeType="1"/>
          </p:cNvCxnSpPr>
          <p:nvPr/>
        </p:nvCxnSpPr>
        <p:spPr bwMode="auto">
          <a:xfrm rot="10800000">
            <a:off x="6108700" y="4979988"/>
            <a:ext cx="115252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5730875" y="3981450"/>
            <a:ext cx="1520825" cy="396875"/>
            <a:chOff x="5642007" y="3918536"/>
            <a:chExt cx="1520737" cy="396199"/>
          </a:xfrm>
        </p:grpSpPr>
        <p:cxnSp>
          <p:nvCxnSpPr>
            <p:cNvPr id="14371" name="Straight Connector 22"/>
            <p:cNvCxnSpPr>
              <a:cxnSpLocks noChangeShapeType="1"/>
            </p:cNvCxnSpPr>
            <p:nvPr/>
          </p:nvCxnSpPr>
          <p:spPr bwMode="auto">
            <a:xfrm rot="10800000">
              <a:off x="6009242" y="4087166"/>
              <a:ext cx="1153502" cy="135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14372" name="Text Box 62"/>
            <p:cNvSpPr txBox="1">
              <a:spLocks noChangeArrowheads="1"/>
            </p:cNvSpPr>
            <p:nvPr/>
          </p:nvSpPr>
          <p:spPr bwMode="auto">
            <a:xfrm flipH="1">
              <a:off x="5642007" y="3918536"/>
              <a:ext cx="511145" cy="396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>
                  <a:sym typeface="Symbol" pitchFamily="18" charset="2"/>
                </a:rPr>
                <a:t></a:t>
              </a:r>
              <a:r>
                <a:rPr lang="en-US" baseline="-25000">
                  <a:sym typeface="Symbol" pitchFamily="18" charset="2"/>
                </a:rPr>
                <a:t>3</a:t>
              </a:r>
              <a:endParaRPr lang="en-US" baseline="-25000"/>
            </a:p>
          </p:txBody>
        </p:sp>
      </p:grpSp>
      <p:cxnSp>
        <p:nvCxnSpPr>
          <p:cNvPr id="16" name="Straight Connector 15"/>
          <p:cNvCxnSpPr/>
          <p:nvPr/>
        </p:nvCxnSpPr>
        <p:spPr bwMode="auto">
          <a:xfrm flipV="1">
            <a:off x="6403975" y="4259263"/>
            <a:ext cx="1730375" cy="1363662"/>
          </a:xfrm>
          <a:prstGeom prst="line">
            <a:avLst/>
          </a:prstGeom>
          <a:ln>
            <a:solidFill>
              <a:srgbClr val="FF33CC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Group 70"/>
          <p:cNvGrpSpPr>
            <a:grpSpLocks/>
          </p:cNvGrpSpPr>
          <p:nvPr/>
        </p:nvGrpSpPr>
        <p:grpSpPr bwMode="auto">
          <a:xfrm>
            <a:off x="5732463" y="4375150"/>
            <a:ext cx="1281112" cy="1836798"/>
            <a:chOff x="5496114" y="4311620"/>
            <a:chExt cx="1280686" cy="1836587"/>
          </a:xfrm>
        </p:grpSpPr>
        <p:sp>
          <p:nvSpPr>
            <p:cNvPr id="14367" name="Text Box 35"/>
            <p:cNvSpPr txBox="1">
              <a:spLocks noChangeArrowheads="1"/>
            </p:cNvSpPr>
            <p:nvPr/>
          </p:nvSpPr>
          <p:spPr bwMode="auto">
            <a:xfrm flipH="1">
              <a:off x="6318165" y="5748143"/>
              <a:ext cx="458635" cy="4000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sym typeface="Symbol" pitchFamily="18" charset="2"/>
                </a:rPr>
                <a:t>Y</a:t>
              </a:r>
              <a:r>
                <a:rPr lang="en-US" sz="2000" baseline="-25000" dirty="0">
                  <a:sym typeface="Symbol" pitchFamily="18" charset="2"/>
                </a:rPr>
                <a:t>2</a:t>
              </a:r>
              <a:endParaRPr lang="en-US" sz="2000" baseline="-25000" dirty="0"/>
            </a:p>
          </p:txBody>
        </p:sp>
        <p:sp>
          <p:nvSpPr>
            <p:cNvPr id="14368" name="Text Box 62"/>
            <p:cNvSpPr txBox="1">
              <a:spLocks noChangeArrowheads="1"/>
            </p:cNvSpPr>
            <p:nvPr/>
          </p:nvSpPr>
          <p:spPr bwMode="auto">
            <a:xfrm flipH="1">
              <a:off x="5496114" y="4311620"/>
              <a:ext cx="512592" cy="396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sym typeface="Symbol" pitchFamily="18" charset="2"/>
                </a:rPr>
                <a:t></a:t>
              </a:r>
              <a:r>
                <a:rPr lang="en-US" baseline="-25000" dirty="0">
                  <a:sym typeface="Symbol" pitchFamily="18" charset="2"/>
                </a:rPr>
                <a:t>2</a:t>
              </a:r>
              <a:endParaRPr lang="en-US" baseline="-25000" dirty="0"/>
            </a:p>
          </p:txBody>
        </p:sp>
        <p:cxnSp>
          <p:nvCxnSpPr>
            <p:cNvPr id="14369" name="Straight Connector 30"/>
            <p:cNvCxnSpPr>
              <a:cxnSpLocks noChangeShapeType="1"/>
            </p:cNvCxnSpPr>
            <p:nvPr/>
          </p:nvCxnSpPr>
          <p:spPr bwMode="auto">
            <a:xfrm rot="5400000">
              <a:off x="5932451" y="5130122"/>
              <a:ext cx="1211334" cy="159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14370" name="Straight Connector 41"/>
            <p:cNvCxnSpPr>
              <a:cxnSpLocks noChangeShapeType="1"/>
            </p:cNvCxnSpPr>
            <p:nvPr/>
          </p:nvCxnSpPr>
          <p:spPr bwMode="auto">
            <a:xfrm rot="10800000">
              <a:off x="5869859" y="4511675"/>
              <a:ext cx="663677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6681788" y="3687763"/>
            <a:ext cx="2106612" cy="1630362"/>
            <a:chOff x="6592638" y="3623833"/>
            <a:chExt cx="2106847" cy="1631252"/>
          </a:xfrm>
        </p:grpSpPr>
        <p:sp>
          <p:nvSpPr>
            <p:cNvPr id="26" name="Line 6"/>
            <p:cNvSpPr>
              <a:spLocks noChangeShapeType="1"/>
            </p:cNvSpPr>
            <p:nvPr/>
          </p:nvSpPr>
          <p:spPr bwMode="auto">
            <a:xfrm>
              <a:off x="6592638" y="3623833"/>
              <a:ext cx="1541634" cy="1318344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363" name="Text Box 36"/>
            <p:cNvSpPr txBox="1">
              <a:spLocks noChangeArrowheads="1"/>
            </p:cNvSpPr>
            <p:nvPr/>
          </p:nvSpPr>
          <p:spPr bwMode="auto">
            <a:xfrm>
              <a:off x="8156500" y="4794368"/>
              <a:ext cx="542985" cy="3367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AD</a:t>
              </a:r>
              <a:r>
                <a:rPr lang="en-US" sz="1600" baseline="-25000"/>
                <a:t>2</a:t>
              </a:r>
            </a:p>
          </p:txBody>
        </p:sp>
        <p:sp>
          <p:nvSpPr>
            <p:cNvPr id="35" name="Right Arrow 34"/>
            <p:cNvSpPr/>
            <p:nvPr/>
          </p:nvSpPr>
          <p:spPr bwMode="auto">
            <a:xfrm>
              <a:off x="7388942" y="4866967"/>
              <a:ext cx="693174" cy="221226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6211888" y="3524250"/>
            <a:ext cx="2066925" cy="1479550"/>
            <a:chOff x="5975137" y="3460484"/>
            <a:chExt cx="2067872" cy="1480479"/>
          </a:xfrm>
        </p:grpSpPr>
        <p:sp>
          <p:nvSpPr>
            <p:cNvPr id="14360" name="Text Box 36"/>
            <p:cNvSpPr txBox="1">
              <a:spLocks noChangeArrowheads="1"/>
            </p:cNvSpPr>
            <p:nvPr/>
          </p:nvSpPr>
          <p:spPr bwMode="auto">
            <a:xfrm>
              <a:off x="7510953" y="3460484"/>
              <a:ext cx="532056" cy="3367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AS</a:t>
              </a:r>
              <a:r>
                <a:rPr lang="en-US" sz="1600" baseline="-25000"/>
                <a:t>2</a:t>
              </a:r>
            </a:p>
          </p:txBody>
        </p:sp>
        <p:cxnSp>
          <p:nvCxnSpPr>
            <p:cNvPr id="19" name="Straight Connector 18"/>
            <p:cNvCxnSpPr/>
            <p:nvPr/>
          </p:nvCxnSpPr>
          <p:spPr bwMode="auto">
            <a:xfrm flipV="1">
              <a:off x="5975137" y="3657458"/>
              <a:ext cx="1586639" cy="1283505"/>
            </a:xfrm>
            <a:prstGeom prst="line">
              <a:avLst/>
            </a:prstGeom>
            <a:ln>
              <a:solidFill>
                <a:srgbClr val="FF33CC"/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Picture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87388" y="115888"/>
            <a:ext cx="8229600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dirty="0"/>
              <a:t>Responding to An Aggregate Inflation Shock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57" y="1344059"/>
            <a:ext cx="8524875" cy="5288096"/>
          </a:xfrm>
        </p:spPr>
        <p:txBody>
          <a:bodyPr/>
          <a:lstStyle/>
          <a:p>
            <a:r>
              <a:rPr lang="en-US" sz="2500" dirty="0"/>
              <a:t>Suppose the </a:t>
            </a:r>
            <a:r>
              <a:rPr lang="en-US" sz="2400" dirty="0"/>
              <a:t>central bank</a:t>
            </a:r>
            <a:r>
              <a:rPr lang="en-US" sz="2500" dirty="0"/>
              <a:t> decides to maintain inflation at</a:t>
            </a:r>
            <a:r>
              <a:rPr lang="en-US" sz="2500" dirty="0">
                <a:sym typeface="Symbol" pitchFamily="18" charset="2"/>
              </a:rPr>
              <a:t> </a:t>
            </a:r>
            <a:r>
              <a:rPr lang="en-US" sz="2500" baseline="-25000" dirty="0">
                <a:sym typeface="Symbol" pitchFamily="18" charset="2"/>
              </a:rPr>
              <a:t>1</a:t>
            </a:r>
          </a:p>
          <a:p>
            <a:pPr lvl="1"/>
            <a:r>
              <a:rPr lang="en-US" sz="2300" dirty="0">
                <a:sym typeface="Symbol" pitchFamily="18" charset="2"/>
              </a:rPr>
              <a:t>Actual inflation is </a:t>
            </a:r>
            <a:r>
              <a:rPr lang="en-US" sz="2300" baseline="-25000" dirty="0">
                <a:sym typeface="Symbol" pitchFamily="18" charset="2"/>
              </a:rPr>
              <a:t>2</a:t>
            </a:r>
            <a:r>
              <a:rPr lang="en-US" sz="2300" dirty="0">
                <a:sym typeface="Symbol" pitchFamily="18" charset="2"/>
              </a:rPr>
              <a:t> </a:t>
            </a:r>
          </a:p>
          <a:p>
            <a:pPr lvl="1"/>
            <a:r>
              <a:rPr lang="en-US" sz="2300" dirty="0">
                <a:sym typeface="Symbol" pitchFamily="18" charset="2"/>
              </a:rPr>
              <a:t>Along AS</a:t>
            </a:r>
            <a:r>
              <a:rPr lang="en-US" sz="2300" baseline="-25000" dirty="0">
                <a:sym typeface="Symbol" pitchFamily="18" charset="2"/>
              </a:rPr>
              <a:t>2</a:t>
            </a:r>
            <a:r>
              <a:rPr lang="en-US" sz="2300" dirty="0">
                <a:sym typeface="Symbol" pitchFamily="18" charset="2"/>
              </a:rPr>
              <a:t>, expected inflation is </a:t>
            </a:r>
            <a:r>
              <a:rPr lang="en-US" sz="2300" baseline="-25000" dirty="0">
                <a:sym typeface="Symbol" pitchFamily="18" charset="2"/>
              </a:rPr>
              <a:t>3 </a:t>
            </a:r>
          </a:p>
          <a:p>
            <a:pPr lvl="1"/>
            <a:r>
              <a:rPr lang="en-US" sz="2300" dirty="0">
                <a:sym typeface="Symbol" pitchFamily="18" charset="2"/>
              </a:rPr>
              <a:t>When the </a:t>
            </a:r>
            <a:r>
              <a:rPr lang="en-US" sz="2400" dirty="0"/>
              <a:t>central bank</a:t>
            </a:r>
            <a:r>
              <a:rPr lang="en-US" sz="2300" dirty="0">
                <a:sym typeface="Symbol" pitchFamily="18" charset="2"/>
              </a:rPr>
              <a:t> fails</a:t>
            </a:r>
            <a:br>
              <a:rPr lang="en-US" sz="2300" dirty="0">
                <a:sym typeface="Symbol" pitchFamily="18" charset="2"/>
              </a:rPr>
            </a:br>
            <a:r>
              <a:rPr lang="en-US" sz="2300" dirty="0">
                <a:sym typeface="Symbol" pitchFamily="18" charset="2"/>
              </a:rPr>
              <a:t>to respond with looser </a:t>
            </a:r>
            <a:br>
              <a:rPr lang="en-US" sz="2300" dirty="0">
                <a:sym typeface="Symbol" pitchFamily="18" charset="2"/>
              </a:rPr>
            </a:br>
            <a:r>
              <a:rPr lang="en-US" sz="2300" dirty="0">
                <a:sym typeface="Symbol" pitchFamily="18" charset="2"/>
              </a:rPr>
              <a:t>monetary policy, expected </a:t>
            </a:r>
            <a:br>
              <a:rPr lang="en-US" sz="2300" dirty="0">
                <a:sym typeface="Symbol" pitchFamily="18" charset="2"/>
              </a:rPr>
            </a:br>
            <a:r>
              <a:rPr lang="en-US" sz="2300" dirty="0">
                <a:sym typeface="Symbol" pitchFamily="18" charset="2"/>
              </a:rPr>
              <a:t>inflation decreases</a:t>
            </a:r>
          </a:p>
          <a:p>
            <a:pPr lvl="1"/>
            <a:r>
              <a:rPr lang="en-US" sz="2300" dirty="0">
                <a:sym typeface="Symbol" pitchFamily="18" charset="2"/>
              </a:rPr>
              <a:t>AS</a:t>
            </a:r>
            <a:r>
              <a:rPr lang="en-US" sz="2300" baseline="-25000" dirty="0">
                <a:sym typeface="Symbol" pitchFamily="18" charset="2"/>
              </a:rPr>
              <a:t>2</a:t>
            </a:r>
            <a:r>
              <a:rPr lang="en-US" sz="2300" dirty="0">
                <a:sym typeface="Symbol" pitchFamily="18" charset="2"/>
              </a:rPr>
              <a:t> shifts back to AS</a:t>
            </a:r>
            <a:r>
              <a:rPr lang="en-US" sz="2300" baseline="-25000" dirty="0">
                <a:sym typeface="Symbol" pitchFamily="18" charset="2"/>
              </a:rPr>
              <a:t>1</a:t>
            </a:r>
          </a:p>
          <a:p>
            <a:pPr lvl="1"/>
            <a:r>
              <a:rPr lang="en-US" sz="2300" dirty="0">
                <a:sym typeface="Symbol" pitchFamily="18" charset="2"/>
              </a:rPr>
              <a:t>Original long-run equilibrium </a:t>
            </a:r>
            <a:br>
              <a:rPr lang="en-US" sz="2300" dirty="0">
                <a:sym typeface="Symbol" pitchFamily="18" charset="2"/>
              </a:rPr>
            </a:br>
            <a:r>
              <a:rPr lang="en-US" sz="2300" dirty="0">
                <a:sym typeface="Symbol" pitchFamily="18" charset="2"/>
              </a:rPr>
              <a:t>is restored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370645" y="3211330"/>
            <a:ext cx="3625867" cy="3200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446713" y="3270250"/>
            <a:ext cx="3473450" cy="30829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Line 25"/>
          <p:cNvSpPr>
            <a:spLocks noChangeShapeType="1"/>
          </p:cNvSpPr>
          <p:nvPr/>
        </p:nvSpPr>
        <p:spPr bwMode="auto">
          <a:xfrm>
            <a:off x="6418263" y="4238625"/>
            <a:ext cx="1541462" cy="1317625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rot="16200000">
            <a:off x="6191250" y="4751388"/>
            <a:ext cx="1946275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369" name="Text Box 17"/>
          <p:cNvSpPr txBox="1">
            <a:spLocks noChangeArrowheads="1"/>
          </p:cNvSpPr>
          <p:nvPr/>
        </p:nvSpPr>
        <p:spPr bwMode="auto">
          <a:xfrm>
            <a:off x="6892925" y="3522663"/>
            <a:ext cx="5461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LRAS</a:t>
            </a:r>
          </a:p>
        </p:txBody>
      </p:sp>
      <p:sp>
        <p:nvSpPr>
          <p:cNvPr id="15370" name="Text Box 38"/>
          <p:cNvSpPr txBox="1">
            <a:spLocks noChangeArrowheads="1"/>
          </p:cNvSpPr>
          <p:nvPr/>
        </p:nvSpPr>
        <p:spPr bwMode="auto">
          <a:xfrm>
            <a:off x="7515225" y="5781069"/>
            <a:ext cx="14017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Output (Y)</a:t>
            </a:r>
          </a:p>
        </p:txBody>
      </p:sp>
      <p:sp>
        <p:nvSpPr>
          <p:cNvPr id="15371" name="Text Box 62"/>
          <p:cNvSpPr txBox="1">
            <a:spLocks noChangeArrowheads="1"/>
          </p:cNvSpPr>
          <p:nvPr/>
        </p:nvSpPr>
        <p:spPr bwMode="auto">
          <a:xfrm flipH="1">
            <a:off x="5641975" y="4730750"/>
            <a:ext cx="512763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>
                <a:sym typeface="Symbol" pitchFamily="18" charset="2"/>
              </a:rPr>
              <a:t></a:t>
            </a:r>
            <a:r>
              <a:rPr lang="en-US" baseline="-25000">
                <a:sym typeface="Symbol" pitchFamily="18" charset="2"/>
              </a:rPr>
              <a:t>1</a:t>
            </a:r>
            <a:endParaRPr lang="en-US" baseline="-25000"/>
          </a:p>
        </p:txBody>
      </p:sp>
      <p:sp>
        <p:nvSpPr>
          <p:cNvPr id="15372" name="Text Box 23"/>
          <p:cNvSpPr txBox="1">
            <a:spLocks noChangeArrowheads="1"/>
          </p:cNvSpPr>
          <p:nvPr/>
        </p:nvSpPr>
        <p:spPr bwMode="auto">
          <a:xfrm>
            <a:off x="7902575" y="5345113"/>
            <a:ext cx="54133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AD</a:t>
            </a:r>
            <a:r>
              <a:rPr lang="en-US" sz="1600" baseline="-25000"/>
              <a:t>1</a:t>
            </a:r>
          </a:p>
        </p:txBody>
      </p:sp>
      <p:sp>
        <p:nvSpPr>
          <p:cNvPr id="15373" name="Text Box 19"/>
          <p:cNvSpPr txBox="1">
            <a:spLocks noChangeArrowheads="1"/>
          </p:cNvSpPr>
          <p:nvPr/>
        </p:nvSpPr>
        <p:spPr bwMode="auto">
          <a:xfrm flipH="1">
            <a:off x="6846888" y="5748338"/>
            <a:ext cx="5540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sym typeface="Symbol" pitchFamily="18" charset="2"/>
              </a:rPr>
              <a:t>Y </a:t>
            </a:r>
            <a:r>
              <a:rPr lang="en-US" sz="2000" baseline="-25000" dirty="0">
                <a:sym typeface="Symbol" pitchFamily="18" charset="2"/>
              </a:rPr>
              <a:t>1</a:t>
            </a:r>
            <a:endParaRPr lang="en-US" sz="2000" baseline="-25000" dirty="0"/>
          </a:p>
        </p:txBody>
      </p:sp>
      <p:sp>
        <p:nvSpPr>
          <p:cNvPr id="15374" name="Line 39"/>
          <p:cNvSpPr>
            <a:spLocks noChangeShapeType="1"/>
          </p:cNvSpPr>
          <p:nvPr/>
        </p:nvSpPr>
        <p:spPr bwMode="auto">
          <a:xfrm>
            <a:off x="6019800" y="3421063"/>
            <a:ext cx="1588" cy="231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5" name="Line 40"/>
          <p:cNvSpPr>
            <a:spLocks noChangeShapeType="1"/>
          </p:cNvSpPr>
          <p:nvPr/>
        </p:nvSpPr>
        <p:spPr bwMode="auto">
          <a:xfrm>
            <a:off x="6016625" y="5732463"/>
            <a:ext cx="2374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6" name="Text Box 41"/>
          <p:cNvSpPr txBox="1">
            <a:spLocks noChangeArrowheads="1"/>
          </p:cNvSpPr>
          <p:nvPr/>
        </p:nvSpPr>
        <p:spPr bwMode="auto">
          <a:xfrm rot="-5400000">
            <a:off x="4315103" y="4410829"/>
            <a:ext cx="24907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Inflation (</a:t>
            </a:r>
            <a:r>
              <a:rPr lang="en-US" sz="2000" dirty="0">
                <a:sym typeface="Symbol" pitchFamily="18" charset="2"/>
              </a:rPr>
              <a:t>)</a:t>
            </a:r>
            <a:endParaRPr lang="en-US" sz="2000" dirty="0"/>
          </a:p>
        </p:txBody>
      </p:sp>
      <p:sp>
        <p:nvSpPr>
          <p:cNvPr id="15377" name="Text Box 23"/>
          <p:cNvSpPr txBox="1">
            <a:spLocks noChangeArrowheads="1"/>
          </p:cNvSpPr>
          <p:nvPr/>
        </p:nvSpPr>
        <p:spPr bwMode="auto">
          <a:xfrm>
            <a:off x="8012113" y="4062413"/>
            <a:ext cx="54133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AS</a:t>
            </a:r>
            <a:r>
              <a:rPr lang="en-US" sz="1600" baseline="-25000"/>
              <a:t>1</a:t>
            </a:r>
          </a:p>
        </p:txBody>
      </p:sp>
      <p:cxnSp>
        <p:nvCxnSpPr>
          <p:cNvPr id="15378" name="Straight Connector 20"/>
          <p:cNvCxnSpPr>
            <a:cxnSpLocks noChangeShapeType="1"/>
          </p:cNvCxnSpPr>
          <p:nvPr/>
        </p:nvCxnSpPr>
        <p:spPr bwMode="auto">
          <a:xfrm rot="10800000">
            <a:off x="6019800" y="4916488"/>
            <a:ext cx="115252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16" name="Straight Connector 15"/>
          <p:cNvCxnSpPr/>
          <p:nvPr/>
        </p:nvCxnSpPr>
        <p:spPr bwMode="auto">
          <a:xfrm flipV="1">
            <a:off x="6315075" y="4195763"/>
            <a:ext cx="1730375" cy="1363662"/>
          </a:xfrm>
          <a:prstGeom prst="line">
            <a:avLst/>
          </a:prstGeom>
          <a:ln>
            <a:solidFill>
              <a:srgbClr val="FF33CC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5641975" y="4311651"/>
            <a:ext cx="1281113" cy="1837311"/>
            <a:chOff x="5494527" y="4311620"/>
            <a:chExt cx="1280686" cy="1837100"/>
          </a:xfrm>
        </p:grpSpPr>
        <p:sp>
          <p:nvSpPr>
            <p:cNvPr id="15389" name="Text Box 35"/>
            <p:cNvSpPr txBox="1">
              <a:spLocks noChangeArrowheads="1"/>
            </p:cNvSpPr>
            <p:nvPr/>
          </p:nvSpPr>
          <p:spPr bwMode="auto">
            <a:xfrm flipH="1">
              <a:off x="6315789" y="5748656"/>
              <a:ext cx="459424" cy="4000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sym typeface="Symbol" pitchFamily="18" charset="2"/>
                </a:rPr>
                <a:t>Y</a:t>
              </a:r>
              <a:r>
                <a:rPr lang="en-US" sz="2000" baseline="-25000" dirty="0">
                  <a:sym typeface="Symbol" pitchFamily="18" charset="2"/>
                </a:rPr>
                <a:t>2</a:t>
              </a:r>
              <a:endParaRPr lang="en-US" sz="2000" baseline="-25000" dirty="0"/>
            </a:p>
          </p:txBody>
        </p:sp>
        <p:sp>
          <p:nvSpPr>
            <p:cNvPr id="15390" name="Text Box 62"/>
            <p:cNvSpPr txBox="1">
              <a:spLocks noChangeArrowheads="1"/>
            </p:cNvSpPr>
            <p:nvPr/>
          </p:nvSpPr>
          <p:spPr bwMode="auto">
            <a:xfrm flipH="1">
              <a:off x="5494527" y="4311620"/>
              <a:ext cx="51193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>
                  <a:sym typeface="Symbol" pitchFamily="18" charset="2"/>
                </a:rPr>
                <a:t></a:t>
              </a:r>
              <a:r>
                <a:rPr lang="en-US" baseline="-25000">
                  <a:sym typeface="Symbol" pitchFamily="18" charset="2"/>
                </a:rPr>
                <a:t>2</a:t>
              </a:r>
              <a:endParaRPr lang="en-US" baseline="-25000"/>
            </a:p>
          </p:txBody>
        </p:sp>
        <p:cxnSp>
          <p:nvCxnSpPr>
            <p:cNvPr id="15391" name="Straight Connector 30"/>
            <p:cNvCxnSpPr>
              <a:cxnSpLocks noChangeShapeType="1"/>
            </p:cNvCxnSpPr>
            <p:nvPr/>
          </p:nvCxnSpPr>
          <p:spPr bwMode="auto">
            <a:xfrm rot="5400000">
              <a:off x="5932451" y="5130122"/>
              <a:ext cx="1211334" cy="159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15392" name="Straight Connector 41"/>
            <p:cNvCxnSpPr>
              <a:cxnSpLocks noChangeShapeType="1"/>
            </p:cNvCxnSpPr>
            <p:nvPr/>
          </p:nvCxnSpPr>
          <p:spPr bwMode="auto">
            <a:xfrm rot="10800000">
              <a:off x="5869859" y="4511675"/>
              <a:ext cx="663677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sp>
        <p:nvSpPr>
          <p:cNvPr id="15381" name="Text Box 36"/>
          <p:cNvSpPr txBox="1">
            <a:spLocks noChangeArrowheads="1"/>
          </p:cNvSpPr>
          <p:nvPr/>
        </p:nvSpPr>
        <p:spPr bwMode="auto">
          <a:xfrm>
            <a:off x="7658100" y="3460750"/>
            <a:ext cx="54451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AS</a:t>
            </a:r>
            <a:r>
              <a:rPr lang="en-US" sz="1600" baseline="-25000"/>
              <a:t>2</a:t>
            </a:r>
          </a:p>
        </p:txBody>
      </p:sp>
      <p:cxnSp>
        <p:nvCxnSpPr>
          <p:cNvPr id="19" name="Straight Connector 18"/>
          <p:cNvCxnSpPr/>
          <p:nvPr/>
        </p:nvCxnSpPr>
        <p:spPr bwMode="auto">
          <a:xfrm flipV="1">
            <a:off x="6122988" y="3657600"/>
            <a:ext cx="1587500" cy="1282700"/>
          </a:xfrm>
          <a:prstGeom prst="line">
            <a:avLst/>
          </a:prstGeom>
          <a:ln>
            <a:solidFill>
              <a:srgbClr val="FF33CC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5641975" y="3917950"/>
            <a:ext cx="1520825" cy="342900"/>
            <a:chOff x="5642007" y="3918536"/>
            <a:chExt cx="1520737" cy="342316"/>
          </a:xfrm>
        </p:grpSpPr>
        <p:cxnSp>
          <p:nvCxnSpPr>
            <p:cNvPr id="15387" name="Straight Connector 31"/>
            <p:cNvCxnSpPr>
              <a:cxnSpLocks noChangeShapeType="1"/>
            </p:cNvCxnSpPr>
            <p:nvPr/>
          </p:nvCxnSpPr>
          <p:spPr bwMode="auto">
            <a:xfrm rot="10800000">
              <a:off x="6009242" y="4087166"/>
              <a:ext cx="1153502" cy="135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15388" name="Text Box 62"/>
            <p:cNvSpPr txBox="1">
              <a:spLocks noChangeArrowheads="1"/>
            </p:cNvSpPr>
            <p:nvPr/>
          </p:nvSpPr>
          <p:spPr bwMode="auto">
            <a:xfrm flipH="1">
              <a:off x="5642007" y="3918536"/>
              <a:ext cx="511939" cy="3423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>
                  <a:sym typeface="Symbol" pitchFamily="18" charset="2"/>
                </a:rPr>
                <a:t></a:t>
              </a:r>
              <a:r>
                <a:rPr lang="en-US" baseline="-25000">
                  <a:sym typeface="Symbol" pitchFamily="18" charset="2"/>
                </a:rPr>
                <a:t>3</a:t>
              </a:r>
              <a:endParaRPr lang="en-US" baseline="-25000"/>
            </a:p>
          </p:txBody>
        </p:sp>
      </p:grpSp>
      <p:sp>
        <p:nvSpPr>
          <p:cNvPr id="34" name="Right Arrow 33"/>
          <p:cNvSpPr/>
          <p:nvPr/>
        </p:nvSpPr>
        <p:spPr bwMode="auto">
          <a:xfrm>
            <a:off x="7020232" y="4218039"/>
            <a:ext cx="766916" cy="206477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Anchored Inflationary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924800" cy="4648200"/>
          </a:xfrm>
        </p:spPr>
        <p:txBody>
          <a:bodyPr/>
          <a:lstStyle/>
          <a:p>
            <a:r>
              <a:rPr lang="en-US" b="1" dirty="0"/>
              <a:t>Anchored inflationary expectations</a:t>
            </a:r>
            <a:r>
              <a:rPr lang="en-US" dirty="0"/>
              <a:t> means people's expectations of future inflation do not change even if inflation rises temporarily</a:t>
            </a:r>
          </a:p>
          <a:p>
            <a:pPr lvl="1"/>
            <a:r>
              <a:rPr lang="en-US" dirty="0"/>
              <a:t>Inflation anchoring dampens response to an aggregate inflation shock</a:t>
            </a:r>
          </a:p>
          <a:p>
            <a:pPr lvl="1"/>
            <a:r>
              <a:rPr lang="en-US" dirty="0"/>
              <a:t>Businesses and consumers believe the central bank will reestablish its target inflation rate</a:t>
            </a:r>
          </a:p>
          <a:p>
            <a:pPr lvl="1"/>
            <a:r>
              <a:rPr lang="en-US" dirty="0"/>
              <a:t>Shortens the time required to close the recessionary gap from the shock</a:t>
            </a:r>
          </a:p>
          <a:p>
            <a:pPr lvl="2"/>
            <a:r>
              <a:rPr lang="en-US" dirty="0"/>
              <a:t>Encourages central bank to maintain its original inflation target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Credibility of Monetary Policy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199"/>
            <a:ext cx="7924800" cy="5026631"/>
          </a:xfrm>
        </p:spPr>
        <p:txBody>
          <a:bodyPr/>
          <a:lstStyle/>
          <a:p>
            <a:r>
              <a:rPr lang="en-US" dirty="0"/>
              <a:t>Credibility of monetary policy is the degree to which the public believes the central bank will defend its target inflation rate</a:t>
            </a:r>
          </a:p>
          <a:p>
            <a:pPr lvl="1"/>
            <a:r>
              <a:rPr lang="en-US" dirty="0"/>
              <a:t>More credible policy, more inflation is anchored</a:t>
            </a:r>
          </a:p>
          <a:p>
            <a:r>
              <a:rPr lang="en-US" dirty="0"/>
              <a:t>Factors that affect credibility</a:t>
            </a:r>
          </a:p>
          <a:p>
            <a:pPr lvl="1"/>
            <a:r>
              <a:rPr lang="en-US" dirty="0"/>
              <a:t>Degree of central bank's independence</a:t>
            </a:r>
          </a:p>
          <a:p>
            <a:pPr lvl="1"/>
            <a:r>
              <a:rPr lang="en-US" dirty="0"/>
              <a:t>The announcements of explicit inflation targets</a:t>
            </a:r>
          </a:p>
          <a:p>
            <a:pPr lvl="1"/>
            <a:r>
              <a:rPr lang="en-US" dirty="0"/>
              <a:t>Established reputation for fighting inflation</a:t>
            </a:r>
          </a:p>
          <a:p>
            <a:r>
              <a:rPr lang="en-US" sz="2500" dirty="0"/>
              <a:t>Announced target of inflation adds to credibility of monetary policy and strengthens anchoring</a:t>
            </a:r>
          </a:p>
          <a:p>
            <a:pPr lvl="1"/>
            <a:r>
              <a:rPr lang="en-US" dirty="0"/>
              <a:t>Reduce uncertainty in the financial markets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676275" y="98425"/>
            <a:ext cx="8229600" cy="1143000"/>
          </a:xfrm>
        </p:spPr>
        <p:txBody>
          <a:bodyPr/>
          <a:lstStyle/>
          <a:p>
            <a:r>
              <a:rPr lang="en-US"/>
              <a:t>Central Bank Independence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160463"/>
            <a:ext cx="7924800" cy="5404724"/>
          </a:xfrm>
        </p:spPr>
        <p:txBody>
          <a:bodyPr/>
          <a:lstStyle/>
          <a:p>
            <a:r>
              <a:rPr lang="en-US" dirty="0"/>
              <a:t>Central banks insulated from short-term issues are better able to stabilize the economy</a:t>
            </a:r>
          </a:p>
          <a:p>
            <a:r>
              <a:rPr lang="en-US" dirty="0"/>
              <a:t>Indicators of independence are </a:t>
            </a:r>
          </a:p>
          <a:p>
            <a:pPr lvl="1"/>
            <a:r>
              <a:rPr lang="en-US" dirty="0"/>
              <a:t>Length of appointments to the central bank</a:t>
            </a:r>
          </a:p>
          <a:p>
            <a:pPr lvl="1"/>
            <a:r>
              <a:rPr lang="en-US" dirty="0"/>
              <a:t>Whether the central bank's actions are subject to frequent interference</a:t>
            </a:r>
          </a:p>
          <a:p>
            <a:pPr lvl="1"/>
            <a:r>
              <a:rPr lang="en-US" dirty="0"/>
              <a:t>Whether the central bank has obligation to finance the national deficit</a:t>
            </a:r>
          </a:p>
          <a:p>
            <a:pPr lvl="1"/>
            <a:r>
              <a:rPr lang="en-US" dirty="0"/>
              <a:t>The degree to which the central bank's budget is controlled by the legislative or executive branch</a:t>
            </a:r>
          </a:p>
          <a:p>
            <a:r>
              <a:rPr lang="en-US" dirty="0"/>
              <a:t>Countries with independent central banks have lower inflation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325" y="125413"/>
            <a:ext cx="8229600" cy="1143000"/>
          </a:xfrm>
        </p:spPr>
        <p:txBody>
          <a:bodyPr/>
          <a:lstStyle/>
          <a:p>
            <a:r>
              <a:rPr lang="en-US"/>
              <a:t>Central Bank Reputation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idx="1"/>
          </p:nvPr>
        </p:nvSpPr>
        <p:spPr>
          <a:xfrm>
            <a:off x="909638" y="1062038"/>
            <a:ext cx="7924800" cy="4648200"/>
          </a:xfrm>
        </p:spPr>
        <p:txBody>
          <a:bodyPr/>
          <a:lstStyle/>
          <a:p>
            <a:r>
              <a:rPr lang="en-US"/>
              <a:t>A central bank's success at stabilizing the economy depends on whether its acts align with its reputation</a:t>
            </a:r>
          </a:p>
          <a:p>
            <a:pPr lvl="1"/>
            <a:r>
              <a:rPr lang="en-US"/>
              <a:t>Inflation hawk is committed to achieving and maintaining low inflation,</a:t>
            </a:r>
          </a:p>
          <a:p>
            <a:pPr lvl="2"/>
            <a:r>
              <a:rPr lang="en-US"/>
              <a:t>Accepts some short-run cost in reduced output and employment</a:t>
            </a:r>
          </a:p>
          <a:p>
            <a:pPr lvl="1"/>
            <a:r>
              <a:rPr lang="en-US"/>
              <a:t>Inflation dove is not strongly committed to achieving and maintaining low inflation</a:t>
            </a:r>
          </a:p>
          <a:p>
            <a:r>
              <a:rPr lang="en-US"/>
              <a:t>Inflation hawks are more successful in maintaining stable output and employment, even in the short run</a:t>
            </a:r>
          </a:p>
          <a:p>
            <a:pPr lvl="1"/>
            <a:r>
              <a:rPr lang="en-US"/>
              <a:t>Stronger anchoring of inflation expectations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>
          <a:xfrm>
            <a:off x="687388" y="123290"/>
            <a:ext cx="8229600" cy="903823"/>
          </a:xfrm>
        </p:spPr>
        <p:txBody>
          <a:bodyPr/>
          <a:lstStyle/>
          <a:p>
            <a:r>
              <a:rPr lang="en-US" dirty="0"/>
              <a:t>Supply Side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688" y="965200"/>
            <a:ext cx="7924800" cy="5589712"/>
          </a:xfrm>
        </p:spPr>
        <p:txBody>
          <a:bodyPr/>
          <a:lstStyle/>
          <a:p>
            <a:pPr marL="228600" indent="-228600"/>
            <a:r>
              <a:rPr lang="en-US" dirty="0"/>
              <a:t>Tax rates reduction increase aggregate spending through the consumption function</a:t>
            </a:r>
          </a:p>
          <a:p>
            <a:pPr lvl="1"/>
            <a:r>
              <a:rPr lang="en-US" dirty="0"/>
              <a:t>Shifts aggregate demand to the right</a:t>
            </a:r>
          </a:p>
          <a:p>
            <a:r>
              <a:rPr lang="en-US" dirty="0"/>
              <a:t>Supply-side effects shift long-run aggregate supply</a:t>
            </a:r>
          </a:p>
          <a:p>
            <a:pPr marL="228600" indent="-228600"/>
            <a:r>
              <a:rPr lang="en-US" dirty="0"/>
              <a:t>Whether inflation increases,</a:t>
            </a:r>
            <a:br>
              <a:rPr lang="en-US" dirty="0"/>
            </a:br>
            <a:r>
              <a:rPr lang="en-US" dirty="0"/>
              <a:t>decreases, or stays </a:t>
            </a:r>
          </a:p>
          <a:p>
            <a:pPr marL="228600" indent="-228600">
              <a:buFontTx/>
              <a:buNone/>
            </a:pPr>
            <a:r>
              <a:rPr lang="en-US" dirty="0"/>
              <a:t>    constant depends on the </a:t>
            </a:r>
          </a:p>
          <a:p>
            <a:pPr marL="228600" indent="-228600">
              <a:buFontTx/>
              <a:buNone/>
            </a:pPr>
            <a:r>
              <a:rPr lang="en-US" dirty="0"/>
              <a:t>    relative sizes of the shifts </a:t>
            </a:r>
          </a:p>
          <a:p>
            <a:pPr marL="228600" indent="-228600">
              <a:buFontTx/>
              <a:buNone/>
            </a:pPr>
            <a:r>
              <a:rPr lang="en-US" dirty="0"/>
              <a:t>    in AD and LRAS</a:t>
            </a:r>
          </a:p>
          <a:p>
            <a:pPr marL="228600" indent="-228600">
              <a:buFontTx/>
              <a:buNone/>
            </a:pPr>
            <a:r>
              <a:rPr lang="en-US" dirty="0"/>
              <a:t>Weak empirical support for</a:t>
            </a:r>
          </a:p>
          <a:p>
            <a:pPr marL="228600" indent="-228600">
              <a:buFontTx/>
              <a:buNone/>
            </a:pPr>
            <a:r>
              <a:rPr lang="en-US" dirty="0"/>
              <a:t>Supply side economics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472245" y="3326990"/>
            <a:ext cx="3625867" cy="31228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538039" y="3374276"/>
            <a:ext cx="3473450" cy="30067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Line 25"/>
          <p:cNvSpPr>
            <a:spLocks noChangeShapeType="1"/>
          </p:cNvSpPr>
          <p:nvPr/>
        </p:nvSpPr>
        <p:spPr bwMode="auto">
          <a:xfrm>
            <a:off x="6265863" y="4495800"/>
            <a:ext cx="1279525" cy="1090613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rot="16200000">
            <a:off x="5858669" y="4844257"/>
            <a:ext cx="1900237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681" name="Text Box 17"/>
          <p:cNvSpPr txBox="1">
            <a:spLocks noChangeArrowheads="1"/>
          </p:cNvSpPr>
          <p:nvPr/>
        </p:nvSpPr>
        <p:spPr bwMode="auto">
          <a:xfrm>
            <a:off x="6286500" y="3590925"/>
            <a:ext cx="849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/>
              <a:t>LRAS</a:t>
            </a:r>
            <a:r>
              <a:rPr lang="en-US" sz="1600" baseline="-25000"/>
              <a:t>1</a:t>
            </a:r>
          </a:p>
        </p:txBody>
      </p:sp>
      <p:sp>
        <p:nvSpPr>
          <p:cNvPr id="28682" name="Text Box 38"/>
          <p:cNvSpPr txBox="1">
            <a:spLocks noChangeArrowheads="1"/>
          </p:cNvSpPr>
          <p:nvPr/>
        </p:nvSpPr>
        <p:spPr bwMode="auto">
          <a:xfrm>
            <a:off x="7606551" y="5871378"/>
            <a:ext cx="14017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Output (Y)</a:t>
            </a:r>
          </a:p>
        </p:txBody>
      </p:sp>
      <p:sp>
        <p:nvSpPr>
          <p:cNvPr id="28683" name="Text Box 62"/>
          <p:cNvSpPr txBox="1">
            <a:spLocks noChangeArrowheads="1"/>
          </p:cNvSpPr>
          <p:nvPr/>
        </p:nvSpPr>
        <p:spPr bwMode="auto">
          <a:xfrm flipH="1">
            <a:off x="5745163" y="4808538"/>
            <a:ext cx="5127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>
                <a:sym typeface="Symbol" pitchFamily="18" charset="2"/>
              </a:rPr>
              <a:t></a:t>
            </a:r>
            <a:r>
              <a:rPr lang="en-US" baseline="-25000">
                <a:sym typeface="Symbol" pitchFamily="18" charset="2"/>
              </a:rPr>
              <a:t>1</a:t>
            </a:r>
            <a:endParaRPr lang="en-US" baseline="-25000"/>
          </a:p>
        </p:txBody>
      </p:sp>
      <p:sp>
        <p:nvSpPr>
          <p:cNvPr id="28684" name="Text Box 23"/>
          <p:cNvSpPr txBox="1">
            <a:spLocks noChangeArrowheads="1"/>
          </p:cNvSpPr>
          <p:nvPr/>
        </p:nvSpPr>
        <p:spPr bwMode="auto">
          <a:xfrm>
            <a:off x="7562850" y="5465763"/>
            <a:ext cx="5413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AD</a:t>
            </a:r>
            <a:r>
              <a:rPr lang="en-US" sz="1600" baseline="-25000"/>
              <a:t>1</a:t>
            </a:r>
          </a:p>
        </p:txBody>
      </p:sp>
      <p:sp>
        <p:nvSpPr>
          <p:cNvPr id="28685" name="Text Box 19"/>
          <p:cNvSpPr txBox="1">
            <a:spLocks noChangeArrowheads="1"/>
          </p:cNvSpPr>
          <p:nvPr/>
        </p:nvSpPr>
        <p:spPr bwMode="auto">
          <a:xfrm flipH="1">
            <a:off x="6551613" y="5802313"/>
            <a:ext cx="5540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sym typeface="Symbol" pitchFamily="18" charset="2"/>
              </a:rPr>
              <a:t>Y </a:t>
            </a:r>
            <a:r>
              <a:rPr lang="en-US" sz="2000" baseline="-25000" dirty="0">
                <a:sym typeface="Symbol" pitchFamily="18" charset="2"/>
              </a:rPr>
              <a:t>1</a:t>
            </a:r>
            <a:endParaRPr lang="en-US" sz="2000" baseline="-25000" dirty="0"/>
          </a:p>
        </p:txBody>
      </p:sp>
      <p:sp>
        <p:nvSpPr>
          <p:cNvPr id="28686" name="Line 39"/>
          <p:cNvSpPr>
            <a:spLocks noChangeShapeType="1"/>
          </p:cNvSpPr>
          <p:nvPr/>
        </p:nvSpPr>
        <p:spPr bwMode="auto">
          <a:xfrm>
            <a:off x="6121400" y="3530600"/>
            <a:ext cx="1588" cy="2255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87" name="Line 40"/>
          <p:cNvSpPr>
            <a:spLocks noChangeShapeType="1"/>
          </p:cNvSpPr>
          <p:nvPr/>
        </p:nvSpPr>
        <p:spPr bwMode="auto">
          <a:xfrm>
            <a:off x="6118225" y="5786438"/>
            <a:ext cx="2374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88" name="Text Box 41"/>
          <p:cNvSpPr txBox="1">
            <a:spLocks noChangeArrowheads="1"/>
          </p:cNvSpPr>
          <p:nvPr/>
        </p:nvSpPr>
        <p:spPr bwMode="auto">
          <a:xfrm rot="-5400000">
            <a:off x="4441442" y="4558859"/>
            <a:ext cx="25645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Inflation (</a:t>
            </a:r>
            <a:r>
              <a:rPr lang="en-US" sz="2000" dirty="0">
                <a:sym typeface="Symbol" pitchFamily="18" charset="2"/>
              </a:rPr>
              <a:t>)</a:t>
            </a:r>
            <a:endParaRPr lang="en-US" sz="2000" dirty="0"/>
          </a:p>
        </p:txBody>
      </p:sp>
      <p:cxnSp>
        <p:nvCxnSpPr>
          <p:cNvPr id="28689" name="Straight Connector 16"/>
          <p:cNvCxnSpPr>
            <a:cxnSpLocks noChangeShapeType="1"/>
          </p:cNvCxnSpPr>
          <p:nvPr/>
        </p:nvCxnSpPr>
        <p:spPr bwMode="auto">
          <a:xfrm rot="10800000">
            <a:off x="6121400" y="4991100"/>
            <a:ext cx="676275" cy="3175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6811963" y="4486275"/>
            <a:ext cx="1916112" cy="1346200"/>
            <a:chOff x="6710516" y="4448690"/>
            <a:chExt cx="1915786" cy="1345390"/>
          </a:xfrm>
        </p:grpSpPr>
        <p:sp>
          <p:nvSpPr>
            <p:cNvPr id="28" name="Line 25"/>
            <p:cNvSpPr>
              <a:spLocks noChangeShapeType="1"/>
            </p:cNvSpPr>
            <p:nvPr/>
          </p:nvSpPr>
          <p:spPr bwMode="auto">
            <a:xfrm>
              <a:off x="6745435" y="4448690"/>
              <a:ext cx="1277720" cy="1089957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699" name="Text Box 23"/>
            <p:cNvSpPr txBox="1">
              <a:spLocks noChangeArrowheads="1"/>
            </p:cNvSpPr>
            <p:nvPr/>
          </p:nvSpPr>
          <p:spPr bwMode="auto">
            <a:xfrm>
              <a:off x="8085057" y="5289559"/>
              <a:ext cx="541245" cy="5045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AD</a:t>
              </a:r>
              <a:r>
                <a:rPr lang="en-US" sz="1600" baseline="-25000"/>
                <a:t>2</a:t>
              </a:r>
            </a:p>
          </p:txBody>
        </p:sp>
        <p:sp>
          <p:nvSpPr>
            <p:cNvPr id="32" name="Right Arrow 31"/>
            <p:cNvSpPr/>
            <p:nvPr/>
          </p:nvSpPr>
          <p:spPr bwMode="auto">
            <a:xfrm>
              <a:off x="7079226" y="5058696"/>
              <a:ext cx="398205" cy="176982"/>
            </a:xfrm>
            <a:prstGeom prst="rightArrow">
              <a:avLst>
                <a:gd name="adj1" fmla="val 50000"/>
                <a:gd name="adj2" fmla="val 66216"/>
              </a:avLst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28703" name="Straight Connector 40"/>
            <p:cNvCxnSpPr>
              <a:cxnSpLocks noChangeShapeType="1"/>
            </p:cNvCxnSpPr>
            <p:nvPr/>
          </p:nvCxnSpPr>
          <p:spPr bwMode="auto">
            <a:xfrm>
              <a:off x="6710516" y="4953722"/>
              <a:ext cx="560439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6870700" y="3590925"/>
            <a:ext cx="993775" cy="2616261"/>
            <a:chOff x="6769509" y="3552545"/>
            <a:chExt cx="993070" cy="2616032"/>
          </a:xfrm>
        </p:grpSpPr>
        <p:sp>
          <p:nvSpPr>
            <p:cNvPr id="29" name="Line 7"/>
            <p:cNvSpPr>
              <a:spLocks noChangeShapeType="1"/>
            </p:cNvSpPr>
            <p:nvPr/>
          </p:nvSpPr>
          <p:spPr bwMode="auto">
            <a:xfrm rot="16200000">
              <a:off x="6337425" y="4797036"/>
              <a:ext cx="189848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693" name="Text Box 17"/>
            <p:cNvSpPr txBox="1">
              <a:spLocks noChangeArrowheads="1"/>
            </p:cNvSpPr>
            <p:nvPr/>
          </p:nvSpPr>
          <p:spPr bwMode="auto">
            <a:xfrm>
              <a:off x="6912283" y="3552545"/>
              <a:ext cx="850296" cy="3365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/>
                <a:t>LRAS</a:t>
              </a:r>
              <a:r>
                <a:rPr lang="en-US" sz="1600" baseline="-25000"/>
                <a:t>2</a:t>
              </a:r>
            </a:p>
          </p:txBody>
        </p:sp>
        <p:sp>
          <p:nvSpPr>
            <p:cNvPr id="28694" name="Text Box 19"/>
            <p:cNvSpPr txBox="1">
              <a:spLocks noChangeArrowheads="1"/>
            </p:cNvSpPr>
            <p:nvPr/>
          </p:nvSpPr>
          <p:spPr bwMode="auto">
            <a:xfrm flipH="1">
              <a:off x="7001120" y="5768502"/>
              <a:ext cx="553644" cy="4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sym typeface="Symbol" pitchFamily="18" charset="2"/>
                </a:rPr>
                <a:t>Y </a:t>
              </a:r>
              <a:r>
                <a:rPr lang="en-US" sz="2000" baseline="-25000" dirty="0">
                  <a:sym typeface="Symbol" pitchFamily="18" charset="2"/>
                </a:rPr>
                <a:t>2</a:t>
              </a:r>
              <a:endParaRPr lang="en-US" sz="2000" baseline="-25000" dirty="0"/>
            </a:p>
          </p:txBody>
        </p:sp>
        <p:sp>
          <p:nvSpPr>
            <p:cNvPr id="34" name="Left Arrow 33"/>
            <p:cNvSpPr/>
            <p:nvPr/>
          </p:nvSpPr>
          <p:spPr bwMode="auto">
            <a:xfrm flipH="1">
              <a:off x="6769509" y="4114799"/>
              <a:ext cx="486696" cy="176982"/>
            </a:xfrm>
            <a:prstGeom prst="leftArrow">
              <a:avLst>
                <a:gd name="adj1" fmla="val 50000"/>
                <a:gd name="adj2" fmla="val 65385"/>
              </a:avLst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Effectiveness of Policymaking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7924800" cy="4648200"/>
          </a:xfrm>
        </p:spPr>
        <p:txBody>
          <a:bodyPr/>
          <a:lstStyle/>
          <a:p>
            <a:r>
              <a:rPr lang="en-US"/>
              <a:t>Macroeconomic policy works best with</a:t>
            </a:r>
          </a:p>
          <a:p>
            <a:pPr lvl="1"/>
            <a:r>
              <a:rPr lang="en-US"/>
              <a:t>Accurate knowledge of current economic conditions</a:t>
            </a:r>
          </a:p>
          <a:p>
            <a:pPr lvl="1"/>
            <a:r>
              <a:rPr lang="en-US"/>
              <a:t>Knowledge of the future path of the economy without policy</a:t>
            </a:r>
          </a:p>
          <a:p>
            <a:pPr lvl="1"/>
            <a:r>
              <a:rPr lang="en-US"/>
              <a:t>Precise value of potential output</a:t>
            </a:r>
          </a:p>
          <a:p>
            <a:pPr lvl="1"/>
            <a:r>
              <a:rPr lang="en-US"/>
              <a:t>Good control of fiscal and monetary policies</a:t>
            </a:r>
          </a:p>
          <a:p>
            <a:pPr lvl="1"/>
            <a:r>
              <a:rPr lang="en-US"/>
              <a:t>Knowledge of how and when the economy will respond to policy changes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 to Perfect Policies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7924800" cy="4648200"/>
          </a:xfrm>
        </p:spPr>
        <p:txBody>
          <a:bodyPr/>
          <a:lstStyle/>
          <a:p>
            <a:r>
              <a:rPr lang="en-US"/>
              <a:t>Policy makers act with an approximate understanding of the economy</a:t>
            </a:r>
          </a:p>
          <a:p>
            <a:r>
              <a:rPr lang="en-US"/>
              <a:t>Policy is subject to lags</a:t>
            </a:r>
          </a:p>
          <a:p>
            <a:pPr lvl="1"/>
            <a:r>
              <a:rPr lang="en-US"/>
              <a:t>The</a:t>
            </a:r>
            <a:r>
              <a:rPr lang="en-US" b="1"/>
              <a:t> inside lag</a:t>
            </a:r>
            <a:r>
              <a:rPr lang="en-US"/>
              <a:t> is the delay between the time a policy change is needed and the time it is implemented</a:t>
            </a:r>
          </a:p>
          <a:p>
            <a:pPr lvl="2"/>
            <a:r>
              <a:rPr lang="en-US"/>
              <a:t>Shorter for monetary policy than for fiscal policy</a:t>
            </a:r>
          </a:p>
          <a:p>
            <a:pPr lvl="1"/>
            <a:r>
              <a:rPr lang="en-US"/>
              <a:t>The </a:t>
            </a:r>
            <a:r>
              <a:rPr lang="en-US" b="1"/>
              <a:t>outside lag</a:t>
            </a:r>
            <a:r>
              <a:rPr lang="en-US"/>
              <a:t> is the delay between policy implementation and the major effects of the policy occur</a:t>
            </a:r>
          </a:p>
          <a:p>
            <a:pPr lvl="2"/>
            <a:r>
              <a:rPr lang="en-US"/>
              <a:t>Longer for monetary policy than for fiscal policy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This is the end of Lecture 11. 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Thank you for your participation.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Please send your query to me via my email at khayboon@ntu.edu.sg.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319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1838</TotalTime>
  <Words>2806</Words>
  <Application>Microsoft Office PowerPoint</Application>
  <PresentationFormat>On-screen Show (4:3)</PresentationFormat>
  <Paragraphs>535</Paragraphs>
  <Slides>45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Batang</vt:lpstr>
      <vt:lpstr>Arial</vt:lpstr>
      <vt:lpstr>Arial Black</vt:lpstr>
      <vt:lpstr>Cambria Math</vt:lpstr>
      <vt:lpstr>Symbol</vt:lpstr>
      <vt:lpstr>Times New Roman</vt:lpstr>
      <vt:lpstr>Default Design</vt:lpstr>
      <vt:lpstr>HE5091 Principles of Economics Lecture 11 Aggregate Demand, Aggregate Supply and Macroeconomic Policy</vt:lpstr>
      <vt:lpstr>Topics</vt:lpstr>
      <vt:lpstr>Aggregate Demand and Aggregate Supply </vt:lpstr>
      <vt:lpstr>Long-Run Equilibrium</vt:lpstr>
      <vt:lpstr>Short-Run Equilibrium: Contractionary Gap</vt:lpstr>
      <vt:lpstr>Short-Run Equilibrium: Expansionary Gap</vt:lpstr>
      <vt:lpstr>Adjustment to Long-Run Equilibrium</vt:lpstr>
      <vt:lpstr>The Aggregate Demand Curve</vt:lpstr>
      <vt:lpstr>Shifts in AD Curve</vt:lpstr>
      <vt:lpstr>Shifts in AD Curve</vt:lpstr>
      <vt:lpstr>Shifts in AD Curve</vt:lpstr>
      <vt:lpstr>The Aggregate Supply Curve</vt:lpstr>
      <vt:lpstr>The Aggregate Supply Curve</vt:lpstr>
      <vt:lpstr>Inflation Inertia</vt:lpstr>
      <vt:lpstr>Inflation Expectations</vt:lpstr>
      <vt:lpstr>Expected Inflation</vt:lpstr>
      <vt:lpstr>The Role of Long-Term Contracts</vt:lpstr>
      <vt:lpstr>The Output Gap and Inflation</vt:lpstr>
      <vt:lpstr>The Aggregate Supply Curve</vt:lpstr>
      <vt:lpstr>Shifts in the AS Curve</vt:lpstr>
      <vt:lpstr>Shifts in the AS Curve</vt:lpstr>
      <vt:lpstr>Inflation Expectations</vt:lpstr>
      <vt:lpstr>Inflation Shock</vt:lpstr>
      <vt:lpstr>Inflation Shocks</vt:lpstr>
      <vt:lpstr>Favourable Demand Shock</vt:lpstr>
      <vt:lpstr>Adverse Demand Shock</vt:lpstr>
      <vt:lpstr>Favourable Supply Shock</vt:lpstr>
      <vt:lpstr>Adverse Supply Shock</vt:lpstr>
      <vt:lpstr>An Expansionary Gap</vt:lpstr>
      <vt:lpstr>Adjustment from an Expansionary Gap</vt:lpstr>
      <vt:lpstr>A Recessionary Gap</vt:lpstr>
      <vt:lpstr>Self-Correcting Economy</vt:lpstr>
      <vt:lpstr>Self-Correcting Economy</vt:lpstr>
      <vt:lpstr>Stabilization Policy and Demand Shocks</vt:lpstr>
      <vt:lpstr>Responding to Aggregate Inflation Shocks</vt:lpstr>
      <vt:lpstr>Accommodating an Aggregate Inflation Shock</vt:lpstr>
      <vt:lpstr>Responding to An Aggregate Inflation Shock</vt:lpstr>
      <vt:lpstr>Anchored Inflationary Expectations</vt:lpstr>
      <vt:lpstr>Credibility of Monetary Policy</vt:lpstr>
      <vt:lpstr>Central Bank Independence</vt:lpstr>
      <vt:lpstr>Central Bank Reputation</vt:lpstr>
      <vt:lpstr>Supply Side Economics</vt:lpstr>
      <vt:lpstr>Effectiveness of Policymaking</vt:lpstr>
      <vt:lpstr>Barriers to Perfect Policies</vt:lpstr>
      <vt:lpstr>Thank You</vt:lpstr>
    </vt:vector>
  </TitlesOfParts>
  <Company>UNC Charlotte</Company>
  <LinksUpToDate>false</LinksUpToDate>
  <SharedDoc>false</SharedDoc>
  <HyperlinkBase>assets/\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Carol Swartz</dc:creator>
  <cp:lastModifiedBy>Dr Tan Khay Boon</cp:lastModifiedBy>
  <cp:revision>170</cp:revision>
  <dcterms:created xsi:type="dcterms:W3CDTF">2010-08-19T13:36:39Z</dcterms:created>
  <dcterms:modified xsi:type="dcterms:W3CDTF">2024-08-07T02:49:06Z</dcterms:modified>
</cp:coreProperties>
</file>