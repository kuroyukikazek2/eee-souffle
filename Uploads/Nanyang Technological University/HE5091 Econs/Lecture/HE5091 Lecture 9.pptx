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68"/>
  </p:notesMasterIdLst>
  <p:handoutMasterIdLst>
    <p:handoutMasterId r:id="rId69"/>
  </p:handoutMasterIdLst>
  <p:sldIdLst>
    <p:sldId id="384" r:id="rId2"/>
    <p:sldId id="385" r:id="rId3"/>
    <p:sldId id="388" r:id="rId4"/>
    <p:sldId id="389" r:id="rId5"/>
    <p:sldId id="390" r:id="rId6"/>
    <p:sldId id="391" r:id="rId7"/>
    <p:sldId id="394" r:id="rId8"/>
    <p:sldId id="395" r:id="rId9"/>
    <p:sldId id="396" r:id="rId10"/>
    <p:sldId id="397" r:id="rId11"/>
    <p:sldId id="398" r:id="rId12"/>
    <p:sldId id="513" r:id="rId13"/>
    <p:sldId id="400" r:id="rId14"/>
    <p:sldId id="405" r:id="rId15"/>
    <p:sldId id="407" r:id="rId16"/>
    <p:sldId id="412" r:id="rId17"/>
    <p:sldId id="413" r:id="rId18"/>
    <p:sldId id="414" r:id="rId19"/>
    <p:sldId id="415" r:id="rId20"/>
    <p:sldId id="416" r:id="rId21"/>
    <p:sldId id="419" r:id="rId22"/>
    <p:sldId id="420" r:id="rId23"/>
    <p:sldId id="422" r:id="rId24"/>
    <p:sldId id="423" r:id="rId25"/>
    <p:sldId id="424" r:id="rId26"/>
    <p:sldId id="429" r:id="rId27"/>
    <p:sldId id="430" r:id="rId28"/>
    <p:sldId id="431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6" r:id="rId39"/>
    <p:sldId id="448" r:id="rId40"/>
    <p:sldId id="449" r:id="rId41"/>
    <p:sldId id="450" r:id="rId42"/>
    <p:sldId id="451" r:id="rId43"/>
    <p:sldId id="452" r:id="rId44"/>
    <p:sldId id="453" r:id="rId45"/>
    <p:sldId id="454" r:id="rId46"/>
    <p:sldId id="455" r:id="rId47"/>
    <p:sldId id="456" r:id="rId48"/>
    <p:sldId id="457" r:id="rId49"/>
    <p:sldId id="458" r:id="rId50"/>
    <p:sldId id="514" r:id="rId51"/>
    <p:sldId id="516" r:id="rId52"/>
    <p:sldId id="459" r:id="rId53"/>
    <p:sldId id="460" r:id="rId54"/>
    <p:sldId id="461" r:id="rId55"/>
    <p:sldId id="517" r:id="rId56"/>
    <p:sldId id="520" r:id="rId57"/>
    <p:sldId id="524" r:id="rId58"/>
    <p:sldId id="498" r:id="rId59"/>
    <p:sldId id="500" r:id="rId60"/>
    <p:sldId id="501" r:id="rId61"/>
    <p:sldId id="502" r:id="rId62"/>
    <p:sldId id="505" r:id="rId63"/>
    <p:sldId id="507" r:id="rId64"/>
    <p:sldId id="521" r:id="rId65"/>
    <p:sldId id="523" r:id="rId66"/>
    <p:sldId id="525" r:id="rId67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8" autoAdjust="0"/>
    <p:restoredTop sz="86509" autoAdjust="0"/>
  </p:normalViewPr>
  <p:slideViewPr>
    <p:cSldViewPr snapToGrid="0">
      <p:cViewPr varScale="1">
        <p:scale>
          <a:sx n="54" d="100"/>
          <a:sy n="54" d="100"/>
        </p:scale>
        <p:origin x="936" y="60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8188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Research\McGraw%20Hill\Revised%20Chapters\Figure%2019.2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1777302913085451E-2"/>
          <c:y val="6.5775981068822736E-2"/>
          <c:w val="0.85652995500713169"/>
          <c:h val="0.9057044166656327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Singapore!$F$2</c:f>
              <c:strCache>
                <c:ptCount val="1"/>
                <c:pt idx="0">
                  <c:v>Singapore</c:v>
                </c:pt>
              </c:strCache>
            </c:strRef>
          </c:tx>
          <c:spPr>
            <a:ln w="38100">
              <a:solidFill>
                <a:srgbClr val="002060"/>
              </a:solidFill>
            </a:ln>
          </c:spPr>
          <c:marker>
            <c:symbol val="none"/>
          </c:marker>
          <c:xVal>
            <c:numRef>
              <c:f>Singapore!$A$3:$A$54</c:f>
              <c:numCache>
                <c:formatCode>General</c:formatCode>
                <c:ptCount val="52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</c:numCache>
            </c:numRef>
          </c:xVal>
          <c:yVal>
            <c:numRef>
              <c:f>Singapore!$F$3:$F$54</c:f>
              <c:numCache>
                <c:formatCode>0.00</c:formatCode>
                <c:ptCount val="52"/>
                <c:pt idx="0">
                  <c:v>-2.3232089033155567</c:v>
                </c:pt>
                <c:pt idx="1">
                  <c:v>-3.0303030303030303</c:v>
                </c:pt>
                <c:pt idx="2">
                  <c:v>5.0668459773751922</c:v>
                </c:pt>
                <c:pt idx="3">
                  <c:v>2.7672911176009789</c:v>
                </c:pt>
                <c:pt idx="4">
                  <c:v>8.9513505610585185</c:v>
                </c:pt>
                <c:pt idx="5">
                  <c:v>10.646502581986454</c:v>
                </c:pt>
                <c:pt idx="6">
                  <c:v>14.516513652080604</c:v>
                </c:pt>
                <c:pt idx="7">
                  <c:v>14.590813093980994</c:v>
                </c:pt>
                <c:pt idx="8">
                  <c:v>19.164202370309184</c:v>
                </c:pt>
                <c:pt idx="9">
                  <c:v>18.851280839584927</c:v>
                </c:pt>
                <c:pt idx="10">
                  <c:v>19.181415929203581</c:v>
                </c:pt>
                <c:pt idx="11">
                  <c:v>19.729718023129848</c:v>
                </c:pt>
                <c:pt idx="12">
                  <c:v>25.303702275356684</c:v>
                </c:pt>
                <c:pt idx="13">
                  <c:v>29.876692945219322</c:v>
                </c:pt>
                <c:pt idx="14">
                  <c:v>29.503810541588329</c:v>
                </c:pt>
                <c:pt idx="15">
                  <c:v>29.444043636999584</c:v>
                </c:pt>
                <c:pt idx="16">
                  <c:v>32.593235039028663</c:v>
                </c:pt>
                <c:pt idx="17">
                  <c:v>33.680561934681833</c:v>
                </c:pt>
                <c:pt idx="18">
                  <c:v>34.005431426869713</c:v>
                </c:pt>
                <c:pt idx="19">
                  <c:v>36.340368655294327</c:v>
                </c:pt>
                <c:pt idx="20">
                  <c:v>38.031450881260398</c:v>
                </c:pt>
                <c:pt idx="21">
                  <c:v>41.329944910591252</c:v>
                </c:pt>
                <c:pt idx="22">
                  <c:v>44.396668912609201</c:v>
                </c:pt>
                <c:pt idx="23">
                  <c:v>47.06427174782106</c:v>
                </c:pt>
                <c:pt idx="24">
                  <c:v>46.756264840953193</c:v>
                </c:pt>
                <c:pt idx="25">
                  <c:v>41.186201599621874</c:v>
                </c:pt>
                <c:pt idx="26">
                  <c:v>38.906527735212883</c:v>
                </c:pt>
                <c:pt idx="27">
                  <c:v>39.124524377642359</c:v>
                </c:pt>
                <c:pt idx="28">
                  <c:v>42.463470568143855</c:v>
                </c:pt>
                <c:pt idx="29">
                  <c:v>44.65500914315578</c:v>
                </c:pt>
                <c:pt idx="30">
                  <c:v>45.117529897457899</c:v>
                </c:pt>
                <c:pt idx="31">
                  <c:v>46.675975864410262</c:v>
                </c:pt>
                <c:pt idx="32">
                  <c:v>46.80594915060189</c:v>
                </c:pt>
                <c:pt idx="33">
                  <c:v>46.376132282761965</c:v>
                </c:pt>
                <c:pt idx="34">
                  <c:v>48.576373430882001</c:v>
                </c:pt>
                <c:pt idx="35">
                  <c:v>50.030226953366075</c:v>
                </c:pt>
                <c:pt idx="36">
                  <c:v>50.900694148468496</c:v>
                </c:pt>
                <c:pt idx="37">
                  <c:v>51.924807797307878</c:v>
                </c:pt>
                <c:pt idx="38">
                  <c:v>51.740359197937003</c:v>
                </c:pt>
                <c:pt idx="39">
                  <c:v>48.502271875797078</c:v>
                </c:pt>
                <c:pt idx="40">
                  <c:v>46.033837257148754</c:v>
                </c:pt>
                <c:pt idx="41">
                  <c:v>42.340493368487493</c:v>
                </c:pt>
                <c:pt idx="42">
                  <c:v>41.229948336255035</c:v>
                </c:pt>
                <c:pt idx="43">
                  <c:v>43.9969133956238</c:v>
                </c:pt>
                <c:pt idx="44">
                  <c:v>47.408393977033256</c:v>
                </c:pt>
                <c:pt idx="45">
                  <c:v>49.376831316938762</c:v>
                </c:pt>
                <c:pt idx="46">
                  <c:v>50.573450453103469</c:v>
                </c:pt>
                <c:pt idx="47">
                  <c:v>53.007767428513247</c:v>
                </c:pt>
                <c:pt idx="48">
                  <c:v>49.921532121601849</c:v>
                </c:pt>
                <c:pt idx="49">
                  <c:v>49.293162877153563</c:v>
                </c:pt>
                <c:pt idx="50">
                  <c:v>50.549644429306277</c:v>
                </c:pt>
                <c:pt idx="51">
                  <c:v>49.107891384085548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F7B-4DD1-A29B-2C2B827F0E2E}"/>
            </c:ext>
          </c:extLst>
        </c:ser>
        <c:ser>
          <c:idx val="1"/>
          <c:order val="1"/>
          <c:tx>
            <c:strRef>
              <c:f>Singapore!$G$2</c:f>
              <c:strCache>
                <c:ptCount val="1"/>
                <c:pt idx="0">
                  <c:v>United States</c:v>
                </c:pt>
              </c:strCache>
            </c:strRef>
          </c:tx>
          <c:spPr>
            <a:ln w="38100"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Singapore!$A$3:$A$54</c:f>
              <c:numCache>
                <c:formatCode>General</c:formatCode>
                <c:ptCount val="52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</c:numCache>
            </c:numRef>
          </c:xVal>
          <c:yVal>
            <c:numRef>
              <c:f>Singapore!$G$3:$G$54</c:f>
              <c:numCache>
                <c:formatCode>0.0</c:formatCode>
                <c:ptCount val="52"/>
                <c:pt idx="0">
                  <c:v>21</c:v>
                </c:pt>
                <c:pt idx="1">
                  <c:v>20.8</c:v>
                </c:pt>
                <c:pt idx="2">
                  <c:v>21.2</c:v>
                </c:pt>
                <c:pt idx="3">
                  <c:v>21.4</c:v>
                </c:pt>
                <c:pt idx="4">
                  <c:v>21.5</c:v>
                </c:pt>
                <c:pt idx="5">
                  <c:v>21.9</c:v>
                </c:pt>
                <c:pt idx="6">
                  <c:v>21.5</c:v>
                </c:pt>
                <c:pt idx="7">
                  <c:v>20.5</c:v>
                </c:pt>
                <c:pt idx="8">
                  <c:v>20</c:v>
                </c:pt>
                <c:pt idx="9">
                  <c:v>20.100000000000001</c:v>
                </c:pt>
                <c:pt idx="10">
                  <c:v>18.600000000000001</c:v>
                </c:pt>
                <c:pt idx="11">
                  <c:v>18.600000000000001</c:v>
                </c:pt>
                <c:pt idx="12">
                  <c:v>19.2</c:v>
                </c:pt>
                <c:pt idx="13">
                  <c:v>21.1</c:v>
                </c:pt>
                <c:pt idx="14">
                  <c:v>20.100000000000001</c:v>
                </c:pt>
                <c:pt idx="15">
                  <c:v>18.2</c:v>
                </c:pt>
                <c:pt idx="16">
                  <c:v>18.8</c:v>
                </c:pt>
                <c:pt idx="17">
                  <c:v>19.600000000000001</c:v>
                </c:pt>
                <c:pt idx="18">
                  <c:v>20.8</c:v>
                </c:pt>
                <c:pt idx="19">
                  <c:v>20.9</c:v>
                </c:pt>
                <c:pt idx="20">
                  <c:v>19.5</c:v>
                </c:pt>
                <c:pt idx="21">
                  <c:v>20.7</c:v>
                </c:pt>
                <c:pt idx="22">
                  <c:v>18.899999999999999</c:v>
                </c:pt>
                <c:pt idx="23">
                  <c:v>17.100000000000001</c:v>
                </c:pt>
                <c:pt idx="24">
                  <c:v>19.100000000000001</c:v>
                </c:pt>
                <c:pt idx="25">
                  <c:v>17.600000000000001</c:v>
                </c:pt>
                <c:pt idx="26">
                  <c:v>16.100000000000001</c:v>
                </c:pt>
                <c:pt idx="27">
                  <c:v>16.600000000000001</c:v>
                </c:pt>
                <c:pt idx="28">
                  <c:v>17.600000000000001</c:v>
                </c:pt>
                <c:pt idx="29">
                  <c:v>17</c:v>
                </c:pt>
                <c:pt idx="30">
                  <c:v>16</c:v>
                </c:pt>
                <c:pt idx="31">
                  <c:v>16</c:v>
                </c:pt>
                <c:pt idx="32">
                  <c:v>14.9</c:v>
                </c:pt>
                <c:pt idx="33">
                  <c:v>14.6</c:v>
                </c:pt>
                <c:pt idx="34">
                  <c:v>15.6</c:v>
                </c:pt>
                <c:pt idx="35">
                  <c:v>16.5</c:v>
                </c:pt>
                <c:pt idx="36">
                  <c:v>17.100000000000001</c:v>
                </c:pt>
                <c:pt idx="37">
                  <c:v>18.2</c:v>
                </c:pt>
                <c:pt idx="38">
                  <c:v>18.600000000000001</c:v>
                </c:pt>
                <c:pt idx="39">
                  <c:v>18.100000000000001</c:v>
                </c:pt>
                <c:pt idx="40">
                  <c:v>17.8</c:v>
                </c:pt>
                <c:pt idx="41">
                  <c:v>16.2</c:v>
                </c:pt>
                <c:pt idx="42">
                  <c:v>14.6</c:v>
                </c:pt>
                <c:pt idx="43">
                  <c:v>13.9</c:v>
                </c:pt>
                <c:pt idx="44">
                  <c:v>14.5</c:v>
                </c:pt>
                <c:pt idx="45">
                  <c:v>15</c:v>
                </c:pt>
                <c:pt idx="46">
                  <c:v>16</c:v>
                </c:pt>
                <c:pt idx="47">
                  <c:v>14.5</c:v>
                </c:pt>
                <c:pt idx="48">
                  <c:v>13.2</c:v>
                </c:pt>
                <c:pt idx="49">
                  <c:v>11.1</c:v>
                </c:pt>
                <c:pt idx="50">
                  <c:v>12.1</c:v>
                </c:pt>
                <c:pt idx="51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F7B-4DD1-A29B-2C2B827F0E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209920"/>
        <c:axId val="72211840"/>
      </c:scatterChart>
      <c:valAx>
        <c:axId val="72209920"/>
        <c:scaling>
          <c:orientation val="minMax"/>
          <c:max val="2011"/>
          <c:min val="196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/>
                  <a:t>Year</a:t>
                </a:r>
              </a:p>
            </c:rich>
          </c:tx>
          <c:overlay val="0"/>
        </c:title>
        <c:numFmt formatCode="General" sourceLinked="1"/>
        <c:majorTickMark val="in"/>
        <c:minorTickMark val="in"/>
        <c:tickLblPos val="nextTo"/>
        <c:txPr>
          <a:bodyPr rot="0" vert="horz"/>
          <a:lstStyle/>
          <a:p>
            <a:pPr>
              <a:defRPr sz="1100" baseline="0"/>
            </a:pPr>
            <a:endParaRPr lang="en-US"/>
          </a:p>
        </c:txPr>
        <c:crossAx val="72211840"/>
        <c:crosses val="autoZero"/>
        <c:crossBetween val="midCat"/>
      </c:valAx>
      <c:valAx>
        <c:axId val="722118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/>
                  <a:t>National Saving Ratio (%)</a:t>
                </a:r>
              </a:p>
            </c:rich>
          </c:tx>
          <c:layout>
            <c:manualLayout>
              <c:xMode val="edge"/>
              <c:yMode val="edge"/>
              <c:x val="2.0952596572755451E-2"/>
              <c:y val="0.27871683518011697"/>
            </c:manualLayout>
          </c:layout>
          <c:overlay val="0"/>
        </c:title>
        <c:numFmt formatCode="0" sourceLinked="0"/>
        <c:majorTickMark val="in"/>
        <c:minorTickMark val="in"/>
        <c:tickLblPos val="nextTo"/>
        <c:crossAx val="72209920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200" b="1" i="0" baseline="0"/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78E3D-985D-4814-B005-2CFD72561308}" type="doc">
      <dgm:prSet loTypeId="urn:microsoft.com/office/officeart/2005/8/layout/hProcess7#1" loCatId="list" qsTypeId="urn:microsoft.com/office/officeart/2005/8/quickstyle/3d2#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1F9D8D7-7407-4599-904C-BF06997F6F54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138E4742-2D6B-42E5-99A0-EDF8DBC4EEEB}" type="parTrans" cxnId="{863B038A-7857-410D-8EAD-CCD222EB6732}">
      <dgm:prSet/>
      <dgm:spPr/>
      <dgm:t>
        <a:bodyPr/>
        <a:lstStyle/>
        <a:p>
          <a:endParaRPr lang="en-US" sz="2400" b="1"/>
        </a:p>
      </dgm:t>
    </dgm:pt>
    <dgm:pt modelId="{C11F1364-C2E6-4405-BD53-D1B0D67EF523}" type="sibTrans" cxnId="{863B038A-7857-410D-8EAD-CCD222EB6732}">
      <dgm:prSet/>
      <dgm:spPr/>
      <dgm:t>
        <a:bodyPr/>
        <a:lstStyle/>
        <a:p>
          <a:endParaRPr lang="en-US" sz="2400" b="1"/>
        </a:p>
      </dgm:t>
    </dgm:pt>
    <dgm:pt modelId="{EBBDF25A-432A-40AE-ABBC-46AAF8D28ED4}">
      <dgm:prSet phldrT="[Text]" custT="1"/>
      <dgm:spPr/>
      <dgm:t>
        <a:bodyPr anchor="ctr"/>
        <a:lstStyle/>
        <a:p>
          <a:r>
            <a:rPr lang="en-US" sz="2400" b="1" dirty="0"/>
            <a:t>CB sells bonds to the public</a:t>
          </a:r>
        </a:p>
      </dgm:t>
    </dgm:pt>
    <dgm:pt modelId="{A61B40F2-A51B-48B7-8740-AA92929B5D74}" type="parTrans" cxnId="{700AD793-EB29-420C-8657-9028A48FEDAC}">
      <dgm:prSet/>
      <dgm:spPr/>
      <dgm:t>
        <a:bodyPr/>
        <a:lstStyle/>
        <a:p>
          <a:endParaRPr lang="en-US" sz="2400" b="1"/>
        </a:p>
      </dgm:t>
    </dgm:pt>
    <dgm:pt modelId="{7616EF28-2EF6-49EB-BAFF-8E6CB50E94C9}" type="sibTrans" cxnId="{700AD793-EB29-420C-8657-9028A48FEDAC}">
      <dgm:prSet/>
      <dgm:spPr/>
      <dgm:t>
        <a:bodyPr/>
        <a:lstStyle/>
        <a:p>
          <a:endParaRPr lang="en-US" sz="2400" b="1"/>
        </a:p>
      </dgm:t>
    </dgm:pt>
    <dgm:pt modelId="{99D8426B-9886-460C-8B51-BAF3B523C71C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889F74BA-DC4E-424C-B3F3-5FBC26B458C3}" type="parTrans" cxnId="{111F850B-51EB-4AEA-A357-673471182E15}">
      <dgm:prSet/>
      <dgm:spPr/>
      <dgm:t>
        <a:bodyPr/>
        <a:lstStyle/>
        <a:p>
          <a:endParaRPr lang="en-US" sz="2400" b="1"/>
        </a:p>
      </dgm:t>
    </dgm:pt>
    <dgm:pt modelId="{B41FA3BE-8FDA-4C58-9E00-D97D0A7CE54F}" type="sibTrans" cxnId="{111F850B-51EB-4AEA-A357-673471182E15}">
      <dgm:prSet/>
      <dgm:spPr/>
      <dgm:t>
        <a:bodyPr/>
        <a:lstStyle/>
        <a:p>
          <a:endParaRPr lang="en-US" sz="2400" b="1"/>
        </a:p>
      </dgm:t>
    </dgm:pt>
    <dgm:pt modelId="{B62F91C7-7F95-4B10-ABAE-761ADC983978}">
      <dgm:prSet phldrT="[Text]" custT="1"/>
      <dgm:spPr/>
      <dgm:t>
        <a:bodyPr anchor="ctr"/>
        <a:lstStyle/>
        <a:p>
          <a:r>
            <a:rPr lang="en-US" sz="2400" b="1" dirty="0"/>
            <a:t>Banks deposit drops</a:t>
          </a:r>
        </a:p>
      </dgm:t>
    </dgm:pt>
    <dgm:pt modelId="{6205F0F2-EC51-4A04-BF15-B119B907F362}" type="parTrans" cxnId="{0A9C5711-DCA8-419B-A652-C2F96EACC374}">
      <dgm:prSet/>
      <dgm:spPr/>
      <dgm:t>
        <a:bodyPr/>
        <a:lstStyle/>
        <a:p>
          <a:endParaRPr lang="en-US" sz="2400" b="1"/>
        </a:p>
      </dgm:t>
    </dgm:pt>
    <dgm:pt modelId="{B6B6E2CF-53F4-4B95-A304-5BF301A31B0F}" type="sibTrans" cxnId="{0A9C5711-DCA8-419B-A652-C2F96EACC374}">
      <dgm:prSet/>
      <dgm:spPr/>
      <dgm:t>
        <a:bodyPr/>
        <a:lstStyle/>
        <a:p>
          <a:endParaRPr lang="en-US" sz="2400" b="1"/>
        </a:p>
      </dgm:t>
    </dgm:pt>
    <dgm:pt modelId="{E2115EC1-0346-42F0-92F4-A75B7476BCFA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6A30D942-FD27-4B68-B004-21987195BED3}" type="parTrans" cxnId="{ABCF11E0-8D06-42D3-8C13-B8A89882FDAC}">
      <dgm:prSet/>
      <dgm:spPr/>
      <dgm:t>
        <a:bodyPr/>
        <a:lstStyle/>
        <a:p>
          <a:endParaRPr lang="en-US" sz="2400" b="1"/>
        </a:p>
      </dgm:t>
    </dgm:pt>
    <dgm:pt modelId="{377A424E-A30A-4AAE-9CBE-E13372970F52}" type="sibTrans" cxnId="{ABCF11E0-8D06-42D3-8C13-B8A89882FDAC}">
      <dgm:prSet/>
      <dgm:spPr/>
      <dgm:t>
        <a:bodyPr/>
        <a:lstStyle/>
        <a:p>
          <a:endParaRPr lang="en-US" sz="2400" b="1"/>
        </a:p>
      </dgm:t>
    </dgm:pt>
    <dgm:pt modelId="{B82EC490-9099-4EE6-BA50-B7BA8EC0E8FF}">
      <dgm:prSet phldrT="[Text]" custT="1"/>
      <dgm:spPr/>
      <dgm:t>
        <a:bodyPr anchor="ctr"/>
        <a:lstStyle/>
        <a:p>
          <a:r>
            <a:rPr lang="en-US" sz="2400" b="1" dirty="0"/>
            <a:t>Interest rate increases</a:t>
          </a:r>
        </a:p>
      </dgm:t>
    </dgm:pt>
    <dgm:pt modelId="{12CCFD79-B187-4C0A-BED9-F3BFB989E946}" type="parTrans" cxnId="{BC2BB4D9-7C62-4AE3-A068-98B4287FB7E8}">
      <dgm:prSet/>
      <dgm:spPr/>
      <dgm:t>
        <a:bodyPr/>
        <a:lstStyle/>
        <a:p>
          <a:endParaRPr lang="en-US" sz="2400" b="1"/>
        </a:p>
      </dgm:t>
    </dgm:pt>
    <dgm:pt modelId="{C9260FFC-2D00-4AD3-B4C5-1368814BDC44}" type="sibTrans" cxnId="{BC2BB4D9-7C62-4AE3-A068-98B4287FB7E8}">
      <dgm:prSet/>
      <dgm:spPr/>
      <dgm:t>
        <a:bodyPr/>
        <a:lstStyle/>
        <a:p>
          <a:endParaRPr lang="en-US" sz="2400" b="1"/>
        </a:p>
      </dgm:t>
    </dgm:pt>
    <dgm:pt modelId="{1DB5CD5D-BB44-4058-B0CE-260B016AFAAB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B5139394-B787-47AE-B382-7A0E1ED535D5}" type="sibTrans" cxnId="{C10C3E00-B2C3-4F47-B967-2B8F32CB468C}">
      <dgm:prSet/>
      <dgm:spPr/>
      <dgm:t>
        <a:bodyPr/>
        <a:lstStyle/>
        <a:p>
          <a:endParaRPr lang="en-US" sz="2400" b="1"/>
        </a:p>
      </dgm:t>
    </dgm:pt>
    <dgm:pt modelId="{1ADBA84F-3201-4E24-AC68-AB2059E0FB62}" type="parTrans" cxnId="{C10C3E00-B2C3-4F47-B967-2B8F32CB468C}">
      <dgm:prSet/>
      <dgm:spPr/>
      <dgm:t>
        <a:bodyPr/>
        <a:lstStyle/>
        <a:p>
          <a:endParaRPr lang="en-US" sz="2400" b="1"/>
        </a:p>
      </dgm:t>
    </dgm:pt>
    <dgm:pt modelId="{B74577D7-CAFA-4732-86E6-D53FC58C0CD7}">
      <dgm:prSet phldrT="[Text]" custT="1"/>
      <dgm:spPr/>
      <dgm:t>
        <a:bodyPr anchor="ctr"/>
        <a:lstStyle/>
        <a:p>
          <a:r>
            <a:rPr lang="en-US" sz="2400" b="1" dirty="0"/>
            <a:t>Money supply  decrease</a:t>
          </a:r>
        </a:p>
      </dgm:t>
    </dgm:pt>
    <dgm:pt modelId="{BF8C8518-7C39-48A8-B0AA-2064A2ED3F49}" type="sibTrans" cxnId="{A3DD646A-3FCA-401B-87F1-EA01E2623D0F}">
      <dgm:prSet/>
      <dgm:spPr/>
      <dgm:t>
        <a:bodyPr/>
        <a:lstStyle/>
        <a:p>
          <a:endParaRPr lang="en-US" sz="2400" b="1"/>
        </a:p>
      </dgm:t>
    </dgm:pt>
    <dgm:pt modelId="{082FF437-FB26-4453-8475-C91B8EDA3FF0}" type="parTrans" cxnId="{A3DD646A-3FCA-401B-87F1-EA01E2623D0F}">
      <dgm:prSet/>
      <dgm:spPr/>
      <dgm:t>
        <a:bodyPr/>
        <a:lstStyle/>
        <a:p>
          <a:endParaRPr lang="en-US" sz="2400" b="1"/>
        </a:p>
      </dgm:t>
    </dgm:pt>
    <dgm:pt modelId="{E6265C92-5488-4640-BEAF-78FF3F336A86}" type="pres">
      <dgm:prSet presAssocID="{15378E3D-985D-4814-B005-2CFD72561308}" presName="Name0" presStyleCnt="0">
        <dgm:presLayoutVars>
          <dgm:dir/>
          <dgm:animLvl val="lvl"/>
          <dgm:resizeHandles val="exact"/>
        </dgm:presLayoutVars>
      </dgm:prSet>
      <dgm:spPr/>
    </dgm:pt>
    <dgm:pt modelId="{4DD92BEE-42E4-43E2-9EF5-DAAAD897F1C5}" type="pres">
      <dgm:prSet presAssocID="{71F9D8D7-7407-4599-904C-BF06997F6F54}" presName="compositeNode" presStyleCnt="0">
        <dgm:presLayoutVars>
          <dgm:bulletEnabled val="1"/>
        </dgm:presLayoutVars>
      </dgm:prSet>
      <dgm:spPr/>
    </dgm:pt>
    <dgm:pt modelId="{EE4D9E9B-DBED-4351-BB2A-3BE6B60CFE69}" type="pres">
      <dgm:prSet presAssocID="{71F9D8D7-7407-4599-904C-BF06997F6F54}" presName="bgRect" presStyleLbl="node1" presStyleIdx="0" presStyleCnt="4"/>
      <dgm:spPr/>
    </dgm:pt>
    <dgm:pt modelId="{E3B0C277-9514-4371-9ABB-15F0AF04B543}" type="pres">
      <dgm:prSet presAssocID="{71F9D8D7-7407-4599-904C-BF06997F6F54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FC06FF57-D555-485D-8C58-BAC8D9681AD3}" type="pres">
      <dgm:prSet presAssocID="{71F9D8D7-7407-4599-904C-BF06997F6F54}" presName="childNode" presStyleLbl="node1" presStyleIdx="0" presStyleCnt="4">
        <dgm:presLayoutVars>
          <dgm:bulletEnabled val="1"/>
        </dgm:presLayoutVars>
      </dgm:prSet>
      <dgm:spPr/>
    </dgm:pt>
    <dgm:pt modelId="{F1EB89F1-A278-4D86-9403-29F056A101AC}" type="pres">
      <dgm:prSet presAssocID="{C11F1364-C2E6-4405-BD53-D1B0D67EF523}" presName="hSp" presStyleCnt="0"/>
      <dgm:spPr/>
    </dgm:pt>
    <dgm:pt modelId="{03D8D87D-E524-447C-8DC9-0FD760F465F6}" type="pres">
      <dgm:prSet presAssocID="{C11F1364-C2E6-4405-BD53-D1B0D67EF523}" presName="vProcSp" presStyleCnt="0"/>
      <dgm:spPr/>
    </dgm:pt>
    <dgm:pt modelId="{34BD0821-266C-4C23-BF47-9FCA5E566774}" type="pres">
      <dgm:prSet presAssocID="{C11F1364-C2E6-4405-BD53-D1B0D67EF523}" presName="vSp1" presStyleCnt="0"/>
      <dgm:spPr/>
    </dgm:pt>
    <dgm:pt modelId="{A31C3C1E-2D35-4F48-A057-97DBFAE1FA90}" type="pres">
      <dgm:prSet presAssocID="{C11F1364-C2E6-4405-BD53-D1B0D67EF523}" presName="simulatedConn" presStyleLbl="solidFgAcc1" presStyleIdx="0" presStyleCnt="3"/>
      <dgm:spPr/>
    </dgm:pt>
    <dgm:pt modelId="{EA4F46F6-DAFC-460F-A9F1-30EC1304698A}" type="pres">
      <dgm:prSet presAssocID="{C11F1364-C2E6-4405-BD53-D1B0D67EF523}" presName="vSp2" presStyleCnt="0"/>
      <dgm:spPr/>
    </dgm:pt>
    <dgm:pt modelId="{5DC16680-EB14-4865-9598-CB568A47D97E}" type="pres">
      <dgm:prSet presAssocID="{C11F1364-C2E6-4405-BD53-D1B0D67EF523}" presName="sibTrans" presStyleCnt="0"/>
      <dgm:spPr/>
    </dgm:pt>
    <dgm:pt modelId="{EFA54F08-A8D3-4193-9A5A-2CED4870EF4E}" type="pres">
      <dgm:prSet presAssocID="{99D8426B-9886-460C-8B51-BAF3B523C71C}" presName="compositeNode" presStyleCnt="0">
        <dgm:presLayoutVars>
          <dgm:bulletEnabled val="1"/>
        </dgm:presLayoutVars>
      </dgm:prSet>
      <dgm:spPr/>
    </dgm:pt>
    <dgm:pt modelId="{4F30FE8A-EC4F-440C-B62D-8DE6A173D76A}" type="pres">
      <dgm:prSet presAssocID="{99D8426B-9886-460C-8B51-BAF3B523C71C}" presName="bgRect" presStyleLbl="node1" presStyleIdx="1" presStyleCnt="4" custScaleX="81899"/>
      <dgm:spPr/>
    </dgm:pt>
    <dgm:pt modelId="{4442010C-2346-4B4B-8C47-9483905A0867}" type="pres">
      <dgm:prSet presAssocID="{99D8426B-9886-460C-8B51-BAF3B523C71C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EA5ABF8B-3DAB-43CD-998F-487FB361B1D6}" type="pres">
      <dgm:prSet presAssocID="{99D8426B-9886-460C-8B51-BAF3B523C71C}" presName="childNode" presStyleLbl="node1" presStyleIdx="1" presStyleCnt="4">
        <dgm:presLayoutVars>
          <dgm:bulletEnabled val="1"/>
        </dgm:presLayoutVars>
      </dgm:prSet>
      <dgm:spPr/>
    </dgm:pt>
    <dgm:pt modelId="{CB18E60C-F74B-45F6-A9E2-02A86F6DC447}" type="pres">
      <dgm:prSet presAssocID="{B41FA3BE-8FDA-4C58-9E00-D97D0A7CE54F}" presName="hSp" presStyleCnt="0"/>
      <dgm:spPr/>
    </dgm:pt>
    <dgm:pt modelId="{B63E23C8-FCAB-4356-BDAF-BB1F4B5E07ED}" type="pres">
      <dgm:prSet presAssocID="{B41FA3BE-8FDA-4C58-9E00-D97D0A7CE54F}" presName="vProcSp" presStyleCnt="0"/>
      <dgm:spPr/>
    </dgm:pt>
    <dgm:pt modelId="{B334726B-9BCD-484F-9667-4403A78058AC}" type="pres">
      <dgm:prSet presAssocID="{B41FA3BE-8FDA-4C58-9E00-D97D0A7CE54F}" presName="vSp1" presStyleCnt="0"/>
      <dgm:spPr/>
    </dgm:pt>
    <dgm:pt modelId="{D03F691E-8A7E-44F2-96F4-5060EA4E5DFA}" type="pres">
      <dgm:prSet presAssocID="{B41FA3BE-8FDA-4C58-9E00-D97D0A7CE54F}" presName="simulatedConn" presStyleLbl="solidFgAcc1" presStyleIdx="1" presStyleCnt="3"/>
      <dgm:spPr/>
    </dgm:pt>
    <dgm:pt modelId="{2E99F090-F4BD-4D44-BE82-20C4D7CD0DA1}" type="pres">
      <dgm:prSet presAssocID="{B41FA3BE-8FDA-4C58-9E00-D97D0A7CE54F}" presName="vSp2" presStyleCnt="0"/>
      <dgm:spPr/>
    </dgm:pt>
    <dgm:pt modelId="{99F9F91E-1A27-43F8-9E54-BC6765DE6930}" type="pres">
      <dgm:prSet presAssocID="{B41FA3BE-8FDA-4C58-9E00-D97D0A7CE54F}" presName="sibTrans" presStyleCnt="0"/>
      <dgm:spPr/>
    </dgm:pt>
    <dgm:pt modelId="{11069916-EAB3-43C9-845D-AFD93F1472E8}" type="pres">
      <dgm:prSet presAssocID="{1DB5CD5D-BB44-4058-B0CE-260B016AFAAB}" presName="compositeNode" presStyleCnt="0">
        <dgm:presLayoutVars>
          <dgm:bulletEnabled val="1"/>
        </dgm:presLayoutVars>
      </dgm:prSet>
      <dgm:spPr/>
    </dgm:pt>
    <dgm:pt modelId="{31793331-25F7-4D0C-A67B-9EACE74B083E}" type="pres">
      <dgm:prSet presAssocID="{1DB5CD5D-BB44-4058-B0CE-260B016AFAAB}" presName="bgRect" presStyleLbl="node1" presStyleIdx="2" presStyleCnt="4"/>
      <dgm:spPr/>
    </dgm:pt>
    <dgm:pt modelId="{B356564C-81F1-4754-876C-FEFF962B3FCC}" type="pres">
      <dgm:prSet presAssocID="{1DB5CD5D-BB44-4058-B0CE-260B016AFAAB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2F96EE25-6AD8-4E2D-9C83-65EC5D55DA9C}" type="pres">
      <dgm:prSet presAssocID="{1DB5CD5D-BB44-4058-B0CE-260B016AFAAB}" presName="childNode" presStyleLbl="node1" presStyleIdx="2" presStyleCnt="4">
        <dgm:presLayoutVars>
          <dgm:bulletEnabled val="1"/>
        </dgm:presLayoutVars>
      </dgm:prSet>
      <dgm:spPr/>
    </dgm:pt>
    <dgm:pt modelId="{CE3D73CA-3EF4-4524-ADAC-18A7A4C6E47D}" type="pres">
      <dgm:prSet presAssocID="{B5139394-B787-47AE-B382-7A0E1ED535D5}" presName="hSp" presStyleCnt="0"/>
      <dgm:spPr/>
    </dgm:pt>
    <dgm:pt modelId="{3F26AE3D-4798-47EA-A4D0-E3C34688236E}" type="pres">
      <dgm:prSet presAssocID="{B5139394-B787-47AE-B382-7A0E1ED535D5}" presName="vProcSp" presStyleCnt="0"/>
      <dgm:spPr/>
    </dgm:pt>
    <dgm:pt modelId="{57AF1B92-4C78-477B-ACF4-B352C3869531}" type="pres">
      <dgm:prSet presAssocID="{B5139394-B787-47AE-B382-7A0E1ED535D5}" presName="vSp1" presStyleCnt="0"/>
      <dgm:spPr/>
    </dgm:pt>
    <dgm:pt modelId="{F94E434A-9941-4E06-86EA-BD29BFD9AE2A}" type="pres">
      <dgm:prSet presAssocID="{B5139394-B787-47AE-B382-7A0E1ED535D5}" presName="simulatedConn" presStyleLbl="solidFgAcc1" presStyleIdx="2" presStyleCnt="3"/>
      <dgm:spPr/>
    </dgm:pt>
    <dgm:pt modelId="{38526D9C-AB32-4BC8-85D7-B89ACEAAFC02}" type="pres">
      <dgm:prSet presAssocID="{B5139394-B787-47AE-B382-7A0E1ED535D5}" presName="vSp2" presStyleCnt="0"/>
      <dgm:spPr/>
    </dgm:pt>
    <dgm:pt modelId="{8850BF9F-472A-43AC-93D9-F98B84538D7D}" type="pres">
      <dgm:prSet presAssocID="{B5139394-B787-47AE-B382-7A0E1ED535D5}" presName="sibTrans" presStyleCnt="0"/>
      <dgm:spPr/>
    </dgm:pt>
    <dgm:pt modelId="{B3F79689-DF03-4375-B159-8D4C97A517FE}" type="pres">
      <dgm:prSet presAssocID="{E2115EC1-0346-42F0-92F4-A75B7476BCFA}" presName="compositeNode" presStyleCnt="0">
        <dgm:presLayoutVars>
          <dgm:bulletEnabled val="1"/>
        </dgm:presLayoutVars>
      </dgm:prSet>
      <dgm:spPr/>
    </dgm:pt>
    <dgm:pt modelId="{48AB48F2-A96A-4357-911C-FC28858F2B37}" type="pres">
      <dgm:prSet presAssocID="{E2115EC1-0346-42F0-92F4-A75B7476BCFA}" presName="bgRect" presStyleLbl="node1" presStyleIdx="3" presStyleCnt="4"/>
      <dgm:spPr/>
    </dgm:pt>
    <dgm:pt modelId="{6ABA5B05-9ED6-4B25-8270-B8118D86F3C9}" type="pres">
      <dgm:prSet presAssocID="{E2115EC1-0346-42F0-92F4-A75B7476BCFA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ADCC0F1C-EC72-4F93-AE69-64B4E71A1BC0}" type="pres">
      <dgm:prSet presAssocID="{E2115EC1-0346-42F0-92F4-A75B7476BCFA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C10C3E00-B2C3-4F47-B967-2B8F32CB468C}" srcId="{15378E3D-985D-4814-B005-2CFD72561308}" destId="{1DB5CD5D-BB44-4058-B0CE-260B016AFAAB}" srcOrd="2" destOrd="0" parTransId="{1ADBA84F-3201-4E24-AC68-AB2059E0FB62}" sibTransId="{B5139394-B787-47AE-B382-7A0E1ED535D5}"/>
    <dgm:cxn modelId="{111F850B-51EB-4AEA-A357-673471182E15}" srcId="{15378E3D-985D-4814-B005-2CFD72561308}" destId="{99D8426B-9886-460C-8B51-BAF3B523C71C}" srcOrd="1" destOrd="0" parTransId="{889F74BA-DC4E-424C-B3F3-5FBC26B458C3}" sibTransId="{B41FA3BE-8FDA-4C58-9E00-D97D0A7CE54F}"/>
    <dgm:cxn modelId="{0A9C5711-DCA8-419B-A652-C2F96EACC374}" srcId="{99D8426B-9886-460C-8B51-BAF3B523C71C}" destId="{B62F91C7-7F95-4B10-ABAE-761ADC983978}" srcOrd="0" destOrd="0" parTransId="{6205F0F2-EC51-4A04-BF15-B119B907F362}" sibTransId="{B6B6E2CF-53F4-4B95-A304-5BF301A31B0F}"/>
    <dgm:cxn modelId="{A7523121-F196-45CC-BD0E-141ADC6F6EFA}" type="presOf" srcId="{15378E3D-985D-4814-B005-2CFD72561308}" destId="{E6265C92-5488-4640-BEAF-78FF3F336A86}" srcOrd="0" destOrd="0" presId="urn:microsoft.com/office/officeart/2005/8/layout/hProcess7#1"/>
    <dgm:cxn modelId="{E2F43623-E149-4C77-97B6-28FCD916245D}" type="presOf" srcId="{B82EC490-9099-4EE6-BA50-B7BA8EC0E8FF}" destId="{ADCC0F1C-EC72-4F93-AE69-64B4E71A1BC0}" srcOrd="0" destOrd="0" presId="urn:microsoft.com/office/officeart/2005/8/layout/hProcess7#1"/>
    <dgm:cxn modelId="{A3DD646A-3FCA-401B-87F1-EA01E2623D0F}" srcId="{1DB5CD5D-BB44-4058-B0CE-260B016AFAAB}" destId="{B74577D7-CAFA-4732-86E6-D53FC58C0CD7}" srcOrd="0" destOrd="0" parTransId="{082FF437-FB26-4453-8475-C91B8EDA3FF0}" sibTransId="{BF8C8518-7C39-48A8-B0AA-2064A2ED3F49}"/>
    <dgm:cxn modelId="{DDAA6F6A-AA37-477B-B751-FB6F2DFB86D2}" type="presOf" srcId="{E2115EC1-0346-42F0-92F4-A75B7476BCFA}" destId="{48AB48F2-A96A-4357-911C-FC28858F2B37}" srcOrd="0" destOrd="0" presId="urn:microsoft.com/office/officeart/2005/8/layout/hProcess7#1"/>
    <dgm:cxn modelId="{979DD16C-C2AE-45BA-8B3B-870AD5A2DF30}" type="presOf" srcId="{E2115EC1-0346-42F0-92F4-A75B7476BCFA}" destId="{6ABA5B05-9ED6-4B25-8270-B8118D86F3C9}" srcOrd="1" destOrd="0" presId="urn:microsoft.com/office/officeart/2005/8/layout/hProcess7#1"/>
    <dgm:cxn modelId="{BF857F6D-F9AA-47AD-8FDC-539F14B4E3DF}" type="presOf" srcId="{99D8426B-9886-460C-8B51-BAF3B523C71C}" destId="{4F30FE8A-EC4F-440C-B62D-8DE6A173D76A}" srcOrd="0" destOrd="0" presId="urn:microsoft.com/office/officeart/2005/8/layout/hProcess7#1"/>
    <dgm:cxn modelId="{2FA5B76D-F557-496B-B238-F8BC2BA01D80}" type="presOf" srcId="{B62F91C7-7F95-4B10-ABAE-761ADC983978}" destId="{EA5ABF8B-3DAB-43CD-998F-487FB361B1D6}" srcOrd="0" destOrd="0" presId="urn:microsoft.com/office/officeart/2005/8/layout/hProcess7#1"/>
    <dgm:cxn modelId="{064ACD75-B0B6-4595-9D3F-13199043CA95}" type="presOf" srcId="{B74577D7-CAFA-4732-86E6-D53FC58C0CD7}" destId="{2F96EE25-6AD8-4E2D-9C83-65EC5D55DA9C}" srcOrd="0" destOrd="0" presId="urn:microsoft.com/office/officeart/2005/8/layout/hProcess7#1"/>
    <dgm:cxn modelId="{FA14F882-5769-478C-8C72-673161F87132}" type="presOf" srcId="{1DB5CD5D-BB44-4058-B0CE-260B016AFAAB}" destId="{31793331-25F7-4D0C-A67B-9EACE74B083E}" srcOrd="0" destOrd="0" presId="urn:microsoft.com/office/officeart/2005/8/layout/hProcess7#1"/>
    <dgm:cxn modelId="{863B038A-7857-410D-8EAD-CCD222EB6732}" srcId="{15378E3D-985D-4814-B005-2CFD72561308}" destId="{71F9D8D7-7407-4599-904C-BF06997F6F54}" srcOrd="0" destOrd="0" parTransId="{138E4742-2D6B-42E5-99A0-EDF8DBC4EEEB}" sibTransId="{C11F1364-C2E6-4405-BD53-D1B0D67EF523}"/>
    <dgm:cxn modelId="{700AD793-EB29-420C-8657-9028A48FEDAC}" srcId="{71F9D8D7-7407-4599-904C-BF06997F6F54}" destId="{EBBDF25A-432A-40AE-ABBC-46AAF8D28ED4}" srcOrd="0" destOrd="0" parTransId="{A61B40F2-A51B-48B7-8740-AA92929B5D74}" sibTransId="{7616EF28-2EF6-49EB-BAFF-8E6CB50E94C9}"/>
    <dgm:cxn modelId="{29BB3394-CE6D-446C-A514-C15EA184ABBB}" type="presOf" srcId="{71F9D8D7-7407-4599-904C-BF06997F6F54}" destId="{EE4D9E9B-DBED-4351-BB2A-3BE6B60CFE69}" srcOrd="0" destOrd="0" presId="urn:microsoft.com/office/officeart/2005/8/layout/hProcess7#1"/>
    <dgm:cxn modelId="{6DF435A6-159F-4BFB-A973-371F72FB60D7}" type="presOf" srcId="{71F9D8D7-7407-4599-904C-BF06997F6F54}" destId="{E3B0C277-9514-4371-9ABB-15F0AF04B543}" srcOrd="1" destOrd="0" presId="urn:microsoft.com/office/officeart/2005/8/layout/hProcess7#1"/>
    <dgm:cxn modelId="{F5CA58B1-1486-402B-B2C4-54AB7A085C48}" type="presOf" srcId="{99D8426B-9886-460C-8B51-BAF3B523C71C}" destId="{4442010C-2346-4B4B-8C47-9483905A0867}" srcOrd="1" destOrd="0" presId="urn:microsoft.com/office/officeart/2005/8/layout/hProcess7#1"/>
    <dgm:cxn modelId="{48DA47D5-D3BD-482F-B8FC-FEA9C4105F39}" type="presOf" srcId="{EBBDF25A-432A-40AE-ABBC-46AAF8D28ED4}" destId="{FC06FF57-D555-485D-8C58-BAC8D9681AD3}" srcOrd="0" destOrd="0" presId="urn:microsoft.com/office/officeart/2005/8/layout/hProcess7#1"/>
    <dgm:cxn modelId="{BC2BB4D9-7C62-4AE3-A068-98B4287FB7E8}" srcId="{E2115EC1-0346-42F0-92F4-A75B7476BCFA}" destId="{B82EC490-9099-4EE6-BA50-B7BA8EC0E8FF}" srcOrd="0" destOrd="0" parTransId="{12CCFD79-B187-4C0A-BED9-F3BFB989E946}" sibTransId="{C9260FFC-2D00-4AD3-B4C5-1368814BDC44}"/>
    <dgm:cxn modelId="{7EF2B8DA-773F-46B7-B148-5B8C4EE664F7}" type="presOf" srcId="{1DB5CD5D-BB44-4058-B0CE-260B016AFAAB}" destId="{B356564C-81F1-4754-876C-FEFF962B3FCC}" srcOrd="1" destOrd="0" presId="urn:microsoft.com/office/officeart/2005/8/layout/hProcess7#1"/>
    <dgm:cxn modelId="{ABCF11E0-8D06-42D3-8C13-B8A89882FDAC}" srcId="{15378E3D-985D-4814-B005-2CFD72561308}" destId="{E2115EC1-0346-42F0-92F4-A75B7476BCFA}" srcOrd="3" destOrd="0" parTransId="{6A30D942-FD27-4B68-B004-21987195BED3}" sibTransId="{377A424E-A30A-4AAE-9CBE-E13372970F52}"/>
    <dgm:cxn modelId="{2F00B81F-ADC0-4230-90A2-8456EFFF9BBA}" type="presParOf" srcId="{E6265C92-5488-4640-BEAF-78FF3F336A86}" destId="{4DD92BEE-42E4-43E2-9EF5-DAAAD897F1C5}" srcOrd="0" destOrd="0" presId="urn:microsoft.com/office/officeart/2005/8/layout/hProcess7#1"/>
    <dgm:cxn modelId="{B3A0F047-2699-49C5-8694-8B106E326AE5}" type="presParOf" srcId="{4DD92BEE-42E4-43E2-9EF5-DAAAD897F1C5}" destId="{EE4D9E9B-DBED-4351-BB2A-3BE6B60CFE69}" srcOrd="0" destOrd="0" presId="urn:microsoft.com/office/officeart/2005/8/layout/hProcess7#1"/>
    <dgm:cxn modelId="{32465C4C-01B4-463C-A450-1A6585FA1120}" type="presParOf" srcId="{4DD92BEE-42E4-43E2-9EF5-DAAAD897F1C5}" destId="{E3B0C277-9514-4371-9ABB-15F0AF04B543}" srcOrd="1" destOrd="0" presId="urn:microsoft.com/office/officeart/2005/8/layout/hProcess7#1"/>
    <dgm:cxn modelId="{C72A2D84-6432-4DCB-87F8-29DFA9DB51B7}" type="presParOf" srcId="{4DD92BEE-42E4-43E2-9EF5-DAAAD897F1C5}" destId="{FC06FF57-D555-485D-8C58-BAC8D9681AD3}" srcOrd="2" destOrd="0" presId="urn:microsoft.com/office/officeart/2005/8/layout/hProcess7#1"/>
    <dgm:cxn modelId="{75E939A8-DBBB-4B41-9E2C-4DC96B7187B5}" type="presParOf" srcId="{E6265C92-5488-4640-BEAF-78FF3F336A86}" destId="{F1EB89F1-A278-4D86-9403-29F056A101AC}" srcOrd="1" destOrd="0" presId="urn:microsoft.com/office/officeart/2005/8/layout/hProcess7#1"/>
    <dgm:cxn modelId="{2A794A15-F5DC-46FF-A7C6-ECD2CC207A8F}" type="presParOf" srcId="{E6265C92-5488-4640-BEAF-78FF3F336A86}" destId="{03D8D87D-E524-447C-8DC9-0FD760F465F6}" srcOrd="2" destOrd="0" presId="urn:microsoft.com/office/officeart/2005/8/layout/hProcess7#1"/>
    <dgm:cxn modelId="{EC635BCB-F73B-41A5-964A-3638BFD71D30}" type="presParOf" srcId="{03D8D87D-E524-447C-8DC9-0FD760F465F6}" destId="{34BD0821-266C-4C23-BF47-9FCA5E566774}" srcOrd="0" destOrd="0" presId="urn:microsoft.com/office/officeart/2005/8/layout/hProcess7#1"/>
    <dgm:cxn modelId="{7AD68779-7F24-4661-8652-47FE0DF0FDAA}" type="presParOf" srcId="{03D8D87D-E524-447C-8DC9-0FD760F465F6}" destId="{A31C3C1E-2D35-4F48-A057-97DBFAE1FA90}" srcOrd="1" destOrd="0" presId="urn:microsoft.com/office/officeart/2005/8/layout/hProcess7#1"/>
    <dgm:cxn modelId="{C3141A2F-B21F-4814-BC86-DAC1166DE40A}" type="presParOf" srcId="{03D8D87D-E524-447C-8DC9-0FD760F465F6}" destId="{EA4F46F6-DAFC-460F-A9F1-30EC1304698A}" srcOrd="2" destOrd="0" presId="urn:microsoft.com/office/officeart/2005/8/layout/hProcess7#1"/>
    <dgm:cxn modelId="{0AAC565D-B9D1-4C7F-9504-6DEDA6040DD9}" type="presParOf" srcId="{E6265C92-5488-4640-BEAF-78FF3F336A86}" destId="{5DC16680-EB14-4865-9598-CB568A47D97E}" srcOrd="3" destOrd="0" presId="urn:microsoft.com/office/officeart/2005/8/layout/hProcess7#1"/>
    <dgm:cxn modelId="{E0CDBE0B-FF41-460F-AA4D-DA121C1BFBCA}" type="presParOf" srcId="{E6265C92-5488-4640-BEAF-78FF3F336A86}" destId="{EFA54F08-A8D3-4193-9A5A-2CED4870EF4E}" srcOrd="4" destOrd="0" presId="urn:microsoft.com/office/officeart/2005/8/layout/hProcess7#1"/>
    <dgm:cxn modelId="{4FF1893A-F7A0-4C0F-A60E-BE2DFD1B6770}" type="presParOf" srcId="{EFA54F08-A8D3-4193-9A5A-2CED4870EF4E}" destId="{4F30FE8A-EC4F-440C-B62D-8DE6A173D76A}" srcOrd="0" destOrd="0" presId="urn:microsoft.com/office/officeart/2005/8/layout/hProcess7#1"/>
    <dgm:cxn modelId="{101DA297-E325-4F73-A0AE-DCD39004B4C8}" type="presParOf" srcId="{EFA54F08-A8D3-4193-9A5A-2CED4870EF4E}" destId="{4442010C-2346-4B4B-8C47-9483905A0867}" srcOrd="1" destOrd="0" presId="urn:microsoft.com/office/officeart/2005/8/layout/hProcess7#1"/>
    <dgm:cxn modelId="{F9D9AAE7-2C8E-4FD8-BB99-F40386C28DCC}" type="presParOf" srcId="{EFA54F08-A8D3-4193-9A5A-2CED4870EF4E}" destId="{EA5ABF8B-3DAB-43CD-998F-487FB361B1D6}" srcOrd="2" destOrd="0" presId="urn:microsoft.com/office/officeart/2005/8/layout/hProcess7#1"/>
    <dgm:cxn modelId="{6AF29595-312A-4F27-9D66-AC2164370073}" type="presParOf" srcId="{E6265C92-5488-4640-BEAF-78FF3F336A86}" destId="{CB18E60C-F74B-45F6-A9E2-02A86F6DC447}" srcOrd="5" destOrd="0" presId="urn:microsoft.com/office/officeart/2005/8/layout/hProcess7#1"/>
    <dgm:cxn modelId="{E08C769F-4B6D-4DF0-948A-30302CE07641}" type="presParOf" srcId="{E6265C92-5488-4640-BEAF-78FF3F336A86}" destId="{B63E23C8-FCAB-4356-BDAF-BB1F4B5E07ED}" srcOrd="6" destOrd="0" presId="urn:microsoft.com/office/officeart/2005/8/layout/hProcess7#1"/>
    <dgm:cxn modelId="{CF6558DA-B0DE-47F8-92CF-9BF4BC3C2264}" type="presParOf" srcId="{B63E23C8-FCAB-4356-BDAF-BB1F4B5E07ED}" destId="{B334726B-9BCD-484F-9667-4403A78058AC}" srcOrd="0" destOrd="0" presId="urn:microsoft.com/office/officeart/2005/8/layout/hProcess7#1"/>
    <dgm:cxn modelId="{5D34B942-AA49-4F91-A6F6-849D862B3AEA}" type="presParOf" srcId="{B63E23C8-FCAB-4356-BDAF-BB1F4B5E07ED}" destId="{D03F691E-8A7E-44F2-96F4-5060EA4E5DFA}" srcOrd="1" destOrd="0" presId="urn:microsoft.com/office/officeart/2005/8/layout/hProcess7#1"/>
    <dgm:cxn modelId="{2A5E26DC-8D6C-4FB2-9167-B3ACFD12F172}" type="presParOf" srcId="{B63E23C8-FCAB-4356-BDAF-BB1F4B5E07ED}" destId="{2E99F090-F4BD-4D44-BE82-20C4D7CD0DA1}" srcOrd="2" destOrd="0" presId="urn:microsoft.com/office/officeart/2005/8/layout/hProcess7#1"/>
    <dgm:cxn modelId="{AB5261EF-96D4-45D2-A381-46669F69A45C}" type="presParOf" srcId="{E6265C92-5488-4640-BEAF-78FF3F336A86}" destId="{99F9F91E-1A27-43F8-9E54-BC6765DE6930}" srcOrd="7" destOrd="0" presId="urn:microsoft.com/office/officeart/2005/8/layout/hProcess7#1"/>
    <dgm:cxn modelId="{B8FC9345-D64F-4D32-B82B-A2C7022C7735}" type="presParOf" srcId="{E6265C92-5488-4640-BEAF-78FF3F336A86}" destId="{11069916-EAB3-43C9-845D-AFD93F1472E8}" srcOrd="8" destOrd="0" presId="urn:microsoft.com/office/officeart/2005/8/layout/hProcess7#1"/>
    <dgm:cxn modelId="{5C41A288-8D9C-4206-9B28-7671372DE09F}" type="presParOf" srcId="{11069916-EAB3-43C9-845D-AFD93F1472E8}" destId="{31793331-25F7-4D0C-A67B-9EACE74B083E}" srcOrd="0" destOrd="0" presId="urn:microsoft.com/office/officeart/2005/8/layout/hProcess7#1"/>
    <dgm:cxn modelId="{64705832-964E-4FF9-BBE4-345924CE71E9}" type="presParOf" srcId="{11069916-EAB3-43C9-845D-AFD93F1472E8}" destId="{B356564C-81F1-4754-876C-FEFF962B3FCC}" srcOrd="1" destOrd="0" presId="urn:microsoft.com/office/officeart/2005/8/layout/hProcess7#1"/>
    <dgm:cxn modelId="{5E2C7656-0740-4A6A-8D87-9832F9AA366D}" type="presParOf" srcId="{11069916-EAB3-43C9-845D-AFD93F1472E8}" destId="{2F96EE25-6AD8-4E2D-9C83-65EC5D55DA9C}" srcOrd="2" destOrd="0" presId="urn:microsoft.com/office/officeart/2005/8/layout/hProcess7#1"/>
    <dgm:cxn modelId="{DF68EC74-3163-4C51-BEBE-A3EE19764F22}" type="presParOf" srcId="{E6265C92-5488-4640-BEAF-78FF3F336A86}" destId="{CE3D73CA-3EF4-4524-ADAC-18A7A4C6E47D}" srcOrd="9" destOrd="0" presId="urn:microsoft.com/office/officeart/2005/8/layout/hProcess7#1"/>
    <dgm:cxn modelId="{1D1880BE-27BC-4766-B972-6277A3485352}" type="presParOf" srcId="{E6265C92-5488-4640-BEAF-78FF3F336A86}" destId="{3F26AE3D-4798-47EA-A4D0-E3C34688236E}" srcOrd="10" destOrd="0" presId="urn:microsoft.com/office/officeart/2005/8/layout/hProcess7#1"/>
    <dgm:cxn modelId="{BFFAE4D3-2838-4044-B5BD-2C986C7370FE}" type="presParOf" srcId="{3F26AE3D-4798-47EA-A4D0-E3C34688236E}" destId="{57AF1B92-4C78-477B-ACF4-B352C3869531}" srcOrd="0" destOrd="0" presId="urn:microsoft.com/office/officeart/2005/8/layout/hProcess7#1"/>
    <dgm:cxn modelId="{83093294-FD63-4C92-B572-FCCCB2E15B5C}" type="presParOf" srcId="{3F26AE3D-4798-47EA-A4D0-E3C34688236E}" destId="{F94E434A-9941-4E06-86EA-BD29BFD9AE2A}" srcOrd="1" destOrd="0" presId="urn:microsoft.com/office/officeart/2005/8/layout/hProcess7#1"/>
    <dgm:cxn modelId="{6D59185E-5308-467C-8C87-921B4890B950}" type="presParOf" srcId="{3F26AE3D-4798-47EA-A4D0-E3C34688236E}" destId="{38526D9C-AB32-4BC8-85D7-B89ACEAAFC02}" srcOrd="2" destOrd="0" presId="urn:microsoft.com/office/officeart/2005/8/layout/hProcess7#1"/>
    <dgm:cxn modelId="{75B80A8E-B611-4DA9-88AF-758121BA9059}" type="presParOf" srcId="{E6265C92-5488-4640-BEAF-78FF3F336A86}" destId="{8850BF9F-472A-43AC-93D9-F98B84538D7D}" srcOrd="11" destOrd="0" presId="urn:microsoft.com/office/officeart/2005/8/layout/hProcess7#1"/>
    <dgm:cxn modelId="{84C17914-5F4C-484C-8EEE-CE43F5EBB86D}" type="presParOf" srcId="{E6265C92-5488-4640-BEAF-78FF3F336A86}" destId="{B3F79689-DF03-4375-B159-8D4C97A517FE}" srcOrd="12" destOrd="0" presId="urn:microsoft.com/office/officeart/2005/8/layout/hProcess7#1"/>
    <dgm:cxn modelId="{2C37BB52-94B3-40A1-851B-9027CC42A794}" type="presParOf" srcId="{B3F79689-DF03-4375-B159-8D4C97A517FE}" destId="{48AB48F2-A96A-4357-911C-FC28858F2B37}" srcOrd="0" destOrd="0" presId="urn:microsoft.com/office/officeart/2005/8/layout/hProcess7#1"/>
    <dgm:cxn modelId="{E69B48A5-3DF9-46D7-B955-51146C3EC3DD}" type="presParOf" srcId="{B3F79689-DF03-4375-B159-8D4C97A517FE}" destId="{6ABA5B05-9ED6-4B25-8270-B8118D86F3C9}" srcOrd="1" destOrd="0" presId="urn:microsoft.com/office/officeart/2005/8/layout/hProcess7#1"/>
    <dgm:cxn modelId="{402C47F7-B99F-4A02-860B-7CE97965D3DD}" type="presParOf" srcId="{B3F79689-DF03-4375-B159-8D4C97A517FE}" destId="{ADCC0F1C-EC72-4F93-AE69-64B4E71A1BC0}" srcOrd="2" destOrd="0" presId="urn:microsoft.com/office/officeart/2005/8/layout/hProcess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378E3D-985D-4814-B005-2CFD72561308}" type="doc">
      <dgm:prSet loTypeId="urn:microsoft.com/office/officeart/2005/8/layout/hProcess7#2" loCatId="list" qsTypeId="urn:microsoft.com/office/officeart/2005/8/quickstyle/3d2#2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1F9D8D7-7407-4599-904C-BF06997F6F54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138E4742-2D6B-42E5-99A0-EDF8DBC4EEEB}" type="parTrans" cxnId="{863B038A-7857-410D-8EAD-CCD222EB6732}">
      <dgm:prSet/>
      <dgm:spPr/>
      <dgm:t>
        <a:bodyPr/>
        <a:lstStyle/>
        <a:p>
          <a:endParaRPr lang="en-US" sz="2400" b="1"/>
        </a:p>
      </dgm:t>
    </dgm:pt>
    <dgm:pt modelId="{C11F1364-C2E6-4405-BD53-D1B0D67EF523}" type="sibTrans" cxnId="{863B038A-7857-410D-8EAD-CCD222EB6732}">
      <dgm:prSet/>
      <dgm:spPr/>
      <dgm:t>
        <a:bodyPr/>
        <a:lstStyle/>
        <a:p>
          <a:endParaRPr lang="en-US" sz="2400" b="1"/>
        </a:p>
      </dgm:t>
    </dgm:pt>
    <dgm:pt modelId="{EBBDF25A-432A-40AE-ABBC-46AAF8D28ED4}">
      <dgm:prSet phldrT="[Text]" custT="1"/>
      <dgm:spPr/>
      <dgm:t>
        <a:bodyPr anchor="ctr"/>
        <a:lstStyle/>
        <a:p>
          <a:r>
            <a:rPr lang="en-US" sz="2400" b="1" dirty="0"/>
            <a:t>CB buys bonds from the public</a:t>
          </a:r>
        </a:p>
      </dgm:t>
    </dgm:pt>
    <dgm:pt modelId="{A61B40F2-A51B-48B7-8740-AA92929B5D74}" type="parTrans" cxnId="{700AD793-EB29-420C-8657-9028A48FEDAC}">
      <dgm:prSet/>
      <dgm:spPr/>
      <dgm:t>
        <a:bodyPr/>
        <a:lstStyle/>
        <a:p>
          <a:endParaRPr lang="en-US" sz="2400" b="1"/>
        </a:p>
      </dgm:t>
    </dgm:pt>
    <dgm:pt modelId="{7616EF28-2EF6-49EB-BAFF-8E6CB50E94C9}" type="sibTrans" cxnId="{700AD793-EB29-420C-8657-9028A48FEDAC}">
      <dgm:prSet/>
      <dgm:spPr/>
      <dgm:t>
        <a:bodyPr/>
        <a:lstStyle/>
        <a:p>
          <a:endParaRPr lang="en-US" sz="2400" b="1"/>
        </a:p>
      </dgm:t>
    </dgm:pt>
    <dgm:pt modelId="{99D8426B-9886-460C-8B51-BAF3B523C71C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889F74BA-DC4E-424C-B3F3-5FBC26B458C3}" type="parTrans" cxnId="{111F850B-51EB-4AEA-A357-673471182E15}">
      <dgm:prSet/>
      <dgm:spPr/>
      <dgm:t>
        <a:bodyPr/>
        <a:lstStyle/>
        <a:p>
          <a:endParaRPr lang="en-US" sz="2400" b="1"/>
        </a:p>
      </dgm:t>
    </dgm:pt>
    <dgm:pt modelId="{B41FA3BE-8FDA-4C58-9E00-D97D0A7CE54F}" type="sibTrans" cxnId="{111F850B-51EB-4AEA-A357-673471182E15}">
      <dgm:prSet/>
      <dgm:spPr/>
      <dgm:t>
        <a:bodyPr/>
        <a:lstStyle/>
        <a:p>
          <a:endParaRPr lang="en-US" sz="2400" b="1"/>
        </a:p>
      </dgm:t>
    </dgm:pt>
    <dgm:pt modelId="{B62F91C7-7F95-4B10-ABAE-761ADC983978}">
      <dgm:prSet phldrT="[Text]" custT="1"/>
      <dgm:spPr/>
      <dgm:t>
        <a:bodyPr anchor="ctr"/>
        <a:lstStyle/>
        <a:p>
          <a:r>
            <a:rPr lang="en-US" sz="2400" b="1" dirty="0"/>
            <a:t>Banks deposits increases</a:t>
          </a:r>
        </a:p>
      </dgm:t>
    </dgm:pt>
    <dgm:pt modelId="{6205F0F2-EC51-4A04-BF15-B119B907F362}" type="parTrans" cxnId="{0A9C5711-DCA8-419B-A652-C2F96EACC374}">
      <dgm:prSet/>
      <dgm:spPr/>
      <dgm:t>
        <a:bodyPr/>
        <a:lstStyle/>
        <a:p>
          <a:endParaRPr lang="en-US" sz="2400" b="1"/>
        </a:p>
      </dgm:t>
    </dgm:pt>
    <dgm:pt modelId="{B6B6E2CF-53F4-4B95-A304-5BF301A31B0F}" type="sibTrans" cxnId="{0A9C5711-DCA8-419B-A652-C2F96EACC374}">
      <dgm:prSet/>
      <dgm:spPr/>
      <dgm:t>
        <a:bodyPr/>
        <a:lstStyle/>
        <a:p>
          <a:endParaRPr lang="en-US" sz="2400" b="1"/>
        </a:p>
      </dgm:t>
    </dgm:pt>
    <dgm:pt modelId="{1DB5CD5D-BB44-4058-B0CE-260B016AFAAB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1ADBA84F-3201-4E24-AC68-AB2059E0FB62}" type="parTrans" cxnId="{C10C3E00-B2C3-4F47-B967-2B8F32CB468C}">
      <dgm:prSet/>
      <dgm:spPr/>
      <dgm:t>
        <a:bodyPr/>
        <a:lstStyle/>
        <a:p>
          <a:endParaRPr lang="en-US" sz="2400" b="1"/>
        </a:p>
      </dgm:t>
    </dgm:pt>
    <dgm:pt modelId="{B5139394-B787-47AE-B382-7A0E1ED535D5}" type="sibTrans" cxnId="{C10C3E00-B2C3-4F47-B967-2B8F32CB468C}">
      <dgm:prSet/>
      <dgm:spPr/>
      <dgm:t>
        <a:bodyPr/>
        <a:lstStyle/>
        <a:p>
          <a:endParaRPr lang="en-US" sz="2400" b="1"/>
        </a:p>
      </dgm:t>
    </dgm:pt>
    <dgm:pt modelId="{B74577D7-CAFA-4732-86E6-D53FC58C0CD7}">
      <dgm:prSet phldrT="[Text]" custT="1"/>
      <dgm:spPr/>
      <dgm:t>
        <a:bodyPr anchor="ctr"/>
        <a:lstStyle/>
        <a:p>
          <a:r>
            <a:rPr lang="en-US" sz="2400" b="1" dirty="0"/>
            <a:t>Money supply increase</a:t>
          </a:r>
        </a:p>
      </dgm:t>
    </dgm:pt>
    <dgm:pt modelId="{082FF437-FB26-4453-8475-C91B8EDA3FF0}" type="parTrans" cxnId="{A3DD646A-3FCA-401B-87F1-EA01E2623D0F}">
      <dgm:prSet/>
      <dgm:spPr/>
      <dgm:t>
        <a:bodyPr/>
        <a:lstStyle/>
        <a:p>
          <a:endParaRPr lang="en-US" sz="2400" b="1"/>
        </a:p>
      </dgm:t>
    </dgm:pt>
    <dgm:pt modelId="{BF8C8518-7C39-48A8-B0AA-2064A2ED3F49}" type="sibTrans" cxnId="{A3DD646A-3FCA-401B-87F1-EA01E2623D0F}">
      <dgm:prSet/>
      <dgm:spPr/>
      <dgm:t>
        <a:bodyPr/>
        <a:lstStyle/>
        <a:p>
          <a:endParaRPr lang="en-US" sz="2400" b="1"/>
        </a:p>
      </dgm:t>
    </dgm:pt>
    <dgm:pt modelId="{E2115EC1-0346-42F0-92F4-A75B7476BCFA}">
      <dgm:prSet phldrT="[Text]" custT="1"/>
      <dgm:spPr/>
      <dgm:t>
        <a:bodyPr/>
        <a:lstStyle/>
        <a:p>
          <a:r>
            <a:rPr lang="en-US" sz="2400" b="1" dirty="0"/>
            <a:t> </a:t>
          </a:r>
        </a:p>
      </dgm:t>
    </dgm:pt>
    <dgm:pt modelId="{6A30D942-FD27-4B68-B004-21987195BED3}" type="parTrans" cxnId="{ABCF11E0-8D06-42D3-8C13-B8A89882FDAC}">
      <dgm:prSet/>
      <dgm:spPr/>
      <dgm:t>
        <a:bodyPr/>
        <a:lstStyle/>
        <a:p>
          <a:endParaRPr lang="en-US" sz="2400" b="1"/>
        </a:p>
      </dgm:t>
    </dgm:pt>
    <dgm:pt modelId="{377A424E-A30A-4AAE-9CBE-E13372970F52}" type="sibTrans" cxnId="{ABCF11E0-8D06-42D3-8C13-B8A89882FDAC}">
      <dgm:prSet/>
      <dgm:spPr/>
      <dgm:t>
        <a:bodyPr/>
        <a:lstStyle/>
        <a:p>
          <a:endParaRPr lang="en-US" sz="2400" b="1"/>
        </a:p>
      </dgm:t>
    </dgm:pt>
    <dgm:pt modelId="{B82EC490-9099-4EE6-BA50-B7BA8EC0E8FF}">
      <dgm:prSet phldrT="[Text]" custT="1"/>
      <dgm:spPr/>
      <dgm:t>
        <a:bodyPr anchor="ctr"/>
        <a:lstStyle/>
        <a:p>
          <a:r>
            <a:rPr lang="en-US" sz="2400" b="1" dirty="0"/>
            <a:t>Interest rate decreases</a:t>
          </a:r>
        </a:p>
      </dgm:t>
    </dgm:pt>
    <dgm:pt modelId="{12CCFD79-B187-4C0A-BED9-F3BFB989E946}" type="parTrans" cxnId="{BC2BB4D9-7C62-4AE3-A068-98B4287FB7E8}">
      <dgm:prSet/>
      <dgm:spPr/>
      <dgm:t>
        <a:bodyPr/>
        <a:lstStyle/>
        <a:p>
          <a:endParaRPr lang="en-US" sz="2400" b="1"/>
        </a:p>
      </dgm:t>
    </dgm:pt>
    <dgm:pt modelId="{C9260FFC-2D00-4AD3-B4C5-1368814BDC44}" type="sibTrans" cxnId="{BC2BB4D9-7C62-4AE3-A068-98B4287FB7E8}">
      <dgm:prSet/>
      <dgm:spPr/>
      <dgm:t>
        <a:bodyPr/>
        <a:lstStyle/>
        <a:p>
          <a:endParaRPr lang="en-US" sz="2400" b="1"/>
        </a:p>
      </dgm:t>
    </dgm:pt>
    <dgm:pt modelId="{E6265C92-5488-4640-BEAF-78FF3F336A86}" type="pres">
      <dgm:prSet presAssocID="{15378E3D-985D-4814-B005-2CFD72561308}" presName="Name0" presStyleCnt="0">
        <dgm:presLayoutVars>
          <dgm:dir/>
          <dgm:animLvl val="lvl"/>
          <dgm:resizeHandles val="exact"/>
        </dgm:presLayoutVars>
      </dgm:prSet>
      <dgm:spPr/>
    </dgm:pt>
    <dgm:pt modelId="{4DD92BEE-42E4-43E2-9EF5-DAAAD897F1C5}" type="pres">
      <dgm:prSet presAssocID="{71F9D8D7-7407-4599-904C-BF06997F6F54}" presName="compositeNode" presStyleCnt="0">
        <dgm:presLayoutVars>
          <dgm:bulletEnabled val="1"/>
        </dgm:presLayoutVars>
      </dgm:prSet>
      <dgm:spPr/>
    </dgm:pt>
    <dgm:pt modelId="{EE4D9E9B-DBED-4351-BB2A-3BE6B60CFE69}" type="pres">
      <dgm:prSet presAssocID="{71F9D8D7-7407-4599-904C-BF06997F6F54}" presName="bgRect" presStyleLbl="node1" presStyleIdx="0" presStyleCnt="4"/>
      <dgm:spPr/>
    </dgm:pt>
    <dgm:pt modelId="{E3B0C277-9514-4371-9ABB-15F0AF04B543}" type="pres">
      <dgm:prSet presAssocID="{71F9D8D7-7407-4599-904C-BF06997F6F54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FC06FF57-D555-485D-8C58-BAC8D9681AD3}" type="pres">
      <dgm:prSet presAssocID="{71F9D8D7-7407-4599-904C-BF06997F6F54}" presName="childNode" presStyleLbl="node1" presStyleIdx="0" presStyleCnt="4">
        <dgm:presLayoutVars>
          <dgm:bulletEnabled val="1"/>
        </dgm:presLayoutVars>
      </dgm:prSet>
      <dgm:spPr/>
    </dgm:pt>
    <dgm:pt modelId="{F1EB89F1-A278-4D86-9403-29F056A101AC}" type="pres">
      <dgm:prSet presAssocID="{C11F1364-C2E6-4405-BD53-D1B0D67EF523}" presName="hSp" presStyleCnt="0"/>
      <dgm:spPr/>
    </dgm:pt>
    <dgm:pt modelId="{03D8D87D-E524-447C-8DC9-0FD760F465F6}" type="pres">
      <dgm:prSet presAssocID="{C11F1364-C2E6-4405-BD53-D1B0D67EF523}" presName="vProcSp" presStyleCnt="0"/>
      <dgm:spPr/>
    </dgm:pt>
    <dgm:pt modelId="{34BD0821-266C-4C23-BF47-9FCA5E566774}" type="pres">
      <dgm:prSet presAssocID="{C11F1364-C2E6-4405-BD53-D1B0D67EF523}" presName="vSp1" presStyleCnt="0"/>
      <dgm:spPr/>
    </dgm:pt>
    <dgm:pt modelId="{A31C3C1E-2D35-4F48-A057-97DBFAE1FA90}" type="pres">
      <dgm:prSet presAssocID="{C11F1364-C2E6-4405-BD53-D1B0D67EF523}" presName="simulatedConn" presStyleLbl="solidFgAcc1" presStyleIdx="0" presStyleCnt="3"/>
      <dgm:spPr/>
    </dgm:pt>
    <dgm:pt modelId="{EA4F46F6-DAFC-460F-A9F1-30EC1304698A}" type="pres">
      <dgm:prSet presAssocID="{C11F1364-C2E6-4405-BD53-D1B0D67EF523}" presName="vSp2" presStyleCnt="0"/>
      <dgm:spPr/>
    </dgm:pt>
    <dgm:pt modelId="{5DC16680-EB14-4865-9598-CB568A47D97E}" type="pres">
      <dgm:prSet presAssocID="{C11F1364-C2E6-4405-BD53-D1B0D67EF523}" presName="sibTrans" presStyleCnt="0"/>
      <dgm:spPr/>
    </dgm:pt>
    <dgm:pt modelId="{EFA54F08-A8D3-4193-9A5A-2CED4870EF4E}" type="pres">
      <dgm:prSet presAssocID="{99D8426B-9886-460C-8B51-BAF3B523C71C}" presName="compositeNode" presStyleCnt="0">
        <dgm:presLayoutVars>
          <dgm:bulletEnabled val="1"/>
        </dgm:presLayoutVars>
      </dgm:prSet>
      <dgm:spPr/>
    </dgm:pt>
    <dgm:pt modelId="{4F30FE8A-EC4F-440C-B62D-8DE6A173D76A}" type="pres">
      <dgm:prSet presAssocID="{99D8426B-9886-460C-8B51-BAF3B523C71C}" presName="bgRect" presStyleLbl="node1" presStyleIdx="1" presStyleCnt="4"/>
      <dgm:spPr/>
    </dgm:pt>
    <dgm:pt modelId="{4442010C-2346-4B4B-8C47-9483905A0867}" type="pres">
      <dgm:prSet presAssocID="{99D8426B-9886-460C-8B51-BAF3B523C71C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EA5ABF8B-3DAB-43CD-998F-487FB361B1D6}" type="pres">
      <dgm:prSet presAssocID="{99D8426B-9886-460C-8B51-BAF3B523C71C}" presName="childNode" presStyleLbl="node1" presStyleIdx="1" presStyleCnt="4">
        <dgm:presLayoutVars>
          <dgm:bulletEnabled val="1"/>
        </dgm:presLayoutVars>
      </dgm:prSet>
      <dgm:spPr/>
    </dgm:pt>
    <dgm:pt modelId="{CB18E60C-F74B-45F6-A9E2-02A86F6DC447}" type="pres">
      <dgm:prSet presAssocID="{B41FA3BE-8FDA-4C58-9E00-D97D0A7CE54F}" presName="hSp" presStyleCnt="0"/>
      <dgm:spPr/>
    </dgm:pt>
    <dgm:pt modelId="{B63E23C8-FCAB-4356-BDAF-BB1F4B5E07ED}" type="pres">
      <dgm:prSet presAssocID="{B41FA3BE-8FDA-4C58-9E00-D97D0A7CE54F}" presName="vProcSp" presStyleCnt="0"/>
      <dgm:spPr/>
    </dgm:pt>
    <dgm:pt modelId="{B334726B-9BCD-484F-9667-4403A78058AC}" type="pres">
      <dgm:prSet presAssocID="{B41FA3BE-8FDA-4C58-9E00-D97D0A7CE54F}" presName="vSp1" presStyleCnt="0"/>
      <dgm:spPr/>
    </dgm:pt>
    <dgm:pt modelId="{D03F691E-8A7E-44F2-96F4-5060EA4E5DFA}" type="pres">
      <dgm:prSet presAssocID="{B41FA3BE-8FDA-4C58-9E00-D97D0A7CE54F}" presName="simulatedConn" presStyleLbl="solidFgAcc1" presStyleIdx="1" presStyleCnt="3"/>
      <dgm:spPr/>
    </dgm:pt>
    <dgm:pt modelId="{2E99F090-F4BD-4D44-BE82-20C4D7CD0DA1}" type="pres">
      <dgm:prSet presAssocID="{B41FA3BE-8FDA-4C58-9E00-D97D0A7CE54F}" presName="vSp2" presStyleCnt="0"/>
      <dgm:spPr/>
    </dgm:pt>
    <dgm:pt modelId="{99F9F91E-1A27-43F8-9E54-BC6765DE6930}" type="pres">
      <dgm:prSet presAssocID="{B41FA3BE-8FDA-4C58-9E00-D97D0A7CE54F}" presName="sibTrans" presStyleCnt="0"/>
      <dgm:spPr/>
    </dgm:pt>
    <dgm:pt modelId="{11069916-EAB3-43C9-845D-AFD93F1472E8}" type="pres">
      <dgm:prSet presAssocID="{1DB5CD5D-BB44-4058-B0CE-260B016AFAAB}" presName="compositeNode" presStyleCnt="0">
        <dgm:presLayoutVars>
          <dgm:bulletEnabled val="1"/>
        </dgm:presLayoutVars>
      </dgm:prSet>
      <dgm:spPr/>
    </dgm:pt>
    <dgm:pt modelId="{31793331-25F7-4D0C-A67B-9EACE74B083E}" type="pres">
      <dgm:prSet presAssocID="{1DB5CD5D-BB44-4058-B0CE-260B016AFAAB}" presName="bgRect" presStyleLbl="node1" presStyleIdx="2" presStyleCnt="4" custScaleX="96504"/>
      <dgm:spPr/>
    </dgm:pt>
    <dgm:pt modelId="{B356564C-81F1-4754-876C-FEFF962B3FCC}" type="pres">
      <dgm:prSet presAssocID="{1DB5CD5D-BB44-4058-B0CE-260B016AFAAB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2F96EE25-6AD8-4E2D-9C83-65EC5D55DA9C}" type="pres">
      <dgm:prSet presAssocID="{1DB5CD5D-BB44-4058-B0CE-260B016AFAAB}" presName="childNode" presStyleLbl="node1" presStyleIdx="2" presStyleCnt="4">
        <dgm:presLayoutVars>
          <dgm:bulletEnabled val="1"/>
        </dgm:presLayoutVars>
      </dgm:prSet>
      <dgm:spPr/>
    </dgm:pt>
    <dgm:pt modelId="{CE3D73CA-3EF4-4524-ADAC-18A7A4C6E47D}" type="pres">
      <dgm:prSet presAssocID="{B5139394-B787-47AE-B382-7A0E1ED535D5}" presName="hSp" presStyleCnt="0"/>
      <dgm:spPr/>
    </dgm:pt>
    <dgm:pt modelId="{3F26AE3D-4798-47EA-A4D0-E3C34688236E}" type="pres">
      <dgm:prSet presAssocID="{B5139394-B787-47AE-B382-7A0E1ED535D5}" presName="vProcSp" presStyleCnt="0"/>
      <dgm:spPr/>
    </dgm:pt>
    <dgm:pt modelId="{57AF1B92-4C78-477B-ACF4-B352C3869531}" type="pres">
      <dgm:prSet presAssocID="{B5139394-B787-47AE-B382-7A0E1ED535D5}" presName="vSp1" presStyleCnt="0"/>
      <dgm:spPr/>
    </dgm:pt>
    <dgm:pt modelId="{F94E434A-9941-4E06-86EA-BD29BFD9AE2A}" type="pres">
      <dgm:prSet presAssocID="{B5139394-B787-47AE-B382-7A0E1ED535D5}" presName="simulatedConn" presStyleLbl="solidFgAcc1" presStyleIdx="2" presStyleCnt="3"/>
      <dgm:spPr/>
    </dgm:pt>
    <dgm:pt modelId="{38526D9C-AB32-4BC8-85D7-B89ACEAAFC02}" type="pres">
      <dgm:prSet presAssocID="{B5139394-B787-47AE-B382-7A0E1ED535D5}" presName="vSp2" presStyleCnt="0"/>
      <dgm:spPr/>
    </dgm:pt>
    <dgm:pt modelId="{8850BF9F-472A-43AC-93D9-F98B84538D7D}" type="pres">
      <dgm:prSet presAssocID="{B5139394-B787-47AE-B382-7A0E1ED535D5}" presName="sibTrans" presStyleCnt="0"/>
      <dgm:spPr/>
    </dgm:pt>
    <dgm:pt modelId="{B3F79689-DF03-4375-B159-8D4C97A517FE}" type="pres">
      <dgm:prSet presAssocID="{E2115EC1-0346-42F0-92F4-A75B7476BCFA}" presName="compositeNode" presStyleCnt="0">
        <dgm:presLayoutVars>
          <dgm:bulletEnabled val="1"/>
        </dgm:presLayoutVars>
      </dgm:prSet>
      <dgm:spPr/>
    </dgm:pt>
    <dgm:pt modelId="{48AB48F2-A96A-4357-911C-FC28858F2B37}" type="pres">
      <dgm:prSet presAssocID="{E2115EC1-0346-42F0-92F4-A75B7476BCFA}" presName="bgRect" presStyleLbl="node1" presStyleIdx="3" presStyleCnt="4" custScaleX="119174"/>
      <dgm:spPr/>
    </dgm:pt>
    <dgm:pt modelId="{6ABA5B05-9ED6-4B25-8270-B8118D86F3C9}" type="pres">
      <dgm:prSet presAssocID="{E2115EC1-0346-42F0-92F4-A75B7476BCFA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ADCC0F1C-EC72-4F93-AE69-64B4E71A1BC0}" type="pres">
      <dgm:prSet presAssocID="{E2115EC1-0346-42F0-92F4-A75B7476BCFA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C10C3E00-B2C3-4F47-B967-2B8F32CB468C}" srcId="{15378E3D-985D-4814-B005-2CFD72561308}" destId="{1DB5CD5D-BB44-4058-B0CE-260B016AFAAB}" srcOrd="2" destOrd="0" parTransId="{1ADBA84F-3201-4E24-AC68-AB2059E0FB62}" sibTransId="{B5139394-B787-47AE-B382-7A0E1ED535D5}"/>
    <dgm:cxn modelId="{49BCB208-549D-49E0-A47C-7A03CD233681}" type="presOf" srcId="{EBBDF25A-432A-40AE-ABBC-46AAF8D28ED4}" destId="{FC06FF57-D555-485D-8C58-BAC8D9681AD3}" srcOrd="0" destOrd="0" presId="urn:microsoft.com/office/officeart/2005/8/layout/hProcess7#2"/>
    <dgm:cxn modelId="{111F850B-51EB-4AEA-A357-673471182E15}" srcId="{15378E3D-985D-4814-B005-2CFD72561308}" destId="{99D8426B-9886-460C-8B51-BAF3B523C71C}" srcOrd="1" destOrd="0" parTransId="{889F74BA-DC4E-424C-B3F3-5FBC26B458C3}" sibTransId="{B41FA3BE-8FDA-4C58-9E00-D97D0A7CE54F}"/>
    <dgm:cxn modelId="{0A9C5711-DCA8-419B-A652-C2F96EACC374}" srcId="{99D8426B-9886-460C-8B51-BAF3B523C71C}" destId="{B62F91C7-7F95-4B10-ABAE-761ADC983978}" srcOrd="0" destOrd="0" parTransId="{6205F0F2-EC51-4A04-BF15-B119B907F362}" sibTransId="{B6B6E2CF-53F4-4B95-A304-5BF301A31B0F}"/>
    <dgm:cxn modelId="{08E2C62E-ADC5-472B-B88B-7F993D1DA03D}" type="presOf" srcId="{E2115EC1-0346-42F0-92F4-A75B7476BCFA}" destId="{48AB48F2-A96A-4357-911C-FC28858F2B37}" srcOrd="0" destOrd="0" presId="urn:microsoft.com/office/officeart/2005/8/layout/hProcess7#2"/>
    <dgm:cxn modelId="{03CB0440-5A9D-4F3F-9B0E-0F9885DC86DB}" type="presOf" srcId="{71F9D8D7-7407-4599-904C-BF06997F6F54}" destId="{EE4D9E9B-DBED-4351-BB2A-3BE6B60CFE69}" srcOrd="0" destOrd="0" presId="urn:microsoft.com/office/officeart/2005/8/layout/hProcess7#2"/>
    <dgm:cxn modelId="{A3DD646A-3FCA-401B-87F1-EA01E2623D0F}" srcId="{1DB5CD5D-BB44-4058-B0CE-260B016AFAAB}" destId="{B74577D7-CAFA-4732-86E6-D53FC58C0CD7}" srcOrd="0" destOrd="0" parTransId="{082FF437-FB26-4453-8475-C91B8EDA3FF0}" sibTransId="{BF8C8518-7C39-48A8-B0AA-2064A2ED3F49}"/>
    <dgm:cxn modelId="{961DE950-A0F4-4678-8172-5A468E96FD54}" type="presOf" srcId="{B62F91C7-7F95-4B10-ABAE-761ADC983978}" destId="{EA5ABF8B-3DAB-43CD-998F-487FB361B1D6}" srcOrd="0" destOrd="0" presId="urn:microsoft.com/office/officeart/2005/8/layout/hProcess7#2"/>
    <dgm:cxn modelId="{82BDE07C-2D02-4B8C-BAC8-007479CE87FA}" type="presOf" srcId="{B74577D7-CAFA-4732-86E6-D53FC58C0CD7}" destId="{2F96EE25-6AD8-4E2D-9C83-65EC5D55DA9C}" srcOrd="0" destOrd="0" presId="urn:microsoft.com/office/officeart/2005/8/layout/hProcess7#2"/>
    <dgm:cxn modelId="{863B038A-7857-410D-8EAD-CCD222EB6732}" srcId="{15378E3D-985D-4814-B005-2CFD72561308}" destId="{71F9D8D7-7407-4599-904C-BF06997F6F54}" srcOrd="0" destOrd="0" parTransId="{138E4742-2D6B-42E5-99A0-EDF8DBC4EEEB}" sibTransId="{C11F1364-C2E6-4405-BD53-D1B0D67EF523}"/>
    <dgm:cxn modelId="{700AD793-EB29-420C-8657-9028A48FEDAC}" srcId="{71F9D8D7-7407-4599-904C-BF06997F6F54}" destId="{EBBDF25A-432A-40AE-ABBC-46AAF8D28ED4}" srcOrd="0" destOrd="0" parTransId="{A61B40F2-A51B-48B7-8740-AA92929B5D74}" sibTransId="{7616EF28-2EF6-49EB-BAFF-8E6CB50E94C9}"/>
    <dgm:cxn modelId="{4272069B-7073-4368-A9D7-B8D77AABA557}" type="presOf" srcId="{71F9D8D7-7407-4599-904C-BF06997F6F54}" destId="{E3B0C277-9514-4371-9ABB-15F0AF04B543}" srcOrd="1" destOrd="0" presId="urn:microsoft.com/office/officeart/2005/8/layout/hProcess7#2"/>
    <dgm:cxn modelId="{1491A7CA-DD2C-413E-9DAC-4BF2C0DDAFDA}" type="presOf" srcId="{B82EC490-9099-4EE6-BA50-B7BA8EC0E8FF}" destId="{ADCC0F1C-EC72-4F93-AE69-64B4E71A1BC0}" srcOrd="0" destOrd="0" presId="urn:microsoft.com/office/officeart/2005/8/layout/hProcess7#2"/>
    <dgm:cxn modelId="{2B4181D2-8827-44D5-B405-8A61036F43DA}" type="presOf" srcId="{15378E3D-985D-4814-B005-2CFD72561308}" destId="{E6265C92-5488-4640-BEAF-78FF3F336A86}" srcOrd="0" destOrd="0" presId="urn:microsoft.com/office/officeart/2005/8/layout/hProcess7#2"/>
    <dgm:cxn modelId="{BC2BB4D9-7C62-4AE3-A068-98B4287FB7E8}" srcId="{E2115EC1-0346-42F0-92F4-A75B7476BCFA}" destId="{B82EC490-9099-4EE6-BA50-B7BA8EC0E8FF}" srcOrd="0" destOrd="0" parTransId="{12CCFD79-B187-4C0A-BED9-F3BFB989E946}" sibTransId="{C9260FFC-2D00-4AD3-B4C5-1368814BDC44}"/>
    <dgm:cxn modelId="{ABCF11E0-8D06-42D3-8C13-B8A89882FDAC}" srcId="{15378E3D-985D-4814-B005-2CFD72561308}" destId="{E2115EC1-0346-42F0-92F4-A75B7476BCFA}" srcOrd="3" destOrd="0" parTransId="{6A30D942-FD27-4B68-B004-21987195BED3}" sibTransId="{377A424E-A30A-4AAE-9CBE-E13372970F52}"/>
    <dgm:cxn modelId="{6B1458E0-2F01-49BF-8053-02A32C205FC5}" type="presOf" srcId="{99D8426B-9886-460C-8B51-BAF3B523C71C}" destId="{4F30FE8A-EC4F-440C-B62D-8DE6A173D76A}" srcOrd="0" destOrd="0" presId="urn:microsoft.com/office/officeart/2005/8/layout/hProcess7#2"/>
    <dgm:cxn modelId="{77C8A2F0-20CB-43FE-A043-EB2AA2F62E14}" type="presOf" srcId="{1DB5CD5D-BB44-4058-B0CE-260B016AFAAB}" destId="{31793331-25F7-4D0C-A67B-9EACE74B083E}" srcOrd="0" destOrd="0" presId="urn:microsoft.com/office/officeart/2005/8/layout/hProcess7#2"/>
    <dgm:cxn modelId="{81A989F8-1229-4CB3-ADE4-BC1FB00D0C41}" type="presOf" srcId="{99D8426B-9886-460C-8B51-BAF3B523C71C}" destId="{4442010C-2346-4B4B-8C47-9483905A0867}" srcOrd="1" destOrd="0" presId="urn:microsoft.com/office/officeart/2005/8/layout/hProcess7#2"/>
    <dgm:cxn modelId="{F50307FA-CE42-47BD-8C07-6AC620F79CE2}" type="presOf" srcId="{E2115EC1-0346-42F0-92F4-A75B7476BCFA}" destId="{6ABA5B05-9ED6-4B25-8270-B8118D86F3C9}" srcOrd="1" destOrd="0" presId="urn:microsoft.com/office/officeart/2005/8/layout/hProcess7#2"/>
    <dgm:cxn modelId="{D4F263FE-450C-417C-AC18-226915067D38}" type="presOf" srcId="{1DB5CD5D-BB44-4058-B0CE-260B016AFAAB}" destId="{B356564C-81F1-4754-876C-FEFF962B3FCC}" srcOrd="1" destOrd="0" presId="urn:microsoft.com/office/officeart/2005/8/layout/hProcess7#2"/>
    <dgm:cxn modelId="{59FBFAF8-1B9F-4450-BEB9-82FCEB03B02F}" type="presParOf" srcId="{E6265C92-5488-4640-BEAF-78FF3F336A86}" destId="{4DD92BEE-42E4-43E2-9EF5-DAAAD897F1C5}" srcOrd="0" destOrd="0" presId="urn:microsoft.com/office/officeart/2005/8/layout/hProcess7#2"/>
    <dgm:cxn modelId="{837D9BD4-20F8-45DB-8011-97BB99C751B4}" type="presParOf" srcId="{4DD92BEE-42E4-43E2-9EF5-DAAAD897F1C5}" destId="{EE4D9E9B-DBED-4351-BB2A-3BE6B60CFE69}" srcOrd="0" destOrd="0" presId="urn:microsoft.com/office/officeart/2005/8/layout/hProcess7#2"/>
    <dgm:cxn modelId="{ABD24322-C9F9-4F55-9714-377A913ADEF5}" type="presParOf" srcId="{4DD92BEE-42E4-43E2-9EF5-DAAAD897F1C5}" destId="{E3B0C277-9514-4371-9ABB-15F0AF04B543}" srcOrd="1" destOrd="0" presId="urn:microsoft.com/office/officeart/2005/8/layout/hProcess7#2"/>
    <dgm:cxn modelId="{BB5B33C8-1C1B-4341-8979-EE1FE3FBDA6C}" type="presParOf" srcId="{4DD92BEE-42E4-43E2-9EF5-DAAAD897F1C5}" destId="{FC06FF57-D555-485D-8C58-BAC8D9681AD3}" srcOrd="2" destOrd="0" presId="urn:microsoft.com/office/officeart/2005/8/layout/hProcess7#2"/>
    <dgm:cxn modelId="{A3498CCB-40FB-45C6-88E2-7ADCFC6B6D20}" type="presParOf" srcId="{E6265C92-5488-4640-BEAF-78FF3F336A86}" destId="{F1EB89F1-A278-4D86-9403-29F056A101AC}" srcOrd="1" destOrd="0" presId="urn:microsoft.com/office/officeart/2005/8/layout/hProcess7#2"/>
    <dgm:cxn modelId="{4789C3D7-C8AB-4FC6-B7CD-11878BEBFBBA}" type="presParOf" srcId="{E6265C92-5488-4640-BEAF-78FF3F336A86}" destId="{03D8D87D-E524-447C-8DC9-0FD760F465F6}" srcOrd="2" destOrd="0" presId="urn:microsoft.com/office/officeart/2005/8/layout/hProcess7#2"/>
    <dgm:cxn modelId="{366A63DF-BE6E-4555-AF94-A5FBEB611984}" type="presParOf" srcId="{03D8D87D-E524-447C-8DC9-0FD760F465F6}" destId="{34BD0821-266C-4C23-BF47-9FCA5E566774}" srcOrd="0" destOrd="0" presId="urn:microsoft.com/office/officeart/2005/8/layout/hProcess7#2"/>
    <dgm:cxn modelId="{21071867-E3C5-4A5D-B043-E7F44EAF75B8}" type="presParOf" srcId="{03D8D87D-E524-447C-8DC9-0FD760F465F6}" destId="{A31C3C1E-2D35-4F48-A057-97DBFAE1FA90}" srcOrd="1" destOrd="0" presId="urn:microsoft.com/office/officeart/2005/8/layout/hProcess7#2"/>
    <dgm:cxn modelId="{2834F5DB-38DF-4581-BABD-5303271A8CDA}" type="presParOf" srcId="{03D8D87D-E524-447C-8DC9-0FD760F465F6}" destId="{EA4F46F6-DAFC-460F-A9F1-30EC1304698A}" srcOrd="2" destOrd="0" presId="urn:microsoft.com/office/officeart/2005/8/layout/hProcess7#2"/>
    <dgm:cxn modelId="{3BBC0781-D436-4CDB-A0BE-CF6988C8D5A0}" type="presParOf" srcId="{E6265C92-5488-4640-BEAF-78FF3F336A86}" destId="{5DC16680-EB14-4865-9598-CB568A47D97E}" srcOrd="3" destOrd="0" presId="urn:microsoft.com/office/officeart/2005/8/layout/hProcess7#2"/>
    <dgm:cxn modelId="{5DF4C7F8-13A3-4498-B535-E4CDB6A43C93}" type="presParOf" srcId="{E6265C92-5488-4640-BEAF-78FF3F336A86}" destId="{EFA54F08-A8D3-4193-9A5A-2CED4870EF4E}" srcOrd="4" destOrd="0" presId="urn:microsoft.com/office/officeart/2005/8/layout/hProcess7#2"/>
    <dgm:cxn modelId="{E82B4DFF-3AD1-4E94-B051-0049C4620C31}" type="presParOf" srcId="{EFA54F08-A8D3-4193-9A5A-2CED4870EF4E}" destId="{4F30FE8A-EC4F-440C-B62D-8DE6A173D76A}" srcOrd="0" destOrd="0" presId="urn:microsoft.com/office/officeart/2005/8/layout/hProcess7#2"/>
    <dgm:cxn modelId="{EAD4A232-9561-4CBE-B550-1AB3D0FC09F2}" type="presParOf" srcId="{EFA54F08-A8D3-4193-9A5A-2CED4870EF4E}" destId="{4442010C-2346-4B4B-8C47-9483905A0867}" srcOrd="1" destOrd="0" presId="urn:microsoft.com/office/officeart/2005/8/layout/hProcess7#2"/>
    <dgm:cxn modelId="{C8E36153-00D6-468D-9A01-2FCF3D3ACF07}" type="presParOf" srcId="{EFA54F08-A8D3-4193-9A5A-2CED4870EF4E}" destId="{EA5ABF8B-3DAB-43CD-998F-487FB361B1D6}" srcOrd="2" destOrd="0" presId="urn:microsoft.com/office/officeart/2005/8/layout/hProcess7#2"/>
    <dgm:cxn modelId="{6E25E208-8473-4EFA-A601-1752FC966395}" type="presParOf" srcId="{E6265C92-5488-4640-BEAF-78FF3F336A86}" destId="{CB18E60C-F74B-45F6-A9E2-02A86F6DC447}" srcOrd="5" destOrd="0" presId="urn:microsoft.com/office/officeart/2005/8/layout/hProcess7#2"/>
    <dgm:cxn modelId="{3489FD30-BDC2-4689-9169-D3F86E27703E}" type="presParOf" srcId="{E6265C92-5488-4640-BEAF-78FF3F336A86}" destId="{B63E23C8-FCAB-4356-BDAF-BB1F4B5E07ED}" srcOrd="6" destOrd="0" presId="urn:microsoft.com/office/officeart/2005/8/layout/hProcess7#2"/>
    <dgm:cxn modelId="{28F0E4CF-65A7-4D13-B613-69F92515B5EF}" type="presParOf" srcId="{B63E23C8-FCAB-4356-BDAF-BB1F4B5E07ED}" destId="{B334726B-9BCD-484F-9667-4403A78058AC}" srcOrd="0" destOrd="0" presId="urn:microsoft.com/office/officeart/2005/8/layout/hProcess7#2"/>
    <dgm:cxn modelId="{BB34E689-15E1-451B-BEB6-8669F5653B95}" type="presParOf" srcId="{B63E23C8-FCAB-4356-BDAF-BB1F4B5E07ED}" destId="{D03F691E-8A7E-44F2-96F4-5060EA4E5DFA}" srcOrd="1" destOrd="0" presId="urn:microsoft.com/office/officeart/2005/8/layout/hProcess7#2"/>
    <dgm:cxn modelId="{674F6109-3812-465D-9BE5-11099CA0629D}" type="presParOf" srcId="{B63E23C8-FCAB-4356-BDAF-BB1F4B5E07ED}" destId="{2E99F090-F4BD-4D44-BE82-20C4D7CD0DA1}" srcOrd="2" destOrd="0" presId="urn:microsoft.com/office/officeart/2005/8/layout/hProcess7#2"/>
    <dgm:cxn modelId="{3E9E5463-7F2D-4102-AFFE-D964A9C9AB79}" type="presParOf" srcId="{E6265C92-5488-4640-BEAF-78FF3F336A86}" destId="{99F9F91E-1A27-43F8-9E54-BC6765DE6930}" srcOrd="7" destOrd="0" presId="urn:microsoft.com/office/officeart/2005/8/layout/hProcess7#2"/>
    <dgm:cxn modelId="{C08E4377-F792-46B8-89E8-4DCACFC03E1B}" type="presParOf" srcId="{E6265C92-5488-4640-BEAF-78FF3F336A86}" destId="{11069916-EAB3-43C9-845D-AFD93F1472E8}" srcOrd="8" destOrd="0" presId="urn:microsoft.com/office/officeart/2005/8/layout/hProcess7#2"/>
    <dgm:cxn modelId="{CDBD693A-F0C7-4DBE-A7F4-F3D61BA53C9F}" type="presParOf" srcId="{11069916-EAB3-43C9-845D-AFD93F1472E8}" destId="{31793331-25F7-4D0C-A67B-9EACE74B083E}" srcOrd="0" destOrd="0" presId="urn:microsoft.com/office/officeart/2005/8/layout/hProcess7#2"/>
    <dgm:cxn modelId="{364264FD-E318-4055-94F4-D5308DE156E9}" type="presParOf" srcId="{11069916-EAB3-43C9-845D-AFD93F1472E8}" destId="{B356564C-81F1-4754-876C-FEFF962B3FCC}" srcOrd="1" destOrd="0" presId="urn:microsoft.com/office/officeart/2005/8/layout/hProcess7#2"/>
    <dgm:cxn modelId="{31DD2BEF-02D1-46A6-8359-9B2EA95E78F4}" type="presParOf" srcId="{11069916-EAB3-43C9-845D-AFD93F1472E8}" destId="{2F96EE25-6AD8-4E2D-9C83-65EC5D55DA9C}" srcOrd="2" destOrd="0" presId="urn:microsoft.com/office/officeart/2005/8/layout/hProcess7#2"/>
    <dgm:cxn modelId="{A199CBEE-51F5-43AF-8F06-F8512E4D7336}" type="presParOf" srcId="{E6265C92-5488-4640-BEAF-78FF3F336A86}" destId="{CE3D73CA-3EF4-4524-ADAC-18A7A4C6E47D}" srcOrd="9" destOrd="0" presId="urn:microsoft.com/office/officeart/2005/8/layout/hProcess7#2"/>
    <dgm:cxn modelId="{CC733BF0-6B0B-40AF-B414-88D87FF71A34}" type="presParOf" srcId="{E6265C92-5488-4640-BEAF-78FF3F336A86}" destId="{3F26AE3D-4798-47EA-A4D0-E3C34688236E}" srcOrd="10" destOrd="0" presId="urn:microsoft.com/office/officeart/2005/8/layout/hProcess7#2"/>
    <dgm:cxn modelId="{5B9E4EE0-E9B4-4ED2-A8C4-4A9AA7D431D2}" type="presParOf" srcId="{3F26AE3D-4798-47EA-A4D0-E3C34688236E}" destId="{57AF1B92-4C78-477B-ACF4-B352C3869531}" srcOrd="0" destOrd="0" presId="urn:microsoft.com/office/officeart/2005/8/layout/hProcess7#2"/>
    <dgm:cxn modelId="{6F0B4F8C-7313-460B-B582-F6FF77C58DD5}" type="presParOf" srcId="{3F26AE3D-4798-47EA-A4D0-E3C34688236E}" destId="{F94E434A-9941-4E06-86EA-BD29BFD9AE2A}" srcOrd="1" destOrd="0" presId="urn:microsoft.com/office/officeart/2005/8/layout/hProcess7#2"/>
    <dgm:cxn modelId="{349B867F-7B15-4AF5-B53A-A6E8476FA7CD}" type="presParOf" srcId="{3F26AE3D-4798-47EA-A4D0-E3C34688236E}" destId="{38526D9C-AB32-4BC8-85D7-B89ACEAAFC02}" srcOrd="2" destOrd="0" presId="urn:microsoft.com/office/officeart/2005/8/layout/hProcess7#2"/>
    <dgm:cxn modelId="{367010A6-92C4-4B27-A96B-65F92E3E9D00}" type="presParOf" srcId="{E6265C92-5488-4640-BEAF-78FF3F336A86}" destId="{8850BF9F-472A-43AC-93D9-F98B84538D7D}" srcOrd="11" destOrd="0" presId="urn:microsoft.com/office/officeart/2005/8/layout/hProcess7#2"/>
    <dgm:cxn modelId="{05A297E2-8E22-4E33-9B09-8FC0CD44D89A}" type="presParOf" srcId="{E6265C92-5488-4640-BEAF-78FF3F336A86}" destId="{B3F79689-DF03-4375-B159-8D4C97A517FE}" srcOrd="12" destOrd="0" presId="urn:microsoft.com/office/officeart/2005/8/layout/hProcess7#2"/>
    <dgm:cxn modelId="{62E2BBAB-0451-4117-98C9-DA45F73B42E6}" type="presParOf" srcId="{B3F79689-DF03-4375-B159-8D4C97A517FE}" destId="{48AB48F2-A96A-4357-911C-FC28858F2B37}" srcOrd="0" destOrd="0" presId="urn:microsoft.com/office/officeart/2005/8/layout/hProcess7#2"/>
    <dgm:cxn modelId="{76FC4F93-4C6C-4B6A-839C-63E5B7598DEF}" type="presParOf" srcId="{B3F79689-DF03-4375-B159-8D4C97A517FE}" destId="{6ABA5B05-9ED6-4B25-8270-B8118D86F3C9}" srcOrd="1" destOrd="0" presId="urn:microsoft.com/office/officeart/2005/8/layout/hProcess7#2"/>
    <dgm:cxn modelId="{A326B22C-26B5-41C1-A17F-13EA7F6D25B4}" type="presParOf" srcId="{B3F79689-DF03-4375-B159-8D4C97A517FE}" destId="{ADCC0F1C-EC72-4F93-AE69-64B4E71A1BC0}" srcOrd="2" destOrd="0" presId="urn:microsoft.com/office/officeart/2005/8/layout/hProcess7#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D9E9B-DBED-4351-BB2A-3BE6B60CFE69}">
      <dsp:nvSpPr>
        <dsp:cNvPr id="0" name=""/>
        <dsp:cNvSpPr/>
      </dsp:nvSpPr>
      <dsp:spPr>
        <a:xfrm>
          <a:off x="6967" y="1114484"/>
          <a:ext cx="2016025" cy="241923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-783314" y="1904766"/>
        <a:ext cx="1983769" cy="403205"/>
      </dsp:txXfrm>
    </dsp:sp>
    <dsp:sp modelId="{FC06FF57-D555-485D-8C58-BAC8D9681AD3}">
      <dsp:nvSpPr>
        <dsp:cNvPr id="0" name=""/>
        <dsp:cNvSpPr/>
      </dsp:nvSpPr>
      <dsp:spPr>
        <a:xfrm>
          <a:off x="410172" y="1114484"/>
          <a:ext cx="1501939" cy="241923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CB sells bonds to the public</a:t>
          </a:r>
        </a:p>
      </dsp:txBody>
      <dsp:txXfrm>
        <a:off x="410172" y="1114484"/>
        <a:ext cx="1501939" cy="2419230"/>
      </dsp:txXfrm>
    </dsp:sp>
    <dsp:sp modelId="{4F30FE8A-EC4F-440C-B62D-8DE6A173D76A}">
      <dsp:nvSpPr>
        <dsp:cNvPr id="0" name=""/>
        <dsp:cNvSpPr/>
      </dsp:nvSpPr>
      <dsp:spPr>
        <a:xfrm>
          <a:off x="2093554" y="1114484"/>
          <a:ext cx="1651104" cy="241923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1266779" y="1941258"/>
        <a:ext cx="1983769" cy="330220"/>
      </dsp:txXfrm>
    </dsp:sp>
    <dsp:sp modelId="{A31C3C1E-2D35-4F48-A057-97DBFAE1FA90}">
      <dsp:nvSpPr>
        <dsp:cNvPr id="0" name=""/>
        <dsp:cNvSpPr/>
      </dsp:nvSpPr>
      <dsp:spPr>
        <a:xfrm rot="5400000">
          <a:off x="1925988" y="3035813"/>
          <a:ext cx="355290" cy="30240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A5ABF8B-3DAB-43CD-998F-487FB361B1D6}">
      <dsp:nvSpPr>
        <dsp:cNvPr id="0" name=""/>
        <dsp:cNvSpPr/>
      </dsp:nvSpPr>
      <dsp:spPr>
        <a:xfrm>
          <a:off x="2450231" y="1114484"/>
          <a:ext cx="1230073" cy="241923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Banks deposit drops</a:t>
          </a:r>
        </a:p>
      </dsp:txBody>
      <dsp:txXfrm>
        <a:off x="2450231" y="1114484"/>
        <a:ext cx="1230073" cy="2419230"/>
      </dsp:txXfrm>
    </dsp:sp>
    <dsp:sp modelId="{31793331-25F7-4D0C-A67B-9EACE74B083E}">
      <dsp:nvSpPr>
        <dsp:cNvPr id="0" name=""/>
        <dsp:cNvSpPr/>
      </dsp:nvSpPr>
      <dsp:spPr>
        <a:xfrm>
          <a:off x="3815220" y="1114484"/>
          <a:ext cx="2016025" cy="241923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3024937" y="1904766"/>
        <a:ext cx="1983769" cy="403205"/>
      </dsp:txXfrm>
    </dsp:sp>
    <dsp:sp modelId="{D03F691E-8A7E-44F2-96F4-5060EA4E5DFA}">
      <dsp:nvSpPr>
        <dsp:cNvPr id="0" name=""/>
        <dsp:cNvSpPr/>
      </dsp:nvSpPr>
      <dsp:spPr>
        <a:xfrm rot="5400000">
          <a:off x="3647654" y="3035813"/>
          <a:ext cx="355290" cy="30240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96EE25-6AD8-4E2D-9C83-65EC5D55DA9C}">
      <dsp:nvSpPr>
        <dsp:cNvPr id="0" name=""/>
        <dsp:cNvSpPr/>
      </dsp:nvSpPr>
      <dsp:spPr>
        <a:xfrm>
          <a:off x="4218425" y="1114484"/>
          <a:ext cx="1501939" cy="241923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Money supply  decrease</a:t>
          </a:r>
        </a:p>
      </dsp:txBody>
      <dsp:txXfrm>
        <a:off x="4218425" y="1114484"/>
        <a:ext cx="1501939" cy="2419230"/>
      </dsp:txXfrm>
    </dsp:sp>
    <dsp:sp modelId="{48AB48F2-A96A-4357-911C-FC28858F2B37}">
      <dsp:nvSpPr>
        <dsp:cNvPr id="0" name=""/>
        <dsp:cNvSpPr/>
      </dsp:nvSpPr>
      <dsp:spPr>
        <a:xfrm>
          <a:off x="5901806" y="1114484"/>
          <a:ext cx="2016025" cy="241923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5111524" y="1904766"/>
        <a:ext cx="1983769" cy="403205"/>
      </dsp:txXfrm>
    </dsp:sp>
    <dsp:sp modelId="{F94E434A-9941-4E06-86EA-BD29BFD9AE2A}">
      <dsp:nvSpPr>
        <dsp:cNvPr id="0" name=""/>
        <dsp:cNvSpPr/>
      </dsp:nvSpPr>
      <dsp:spPr>
        <a:xfrm rot="5400000">
          <a:off x="5734241" y="3035813"/>
          <a:ext cx="355290" cy="30240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DCC0F1C-EC72-4F93-AE69-64B4E71A1BC0}">
      <dsp:nvSpPr>
        <dsp:cNvPr id="0" name=""/>
        <dsp:cNvSpPr/>
      </dsp:nvSpPr>
      <dsp:spPr>
        <a:xfrm>
          <a:off x="6305011" y="1114484"/>
          <a:ext cx="1501939" cy="241923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Interest rate increases</a:t>
          </a:r>
        </a:p>
      </dsp:txBody>
      <dsp:txXfrm>
        <a:off x="6305011" y="1114484"/>
        <a:ext cx="1501939" cy="2419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D9E9B-DBED-4351-BB2A-3BE6B60CFE69}">
      <dsp:nvSpPr>
        <dsp:cNvPr id="0" name=""/>
        <dsp:cNvSpPr/>
      </dsp:nvSpPr>
      <dsp:spPr>
        <a:xfrm>
          <a:off x="422" y="0"/>
          <a:ext cx="1893037" cy="1713962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-512997" y="513420"/>
        <a:ext cx="1405448" cy="378607"/>
      </dsp:txXfrm>
    </dsp:sp>
    <dsp:sp modelId="{FC06FF57-D555-485D-8C58-BAC8D9681AD3}">
      <dsp:nvSpPr>
        <dsp:cNvPr id="0" name=""/>
        <dsp:cNvSpPr/>
      </dsp:nvSpPr>
      <dsp:spPr>
        <a:xfrm>
          <a:off x="379030" y="0"/>
          <a:ext cx="1410313" cy="1713962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CB buys bonds from the public</a:t>
          </a:r>
        </a:p>
      </dsp:txBody>
      <dsp:txXfrm>
        <a:off x="379030" y="0"/>
        <a:ext cx="1410313" cy="1713962"/>
      </dsp:txXfrm>
    </dsp:sp>
    <dsp:sp modelId="{4F30FE8A-EC4F-440C-B62D-8DE6A173D76A}">
      <dsp:nvSpPr>
        <dsp:cNvPr id="0" name=""/>
        <dsp:cNvSpPr/>
      </dsp:nvSpPr>
      <dsp:spPr>
        <a:xfrm>
          <a:off x="1959717" y="0"/>
          <a:ext cx="1893037" cy="1713962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1446296" y="513420"/>
        <a:ext cx="1405448" cy="378607"/>
      </dsp:txXfrm>
    </dsp:sp>
    <dsp:sp modelId="{A31C3C1E-2D35-4F48-A057-97DBFAE1FA90}">
      <dsp:nvSpPr>
        <dsp:cNvPr id="0" name=""/>
        <dsp:cNvSpPr/>
      </dsp:nvSpPr>
      <dsp:spPr>
        <a:xfrm rot="5400000">
          <a:off x="1843160" y="1328278"/>
          <a:ext cx="252043" cy="28395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A5ABF8B-3DAB-43CD-998F-487FB361B1D6}">
      <dsp:nvSpPr>
        <dsp:cNvPr id="0" name=""/>
        <dsp:cNvSpPr/>
      </dsp:nvSpPr>
      <dsp:spPr>
        <a:xfrm>
          <a:off x="2338324" y="0"/>
          <a:ext cx="1410313" cy="1713962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Banks deposits increases</a:t>
          </a:r>
        </a:p>
      </dsp:txBody>
      <dsp:txXfrm>
        <a:off x="2338324" y="0"/>
        <a:ext cx="1410313" cy="1713962"/>
      </dsp:txXfrm>
    </dsp:sp>
    <dsp:sp modelId="{31793331-25F7-4D0C-A67B-9EACE74B083E}">
      <dsp:nvSpPr>
        <dsp:cNvPr id="0" name=""/>
        <dsp:cNvSpPr/>
      </dsp:nvSpPr>
      <dsp:spPr>
        <a:xfrm>
          <a:off x="3919011" y="0"/>
          <a:ext cx="1826857" cy="1713962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3398972" y="520038"/>
        <a:ext cx="1405448" cy="365371"/>
      </dsp:txXfrm>
    </dsp:sp>
    <dsp:sp modelId="{D03F691E-8A7E-44F2-96F4-5060EA4E5DFA}">
      <dsp:nvSpPr>
        <dsp:cNvPr id="0" name=""/>
        <dsp:cNvSpPr/>
      </dsp:nvSpPr>
      <dsp:spPr>
        <a:xfrm rot="5400000">
          <a:off x="3802454" y="1328278"/>
          <a:ext cx="252043" cy="28395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96EE25-6AD8-4E2D-9C83-65EC5D55DA9C}">
      <dsp:nvSpPr>
        <dsp:cNvPr id="0" name=""/>
        <dsp:cNvSpPr/>
      </dsp:nvSpPr>
      <dsp:spPr>
        <a:xfrm>
          <a:off x="4289180" y="0"/>
          <a:ext cx="1361008" cy="1713962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Money supply increase</a:t>
          </a:r>
        </a:p>
      </dsp:txBody>
      <dsp:txXfrm>
        <a:off x="4289180" y="0"/>
        <a:ext cx="1361008" cy="1713962"/>
      </dsp:txXfrm>
    </dsp:sp>
    <dsp:sp modelId="{48AB48F2-A96A-4357-911C-FC28858F2B37}">
      <dsp:nvSpPr>
        <dsp:cNvPr id="0" name=""/>
        <dsp:cNvSpPr/>
      </dsp:nvSpPr>
      <dsp:spPr>
        <a:xfrm>
          <a:off x="5812125" y="0"/>
          <a:ext cx="2256008" cy="1713962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</a:p>
      </dsp:txBody>
      <dsp:txXfrm rot="16200000">
        <a:off x="5335001" y="477123"/>
        <a:ext cx="1405448" cy="451201"/>
      </dsp:txXfrm>
    </dsp:sp>
    <dsp:sp modelId="{F94E434A-9941-4E06-86EA-BD29BFD9AE2A}">
      <dsp:nvSpPr>
        <dsp:cNvPr id="0" name=""/>
        <dsp:cNvSpPr/>
      </dsp:nvSpPr>
      <dsp:spPr>
        <a:xfrm rot="5400000">
          <a:off x="5695568" y="1328278"/>
          <a:ext cx="252043" cy="28395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DCC0F1C-EC72-4F93-AE69-64B4E71A1BC0}">
      <dsp:nvSpPr>
        <dsp:cNvPr id="0" name=""/>
        <dsp:cNvSpPr/>
      </dsp:nvSpPr>
      <dsp:spPr>
        <a:xfrm>
          <a:off x="6237011" y="0"/>
          <a:ext cx="1680726" cy="1713962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Interest rate decreases</a:t>
          </a:r>
        </a:p>
      </dsp:txBody>
      <dsp:txXfrm>
        <a:off x="6237011" y="0"/>
        <a:ext cx="1680726" cy="1713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#1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#2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presOf axis="self"/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0.55774</cdr:x>
      <cdr:y>0.63238</cdr:y>
    </cdr:from>
    <cdr:to>
      <cdr:x>0.68039</cdr:x>
      <cdr:y>0.68587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187769" y="3838823"/>
          <a:ext cx="1140815" cy="32470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200" b="1"/>
            <a:t>United States</a:t>
          </a:r>
        </a:p>
        <a:p xmlns:a="http://schemas.openxmlformats.org/drawingml/2006/main">
          <a:endParaRPr lang="en-GB" sz="1100"/>
        </a:p>
      </cdr:txBody>
    </cdr:sp>
  </cdr:relSizeAnchor>
  <cdr:relSizeAnchor xmlns:cdr="http://schemas.openxmlformats.org/drawingml/2006/chartDrawing">
    <cdr:from>
      <cdr:x>0.61065</cdr:x>
      <cdr:y>0.23608</cdr:y>
    </cdr:from>
    <cdr:to>
      <cdr:x>0.7333</cdr:x>
      <cdr:y>0.28957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5679883" y="1433123"/>
          <a:ext cx="1140815" cy="32470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200" b="1" dirty="0"/>
            <a:t>Singapore</a:t>
          </a:r>
        </a:p>
        <a:p xmlns:a="http://schemas.openxmlformats.org/drawingml/2006/main">
          <a:endParaRPr lang="en-GB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CA596C-6E61-41B8-83D6-76FC19BA500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60EFC16-B366-44E9-A0C9-734DB8B602A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08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FA0425-FEC2-46A2-8848-D45419E98D4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808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FA0425-FEC2-46A2-8848-D45419E98D4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10/14/2025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fortunecookie.com/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700"/>
            <a:ext cx="7515225" cy="3810000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9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Capital Formation, Financial Markets and Money Supply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1752600"/>
            <a:ext cx="7721600" cy="4552950"/>
          </a:xfrm>
        </p:spPr>
        <p:txBody>
          <a:bodyPr/>
          <a:lstStyle/>
          <a:p>
            <a:r>
              <a:rPr lang="en-US" dirty="0"/>
              <a:t>Saving, Wealth and National Saving</a:t>
            </a:r>
          </a:p>
          <a:p>
            <a:r>
              <a:rPr lang="en-US" dirty="0"/>
              <a:t>Investment and Capital Formation</a:t>
            </a:r>
          </a:p>
          <a:p>
            <a:r>
              <a:rPr lang="en-US" dirty="0"/>
              <a:t>Demand and Supply of Saving</a:t>
            </a:r>
          </a:p>
          <a:p>
            <a:r>
              <a:rPr lang="en-US" dirty="0"/>
              <a:t>Money and Its Uses</a:t>
            </a:r>
          </a:p>
          <a:p>
            <a:r>
              <a:rPr lang="en-US" dirty="0"/>
              <a:t>Commercial Banks and Money Creation</a:t>
            </a:r>
          </a:p>
          <a:p>
            <a:r>
              <a:rPr lang="en-US" dirty="0"/>
              <a:t>Central Bank and Money Supply</a:t>
            </a:r>
          </a:p>
          <a:p>
            <a:r>
              <a:rPr lang="en-US" dirty="0"/>
              <a:t>Money Demand and Money Supply</a:t>
            </a:r>
          </a:p>
          <a:p>
            <a:r>
              <a:rPr lang="en-US" dirty="0"/>
              <a:t>Reference: FBAH </a:t>
            </a:r>
            <a:r>
              <a:rPr lang="en-US"/>
              <a:t>or FBL, </a:t>
            </a:r>
            <a:r>
              <a:rPr lang="en-US" dirty="0"/>
              <a:t>chapters 19, 20 &amp; 23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Savings and Wealth</a:t>
            </a:r>
          </a:p>
        </p:txBody>
      </p:sp>
      <p:sp>
        <p:nvSpPr>
          <p:cNvPr id="187395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Saving</a:t>
            </a:r>
            <a:r>
              <a:rPr lang="en-US" dirty="0"/>
              <a:t> is current income minus spending on current needs</a:t>
            </a:r>
          </a:p>
          <a:p>
            <a:pPr lvl="1" eaLnBrk="1" hangingPunct="1"/>
            <a:r>
              <a:rPr lang="en-US" dirty="0"/>
              <a:t>The </a:t>
            </a:r>
            <a:r>
              <a:rPr lang="en-US" b="1" dirty="0"/>
              <a:t>saving rate</a:t>
            </a:r>
            <a:r>
              <a:rPr lang="en-US" dirty="0"/>
              <a:t> is saving divided by income</a:t>
            </a:r>
          </a:p>
          <a:p>
            <a:pPr eaLnBrk="1" hangingPunct="1"/>
            <a:r>
              <a:rPr lang="en-US" b="1" dirty="0"/>
              <a:t>Wealth</a:t>
            </a:r>
            <a:r>
              <a:rPr lang="en-US" dirty="0"/>
              <a:t> is the value of assets minus liabilities</a:t>
            </a:r>
          </a:p>
          <a:p>
            <a:pPr lvl="1" eaLnBrk="1" hangingPunct="1"/>
            <a:r>
              <a:rPr lang="en-US" b="1" dirty="0"/>
              <a:t>Assets</a:t>
            </a:r>
            <a:r>
              <a:rPr lang="en-US" dirty="0"/>
              <a:t> are anything of value that one owns</a:t>
            </a:r>
          </a:p>
          <a:p>
            <a:pPr lvl="1" eaLnBrk="1" hangingPunct="1"/>
            <a:r>
              <a:rPr lang="en-US" b="1" dirty="0"/>
              <a:t>Liabilities</a:t>
            </a:r>
            <a:r>
              <a:rPr lang="en-US" dirty="0"/>
              <a:t> are the debts one owes</a:t>
            </a:r>
          </a:p>
          <a:p>
            <a:pPr lvl="1" eaLnBrk="1" hangingPunct="1"/>
            <a:r>
              <a:rPr lang="en-US" dirty="0"/>
              <a:t>The </a:t>
            </a:r>
            <a:r>
              <a:rPr lang="en-US" b="1" dirty="0"/>
              <a:t>balance sheet</a:t>
            </a:r>
            <a:r>
              <a:rPr lang="en-US" dirty="0"/>
              <a:t> is a list of an economic unit’s assets and liabilities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/>
          <p:cNvSpPr>
            <a:spLocks noGrp="1"/>
          </p:cNvSpPr>
          <p:nvPr>
            <p:ph type="title" idx="4294967295"/>
          </p:nvPr>
        </p:nvSpPr>
        <p:spPr>
          <a:xfrm>
            <a:off x="657225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Individual Balance Sheet, </a:t>
            </a:r>
            <a:r>
              <a:rPr lang="en-US" dirty="0">
                <a:solidFill>
                  <a:schemeClr val="tx1"/>
                </a:solidFill>
              </a:rPr>
              <a:t>1/1/14</a:t>
            </a:r>
          </a:p>
        </p:txBody>
      </p:sp>
      <p:graphicFrame>
        <p:nvGraphicFramePr>
          <p:cNvPr id="37935" name="Group 47"/>
          <p:cNvGraphicFramePr>
            <a:graphicFrameLocks noGrp="1"/>
          </p:cNvGraphicFramePr>
          <p:nvPr>
            <p:ph idx="4294967295"/>
          </p:nvPr>
        </p:nvGraphicFramePr>
        <p:xfrm>
          <a:off x="787400" y="1876425"/>
          <a:ext cx="8229600" cy="316992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Cash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  <a:tab pos="137160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$80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Student loan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32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Checking account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1,200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Credit card balance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32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250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Shares of stock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Car (market value)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3,500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Furniture (market value)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$6,280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32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$3,250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215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Net worth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03275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$3,030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Flow Values and Stock Values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5076825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flow</a:t>
            </a:r>
            <a:r>
              <a:rPr lang="en-US" dirty="0"/>
              <a:t> value is measured over a period of time</a:t>
            </a:r>
          </a:p>
          <a:p>
            <a:pPr lvl="1" eaLnBrk="1" hangingPunct="1"/>
            <a:r>
              <a:rPr lang="en-US" dirty="0"/>
              <a:t>Income		</a:t>
            </a:r>
          </a:p>
          <a:p>
            <a:pPr lvl="1" eaLnBrk="1" hangingPunct="1"/>
            <a:r>
              <a:rPr lang="en-US" dirty="0"/>
              <a:t>Saving		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stock</a:t>
            </a:r>
            <a:r>
              <a:rPr lang="en-US" dirty="0"/>
              <a:t> value is defined at a point in time</a:t>
            </a:r>
          </a:p>
          <a:p>
            <a:pPr lvl="1" eaLnBrk="1" hangingPunct="1"/>
            <a:r>
              <a:rPr lang="en-US" dirty="0"/>
              <a:t>Wealth		</a:t>
            </a:r>
            <a:r>
              <a:rPr lang="en-US" baseline="10000" dirty="0"/>
              <a:t>■</a:t>
            </a:r>
            <a:r>
              <a:rPr lang="en-US" dirty="0"/>
              <a:t>  Debt</a:t>
            </a:r>
          </a:p>
          <a:p>
            <a:pPr eaLnBrk="1" hangingPunct="1"/>
            <a:r>
              <a:rPr lang="en-US" dirty="0"/>
              <a:t>The </a:t>
            </a:r>
            <a:r>
              <a:rPr lang="en-US" i="1" dirty="0"/>
              <a:t>flow of savings</a:t>
            </a:r>
            <a:r>
              <a:rPr lang="en-US" dirty="0"/>
              <a:t> causes the </a:t>
            </a:r>
            <a:r>
              <a:rPr lang="en-US" i="1" dirty="0"/>
              <a:t>stock of wealth</a:t>
            </a:r>
            <a:r>
              <a:rPr lang="en-US" dirty="0"/>
              <a:t> to change</a:t>
            </a:r>
          </a:p>
          <a:p>
            <a:pPr lvl="1" eaLnBrk="1" hangingPunct="1"/>
            <a:r>
              <a:rPr lang="en-US" dirty="0"/>
              <a:t>Every dollar a person saves adds to his wealth</a:t>
            </a:r>
          </a:p>
          <a:p>
            <a:pPr eaLnBrk="1" hangingPunct="1"/>
            <a:r>
              <a:rPr lang="en-US" dirty="0"/>
              <a:t>A high rate of saving today leads to an improved standard of living in the future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1323127" y="4544291"/>
            <a:ext cx="7058890" cy="130232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651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Capital Gains and Losses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2446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Wealth changes when the value of your assets change</a:t>
            </a:r>
          </a:p>
          <a:p>
            <a:pPr lvl="1" eaLnBrk="1" hangingPunct="1"/>
            <a:r>
              <a:rPr lang="en-US" b="1"/>
              <a:t>Capital gains</a:t>
            </a:r>
            <a:r>
              <a:rPr lang="en-US"/>
              <a:t> increase the value of existing assets</a:t>
            </a:r>
          </a:p>
          <a:p>
            <a:pPr lvl="2" eaLnBrk="1" hangingPunct="1"/>
            <a:r>
              <a:rPr lang="en-US"/>
              <a:t>Higher value for stock</a:t>
            </a:r>
          </a:p>
          <a:p>
            <a:pPr lvl="1" eaLnBrk="1" hangingPunct="1"/>
            <a:r>
              <a:rPr lang="en-US" b="1"/>
              <a:t>Capital losses</a:t>
            </a:r>
            <a:r>
              <a:rPr lang="en-US"/>
              <a:t> decreases the value of existing assets</a:t>
            </a:r>
          </a:p>
          <a:p>
            <a:pPr lvl="2" eaLnBrk="1" hangingPunct="1"/>
            <a:r>
              <a:rPr lang="en-US"/>
              <a:t>Car accident damages bumper and front headlight</a:t>
            </a:r>
          </a:p>
          <a:p>
            <a:pPr eaLnBrk="1" hangingPunct="1"/>
            <a:endParaRPr lang="en-US"/>
          </a:p>
          <a:p>
            <a:pPr lvl="3" eaLnBrk="1" hangingPunct="1"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Change in wealth = </a:t>
            </a:r>
          </a:p>
          <a:p>
            <a:pPr marL="1538288" lvl="4" indent="0" eaLnBrk="1" hangingPunct="1"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Saving + Capital gains – Capital losses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3"/>
          <p:cNvSpPr>
            <a:spLocks noGrp="1"/>
          </p:cNvSpPr>
          <p:nvPr>
            <p:ph type="title" idx="4294967295"/>
          </p:nvPr>
        </p:nvSpPr>
        <p:spPr>
          <a:xfrm>
            <a:off x="685800" y="889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National Savings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660400" y="1038225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Macroeconomics studies total savings in the economy</a:t>
            </a:r>
          </a:p>
          <a:p>
            <a:pPr lvl="1" eaLnBrk="1" hangingPunct="1"/>
            <a:r>
              <a:rPr lang="en-US"/>
              <a:t>Household savings is one component</a:t>
            </a:r>
          </a:p>
          <a:p>
            <a:pPr lvl="1" eaLnBrk="1" hangingPunct="1"/>
            <a:r>
              <a:rPr lang="en-US"/>
              <a:t>Business and government savings are other parts</a:t>
            </a:r>
          </a:p>
          <a:p>
            <a:pPr eaLnBrk="1" hangingPunct="1"/>
            <a:r>
              <a:rPr lang="en-US"/>
              <a:t>Start with the definition of production and income for the economy</a:t>
            </a:r>
          </a:p>
          <a:p>
            <a:pPr algn="ctr" eaLnBrk="1" hangingPunct="1">
              <a:buFontTx/>
              <a:buNone/>
            </a:pPr>
            <a:r>
              <a:rPr lang="en-US"/>
              <a:t>Y = C + I + G + NX</a:t>
            </a:r>
          </a:p>
        </p:txBody>
      </p:sp>
      <p:graphicFrame>
        <p:nvGraphicFramePr>
          <p:cNvPr id="43022" name="Group 14"/>
          <p:cNvGraphicFramePr>
            <a:graphicFrameLocks noGrp="1"/>
          </p:cNvGraphicFramePr>
          <p:nvPr/>
        </p:nvGraphicFramePr>
        <p:xfrm>
          <a:off x="1233488" y="4305300"/>
          <a:ext cx="7480300" cy="2103438"/>
        </p:xfrm>
        <a:graphic>
          <a:graphicData uri="http://schemas.openxmlformats.org/drawingml/2006/table">
            <a:tbl>
              <a:tblPr/>
              <a:tblGrid>
                <a:gridCol w="363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= aggregate income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038">
                <a:tc>
                  <a:txBody>
                    <a:bodyPr/>
                    <a:lstStyle/>
                    <a:p>
                      <a:pPr marL="568325" marR="0" lvl="0" indent="-5683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 = consumption expenditure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68325" marR="0" lvl="0" indent="-5683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 = government purchases of goods and services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investment spending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NX = net exports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Calculate National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Assume NX = 0 for simplicity</a:t>
            </a:r>
          </a:p>
          <a:p>
            <a:pPr eaLnBrk="1" hangingPunct="1"/>
            <a:r>
              <a:rPr lang="en-US"/>
              <a:t>National savings (S) is current income less spending on current needs</a:t>
            </a:r>
          </a:p>
          <a:p>
            <a:pPr lvl="1" eaLnBrk="1" hangingPunct="1"/>
            <a:r>
              <a:rPr lang="en-US"/>
              <a:t>Current income is GDP or Y</a:t>
            </a:r>
          </a:p>
          <a:p>
            <a:pPr eaLnBrk="1" hangingPunct="1"/>
            <a:r>
              <a:rPr lang="en-US"/>
              <a:t>Spending on current needs </a:t>
            </a:r>
          </a:p>
          <a:p>
            <a:pPr lvl="1" eaLnBrk="1" hangingPunct="1"/>
            <a:r>
              <a:rPr lang="en-US"/>
              <a:t>Exclude all investment spending (I)</a:t>
            </a:r>
          </a:p>
          <a:p>
            <a:pPr lvl="1" eaLnBrk="1" hangingPunct="1"/>
            <a:r>
              <a:rPr lang="en-US"/>
              <a:t>Most consumption and government spending is for current needs</a:t>
            </a:r>
          </a:p>
          <a:p>
            <a:pPr lvl="2" eaLnBrk="1" hangingPunct="1"/>
            <a:r>
              <a:rPr lang="en-US"/>
              <a:t>For simplicity, we assume all of C and all of G are for current needs</a:t>
            </a:r>
          </a:p>
          <a:p>
            <a:pPr algn="ctr" eaLnBrk="1" hangingPunct="1">
              <a:buFontTx/>
              <a:buNone/>
            </a:pPr>
            <a:r>
              <a:rPr lang="en-US"/>
              <a:t>S = Y – C – 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>
          <a:xfrm>
            <a:off x="774700" y="1143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National Savings, 1960 </a:t>
            </a:r>
            <a:r>
              <a:rPr lang="en-US" dirty="0">
                <a:solidFill>
                  <a:schemeClr val="tx1"/>
                </a:solidFill>
              </a:rPr>
              <a:t>- 2011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4294967295"/>
          </p:nvPr>
        </p:nvSpPr>
        <p:spPr>
          <a:xfrm>
            <a:off x="673100" y="1216025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dirty="0"/>
              <a:t>Since 1960, US national savings rate has been 11–21% whereas Singapore has much higher rate</a:t>
            </a:r>
          </a:p>
          <a:p>
            <a:pPr eaLnBrk="1" hangingPunct="1"/>
            <a:r>
              <a:rPr lang="en-US" sz="2600" dirty="0"/>
              <a:t>Compulsory saving, precautionary saving and budget surplus dominate Singapore savings.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407175" y="2971800"/>
            <a:ext cx="6765275" cy="36957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608221" y="3057525"/>
            <a:ext cx="6411829" cy="339407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501652"/>
              </p:ext>
            </p:extLst>
          </p:nvPr>
        </p:nvGraphicFramePr>
        <p:xfrm>
          <a:off x="1608221" y="2908454"/>
          <a:ext cx="6841715" cy="344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Private Saving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sz="2600" b="1" dirty="0"/>
              <a:t>Private saving</a:t>
            </a:r>
            <a:r>
              <a:rPr lang="en-US" sz="2600" dirty="0"/>
              <a:t> is household plus business saving</a:t>
            </a:r>
          </a:p>
          <a:p>
            <a:pPr eaLnBrk="1" hangingPunct="1"/>
            <a:r>
              <a:rPr lang="en-US" sz="2600" dirty="0"/>
              <a:t>Household's total income is Y</a:t>
            </a:r>
          </a:p>
          <a:p>
            <a:pPr eaLnBrk="1" hangingPunct="1"/>
            <a:r>
              <a:rPr lang="en-US" sz="2600" dirty="0"/>
              <a:t>Households pay taxes (T) from this income</a:t>
            </a:r>
          </a:p>
          <a:p>
            <a:pPr lvl="1" eaLnBrk="1" hangingPunct="1"/>
            <a:r>
              <a:rPr lang="en-US" dirty="0"/>
              <a:t>Government transfer payments increase household income</a:t>
            </a:r>
          </a:p>
          <a:p>
            <a:pPr lvl="2" eaLnBrk="1" hangingPunct="1"/>
            <a:r>
              <a:rPr lang="en-US" dirty="0"/>
              <a:t>Transfer payments are made by the government to households without receiving any goods in return</a:t>
            </a:r>
          </a:p>
          <a:p>
            <a:pPr lvl="1" eaLnBrk="1" hangingPunct="1"/>
            <a:r>
              <a:rPr lang="en-US" sz="2600" dirty="0"/>
              <a:t>T = Taxes – Transfers (net taxes)</a:t>
            </a:r>
          </a:p>
          <a:p>
            <a:pPr lvl="1" eaLnBrk="1" hangingPunct="1"/>
            <a:endParaRPr lang="en-US" sz="2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Private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409700"/>
            <a:ext cx="8229600" cy="5000625"/>
          </a:xfrm>
        </p:spPr>
        <p:txBody>
          <a:bodyPr/>
          <a:lstStyle/>
          <a:p>
            <a:pPr eaLnBrk="1" hangingPunct="1"/>
            <a:r>
              <a:rPr lang="en-US" sz="2600" b="1" dirty="0"/>
              <a:t>Private saving</a:t>
            </a:r>
            <a:r>
              <a:rPr lang="en-US" sz="2600" dirty="0"/>
              <a:t> is after-tax income less consumption</a:t>
            </a:r>
          </a:p>
          <a:p>
            <a:pPr algn="ctr" eaLnBrk="1" hangingPunct="1">
              <a:buFontTx/>
              <a:buNone/>
            </a:pPr>
            <a:r>
              <a:rPr lang="en-US" sz="2600" dirty="0"/>
              <a:t>S</a:t>
            </a:r>
            <a:r>
              <a:rPr lang="en-US" sz="2600" baseline="-25000" dirty="0"/>
              <a:t>PRIVATE</a:t>
            </a:r>
            <a:r>
              <a:rPr lang="en-US" sz="2600" dirty="0"/>
              <a:t> = Y – T – C</a:t>
            </a:r>
          </a:p>
          <a:p>
            <a:pPr eaLnBrk="1" hangingPunct="1"/>
            <a:r>
              <a:rPr lang="en-US" sz="2600" dirty="0"/>
              <a:t>Private saving is done by households and businesses</a:t>
            </a:r>
          </a:p>
          <a:p>
            <a:pPr lvl="1" eaLnBrk="1" hangingPunct="1"/>
            <a:r>
              <a:rPr lang="en-US" sz="2300" dirty="0"/>
              <a:t>Household saving or personal saving is done by families and individuals</a:t>
            </a:r>
          </a:p>
          <a:p>
            <a:pPr lvl="1" eaLnBrk="1" hangingPunct="1"/>
            <a:r>
              <a:rPr lang="en-US" sz="2300" dirty="0"/>
              <a:t>Business savings makes up the majority of private saving in the US</a:t>
            </a:r>
          </a:p>
          <a:p>
            <a:pPr lvl="2" eaLnBrk="1" hangingPunct="1"/>
            <a:r>
              <a:rPr lang="en-US" dirty="0"/>
              <a:t>Business savings is revenues less operating costs less dividends to shareholders</a:t>
            </a:r>
          </a:p>
          <a:p>
            <a:pPr lvl="2" eaLnBrk="1" hangingPunct="1"/>
            <a:r>
              <a:rPr lang="en-US" dirty="0"/>
              <a:t>Business savings can purchase new capital equipment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Public and National Savings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99773" y="1590676"/>
            <a:ext cx="8229600" cy="5086350"/>
          </a:xfrm>
        </p:spPr>
        <p:txBody>
          <a:bodyPr/>
          <a:lstStyle/>
          <a:p>
            <a:pPr eaLnBrk="1" hangingPunct="1"/>
            <a:r>
              <a:rPr lang="en-US" sz="2300" b="1" dirty="0"/>
              <a:t>Public saving</a:t>
            </a:r>
            <a:r>
              <a:rPr lang="en-US" sz="2300" dirty="0"/>
              <a:t> is the amount of the public sector's income that is not spend on current needs</a:t>
            </a:r>
          </a:p>
          <a:p>
            <a:pPr lvl="1" eaLnBrk="1" hangingPunct="1"/>
            <a:r>
              <a:rPr lang="en-US" sz="2300" dirty="0"/>
              <a:t>Public sector income is net taxes</a:t>
            </a:r>
          </a:p>
          <a:p>
            <a:pPr lvl="1" eaLnBrk="1" hangingPunct="1"/>
            <a:r>
              <a:rPr lang="en-US" sz="2300" dirty="0"/>
              <a:t>Public sector spending on current needs is G</a:t>
            </a:r>
          </a:p>
          <a:p>
            <a:pPr algn="ctr" eaLnBrk="1" hangingPunct="1">
              <a:buFontTx/>
              <a:buNone/>
            </a:pPr>
            <a:r>
              <a:rPr lang="en-US" sz="2300" dirty="0"/>
              <a:t>S</a:t>
            </a:r>
            <a:r>
              <a:rPr lang="en-US" sz="2300" baseline="-25000" dirty="0"/>
              <a:t>PUBLIC</a:t>
            </a:r>
            <a:r>
              <a:rPr lang="en-US" sz="2300" dirty="0"/>
              <a:t> = T </a:t>
            </a:r>
            <a:r>
              <a:rPr lang="en-US" sz="2300" dirty="0">
                <a:cs typeface="Arial" charset="0"/>
              </a:rPr>
              <a:t>–</a:t>
            </a:r>
            <a:r>
              <a:rPr lang="en-US" sz="2300" dirty="0"/>
              <a:t> G</a:t>
            </a:r>
          </a:p>
          <a:p>
            <a:pPr eaLnBrk="1" hangingPunct="1"/>
            <a:r>
              <a:rPr lang="en-US" sz="2300" dirty="0"/>
              <a:t>National saving (S) is private savings plus public savings</a:t>
            </a:r>
          </a:p>
          <a:p>
            <a:pPr algn="ctr" eaLnBrk="1" hangingPunct="1">
              <a:buFontTx/>
              <a:buNone/>
            </a:pPr>
            <a:r>
              <a:rPr lang="en-US" sz="2300" dirty="0"/>
              <a:t>S</a:t>
            </a:r>
            <a:r>
              <a:rPr lang="en-US" sz="2300" baseline="-25000" dirty="0"/>
              <a:t>PRIVATE </a:t>
            </a:r>
            <a:r>
              <a:rPr lang="en-US" sz="2300" dirty="0"/>
              <a:t>+ S</a:t>
            </a:r>
            <a:r>
              <a:rPr lang="en-US" sz="2300" baseline="-25000" dirty="0"/>
              <a:t>PUBLIC </a:t>
            </a:r>
            <a:r>
              <a:rPr lang="en-US" sz="2300" dirty="0"/>
              <a:t>= (Y – T – C) + (T </a:t>
            </a:r>
            <a:r>
              <a:rPr lang="en-US" sz="2300" dirty="0">
                <a:cs typeface="Arial" charset="0"/>
              </a:rPr>
              <a:t>–</a:t>
            </a:r>
            <a:r>
              <a:rPr lang="en-US" sz="2300" dirty="0"/>
              <a:t> G)</a:t>
            </a:r>
          </a:p>
          <a:p>
            <a:pPr algn="ctr" eaLnBrk="1" hangingPunct="1">
              <a:buNone/>
            </a:pPr>
            <a:r>
              <a:rPr lang="en-US" sz="2300" b="1" dirty="0"/>
              <a:t>S = Y – C – G</a:t>
            </a:r>
          </a:p>
          <a:p>
            <a:pPr eaLnBrk="1" hangingPunct="1"/>
            <a:r>
              <a:rPr lang="en-US" i="1" dirty="0"/>
              <a:t>National</a:t>
            </a:r>
            <a:r>
              <a:rPr lang="en-US" dirty="0"/>
              <a:t> savings determines a country's ability to invest in new capital goods</a:t>
            </a:r>
          </a:p>
          <a:p>
            <a:pPr lvl="1" eaLnBrk="1" hangingPunct="1"/>
            <a:r>
              <a:rPr lang="en-US" dirty="0"/>
              <a:t>Contributed by household, business and government savings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Government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420100" cy="4525963"/>
          </a:xfrm>
        </p:spPr>
        <p:txBody>
          <a:bodyPr/>
          <a:lstStyle/>
          <a:p>
            <a:pPr eaLnBrk="1" hangingPunct="1"/>
            <a:r>
              <a:rPr lang="en-US" b="1" dirty="0"/>
              <a:t>Balanced budget</a:t>
            </a:r>
            <a:r>
              <a:rPr lang="en-US" dirty="0"/>
              <a:t> occurs when government spending equals net tax receipts</a:t>
            </a:r>
          </a:p>
          <a:p>
            <a:pPr lvl="1" eaLnBrk="1" hangingPunct="1"/>
            <a:r>
              <a:rPr lang="en-US" b="1" dirty="0"/>
              <a:t>Government budget surplus</a:t>
            </a:r>
            <a:r>
              <a:rPr lang="en-US" dirty="0"/>
              <a:t> is the excess of government net tax collections over spending (T – G)</a:t>
            </a:r>
          </a:p>
          <a:p>
            <a:pPr lvl="2" eaLnBrk="1" hangingPunct="1"/>
            <a:r>
              <a:rPr lang="en-US" dirty="0"/>
              <a:t>Budget surplus is public savings</a:t>
            </a:r>
          </a:p>
          <a:p>
            <a:pPr lvl="1" eaLnBrk="1" hangingPunct="1"/>
            <a:r>
              <a:rPr lang="en-US" b="1" dirty="0"/>
              <a:t>Government budget deficit</a:t>
            </a:r>
            <a:r>
              <a:rPr lang="en-US" dirty="0"/>
              <a:t> is the excess of government spending over net tax collections</a:t>
            </a:r>
          </a:p>
          <a:p>
            <a:pPr lvl="2" eaLnBrk="1" hangingPunct="1"/>
            <a:r>
              <a:rPr lang="en-US" dirty="0"/>
              <a:t>Budget deficit is public </a:t>
            </a:r>
            <a:r>
              <a:rPr lang="en-US" dirty="0" err="1"/>
              <a:t>dissavings</a:t>
            </a:r>
            <a:endParaRPr lang="en-US" dirty="0"/>
          </a:p>
          <a:p>
            <a:pPr lvl="1" eaLnBrk="1" hangingPunct="1"/>
            <a:r>
              <a:rPr lang="en-US" dirty="0"/>
              <a:t>Budget deficit tends to occur during recession and budget surplus occur during expansion</a:t>
            </a:r>
          </a:p>
          <a:p>
            <a:pPr lvl="1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6162" y="58858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Three Reasons for Household Saving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6162" y="1883988"/>
            <a:ext cx="8229600" cy="4525963"/>
          </a:xfrm>
        </p:spPr>
        <p:txBody>
          <a:bodyPr/>
          <a:lstStyle/>
          <a:p>
            <a:pPr marL="457200" indent="-457200" eaLnBrk="1" hangingPunct="1">
              <a:buFont typeface="Times New Roman" pitchFamily="18" charset="0"/>
              <a:buAutoNum type="arabicPeriod"/>
            </a:pPr>
            <a:r>
              <a:rPr lang="en-US" b="1"/>
              <a:t>Life-cycle saving</a:t>
            </a:r>
            <a:r>
              <a:rPr lang="en-US"/>
              <a:t> is to meet long-term objectives</a:t>
            </a:r>
          </a:p>
          <a:p>
            <a:pPr marL="747713" lvl="1" indent="-295275" eaLnBrk="1" hangingPunct="1"/>
            <a:r>
              <a:rPr lang="en-US"/>
              <a:t>Retirement		</a:t>
            </a:r>
            <a:r>
              <a:rPr lang="en-US" baseline="10000"/>
              <a:t>■</a:t>
            </a:r>
            <a:r>
              <a:rPr lang="en-US"/>
              <a:t>  Purchase a home</a:t>
            </a:r>
          </a:p>
          <a:p>
            <a:pPr marL="747713" lvl="1" indent="-295275" eaLnBrk="1" hangingPunct="1"/>
            <a:r>
              <a:rPr lang="en-US"/>
              <a:t>Children's college attendance</a:t>
            </a:r>
          </a:p>
          <a:p>
            <a:pPr marL="457200" indent="-457200" eaLnBrk="1" hangingPunct="1">
              <a:buFont typeface="Times New Roman" pitchFamily="18" charset="0"/>
              <a:buAutoNum type="arabicPeriod"/>
            </a:pPr>
            <a:r>
              <a:rPr lang="en-US" b="1"/>
              <a:t>Precautionary saving</a:t>
            </a:r>
            <a:r>
              <a:rPr lang="en-US"/>
              <a:t> is for protection against setbacks</a:t>
            </a:r>
          </a:p>
          <a:p>
            <a:pPr marL="747713" lvl="1" indent="-295275" eaLnBrk="1" hangingPunct="1"/>
            <a:r>
              <a:rPr lang="en-US"/>
              <a:t>Loss of job		</a:t>
            </a:r>
            <a:r>
              <a:rPr lang="en-US" baseline="10000"/>
              <a:t>■</a:t>
            </a:r>
            <a:r>
              <a:rPr lang="en-US"/>
              <a:t>  Medical emergency</a:t>
            </a:r>
          </a:p>
          <a:p>
            <a:pPr marL="457200" indent="-457200" eaLnBrk="1" hangingPunct="1">
              <a:buFont typeface="Times New Roman" pitchFamily="18" charset="0"/>
              <a:buAutoNum type="arabicPeriod"/>
            </a:pPr>
            <a:r>
              <a:rPr lang="en-US" b="1"/>
              <a:t>Bequest saving</a:t>
            </a:r>
            <a:r>
              <a:rPr lang="en-US"/>
              <a:t> is to leave an inheritance</a:t>
            </a:r>
          </a:p>
          <a:p>
            <a:pPr marL="747713" lvl="1" indent="-295275" eaLnBrk="1" hangingPunct="1"/>
            <a:r>
              <a:rPr lang="en-US"/>
              <a:t>Mainly higher income groups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525524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Saving and Real Interest Rate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820924"/>
            <a:ext cx="8229600" cy="4760851"/>
          </a:xfrm>
        </p:spPr>
        <p:txBody>
          <a:bodyPr/>
          <a:lstStyle/>
          <a:p>
            <a:pPr eaLnBrk="1" hangingPunct="1"/>
            <a:r>
              <a:rPr lang="en-US" dirty="0"/>
              <a:t>Savings often take the form of financial assets that pay a return</a:t>
            </a:r>
          </a:p>
          <a:p>
            <a:pPr lvl="1" eaLnBrk="1" hangingPunct="1"/>
            <a:r>
              <a:rPr lang="en-US" dirty="0"/>
              <a:t>Saving and fixed deposits	</a:t>
            </a:r>
          </a:p>
          <a:p>
            <a:pPr lvl="1" eaLnBrk="1" hangingPunct="1"/>
            <a:r>
              <a:rPr lang="en-US" dirty="0"/>
              <a:t>Bonds 			</a:t>
            </a:r>
          </a:p>
          <a:p>
            <a:pPr lvl="1" eaLnBrk="1" hangingPunct="1"/>
            <a:r>
              <a:rPr lang="en-US" dirty="0"/>
              <a:t>Stocks			</a:t>
            </a:r>
          </a:p>
          <a:p>
            <a:pPr eaLnBrk="1" hangingPunct="1"/>
            <a:r>
              <a:rPr lang="en-US" b="1" dirty="0"/>
              <a:t>The real interest rate</a:t>
            </a:r>
            <a:r>
              <a:rPr lang="en-US" dirty="0"/>
              <a:t> (r) is the nominal interest rate (</a:t>
            </a:r>
            <a:r>
              <a:rPr lang="en-US" dirty="0" err="1"/>
              <a:t>i</a:t>
            </a:r>
            <a:r>
              <a:rPr lang="en-US" dirty="0"/>
              <a:t>) minus the rate of inflation (</a:t>
            </a:r>
            <a:r>
              <a:rPr lang="en-US" dirty="0">
                <a:sym typeface="Symbol" pitchFamily="18" charset="2"/>
              </a:rPr>
              <a:t>)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The increase in purchasing power from a financial asset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Marginal benefit of the extra saving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7822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Reasons of Low Savings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799" y="1773626"/>
            <a:ext cx="8334375" cy="4525963"/>
          </a:xfrm>
        </p:spPr>
        <p:txBody>
          <a:bodyPr/>
          <a:lstStyle/>
          <a:p>
            <a:pPr eaLnBrk="1" hangingPunct="1"/>
            <a:r>
              <a:rPr lang="en-US" dirty="0"/>
              <a:t>Savings rate may be depressed by </a:t>
            </a:r>
          </a:p>
          <a:p>
            <a:pPr lvl="1" eaLnBrk="1" hangingPunct="1"/>
            <a:r>
              <a:rPr lang="en-US" dirty="0"/>
              <a:t>Generous safety measures such as Social Security, Medicare, and other government programs for the elderly</a:t>
            </a:r>
          </a:p>
          <a:p>
            <a:pPr lvl="1" eaLnBrk="1" hangingPunct="1"/>
            <a:r>
              <a:rPr lang="en-US" dirty="0"/>
              <a:t>Mortgages with small or no down payment</a:t>
            </a:r>
          </a:p>
          <a:p>
            <a:pPr lvl="1" eaLnBrk="1" hangingPunct="1"/>
            <a:r>
              <a:rPr lang="en-US" dirty="0"/>
              <a:t>Confidence in a prosperous future</a:t>
            </a:r>
          </a:p>
          <a:p>
            <a:pPr lvl="1" eaLnBrk="1" hangingPunct="1"/>
            <a:r>
              <a:rPr lang="en-US" dirty="0"/>
              <a:t>Increasing value of stocks and growing home values</a:t>
            </a:r>
          </a:p>
          <a:p>
            <a:pPr lvl="1" eaLnBrk="1" hangingPunct="1"/>
            <a:r>
              <a:rPr lang="en-US" dirty="0"/>
              <a:t>Readily available home equity loans</a:t>
            </a:r>
          </a:p>
          <a:p>
            <a:pPr lvl="1" eaLnBrk="1" hangingPunct="1"/>
            <a:r>
              <a:rPr lang="en-US" dirty="0"/>
              <a:t>Demonstration effects and status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62012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Investment and Capital Formation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182" y="1915520"/>
            <a:ext cx="8426668" cy="4525963"/>
          </a:xfrm>
        </p:spPr>
        <p:txBody>
          <a:bodyPr/>
          <a:lstStyle/>
          <a:p>
            <a:pPr eaLnBrk="1" hangingPunct="1"/>
            <a:r>
              <a:rPr lang="en-US" dirty="0"/>
              <a:t>Investment is the creation of new capital goods and housing</a:t>
            </a:r>
          </a:p>
          <a:p>
            <a:pPr eaLnBrk="1" hangingPunct="1"/>
            <a:r>
              <a:rPr lang="en-US" dirty="0"/>
              <a:t>Firms buy new capital to increase profits</a:t>
            </a:r>
          </a:p>
          <a:p>
            <a:pPr lvl="1" eaLnBrk="1" hangingPunct="1"/>
            <a:r>
              <a:rPr lang="en-US" i="1" dirty="0"/>
              <a:t>Cost – Benefit Principle</a:t>
            </a:r>
            <a:endParaRPr lang="en-US" dirty="0"/>
          </a:p>
          <a:p>
            <a:pPr lvl="1" eaLnBrk="1" hangingPunct="1"/>
            <a:r>
              <a:rPr lang="en-US" dirty="0"/>
              <a:t>Cost is the cost of using the machine or other capital</a:t>
            </a:r>
          </a:p>
          <a:p>
            <a:pPr lvl="1" eaLnBrk="1" hangingPunct="1"/>
            <a:r>
              <a:rPr lang="en-US" dirty="0"/>
              <a:t>Benefit is the value of the marginal product of the capital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Larry and the Lawn Mower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Larry's lawn care business plan</a:t>
            </a:r>
          </a:p>
          <a:p>
            <a:pPr lvl="1" eaLnBrk="1" hangingPunct="1"/>
            <a:r>
              <a:rPr lang="en-US"/>
              <a:t>Cost of lawn mower = $4,000</a:t>
            </a:r>
          </a:p>
          <a:p>
            <a:pPr lvl="2" eaLnBrk="1" hangingPunct="1"/>
            <a:r>
              <a:rPr lang="en-US"/>
              <a:t>Interest on loan = 6%</a:t>
            </a:r>
          </a:p>
          <a:p>
            <a:pPr lvl="2" eaLnBrk="1" hangingPunct="1"/>
            <a:r>
              <a:rPr lang="en-US"/>
              <a:t>Assume the mower can be resold for $4,000</a:t>
            </a:r>
          </a:p>
          <a:p>
            <a:pPr lvl="1" eaLnBrk="1" hangingPunct="1"/>
            <a:r>
              <a:rPr lang="en-US"/>
              <a:t>Net revenue = $6,000 per summer</a:t>
            </a:r>
          </a:p>
          <a:p>
            <a:pPr lvl="2" eaLnBrk="1" hangingPunct="1"/>
            <a:r>
              <a:rPr lang="en-US"/>
              <a:t>Taxes = 20%</a:t>
            </a:r>
          </a:p>
          <a:p>
            <a:pPr lvl="2" eaLnBrk="1" hangingPunct="1"/>
            <a:r>
              <a:rPr lang="en-US"/>
              <a:t>Larry could earn $4,400 per summer after tax working elsewhere</a:t>
            </a:r>
          </a:p>
          <a:p>
            <a:pPr eaLnBrk="1" hangingPunct="1"/>
            <a:r>
              <a:rPr lang="en-US" i="1"/>
              <a:t>Cost – Benefit Principle</a:t>
            </a:r>
            <a:r>
              <a:rPr lang="en-US"/>
              <a:t> indicates whether Larry should start the business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Larry and the Lawn Mower</a:t>
            </a:r>
          </a:p>
        </p:txBody>
      </p:sp>
      <p:sp>
        <p:nvSpPr>
          <p:cNvPr id="237571" name="Rectangle 1027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tabLst>
                <a:tab pos="5940425" algn="r"/>
              </a:tabLst>
            </a:pPr>
            <a:r>
              <a:rPr lang="en-US" dirty="0"/>
              <a:t>Business plan analysis</a:t>
            </a:r>
          </a:p>
          <a:p>
            <a:pPr eaLnBrk="1" hangingPunct="1">
              <a:tabLst>
                <a:tab pos="5940425" algn="r"/>
              </a:tabLst>
            </a:pPr>
            <a:endParaRPr lang="en-US" dirty="0"/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Net revenue  	$6,000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Less taxes (</a:t>
            </a:r>
            <a:r>
              <a:rPr lang="en-US"/>
              <a:t>20% of $6000) </a:t>
            </a:r>
            <a:r>
              <a:rPr lang="en-US" dirty="0"/>
              <a:t>	$1,200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Less opportunity cost 	</a:t>
            </a:r>
            <a:r>
              <a:rPr lang="en-US" u="sng" dirty="0"/>
              <a:t>$4,400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Equals VMP of lawnmower 	$400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Less interest (6% of $4000)	</a:t>
            </a:r>
            <a:r>
              <a:rPr lang="en-US" u="sng" dirty="0"/>
              <a:t>$240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r>
              <a:rPr lang="en-US" dirty="0"/>
              <a:t>Equals net benefit	$160</a:t>
            </a:r>
          </a:p>
          <a:p>
            <a:pPr lvl="2" eaLnBrk="1" hangingPunct="1">
              <a:buFontTx/>
              <a:buNone/>
              <a:tabLst>
                <a:tab pos="5940425" algn="r"/>
              </a:tabLst>
            </a:pPr>
            <a:endParaRPr lang="en-US" dirty="0"/>
          </a:p>
          <a:p>
            <a:pPr eaLnBrk="1" hangingPunct="1">
              <a:tabLst>
                <a:tab pos="5940425" algn="r"/>
              </a:tabLst>
            </a:pPr>
            <a:r>
              <a:rPr lang="en-US" dirty="0"/>
              <a:t>Larry should start the business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Investment Decision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5963" y="1346200"/>
            <a:ext cx="8229600" cy="4525963"/>
          </a:xfrm>
        </p:spPr>
        <p:txBody>
          <a:bodyPr/>
          <a:lstStyle/>
          <a:p>
            <a:pPr eaLnBrk="1" hangingPunct="1">
              <a:tabLst>
                <a:tab pos="5940425" algn="r"/>
              </a:tabLst>
            </a:pPr>
            <a:r>
              <a:rPr lang="en-US"/>
              <a:t>Two important costs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Price of the capital goods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Real interest rates</a:t>
            </a:r>
          </a:p>
          <a:p>
            <a:pPr lvl="2" eaLnBrk="1" hangingPunct="1">
              <a:tabLst>
                <a:tab pos="5940425" algn="r"/>
              </a:tabLst>
            </a:pPr>
            <a:r>
              <a:rPr lang="en-US"/>
              <a:t>Opportunity cost of the investment</a:t>
            </a:r>
          </a:p>
          <a:p>
            <a:pPr eaLnBrk="1" hangingPunct="1">
              <a:tabLst>
                <a:tab pos="5940425" algn="r"/>
              </a:tabLst>
            </a:pPr>
            <a:r>
              <a:rPr lang="en-US"/>
              <a:t>Value of the marginal product of the capital is its benefit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Net of operating and maintenance expenses and of taxes on revenues generated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Technical innovation increases benefits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Lower taxes increase benefits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/>
              <a:t>Higher price of the output increases benefits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9939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Saving, Investment, and Financial Markets</a:t>
            </a:r>
          </a:p>
        </p:txBody>
      </p:sp>
      <p:sp>
        <p:nvSpPr>
          <p:cNvPr id="242691" name="Rectangle 2051"/>
          <p:cNvSpPr>
            <a:spLocks noGrp="1" noChangeArrowheads="1"/>
          </p:cNvSpPr>
          <p:nvPr>
            <p:ph idx="4294967295"/>
          </p:nvPr>
        </p:nvSpPr>
        <p:spPr>
          <a:xfrm>
            <a:off x="676274" y="1752601"/>
            <a:ext cx="8353425" cy="4687888"/>
          </a:xfrm>
        </p:spPr>
        <p:txBody>
          <a:bodyPr/>
          <a:lstStyle/>
          <a:p>
            <a:pPr eaLnBrk="1" hangingPunct="1"/>
            <a:r>
              <a:rPr lang="en-US" b="1" dirty="0"/>
              <a:t>Supply of savings</a:t>
            </a:r>
            <a:r>
              <a:rPr lang="en-US" dirty="0"/>
              <a:t> (S) is the amount of savings that would occur at each real interest rate (r)</a:t>
            </a:r>
          </a:p>
          <a:p>
            <a:pPr lvl="1" eaLnBrk="1" hangingPunct="1"/>
            <a:r>
              <a:rPr lang="en-US" dirty="0"/>
              <a:t>The quantity supplied increases as r increases</a:t>
            </a:r>
          </a:p>
          <a:p>
            <a:pPr eaLnBrk="1" hangingPunct="1"/>
            <a:r>
              <a:rPr lang="en-US" b="1" dirty="0"/>
              <a:t>Demand for investment </a:t>
            </a:r>
            <a:r>
              <a:rPr lang="en-US" dirty="0"/>
              <a:t>(I) is the amount of savings borrowed at each real interest rate</a:t>
            </a:r>
          </a:p>
          <a:p>
            <a:pPr lvl="1" eaLnBrk="1" hangingPunct="1"/>
            <a:r>
              <a:rPr lang="en-US" dirty="0"/>
              <a:t> The quantity demanded is inversely related to r</a:t>
            </a:r>
          </a:p>
          <a:p>
            <a:pPr eaLnBrk="1" hangingPunct="1"/>
            <a:r>
              <a:rPr lang="en-US" dirty="0"/>
              <a:t>Financial markets adjust to surpluses and shortages as any other market does</a:t>
            </a:r>
          </a:p>
          <a:p>
            <a:pPr eaLnBrk="1" hangingPunct="1"/>
            <a:r>
              <a:rPr lang="en-US" dirty="0"/>
              <a:t>Changes in factors other than real interest rates will shift the savings or investment curves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01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Financial Market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685800" y="1600200"/>
            <a:ext cx="3956050" cy="4525963"/>
          </a:xfrm>
        </p:spPr>
        <p:txBody>
          <a:bodyPr/>
          <a:lstStyle/>
          <a:p>
            <a:pPr eaLnBrk="1" hangingPunct="1"/>
            <a:r>
              <a:rPr lang="en-US"/>
              <a:t>Equilibrium interest rate equates the amount of saving with the investment funds demanded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If </a:t>
            </a:r>
            <a:r>
              <a:rPr lang="en-US" sz="2500" i="1"/>
              <a:t>r </a:t>
            </a:r>
            <a:r>
              <a:rPr lang="en-US" sz="2500"/>
              <a:t>is above equilibrium, there is a surplus of savings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500"/>
              <a:t>If </a:t>
            </a:r>
            <a:r>
              <a:rPr lang="en-US" sz="2500" i="1"/>
              <a:t>r</a:t>
            </a:r>
            <a:r>
              <a:rPr lang="en-US" sz="2500"/>
              <a:t> is below equilibrium, there is a shortage of savings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849813" y="1260475"/>
            <a:ext cx="4003675" cy="4818063"/>
            <a:chOff x="4765964" y="983673"/>
            <a:chExt cx="4294909" cy="4932218"/>
          </a:xfrm>
        </p:grpSpPr>
        <p:sp>
          <p:nvSpPr>
            <p:cNvPr id="7" name="Rectangle 6"/>
            <p:cNvSpPr/>
            <p:nvPr/>
          </p:nvSpPr>
          <p:spPr bwMode="auto">
            <a:xfrm>
              <a:off x="4765964" y="983673"/>
              <a:ext cx="4294909" cy="4932218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4849409" y="1066554"/>
              <a:ext cx="4128017" cy="4766455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968" name="Text Box 3"/>
            <p:cNvSpPr txBox="1">
              <a:spLocks noChangeArrowheads="1"/>
            </p:cNvSpPr>
            <p:nvPr/>
          </p:nvSpPr>
          <p:spPr bwMode="auto">
            <a:xfrm>
              <a:off x="5217565" y="5379398"/>
              <a:ext cx="3701489" cy="409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Saving and investment</a:t>
              </a:r>
            </a:p>
          </p:txBody>
        </p:sp>
        <p:sp>
          <p:nvSpPr>
            <p:cNvPr id="40969" name="Text Box 4"/>
            <p:cNvSpPr txBox="1">
              <a:spLocks noChangeArrowheads="1"/>
            </p:cNvSpPr>
            <p:nvPr/>
          </p:nvSpPr>
          <p:spPr bwMode="auto">
            <a:xfrm rot="-5400000">
              <a:off x="3133976" y="2985307"/>
              <a:ext cx="38842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Real interest rate (%)</a:t>
              </a:r>
            </a:p>
          </p:txBody>
        </p:sp>
        <p:sp>
          <p:nvSpPr>
            <p:cNvPr id="40970" name="Line 6"/>
            <p:cNvSpPr>
              <a:spLocks noChangeShapeType="1"/>
            </p:cNvSpPr>
            <p:nvPr/>
          </p:nvSpPr>
          <p:spPr bwMode="auto">
            <a:xfrm>
              <a:off x="5513455" y="1202936"/>
              <a:ext cx="934" cy="38967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8"/>
            <p:cNvSpPr>
              <a:spLocks noChangeShapeType="1"/>
            </p:cNvSpPr>
            <p:nvPr/>
          </p:nvSpPr>
          <p:spPr bwMode="auto">
            <a:xfrm flipV="1">
              <a:off x="7101289" y="3431067"/>
              <a:ext cx="0" cy="1656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10"/>
            <p:cNvSpPr>
              <a:spLocks noChangeShapeType="1"/>
            </p:cNvSpPr>
            <p:nvPr/>
          </p:nvSpPr>
          <p:spPr bwMode="auto">
            <a:xfrm>
              <a:off x="5512521" y="3410191"/>
              <a:ext cx="15784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6177732" y="1817356"/>
              <a:ext cx="1593987" cy="2374289"/>
            </a:xfrm>
            <a:custGeom>
              <a:avLst/>
              <a:gdLst/>
              <a:ahLst/>
              <a:cxnLst>
                <a:cxn ang="0">
                  <a:pos x="0" y="1705"/>
                </a:cxn>
                <a:cxn ang="0">
                  <a:pos x="299" y="1585"/>
                </a:cxn>
                <a:cxn ang="0">
                  <a:pos x="614" y="1436"/>
                </a:cxn>
                <a:cxn ang="0">
                  <a:pos x="980" y="1167"/>
                </a:cxn>
                <a:cxn ang="0">
                  <a:pos x="1294" y="801"/>
                </a:cxn>
                <a:cxn ang="0">
                  <a:pos x="1601" y="277"/>
                </a:cxn>
                <a:cxn ang="0">
                  <a:pos x="1706" y="0"/>
                </a:cxn>
              </a:cxnLst>
              <a:rect l="0" t="0" r="r" b="b"/>
              <a:pathLst>
                <a:path w="1706" h="1705">
                  <a:moveTo>
                    <a:pt x="0" y="1705"/>
                  </a:moveTo>
                  <a:cubicBezTo>
                    <a:pt x="98" y="1667"/>
                    <a:pt x="197" y="1630"/>
                    <a:pt x="299" y="1585"/>
                  </a:cubicBezTo>
                  <a:cubicBezTo>
                    <a:pt x="401" y="1540"/>
                    <a:pt x="500" y="1506"/>
                    <a:pt x="614" y="1436"/>
                  </a:cubicBezTo>
                  <a:cubicBezTo>
                    <a:pt x="728" y="1366"/>
                    <a:pt x="867" y="1273"/>
                    <a:pt x="980" y="1167"/>
                  </a:cubicBezTo>
                  <a:cubicBezTo>
                    <a:pt x="1093" y="1061"/>
                    <a:pt x="1190" y="949"/>
                    <a:pt x="1294" y="801"/>
                  </a:cubicBezTo>
                  <a:cubicBezTo>
                    <a:pt x="1398" y="653"/>
                    <a:pt x="1532" y="410"/>
                    <a:pt x="1601" y="277"/>
                  </a:cubicBezTo>
                  <a:cubicBezTo>
                    <a:pt x="1670" y="144"/>
                    <a:pt x="1684" y="58"/>
                    <a:pt x="1706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6186247" y="1352574"/>
              <a:ext cx="1738739" cy="2754566"/>
            </a:xfrm>
            <a:custGeom>
              <a:avLst/>
              <a:gdLst/>
              <a:ahLst/>
              <a:cxnLst>
                <a:cxn ang="0">
                  <a:pos x="1861" y="1980"/>
                </a:cxn>
                <a:cxn ang="0">
                  <a:pos x="1554" y="1861"/>
                </a:cxn>
                <a:cxn ang="0">
                  <a:pos x="1165" y="1629"/>
                </a:cxn>
                <a:cxn ang="0">
                  <a:pos x="761" y="1292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861" h="1980">
                  <a:moveTo>
                    <a:pt x="1861" y="1980"/>
                  </a:moveTo>
                  <a:cubicBezTo>
                    <a:pt x="1811" y="1960"/>
                    <a:pt x="1670" y="1919"/>
                    <a:pt x="1554" y="1861"/>
                  </a:cubicBezTo>
                  <a:cubicBezTo>
                    <a:pt x="1438" y="1803"/>
                    <a:pt x="1297" y="1724"/>
                    <a:pt x="1165" y="1629"/>
                  </a:cubicBezTo>
                  <a:cubicBezTo>
                    <a:pt x="1033" y="1534"/>
                    <a:pt x="886" y="1414"/>
                    <a:pt x="761" y="1292"/>
                  </a:cubicBezTo>
                  <a:cubicBezTo>
                    <a:pt x="636" y="1170"/>
                    <a:pt x="527" y="1063"/>
                    <a:pt x="418" y="899"/>
                  </a:cubicBezTo>
                  <a:cubicBezTo>
                    <a:pt x="309" y="735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40975" name="Text Box 16"/>
            <p:cNvSpPr txBox="1">
              <a:spLocks noChangeArrowheads="1"/>
            </p:cNvSpPr>
            <p:nvPr/>
          </p:nvSpPr>
          <p:spPr bwMode="auto">
            <a:xfrm>
              <a:off x="7172767" y="4054554"/>
              <a:ext cx="1739495" cy="409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Investment I</a:t>
              </a:r>
            </a:p>
          </p:txBody>
        </p:sp>
        <p:sp>
          <p:nvSpPr>
            <p:cNvPr id="40976" name="Text Box 17"/>
            <p:cNvSpPr txBox="1">
              <a:spLocks noChangeArrowheads="1"/>
            </p:cNvSpPr>
            <p:nvPr/>
          </p:nvSpPr>
          <p:spPr bwMode="auto">
            <a:xfrm>
              <a:off x="6978803" y="1427313"/>
              <a:ext cx="1367333" cy="388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Saving S</a:t>
              </a:r>
            </a:p>
          </p:txBody>
        </p:sp>
        <p:sp>
          <p:nvSpPr>
            <p:cNvPr id="40977" name="Text Box 19"/>
            <p:cNvSpPr txBox="1">
              <a:spLocks noChangeArrowheads="1"/>
            </p:cNvSpPr>
            <p:nvPr/>
          </p:nvSpPr>
          <p:spPr bwMode="auto">
            <a:xfrm>
              <a:off x="6775060" y="5060510"/>
              <a:ext cx="674793" cy="388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S, I</a:t>
              </a:r>
            </a:p>
          </p:txBody>
        </p:sp>
        <p:sp>
          <p:nvSpPr>
            <p:cNvPr id="40978" name="Text Box 20"/>
            <p:cNvSpPr txBox="1">
              <a:spLocks noChangeArrowheads="1"/>
            </p:cNvSpPr>
            <p:nvPr/>
          </p:nvSpPr>
          <p:spPr bwMode="auto">
            <a:xfrm>
              <a:off x="5203178" y="3248753"/>
              <a:ext cx="314015" cy="350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r</a:t>
              </a:r>
            </a:p>
          </p:txBody>
        </p:sp>
        <p:cxnSp>
          <p:nvCxnSpPr>
            <p:cNvPr id="40979" name="Straight Connector 19"/>
            <p:cNvCxnSpPr>
              <a:cxnSpLocks noChangeShapeType="1"/>
              <a:endCxn id="40970" idx="1"/>
            </p:cNvCxnSpPr>
            <p:nvPr/>
          </p:nvCxnSpPr>
          <p:spPr bwMode="auto">
            <a:xfrm rot="10800000" flipV="1">
              <a:off x="5514389" y="5098472"/>
              <a:ext cx="3255538" cy="1257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Technological Improvement </a:t>
            </a:r>
          </a:p>
        </p:txBody>
      </p:sp>
      <p:sp>
        <p:nvSpPr>
          <p:cNvPr id="43010" name="Content Placeholder 36"/>
          <p:cNvSpPr>
            <a:spLocks noGrp="1"/>
          </p:cNvSpPr>
          <p:nvPr>
            <p:ph sz="half" idx="4294967295"/>
          </p:nvPr>
        </p:nvSpPr>
        <p:spPr>
          <a:xfrm>
            <a:off x="5111750" y="1652588"/>
            <a:ext cx="3768725" cy="4525962"/>
          </a:xfrm>
        </p:spPr>
        <p:txBody>
          <a:bodyPr/>
          <a:lstStyle/>
          <a:p>
            <a:pPr eaLnBrk="1" hangingPunct="1"/>
            <a:r>
              <a:rPr lang="en-US" sz="2600"/>
              <a:t>New technology raises marginal productivity of capital</a:t>
            </a:r>
          </a:p>
          <a:p>
            <a:pPr lvl="1" eaLnBrk="1" hangingPunct="1"/>
            <a:r>
              <a:rPr lang="en-US" sz="2300"/>
              <a:t>Increases the demand for investment funds</a:t>
            </a:r>
          </a:p>
          <a:p>
            <a:pPr lvl="1" eaLnBrk="1" hangingPunct="1"/>
            <a:r>
              <a:rPr lang="en-US" sz="2300"/>
              <a:t>Movement up the savings supply curve</a:t>
            </a:r>
          </a:p>
          <a:p>
            <a:pPr lvl="1" eaLnBrk="1" hangingPunct="1"/>
            <a:r>
              <a:rPr lang="en-US" sz="2300"/>
              <a:t>Higher interest rate</a:t>
            </a:r>
          </a:p>
          <a:p>
            <a:pPr lvl="1" eaLnBrk="1" hangingPunct="1"/>
            <a:r>
              <a:rPr lang="en-US" sz="2300"/>
              <a:t>Higher level of savings and investment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983671" y="1662545"/>
            <a:ext cx="3837708" cy="44680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063625" y="1749425"/>
            <a:ext cx="3676650" cy="429418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015" name="Text Box 3"/>
          <p:cNvSpPr txBox="1">
            <a:spLocks noChangeArrowheads="1"/>
          </p:cNvSpPr>
          <p:nvPr/>
        </p:nvSpPr>
        <p:spPr bwMode="auto">
          <a:xfrm>
            <a:off x="1314450" y="5376863"/>
            <a:ext cx="32813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Saving and Investment</a:t>
            </a:r>
          </a:p>
        </p:txBody>
      </p:sp>
      <p:sp>
        <p:nvSpPr>
          <p:cNvPr id="43016" name="Text Box 4"/>
          <p:cNvSpPr txBox="1">
            <a:spLocks noChangeArrowheads="1"/>
          </p:cNvSpPr>
          <p:nvPr/>
        </p:nvSpPr>
        <p:spPr bwMode="auto">
          <a:xfrm rot="-5400000">
            <a:off x="-294481" y="3350389"/>
            <a:ext cx="3338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Real interest rate (%)</a:t>
            </a:r>
          </a:p>
        </p:txBody>
      </p:sp>
      <p:sp>
        <p:nvSpPr>
          <p:cNvPr id="43017" name="Line 5"/>
          <p:cNvSpPr>
            <a:spLocks noChangeShapeType="1"/>
          </p:cNvSpPr>
          <p:nvPr/>
        </p:nvSpPr>
        <p:spPr bwMode="auto">
          <a:xfrm>
            <a:off x="1747838" y="5202238"/>
            <a:ext cx="284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8" name="Line 6"/>
          <p:cNvSpPr>
            <a:spLocks noChangeShapeType="1"/>
          </p:cNvSpPr>
          <p:nvPr/>
        </p:nvSpPr>
        <p:spPr bwMode="auto">
          <a:xfrm>
            <a:off x="1727200" y="1889125"/>
            <a:ext cx="0" cy="3313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9" name="Line 12"/>
          <p:cNvSpPr>
            <a:spLocks noChangeShapeType="1"/>
          </p:cNvSpPr>
          <p:nvPr/>
        </p:nvSpPr>
        <p:spPr bwMode="auto">
          <a:xfrm>
            <a:off x="1731963" y="3746500"/>
            <a:ext cx="12287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20" name="Line 13"/>
          <p:cNvSpPr>
            <a:spLocks noChangeShapeType="1"/>
          </p:cNvSpPr>
          <p:nvPr/>
        </p:nvSpPr>
        <p:spPr bwMode="auto">
          <a:xfrm flipV="1">
            <a:off x="2971800" y="3748088"/>
            <a:ext cx="0" cy="14430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0233" name="Freeform 9"/>
          <p:cNvSpPr>
            <a:spLocks/>
          </p:cNvSpPr>
          <p:nvPr/>
        </p:nvSpPr>
        <p:spPr bwMode="auto">
          <a:xfrm>
            <a:off x="2189163" y="2181225"/>
            <a:ext cx="1679575" cy="2017713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0239" name="Freeform 15"/>
          <p:cNvSpPr>
            <a:spLocks/>
          </p:cNvSpPr>
          <p:nvPr/>
        </p:nvSpPr>
        <p:spPr bwMode="auto">
          <a:xfrm>
            <a:off x="2109788" y="2068513"/>
            <a:ext cx="1700212" cy="2387600"/>
          </a:xfrm>
          <a:custGeom>
            <a:avLst/>
            <a:gdLst/>
            <a:ahLst/>
            <a:cxnLst>
              <a:cxn ang="0">
                <a:pos x="1727" y="2019"/>
              </a:cxn>
              <a:cxn ang="0">
                <a:pos x="1421" y="1869"/>
              </a:cxn>
              <a:cxn ang="0">
                <a:pos x="1084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27" h="2019">
                <a:moveTo>
                  <a:pt x="1727" y="2019"/>
                </a:moveTo>
                <a:cubicBezTo>
                  <a:pt x="1676" y="1995"/>
                  <a:pt x="1528" y="1930"/>
                  <a:pt x="1421" y="1869"/>
                </a:cubicBezTo>
                <a:cubicBezTo>
                  <a:pt x="1314" y="1808"/>
                  <a:pt x="1198" y="1745"/>
                  <a:pt x="1084" y="1652"/>
                </a:cubicBezTo>
                <a:cubicBezTo>
                  <a:pt x="970" y="1559"/>
                  <a:pt x="847" y="1436"/>
                  <a:pt x="736" y="1310"/>
                </a:cubicBezTo>
                <a:cubicBezTo>
                  <a:pt x="625" y="1184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023" name="Text Box 18"/>
          <p:cNvSpPr txBox="1">
            <a:spLocks noChangeArrowheads="1"/>
          </p:cNvSpPr>
          <p:nvPr/>
        </p:nvSpPr>
        <p:spPr bwMode="auto">
          <a:xfrm>
            <a:off x="3732213" y="4319588"/>
            <a:ext cx="2984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I</a:t>
            </a:r>
          </a:p>
        </p:txBody>
      </p:sp>
      <p:sp>
        <p:nvSpPr>
          <p:cNvPr id="43024" name="Text Box 22"/>
          <p:cNvSpPr txBox="1">
            <a:spLocks noChangeArrowheads="1"/>
          </p:cNvSpPr>
          <p:nvPr/>
        </p:nvSpPr>
        <p:spPr bwMode="auto">
          <a:xfrm>
            <a:off x="1381125" y="3590924"/>
            <a:ext cx="3238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r</a:t>
            </a:r>
          </a:p>
        </p:txBody>
      </p:sp>
      <p:sp>
        <p:nvSpPr>
          <p:cNvPr id="43025" name="Text Box 27"/>
          <p:cNvSpPr txBox="1">
            <a:spLocks noChangeArrowheads="1"/>
          </p:cNvSpPr>
          <p:nvPr/>
        </p:nvSpPr>
        <p:spPr bwMode="auto">
          <a:xfrm flipH="1">
            <a:off x="2832100" y="3406775"/>
            <a:ext cx="276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E</a:t>
            </a:r>
          </a:p>
        </p:txBody>
      </p:sp>
      <p:sp>
        <p:nvSpPr>
          <p:cNvPr id="43026" name="Text Box 7"/>
          <p:cNvSpPr txBox="1">
            <a:spLocks noChangeArrowheads="1"/>
          </p:cNvSpPr>
          <p:nvPr/>
        </p:nvSpPr>
        <p:spPr bwMode="auto">
          <a:xfrm>
            <a:off x="3800475" y="1908175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352550" y="3152777"/>
            <a:ext cx="1917701" cy="598488"/>
            <a:chOff x="1352448" y="3152358"/>
            <a:chExt cx="1917271" cy="598827"/>
          </a:xfrm>
        </p:grpSpPr>
        <p:sp>
          <p:nvSpPr>
            <p:cNvPr id="43040" name="Line 11"/>
            <p:cNvSpPr>
              <a:spLocks noChangeShapeType="1"/>
            </p:cNvSpPr>
            <p:nvPr/>
          </p:nvSpPr>
          <p:spPr bwMode="auto">
            <a:xfrm>
              <a:off x="1732665" y="3402425"/>
              <a:ext cx="15370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41" name="Text Box 20"/>
            <p:cNvSpPr txBox="1">
              <a:spLocks noChangeArrowheads="1"/>
            </p:cNvSpPr>
            <p:nvPr/>
          </p:nvSpPr>
          <p:spPr bwMode="auto">
            <a:xfrm>
              <a:off x="1352448" y="3152358"/>
              <a:ext cx="380916" cy="400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dirty="0"/>
                <a:t>r'</a:t>
              </a:r>
            </a:p>
          </p:txBody>
        </p:sp>
        <p:sp>
          <p:nvSpPr>
            <p:cNvPr id="180248" name="AutoShape 24"/>
            <p:cNvSpPr>
              <a:spLocks noChangeArrowheads="1"/>
            </p:cNvSpPr>
            <p:nvPr/>
          </p:nvSpPr>
          <p:spPr bwMode="auto">
            <a:xfrm rot="16200000">
              <a:off x="1845629" y="3482078"/>
              <a:ext cx="340695" cy="197519"/>
            </a:xfrm>
            <a:prstGeom prst="rightArrow">
              <a:avLst>
                <a:gd name="adj1" fmla="val 50000"/>
                <a:gd name="adj2" fmla="val 8035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552700" y="1865313"/>
            <a:ext cx="2054225" cy="2530475"/>
            <a:chOff x="2553345" y="1864568"/>
            <a:chExt cx="2053249" cy="2531635"/>
          </a:xfrm>
        </p:grpSpPr>
        <p:sp>
          <p:nvSpPr>
            <p:cNvPr id="180240" name="Freeform 16"/>
            <p:cNvSpPr>
              <a:spLocks/>
            </p:cNvSpPr>
            <p:nvPr/>
          </p:nvSpPr>
          <p:spPr bwMode="auto">
            <a:xfrm>
              <a:off x="2553345" y="1864568"/>
              <a:ext cx="1721620" cy="2334695"/>
            </a:xfrm>
            <a:custGeom>
              <a:avLst/>
              <a:gdLst/>
              <a:ahLst/>
              <a:cxnLst>
                <a:cxn ang="0">
                  <a:pos x="1750" y="1973"/>
                </a:cxn>
                <a:cxn ang="0">
                  <a:pos x="1503" y="1869"/>
                </a:cxn>
                <a:cxn ang="0">
                  <a:pos x="1121" y="1652"/>
                </a:cxn>
                <a:cxn ang="0">
                  <a:pos x="736" y="1310"/>
                </a:cxn>
                <a:cxn ang="0">
                  <a:pos x="418" y="899"/>
                </a:cxn>
                <a:cxn ang="0">
                  <a:pos x="106" y="311"/>
                </a:cxn>
                <a:cxn ang="0">
                  <a:pos x="0" y="0"/>
                </a:cxn>
              </a:cxnLst>
              <a:rect l="0" t="0" r="r" b="b"/>
              <a:pathLst>
                <a:path w="1750" h="1973">
                  <a:moveTo>
                    <a:pt x="1750" y="1973"/>
                  </a:moveTo>
                  <a:cubicBezTo>
                    <a:pt x="1710" y="1954"/>
                    <a:pt x="1608" y="1922"/>
                    <a:pt x="1503" y="1869"/>
                  </a:cubicBezTo>
                  <a:cubicBezTo>
                    <a:pt x="1398" y="1816"/>
                    <a:pt x="1249" y="1745"/>
                    <a:pt x="1121" y="1652"/>
                  </a:cubicBezTo>
                  <a:cubicBezTo>
                    <a:pt x="993" y="1559"/>
                    <a:pt x="853" y="1435"/>
                    <a:pt x="736" y="1310"/>
                  </a:cubicBezTo>
                  <a:cubicBezTo>
                    <a:pt x="619" y="1185"/>
                    <a:pt x="523" y="1065"/>
                    <a:pt x="418" y="899"/>
                  </a:cubicBezTo>
                  <a:cubicBezTo>
                    <a:pt x="312" y="733"/>
                    <a:pt x="176" y="460"/>
                    <a:pt x="106" y="311"/>
                  </a:cubicBezTo>
                  <a:cubicBezTo>
                    <a:pt x="36" y="162"/>
                    <a:pt x="22" y="65"/>
                    <a:pt x="0" y="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3036" name="Text Box 19"/>
            <p:cNvSpPr txBox="1">
              <a:spLocks noChangeArrowheads="1"/>
            </p:cNvSpPr>
            <p:nvPr/>
          </p:nvSpPr>
          <p:spPr bwMode="auto">
            <a:xfrm>
              <a:off x="4195470" y="4026871"/>
              <a:ext cx="4111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I'</a:t>
              </a:r>
            </a:p>
          </p:txBody>
        </p:sp>
        <p:sp>
          <p:nvSpPr>
            <p:cNvPr id="180249" name="AutoShape 25"/>
            <p:cNvSpPr>
              <a:spLocks noChangeArrowheads="1"/>
            </p:cNvSpPr>
            <p:nvPr/>
          </p:nvSpPr>
          <p:spPr bwMode="auto">
            <a:xfrm>
              <a:off x="3334217" y="3947343"/>
              <a:ext cx="589075" cy="237453"/>
            </a:xfrm>
            <a:prstGeom prst="rightArrow">
              <a:avLst>
                <a:gd name="adj1" fmla="val 50000"/>
                <a:gd name="adj2" fmla="val 144892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80250" name="Text Box 26"/>
          <p:cNvSpPr txBox="1">
            <a:spLocks noChangeArrowheads="1"/>
          </p:cNvSpPr>
          <p:nvPr/>
        </p:nvSpPr>
        <p:spPr bwMode="auto">
          <a:xfrm>
            <a:off x="3165475" y="3014663"/>
            <a:ext cx="300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F</a:t>
            </a:r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998788" y="3394075"/>
            <a:ext cx="276225" cy="1797050"/>
            <a:chOff x="2999287" y="3394144"/>
            <a:chExt cx="275351" cy="1796927"/>
          </a:xfrm>
        </p:grpSpPr>
        <p:sp>
          <p:nvSpPr>
            <p:cNvPr id="43031" name="Line 10"/>
            <p:cNvSpPr>
              <a:spLocks noChangeShapeType="1"/>
            </p:cNvSpPr>
            <p:nvPr/>
          </p:nvSpPr>
          <p:spPr bwMode="auto">
            <a:xfrm flipV="1">
              <a:off x="3274638" y="3394144"/>
              <a:ext cx="0" cy="17969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241" name="AutoShape 17"/>
            <p:cNvSpPr>
              <a:spLocks noChangeArrowheads="1"/>
            </p:cNvSpPr>
            <p:nvPr/>
          </p:nvSpPr>
          <p:spPr bwMode="auto">
            <a:xfrm>
              <a:off x="2999287" y="4948778"/>
              <a:ext cx="270698" cy="237453"/>
            </a:xfrm>
            <a:prstGeom prst="rightArrow">
              <a:avLst>
                <a:gd name="adj1" fmla="val 50000"/>
                <a:gd name="adj2" fmla="val 8377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 bwMode="auto">
          <a:xfrm>
            <a:off x="902368" y="1558363"/>
            <a:ext cx="3830317" cy="44358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979488" y="1628775"/>
            <a:ext cx="3676650" cy="429418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Government Budget Deficit Increases</a:t>
            </a:r>
          </a:p>
        </p:txBody>
      </p:sp>
      <p:sp>
        <p:nvSpPr>
          <p:cNvPr id="41" name="Content Placeholder 40"/>
          <p:cNvSpPr>
            <a:spLocks noGrp="1"/>
          </p:cNvSpPr>
          <p:nvPr>
            <p:ph sz="half" idx="4294967295"/>
          </p:nvPr>
        </p:nvSpPr>
        <p:spPr>
          <a:xfrm>
            <a:off x="4960938" y="1719263"/>
            <a:ext cx="3954462" cy="4406900"/>
          </a:xfrm>
        </p:spPr>
        <p:txBody>
          <a:bodyPr/>
          <a:lstStyle/>
          <a:p>
            <a:pPr eaLnBrk="1" hangingPunct="1"/>
            <a:r>
              <a:rPr lang="en-US"/>
              <a:t>Government budget deficit increases</a:t>
            </a:r>
          </a:p>
          <a:p>
            <a:pPr marL="511175" lvl="2" indent="-225425" eaLnBrk="1" hangingPunct="1"/>
            <a:r>
              <a:rPr lang="en-US"/>
              <a:t>Reduces national saving</a:t>
            </a:r>
          </a:p>
          <a:p>
            <a:pPr marL="511175" lvl="2" indent="-225425" eaLnBrk="1" hangingPunct="1"/>
            <a:r>
              <a:rPr lang="en-US"/>
              <a:t>Movement up the investment curve</a:t>
            </a:r>
          </a:p>
          <a:p>
            <a:pPr marL="511175" lvl="2" indent="-225425" eaLnBrk="1" hangingPunct="1"/>
            <a:r>
              <a:rPr lang="en-US"/>
              <a:t>Higher interest rate</a:t>
            </a:r>
          </a:p>
          <a:p>
            <a:pPr marL="511175" lvl="2" indent="-225425" eaLnBrk="1" hangingPunct="1"/>
            <a:r>
              <a:rPr lang="en-US"/>
              <a:t>Lower level of savings and investment</a:t>
            </a:r>
          </a:p>
          <a:p>
            <a:pPr marL="285750" lvl="1" eaLnBrk="1" hangingPunct="1">
              <a:buFontTx/>
              <a:buChar char="•"/>
            </a:pPr>
            <a:r>
              <a:rPr lang="en-US"/>
              <a:t>Private investment is </a:t>
            </a:r>
            <a:r>
              <a:rPr lang="en-US" i="1"/>
              <a:t>crowded out</a:t>
            </a:r>
          </a:p>
          <a:p>
            <a:pPr algn="ctr" eaLnBrk="1" hangingPunct="1"/>
            <a:endParaRPr lang="en-US" sz="2400"/>
          </a:p>
        </p:txBody>
      </p:sp>
      <p:sp>
        <p:nvSpPr>
          <p:cNvPr id="44039" name="Text Box 16"/>
          <p:cNvSpPr txBox="1">
            <a:spLocks noChangeArrowheads="1"/>
          </p:cNvSpPr>
          <p:nvPr/>
        </p:nvSpPr>
        <p:spPr bwMode="auto">
          <a:xfrm>
            <a:off x="4008438" y="3952875"/>
            <a:ext cx="3968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I</a:t>
            </a:r>
          </a:p>
        </p:txBody>
      </p:sp>
      <p:sp>
        <p:nvSpPr>
          <p:cNvPr id="44040" name="Text Box 3"/>
          <p:cNvSpPr txBox="1">
            <a:spLocks noChangeArrowheads="1"/>
          </p:cNvSpPr>
          <p:nvPr/>
        </p:nvSpPr>
        <p:spPr bwMode="auto">
          <a:xfrm>
            <a:off x="1651000" y="5487988"/>
            <a:ext cx="27749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Saving and investment</a:t>
            </a:r>
          </a:p>
        </p:txBody>
      </p:sp>
      <p:sp>
        <p:nvSpPr>
          <p:cNvPr id="44041" name="Text Box 4"/>
          <p:cNvSpPr txBox="1">
            <a:spLocks noChangeArrowheads="1"/>
          </p:cNvSpPr>
          <p:nvPr/>
        </p:nvSpPr>
        <p:spPr bwMode="auto">
          <a:xfrm rot="-5400000">
            <a:off x="-477837" y="3195965"/>
            <a:ext cx="35242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Real interest rate</a:t>
            </a:r>
            <a:r>
              <a:rPr lang="en-US" dirty="0"/>
              <a:t> </a:t>
            </a:r>
            <a:r>
              <a:rPr lang="en-US" sz="2000" dirty="0"/>
              <a:t>(%)</a:t>
            </a:r>
          </a:p>
        </p:txBody>
      </p:sp>
      <p:sp>
        <p:nvSpPr>
          <p:cNvPr id="44042" name="Line 6"/>
          <p:cNvSpPr>
            <a:spLocks noChangeShapeType="1"/>
          </p:cNvSpPr>
          <p:nvPr/>
        </p:nvSpPr>
        <p:spPr bwMode="auto">
          <a:xfrm>
            <a:off x="1676400" y="1719263"/>
            <a:ext cx="1588" cy="3508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3" name="Text Box 7"/>
          <p:cNvSpPr txBox="1">
            <a:spLocks noChangeArrowheads="1"/>
          </p:cNvSpPr>
          <p:nvPr/>
        </p:nvSpPr>
        <p:spPr bwMode="auto">
          <a:xfrm>
            <a:off x="3876675" y="2041525"/>
            <a:ext cx="2841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</a:t>
            </a:r>
          </a:p>
        </p:txBody>
      </p:sp>
      <p:sp>
        <p:nvSpPr>
          <p:cNvPr id="44044" name="Line 10"/>
          <p:cNvSpPr>
            <a:spLocks noChangeShapeType="1"/>
          </p:cNvSpPr>
          <p:nvPr/>
        </p:nvSpPr>
        <p:spPr bwMode="auto">
          <a:xfrm>
            <a:off x="1690688" y="3625850"/>
            <a:ext cx="13414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5" name="Line 11"/>
          <p:cNvSpPr>
            <a:spLocks noChangeShapeType="1"/>
          </p:cNvSpPr>
          <p:nvPr/>
        </p:nvSpPr>
        <p:spPr bwMode="auto">
          <a:xfrm flipV="1">
            <a:off x="3094038" y="3640138"/>
            <a:ext cx="0" cy="15763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32" name="Freeform 12"/>
          <p:cNvSpPr>
            <a:spLocks/>
          </p:cNvSpPr>
          <p:nvPr/>
        </p:nvSpPr>
        <p:spPr bwMode="auto">
          <a:xfrm flipH="1">
            <a:off x="2181225" y="2028825"/>
            <a:ext cx="1835150" cy="2136775"/>
          </a:xfrm>
          <a:custGeom>
            <a:avLst/>
            <a:gdLst/>
            <a:ahLst/>
            <a:cxnLst>
              <a:cxn ang="0">
                <a:pos x="0" y="1705"/>
              </a:cxn>
              <a:cxn ang="0">
                <a:pos x="299" y="1585"/>
              </a:cxn>
              <a:cxn ang="0">
                <a:pos x="614" y="1436"/>
              </a:cxn>
              <a:cxn ang="0">
                <a:pos x="980" y="1167"/>
              </a:cxn>
              <a:cxn ang="0">
                <a:pos x="1294" y="801"/>
              </a:cxn>
              <a:cxn ang="0">
                <a:pos x="1601" y="277"/>
              </a:cxn>
              <a:cxn ang="0">
                <a:pos x="1706" y="0"/>
              </a:cxn>
            </a:cxnLst>
            <a:rect l="0" t="0" r="r" b="b"/>
            <a:pathLst>
              <a:path w="1706" h="1705">
                <a:moveTo>
                  <a:pt x="0" y="1705"/>
                </a:moveTo>
                <a:cubicBezTo>
                  <a:pt x="98" y="1667"/>
                  <a:pt x="197" y="1630"/>
                  <a:pt x="299" y="1585"/>
                </a:cubicBezTo>
                <a:cubicBezTo>
                  <a:pt x="401" y="1540"/>
                  <a:pt x="500" y="1506"/>
                  <a:pt x="614" y="1436"/>
                </a:cubicBezTo>
                <a:cubicBezTo>
                  <a:pt x="728" y="1366"/>
                  <a:pt x="867" y="1273"/>
                  <a:pt x="980" y="1167"/>
                </a:cubicBezTo>
                <a:cubicBezTo>
                  <a:pt x="1093" y="1061"/>
                  <a:pt x="1190" y="949"/>
                  <a:pt x="1294" y="801"/>
                </a:cubicBezTo>
                <a:cubicBezTo>
                  <a:pt x="1398" y="653"/>
                  <a:pt x="1532" y="410"/>
                  <a:pt x="1601" y="277"/>
                </a:cubicBezTo>
                <a:cubicBezTo>
                  <a:pt x="1670" y="144"/>
                  <a:pt x="1684" y="58"/>
                  <a:pt x="1706" y="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4334" name="Freeform 14"/>
          <p:cNvSpPr>
            <a:spLocks/>
          </p:cNvSpPr>
          <p:nvPr/>
        </p:nvSpPr>
        <p:spPr bwMode="auto">
          <a:xfrm flipH="1">
            <a:off x="2006600" y="2093913"/>
            <a:ext cx="1881188" cy="2290762"/>
          </a:xfrm>
          <a:custGeom>
            <a:avLst/>
            <a:gdLst/>
            <a:ahLst/>
            <a:cxnLst>
              <a:cxn ang="0">
                <a:pos x="1750" y="1973"/>
              </a:cxn>
              <a:cxn ang="0">
                <a:pos x="1503" y="1869"/>
              </a:cxn>
              <a:cxn ang="0">
                <a:pos x="1121" y="1652"/>
              </a:cxn>
              <a:cxn ang="0">
                <a:pos x="736" y="1310"/>
              </a:cxn>
              <a:cxn ang="0">
                <a:pos x="418" y="899"/>
              </a:cxn>
              <a:cxn ang="0">
                <a:pos x="106" y="311"/>
              </a:cxn>
              <a:cxn ang="0">
                <a:pos x="0" y="0"/>
              </a:cxn>
            </a:cxnLst>
            <a:rect l="0" t="0" r="r" b="b"/>
            <a:pathLst>
              <a:path w="1750" h="1973">
                <a:moveTo>
                  <a:pt x="1750" y="1973"/>
                </a:moveTo>
                <a:cubicBezTo>
                  <a:pt x="1710" y="1954"/>
                  <a:pt x="1608" y="1922"/>
                  <a:pt x="1503" y="1869"/>
                </a:cubicBezTo>
                <a:cubicBezTo>
                  <a:pt x="1398" y="1816"/>
                  <a:pt x="1249" y="1745"/>
                  <a:pt x="1121" y="1652"/>
                </a:cubicBezTo>
                <a:cubicBezTo>
                  <a:pt x="993" y="1559"/>
                  <a:pt x="853" y="1435"/>
                  <a:pt x="736" y="1310"/>
                </a:cubicBezTo>
                <a:cubicBezTo>
                  <a:pt x="619" y="1185"/>
                  <a:pt x="523" y="1065"/>
                  <a:pt x="418" y="899"/>
                </a:cubicBezTo>
                <a:cubicBezTo>
                  <a:pt x="312" y="733"/>
                  <a:pt x="176" y="460"/>
                  <a:pt x="106" y="311"/>
                </a:cubicBezTo>
                <a:cubicBezTo>
                  <a:pt x="36" y="162"/>
                  <a:pt x="22" y="65"/>
                  <a:pt x="0" y="0"/>
                </a:cubicBezTo>
              </a:path>
            </a:pathLst>
          </a:cu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048" name="Text Box 19"/>
          <p:cNvSpPr txBox="1">
            <a:spLocks noChangeArrowheads="1"/>
          </p:cNvSpPr>
          <p:nvPr/>
        </p:nvSpPr>
        <p:spPr bwMode="auto">
          <a:xfrm>
            <a:off x="1338263" y="3476624"/>
            <a:ext cx="3190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r</a:t>
            </a:r>
          </a:p>
        </p:txBody>
      </p:sp>
      <p:sp>
        <p:nvSpPr>
          <p:cNvPr id="44049" name="Text Box 23"/>
          <p:cNvSpPr txBox="1">
            <a:spLocks noChangeArrowheads="1"/>
          </p:cNvSpPr>
          <p:nvPr/>
        </p:nvSpPr>
        <p:spPr bwMode="auto">
          <a:xfrm>
            <a:off x="2908300" y="3221038"/>
            <a:ext cx="3397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E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319213" y="3133723"/>
            <a:ext cx="1463675" cy="450851"/>
            <a:chOff x="1319691" y="3134220"/>
            <a:chExt cx="1463163" cy="450671"/>
          </a:xfrm>
        </p:grpSpPr>
        <p:sp>
          <p:nvSpPr>
            <p:cNvPr id="44064" name="Line 9"/>
            <p:cNvSpPr>
              <a:spLocks noChangeShapeType="1"/>
            </p:cNvSpPr>
            <p:nvPr/>
          </p:nvSpPr>
          <p:spPr bwMode="auto">
            <a:xfrm>
              <a:off x="1690589" y="3274309"/>
              <a:ext cx="1092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65" name="Text Box 18"/>
            <p:cNvSpPr txBox="1">
              <a:spLocks noChangeArrowheads="1"/>
            </p:cNvSpPr>
            <p:nvPr/>
          </p:nvSpPr>
          <p:spPr bwMode="auto">
            <a:xfrm>
              <a:off x="1319691" y="3134220"/>
              <a:ext cx="376106" cy="399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dirty="0"/>
                <a:t>r'</a:t>
              </a:r>
            </a:p>
          </p:txBody>
        </p:sp>
        <p:sp>
          <p:nvSpPr>
            <p:cNvPr id="184340" name="AutoShape 20"/>
            <p:cNvSpPr>
              <a:spLocks noChangeArrowheads="1"/>
            </p:cNvSpPr>
            <p:nvPr/>
          </p:nvSpPr>
          <p:spPr bwMode="auto">
            <a:xfrm rot="16200000">
              <a:off x="1735589" y="3370856"/>
              <a:ext cx="274505" cy="153566"/>
            </a:xfrm>
            <a:prstGeom prst="rightArrow">
              <a:avLst>
                <a:gd name="adj1" fmla="val 50000"/>
                <a:gd name="adj2" fmla="val 8035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84342" name="Text Box 22"/>
          <p:cNvSpPr txBox="1">
            <a:spLocks noChangeArrowheads="1"/>
          </p:cNvSpPr>
          <p:nvPr/>
        </p:nvSpPr>
        <p:spPr bwMode="auto">
          <a:xfrm>
            <a:off x="2595563" y="2820988"/>
            <a:ext cx="41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F</a:t>
            </a:r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1701800" y="1889125"/>
            <a:ext cx="2203450" cy="2166938"/>
            <a:chOff x="1701903" y="1889145"/>
            <a:chExt cx="2204066" cy="2166334"/>
          </a:xfrm>
        </p:grpSpPr>
        <p:sp>
          <p:nvSpPr>
            <p:cNvPr id="184333" name="Freeform 13"/>
            <p:cNvSpPr>
              <a:spLocks/>
            </p:cNvSpPr>
            <p:nvPr/>
          </p:nvSpPr>
          <p:spPr bwMode="auto">
            <a:xfrm>
              <a:off x="1701903" y="1960563"/>
              <a:ext cx="1840427" cy="2094916"/>
            </a:xfrm>
            <a:custGeom>
              <a:avLst/>
              <a:gdLst/>
              <a:ahLst/>
              <a:cxnLst>
                <a:cxn ang="0">
                  <a:pos x="0" y="1962"/>
                </a:cxn>
                <a:cxn ang="0">
                  <a:pos x="306" y="1812"/>
                </a:cxn>
                <a:cxn ang="0">
                  <a:pos x="643" y="1595"/>
                </a:cxn>
                <a:cxn ang="0">
                  <a:pos x="991" y="1253"/>
                </a:cxn>
                <a:cxn ang="0">
                  <a:pos x="1309" y="842"/>
                </a:cxn>
                <a:cxn ang="0">
                  <a:pos x="1621" y="254"/>
                </a:cxn>
                <a:cxn ang="0">
                  <a:pos x="1712" y="0"/>
                </a:cxn>
              </a:cxnLst>
              <a:rect l="0" t="0" r="r" b="b"/>
              <a:pathLst>
                <a:path w="1712" h="1962">
                  <a:moveTo>
                    <a:pt x="0" y="1962"/>
                  </a:moveTo>
                  <a:cubicBezTo>
                    <a:pt x="51" y="1938"/>
                    <a:pt x="199" y="1873"/>
                    <a:pt x="306" y="1812"/>
                  </a:cubicBezTo>
                  <a:cubicBezTo>
                    <a:pt x="413" y="1751"/>
                    <a:pt x="529" y="1688"/>
                    <a:pt x="643" y="1595"/>
                  </a:cubicBezTo>
                  <a:cubicBezTo>
                    <a:pt x="757" y="1502"/>
                    <a:pt x="880" y="1379"/>
                    <a:pt x="991" y="1253"/>
                  </a:cubicBezTo>
                  <a:cubicBezTo>
                    <a:pt x="1102" y="1127"/>
                    <a:pt x="1204" y="1008"/>
                    <a:pt x="1309" y="842"/>
                  </a:cubicBezTo>
                  <a:cubicBezTo>
                    <a:pt x="1415" y="676"/>
                    <a:pt x="1554" y="394"/>
                    <a:pt x="1621" y="254"/>
                  </a:cubicBezTo>
                  <a:cubicBezTo>
                    <a:pt x="1688" y="114"/>
                    <a:pt x="1693" y="53"/>
                    <a:pt x="1712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4341" name="AutoShape 21"/>
            <p:cNvSpPr>
              <a:spLocks noChangeArrowheads="1"/>
            </p:cNvSpPr>
            <p:nvPr/>
          </p:nvSpPr>
          <p:spPr bwMode="auto">
            <a:xfrm flipH="1">
              <a:off x="3277722" y="2511141"/>
              <a:ext cx="399247" cy="237966"/>
            </a:xfrm>
            <a:prstGeom prst="rightArrow">
              <a:avLst>
                <a:gd name="adj1" fmla="val 50000"/>
                <a:gd name="adj2" fmla="val 94624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4063" name="Text Box 24"/>
            <p:cNvSpPr txBox="1">
              <a:spLocks noChangeArrowheads="1"/>
            </p:cNvSpPr>
            <p:nvPr/>
          </p:nvSpPr>
          <p:spPr bwMode="auto">
            <a:xfrm>
              <a:off x="3511047" y="1889145"/>
              <a:ext cx="3949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S'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2779713" y="3313113"/>
            <a:ext cx="250825" cy="1903412"/>
            <a:chOff x="2780704" y="3313156"/>
            <a:chExt cx="250095" cy="1903532"/>
          </a:xfrm>
        </p:grpSpPr>
        <p:sp>
          <p:nvSpPr>
            <p:cNvPr id="44055" name="Line 8"/>
            <p:cNvSpPr>
              <a:spLocks noChangeShapeType="1"/>
            </p:cNvSpPr>
            <p:nvPr/>
          </p:nvSpPr>
          <p:spPr bwMode="auto">
            <a:xfrm flipV="1">
              <a:off x="2780704" y="3313156"/>
              <a:ext cx="0" cy="1903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utoShape 20"/>
            <p:cNvSpPr>
              <a:spLocks noChangeArrowheads="1"/>
            </p:cNvSpPr>
            <p:nvPr/>
          </p:nvSpPr>
          <p:spPr bwMode="auto">
            <a:xfrm rot="10800000">
              <a:off x="2795303" y="4865080"/>
              <a:ext cx="235496" cy="179004"/>
            </a:xfrm>
            <a:prstGeom prst="rightArrow">
              <a:avLst>
                <a:gd name="adj1" fmla="val 50000"/>
                <a:gd name="adj2" fmla="val 80357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44054" name="Straight Connector 35"/>
          <p:cNvCxnSpPr>
            <a:cxnSpLocks noChangeShapeType="1"/>
            <a:endCxn id="44042" idx="1"/>
          </p:cNvCxnSpPr>
          <p:nvPr/>
        </p:nvCxnSpPr>
        <p:spPr bwMode="auto">
          <a:xfrm rot="10800000">
            <a:off x="1677988" y="5227638"/>
            <a:ext cx="2847975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Increase National Saving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199" y="1314450"/>
            <a:ext cx="8505825" cy="5095875"/>
          </a:xfrm>
        </p:spPr>
        <p:txBody>
          <a:bodyPr/>
          <a:lstStyle/>
          <a:p>
            <a:pPr eaLnBrk="1" hangingPunct="1">
              <a:tabLst>
                <a:tab pos="5940425" algn="r"/>
              </a:tabLst>
            </a:pPr>
            <a:r>
              <a:rPr lang="en-US" dirty="0"/>
              <a:t>Policy to increase national saving rates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 dirty="0"/>
              <a:t>Reducing government budget deficit would increase national saving</a:t>
            </a:r>
          </a:p>
          <a:p>
            <a:pPr lvl="2" eaLnBrk="1" hangingPunct="1">
              <a:tabLst>
                <a:tab pos="5940425" algn="r"/>
              </a:tabLst>
            </a:pPr>
            <a:r>
              <a:rPr lang="en-US" dirty="0"/>
              <a:t>Political problems </a:t>
            </a:r>
          </a:p>
          <a:p>
            <a:pPr lvl="1" eaLnBrk="1" hangingPunct="1">
              <a:tabLst>
                <a:tab pos="5940425" algn="r"/>
              </a:tabLst>
            </a:pPr>
            <a:r>
              <a:rPr lang="en-US" dirty="0"/>
              <a:t>Increase incentives for households</a:t>
            </a:r>
          </a:p>
          <a:p>
            <a:pPr lvl="2" eaLnBrk="1" hangingPunct="1">
              <a:tabLst>
                <a:tab pos="5940425" algn="r"/>
              </a:tabLst>
            </a:pPr>
            <a:r>
              <a:rPr lang="en-US" dirty="0"/>
              <a:t>Consumption tax</a:t>
            </a:r>
          </a:p>
          <a:p>
            <a:pPr lvl="2" eaLnBrk="1" hangingPunct="1">
              <a:tabLst>
                <a:tab pos="5940425" algn="r"/>
              </a:tabLst>
            </a:pPr>
            <a:r>
              <a:rPr lang="en-US" dirty="0"/>
              <a:t>Reduce taxes on dividends and investment income</a:t>
            </a:r>
          </a:p>
          <a:p>
            <a:pPr eaLnBrk="1" hangingPunct="1">
              <a:tabLst>
                <a:tab pos="5940425" algn="r"/>
              </a:tabLst>
            </a:pPr>
            <a:r>
              <a:rPr lang="en-US" dirty="0"/>
              <a:t>Higher national saving rate leads to greater investment in new capital goods and a higher standard of living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Allocation of Saving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397000"/>
            <a:ext cx="8229600" cy="4525963"/>
          </a:xfrm>
        </p:spPr>
        <p:txBody>
          <a:bodyPr/>
          <a:lstStyle/>
          <a:p>
            <a:pPr eaLnBrk="1" hangingPunct="1"/>
            <a:r>
              <a:rPr lang="en-US" sz="2700"/>
              <a:t>A successful economy allocates its saving to the most productive investments</a:t>
            </a:r>
          </a:p>
          <a:p>
            <a:pPr eaLnBrk="1" hangingPunct="1"/>
            <a:r>
              <a:rPr lang="en-US" sz="2700"/>
              <a:t>The interest on deposits is one important reason people put their saving in banks</a:t>
            </a:r>
          </a:p>
          <a:p>
            <a:pPr eaLnBrk="1" hangingPunct="1"/>
            <a:r>
              <a:rPr lang="en-US" sz="2700"/>
              <a:t>The financial system improves the allocation of saving:</a:t>
            </a:r>
          </a:p>
          <a:p>
            <a:pPr lvl="1" eaLnBrk="1" hangingPunct="1"/>
            <a:r>
              <a:rPr lang="en-US"/>
              <a:t>Provides </a:t>
            </a:r>
            <a:r>
              <a:rPr lang="en-US" i="1"/>
              <a:t>information</a:t>
            </a:r>
            <a:r>
              <a:rPr lang="en-US"/>
              <a:t> to savers about the possible uses of their funds</a:t>
            </a:r>
          </a:p>
          <a:p>
            <a:pPr lvl="1" eaLnBrk="1" hangingPunct="1"/>
            <a:r>
              <a:rPr lang="en-US"/>
              <a:t>Help savers </a:t>
            </a:r>
            <a:r>
              <a:rPr lang="en-US" i="1"/>
              <a:t>share the risks</a:t>
            </a:r>
            <a:r>
              <a:rPr lang="en-US"/>
              <a:t> of individual investment projects</a:t>
            </a:r>
          </a:p>
          <a:p>
            <a:pPr lvl="2" eaLnBrk="1" hangingPunct="1"/>
            <a:r>
              <a:rPr lang="en-US"/>
              <a:t>Risk sharing makes funding possible for projects that are risky but potentially very productive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Banking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447800"/>
            <a:ext cx="8229600" cy="5095875"/>
          </a:xfrm>
        </p:spPr>
        <p:txBody>
          <a:bodyPr/>
          <a:lstStyle/>
          <a:p>
            <a:pPr eaLnBrk="1" hangingPunct="1"/>
            <a:r>
              <a:rPr lang="en-US" b="1" dirty="0"/>
              <a:t>Financial intermediaries</a:t>
            </a:r>
            <a:r>
              <a:rPr lang="en-US" dirty="0"/>
              <a:t> are firms that extend credit to borrowers using funds raised from savers</a:t>
            </a:r>
          </a:p>
          <a:p>
            <a:pPr lvl="1" eaLnBrk="1" hangingPunct="1"/>
            <a:r>
              <a:rPr lang="en-US" dirty="0"/>
              <a:t>Commercial banks accept deposits from individuals and businesses and make loans</a:t>
            </a:r>
          </a:p>
          <a:p>
            <a:pPr lvl="1" eaLnBrk="1" hangingPunct="1"/>
            <a:r>
              <a:rPr lang="en-US" dirty="0"/>
              <a:t>Banks and other intermediaries specialize in evaluating the quality of borrowers</a:t>
            </a:r>
          </a:p>
          <a:p>
            <a:pPr lvl="2" eaLnBrk="1" hangingPunct="1"/>
            <a:r>
              <a:rPr lang="en-US" dirty="0"/>
              <a:t>Banks have a lower cost of evaluating opportunities than an individual would</a:t>
            </a:r>
          </a:p>
          <a:p>
            <a:pPr lvl="2" eaLnBrk="1" hangingPunct="1"/>
            <a:r>
              <a:rPr lang="en-US" dirty="0"/>
              <a:t>Banks pool the saving of many individuals to make large loans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Banking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76250" y="1447800"/>
            <a:ext cx="8572499" cy="5114925"/>
          </a:xfrm>
        </p:spPr>
        <p:txBody>
          <a:bodyPr/>
          <a:lstStyle/>
          <a:p>
            <a:pPr eaLnBrk="1" hangingPunct="1"/>
            <a:r>
              <a:rPr lang="en-US" sz="2400" dirty="0"/>
              <a:t>Banks gather information about potential investments</a:t>
            </a:r>
          </a:p>
          <a:p>
            <a:pPr lvl="1" eaLnBrk="1" hangingPunct="1"/>
            <a:r>
              <a:rPr lang="en-US" sz="2400" dirty="0"/>
              <a:t>Evaluate the options</a:t>
            </a:r>
          </a:p>
          <a:p>
            <a:pPr lvl="1" eaLnBrk="1" hangingPunct="1"/>
            <a:r>
              <a:rPr lang="en-US" sz="2400" dirty="0"/>
              <a:t>Direct saving</a:t>
            </a:r>
          </a:p>
          <a:p>
            <a:pPr lvl="1" eaLnBrk="1" hangingPunct="1"/>
            <a:r>
              <a:rPr lang="en-US" sz="2400" dirty="0"/>
              <a:t>Service provided to depositors</a:t>
            </a:r>
          </a:p>
          <a:p>
            <a:pPr eaLnBrk="1" hangingPunct="1"/>
            <a:r>
              <a:rPr lang="en-US" sz="2400" dirty="0"/>
              <a:t>Banks provide access to credit for small businesses and homeowners</a:t>
            </a:r>
          </a:p>
          <a:p>
            <a:pPr lvl="1" eaLnBrk="1" hangingPunct="1"/>
            <a:r>
              <a:rPr lang="en-US" sz="2400" dirty="0"/>
              <a:t>May be the only source of credit for some investments</a:t>
            </a:r>
          </a:p>
          <a:p>
            <a:pPr eaLnBrk="1" hangingPunct="1"/>
            <a:r>
              <a:rPr lang="en-US" sz="2400" dirty="0"/>
              <a:t>When banks make loans, they earn interest which, in turn, is paid to the bank's depositors</a:t>
            </a:r>
          </a:p>
          <a:p>
            <a:pPr eaLnBrk="1" hangingPunct="1"/>
            <a:r>
              <a:rPr lang="en-US" sz="2400" dirty="0"/>
              <a:t>Having bank deposits makes payments easier</a:t>
            </a:r>
          </a:p>
          <a:p>
            <a:pPr lvl="1" eaLnBrk="1" hangingPunct="1"/>
            <a:r>
              <a:rPr lang="en-US" sz="2400" dirty="0" err="1"/>
              <a:t>Cheque</a:t>
            </a:r>
            <a:r>
              <a:rPr lang="en-US" sz="2400" dirty="0"/>
              <a:t>, ATMs and Debit card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Bonds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553450" cy="5057775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bond</a:t>
            </a:r>
            <a:r>
              <a:rPr lang="en-US" dirty="0"/>
              <a:t> is a legal promise to repay a debt</a:t>
            </a:r>
          </a:p>
          <a:p>
            <a:pPr eaLnBrk="1" hangingPunct="1"/>
            <a:r>
              <a:rPr lang="en-US" dirty="0"/>
              <a:t>Each bond specifies</a:t>
            </a:r>
          </a:p>
          <a:p>
            <a:pPr lvl="1" eaLnBrk="1" hangingPunct="1"/>
            <a:r>
              <a:rPr lang="en-US" b="1" dirty="0"/>
              <a:t>Principal amount</a:t>
            </a:r>
            <a:r>
              <a:rPr lang="en-US" dirty="0"/>
              <a:t>, the amount originally lent</a:t>
            </a:r>
          </a:p>
          <a:p>
            <a:pPr lvl="1" eaLnBrk="1" hangingPunct="1"/>
            <a:r>
              <a:rPr lang="en-US" b="1" dirty="0"/>
              <a:t>Maturation date</a:t>
            </a:r>
            <a:r>
              <a:rPr lang="en-US" dirty="0"/>
              <a:t>, the date when the principal amount will be repaid</a:t>
            </a:r>
          </a:p>
          <a:p>
            <a:pPr lvl="2" eaLnBrk="1" hangingPunct="1"/>
            <a:r>
              <a:rPr lang="en-US" dirty="0"/>
              <a:t>The </a:t>
            </a:r>
            <a:r>
              <a:rPr lang="en-US" b="1" dirty="0"/>
              <a:t>term</a:t>
            </a:r>
            <a:r>
              <a:rPr lang="en-US" dirty="0"/>
              <a:t> of a bond is the length of time from issue to maturation</a:t>
            </a:r>
          </a:p>
          <a:p>
            <a:pPr lvl="1" eaLnBrk="1" hangingPunct="1"/>
            <a:r>
              <a:rPr lang="en-US" b="1" dirty="0"/>
              <a:t>Coupon payments</a:t>
            </a:r>
            <a:r>
              <a:rPr lang="en-US" dirty="0"/>
              <a:t>, the periodic interest payments to the bondholder</a:t>
            </a:r>
          </a:p>
          <a:p>
            <a:pPr lvl="1" eaLnBrk="1" hangingPunct="1"/>
            <a:r>
              <a:rPr lang="en-US" b="1" dirty="0"/>
              <a:t>Coupon rate</a:t>
            </a:r>
            <a:r>
              <a:rPr lang="en-US" dirty="0"/>
              <a:t>, the interest rate that is applied to the principal to determine the coupon payments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Corporations and governments issue bonds</a:t>
            </a:r>
          </a:p>
          <a:p>
            <a:pPr eaLnBrk="1" hangingPunct="1"/>
            <a:r>
              <a:rPr lang="en-US" dirty="0"/>
              <a:t>The coupon rate depends on</a:t>
            </a:r>
          </a:p>
          <a:p>
            <a:pPr lvl="1" eaLnBrk="1" hangingPunct="1"/>
            <a:r>
              <a:rPr lang="en-US" dirty="0"/>
              <a:t>The bond's term</a:t>
            </a:r>
          </a:p>
          <a:p>
            <a:pPr lvl="2" eaLnBrk="1" hangingPunct="1"/>
            <a:r>
              <a:rPr lang="en-US" dirty="0"/>
              <a:t>30 days to 30 years; longer term, higher coupon rate</a:t>
            </a:r>
          </a:p>
          <a:p>
            <a:pPr lvl="1" eaLnBrk="1" hangingPunct="1"/>
            <a:r>
              <a:rPr lang="en-US" dirty="0"/>
              <a:t>The issuer's credit risk</a:t>
            </a:r>
          </a:p>
          <a:p>
            <a:pPr lvl="2" eaLnBrk="1" hangingPunct="1"/>
            <a:r>
              <a:rPr lang="en-US" dirty="0"/>
              <a:t>Probability the issuer will default on repayment</a:t>
            </a:r>
          </a:p>
          <a:p>
            <a:pPr lvl="2" eaLnBrk="1" hangingPunct="1"/>
            <a:r>
              <a:rPr lang="en-US" dirty="0"/>
              <a:t>Higher risk, higher coupon rate</a:t>
            </a:r>
          </a:p>
          <a:p>
            <a:pPr lvl="1" eaLnBrk="1" hangingPunct="1"/>
            <a:r>
              <a:rPr lang="en-US" dirty="0"/>
              <a:t>Tax treatment for the coupon payments</a:t>
            </a:r>
          </a:p>
          <a:p>
            <a:pPr lvl="2" eaLnBrk="1" hangingPunct="1"/>
            <a:r>
              <a:rPr lang="en-US" dirty="0"/>
              <a:t>Municipal bonds are tax free </a:t>
            </a:r>
          </a:p>
          <a:p>
            <a:pPr lvl="2" eaLnBrk="1" hangingPunct="1"/>
            <a:r>
              <a:rPr lang="en-US" dirty="0"/>
              <a:t>Lower taxes, lower coupon rates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>
          <a:xfrm>
            <a:off x="717332" y="16290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Bond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4850" y="1166206"/>
            <a:ext cx="8356382" cy="5425094"/>
          </a:xfrm>
        </p:spPr>
        <p:txBody>
          <a:bodyPr/>
          <a:lstStyle/>
          <a:p>
            <a:pPr eaLnBrk="1" hangingPunct="1"/>
            <a:r>
              <a:rPr lang="en-US" sz="2600" dirty="0"/>
              <a:t>Bonds can be sold before their maturation date</a:t>
            </a:r>
          </a:p>
          <a:p>
            <a:pPr lvl="1" eaLnBrk="1" hangingPunct="1"/>
            <a:r>
              <a:rPr lang="en-US" dirty="0"/>
              <a:t>Market value at any time is the price of the bond</a:t>
            </a:r>
          </a:p>
          <a:p>
            <a:pPr lvl="1" eaLnBrk="1" hangingPunct="1"/>
            <a:r>
              <a:rPr lang="en-US" dirty="0"/>
              <a:t>Price depends on the relationship between the coupon rate and the interest rate in financial markets</a:t>
            </a:r>
          </a:p>
          <a:p>
            <a:pPr eaLnBrk="1" hangingPunct="1"/>
            <a:r>
              <a:rPr lang="en-US" sz="2600" dirty="0"/>
              <a:t>A two-year government bond with principal $1,000 is sold for $1,000, 1/1/12</a:t>
            </a:r>
          </a:p>
          <a:p>
            <a:pPr lvl="1" eaLnBrk="1" hangingPunct="1"/>
            <a:r>
              <a:rPr lang="en-US" dirty="0"/>
              <a:t>Coupon rate is 5%, same as market interest rate</a:t>
            </a:r>
          </a:p>
          <a:p>
            <a:pPr lvl="1" eaLnBrk="1" hangingPunct="1"/>
            <a:r>
              <a:rPr lang="en-US" dirty="0"/>
              <a:t>$50 will be paid 1/1/13</a:t>
            </a:r>
          </a:p>
          <a:p>
            <a:pPr lvl="1" eaLnBrk="1" hangingPunct="1"/>
            <a:r>
              <a:rPr lang="en-US" dirty="0"/>
              <a:t>$1,050 will be paid 1/1/14</a:t>
            </a:r>
          </a:p>
          <a:p>
            <a:pPr eaLnBrk="1" hangingPunct="1"/>
            <a:r>
              <a:rPr lang="en-US" sz="2600" dirty="0"/>
              <a:t>If sell the bond after one year, the bond's price on 1/1/13 depends on the prevailing interest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Selling a Bond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4630" y="14224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dirty="0"/>
              <a:t>Offer for sale:  one government bond with payment of $1,050 due in one year</a:t>
            </a:r>
          </a:p>
          <a:p>
            <a:pPr eaLnBrk="1" hangingPunct="1"/>
            <a:r>
              <a:rPr lang="en-US" sz="2600" dirty="0"/>
              <a:t>Market interest rate = 6%</a:t>
            </a:r>
          </a:p>
          <a:p>
            <a:pPr eaLnBrk="1" hangingPunct="1"/>
            <a:r>
              <a:rPr lang="en-US" sz="2600" dirty="0"/>
              <a:t>The competition:  a new one-year bond with principal of $1,000 and coupon rate of 6%</a:t>
            </a:r>
          </a:p>
          <a:p>
            <a:pPr lvl="1" eaLnBrk="1" hangingPunct="1"/>
            <a:r>
              <a:rPr lang="en-US" dirty="0"/>
              <a:t>Pays $1,060 in one year</a:t>
            </a:r>
          </a:p>
          <a:p>
            <a:pPr eaLnBrk="1" hangingPunct="1"/>
            <a:r>
              <a:rPr lang="en-US" sz="2600" dirty="0"/>
              <a:t>Year-old bond with 5% coupon rate is less valuable than the new bond</a:t>
            </a:r>
          </a:p>
          <a:p>
            <a:pPr lvl="1" eaLnBrk="1" hangingPunct="1"/>
            <a:r>
              <a:rPr lang="en-US" dirty="0"/>
              <a:t>Price of the used bond will be less than $1,000</a:t>
            </a:r>
          </a:p>
          <a:p>
            <a:pPr lvl="1" algn="ctr" eaLnBrk="1" hangingPunct="1">
              <a:buFontTx/>
              <a:buNone/>
            </a:pPr>
            <a:r>
              <a:rPr lang="en-US" dirty="0"/>
              <a:t>(Bond price) (1.06) = $1,050</a:t>
            </a:r>
            <a:r>
              <a:rPr lang="en-US" dirty="0">
                <a:sym typeface="Symbol"/>
              </a:rPr>
              <a:t></a:t>
            </a:r>
            <a:r>
              <a:rPr lang="en-US" dirty="0"/>
              <a:t>  Bond price = $991</a:t>
            </a:r>
          </a:p>
          <a:p>
            <a:pPr eaLnBrk="1" hangingPunct="1"/>
            <a:r>
              <a:rPr lang="en-US" sz="2600" dirty="0"/>
              <a:t>Bond prices and interest rates are inversely related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Stocks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A share of </a:t>
            </a:r>
            <a:r>
              <a:rPr lang="en-US" b="1"/>
              <a:t>stock</a:t>
            </a:r>
            <a:r>
              <a:rPr lang="en-US"/>
              <a:t> is a claim to partial ownership of a firm</a:t>
            </a:r>
          </a:p>
          <a:p>
            <a:pPr lvl="1" eaLnBrk="1" hangingPunct="1"/>
            <a:r>
              <a:rPr lang="en-US"/>
              <a:t>Receive </a:t>
            </a:r>
            <a:r>
              <a:rPr lang="en-US" b="1"/>
              <a:t>dividends</a:t>
            </a:r>
            <a:r>
              <a:rPr lang="en-US"/>
              <a:t>, a periodic payment determined by management</a:t>
            </a:r>
          </a:p>
          <a:p>
            <a:pPr lvl="1" eaLnBrk="1" hangingPunct="1"/>
            <a:r>
              <a:rPr lang="en-US"/>
              <a:t>Receive </a:t>
            </a:r>
            <a:r>
              <a:rPr lang="en-US" i="1"/>
              <a:t>capital gains</a:t>
            </a:r>
            <a:r>
              <a:rPr lang="en-US"/>
              <a:t> if the price of the stock increases</a:t>
            </a:r>
          </a:p>
          <a:p>
            <a:pPr eaLnBrk="1" hangingPunct="1"/>
            <a:r>
              <a:rPr lang="en-US"/>
              <a:t>Prices are determined in the stock market</a:t>
            </a:r>
          </a:p>
          <a:p>
            <a:pPr lvl="1" eaLnBrk="1" hangingPunct="1"/>
            <a:r>
              <a:rPr lang="en-US"/>
              <a:t>Reflect supply and demand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 idx="4294967295"/>
          </p:nvPr>
        </p:nvSpPr>
        <p:spPr>
          <a:xfrm>
            <a:off x="70156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FortuneCookie.com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01566" y="14351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New company with estimated dividend of $1 in 1 year</a:t>
            </a:r>
          </a:p>
          <a:p>
            <a:pPr lvl="1" eaLnBrk="1" hangingPunct="1"/>
            <a:r>
              <a:rPr lang="en-US"/>
              <a:t>Estimated selling price of stock will be $80 in 1 year</a:t>
            </a:r>
          </a:p>
          <a:p>
            <a:pPr lvl="1" eaLnBrk="1" hangingPunct="1"/>
            <a:r>
              <a:rPr lang="en-US"/>
              <a:t>Interest rate is 6%</a:t>
            </a:r>
          </a:p>
          <a:p>
            <a:pPr eaLnBrk="1" hangingPunct="1"/>
            <a:r>
              <a:rPr lang="en-US"/>
              <a:t>Value of the new stock is $81 in 1 year</a:t>
            </a:r>
          </a:p>
          <a:p>
            <a:pPr lvl="1" algn="ctr" eaLnBrk="1" hangingPunct="1">
              <a:buFontTx/>
              <a:buNone/>
            </a:pPr>
            <a:r>
              <a:rPr lang="en-US"/>
              <a:t>(Stock price) (1.06) = $81</a:t>
            </a:r>
          </a:p>
          <a:p>
            <a:pPr lvl="1" algn="ctr" eaLnBrk="1" hangingPunct="1">
              <a:buFontTx/>
              <a:buNone/>
            </a:pPr>
            <a:r>
              <a:rPr lang="en-US"/>
              <a:t>Stock price = $76.42</a:t>
            </a:r>
          </a:p>
          <a:p>
            <a:pPr lvl="1" eaLnBrk="1" hangingPunct="1"/>
            <a:r>
              <a:rPr lang="en-US"/>
              <a:t>Value would be higher if:</a:t>
            </a:r>
          </a:p>
          <a:p>
            <a:pPr lvl="2" eaLnBrk="1" hangingPunct="1"/>
            <a:r>
              <a:rPr lang="en-US"/>
              <a:t>Dividend were higher</a:t>
            </a:r>
          </a:p>
          <a:p>
            <a:pPr lvl="2" eaLnBrk="1" hangingPunct="1"/>
            <a:r>
              <a:rPr lang="en-US"/>
              <a:t>Price of stock in one year were higher</a:t>
            </a:r>
          </a:p>
          <a:p>
            <a:pPr lvl="2" eaLnBrk="1" hangingPunct="1"/>
            <a:r>
              <a:rPr lang="en-US"/>
              <a:t>Interest rate were lower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 idx="4294967295"/>
          </p:nvPr>
        </p:nvSpPr>
        <p:spPr>
          <a:xfrm>
            <a:off x="685800" y="22597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Risk Premium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838200" y="1330870"/>
            <a:ext cx="8143875" cy="4648200"/>
          </a:xfrm>
        </p:spPr>
        <p:txBody>
          <a:bodyPr/>
          <a:lstStyle/>
          <a:p>
            <a:pPr eaLnBrk="1" hangingPunct="1"/>
            <a:r>
              <a:rPr lang="en-US" b="1"/>
              <a:t>Risk premium </a:t>
            </a:r>
            <a:r>
              <a:rPr lang="en-US"/>
              <a:t>is the rate of return investors require to hold risky assets minus the rate of return on safe assets</a:t>
            </a:r>
          </a:p>
          <a:p>
            <a:pPr eaLnBrk="1" hangingPunct="1"/>
            <a:r>
              <a:rPr lang="en-US"/>
              <a:t>Suppose interest on a safe investment is 6%</a:t>
            </a:r>
          </a:p>
          <a:p>
            <a:pPr lvl="1" eaLnBrk="1" hangingPunct="1"/>
            <a:r>
              <a:rPr lang="en-US">
                <a:hlinkClick r:id="rId2"/>
              </a:rPr>
              <a:t>FortuneCookie.com</a:t>
            </a:r>
            <a:r>
              <a:rPr lang="en-US"/>
              <a:t> is risky, so 10% return is required</a:t>
            </a:r>
          </a:p>
          <a:p>
            <a:pPr lvl="1" eaLnBrk="1" hangingPunct="1"/>
            <a:r>
              <a:rPr lang="en-US"/>
              <a:t>Stock will sell for $80 in 1 year; dividend will be $1</a:t>
            </a:r>
          </a:p>
          <a:p>
            <a:pPr lvl="1" algn="ctr" eaLnBrk="1" hangingPunct="1">
              <a:buFontTx/>
              <a:buNone/>
            </a:pPr>
            <a:r>
              <a:rPr lang="en-US"/>
              <a:t>(Stock price) (1.10) = $81</a:t>
            </a:r>
          </a:p>
          <a:p>
            <a:pPr lvl="1" algn="ctr" eaLnBrk="1" hangingPunct="1">
              <a:buFontTx/>
              <a:buNone/>
            </a:pPr>
            <a:r>
              <a:rPr lang="en-US"/>
              <a:t>Stock price = $73.64</a:t>
            </a:r>
          </a:p>
          <a:p>
            <a:pPr eaLnBrk="1" hangingPunct="1"/>
            <a:r>
              <a:rPr lang="en-US"/>
              <a:t>Risk aversion increases the return required of a risky stock and lowers the selling price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>
          <a:xfrm>
            <a:off x="733098" y="44669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Bond Markets and Stock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742094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Channel funds from savers to borrowers with productive investment opportunities</a:t>
            </a:r>
          </a:p>
          <a:p>
            <a:pPr lvl="1" eaLnBrk="1" hangingPunct="1"/>
            <a:r>
              <a:rPr lang="en-US" sz="2300" dirty="0"/>
              <a:t>Sale of </a:t>
            </a:r>
            <a:r>
              <a:rPr lang="en-US" sz="2300" b="1" dirty="0"/>
              <a:t>new</a:t>
            </a:r>
            <a:r>
              <a:rPr lang="en-US" sz="2300" dirty="0"/>
              <a:t> bonds or </a:t>
            </a:r>
            <a:r>
              <a:rPr lang="en-US" sz="2300" b="1" dirty="0"/>
              <a:t>new</a:t>
            </a:r>
            <a:r>
              <a:rPr lang="en-US" sz="2300" dirty="0"/>
              <a:t> stock can finance capital investment</a:t>
            </a:r>
          </a:p>
          <a:p>
            <a:pPr eaLnBrk="1" hangingPunct="1"/>
            <a:r>
              <a:rPr lang="en-US" dirty="0"/>
              <a:t>Like banks, bond and stock markets allocate saving</a:t>
            </a:r>
          </a:p>
          <a:p>
            <a:pPr lvl="1" eaLnBrk="1" hangingPunct="1"/>
            <a:r>
              <a:rPr lang="en-US" sz="2300" dirty="0"/>
              <a:t>Provision of information on investment projects and their risks</a:t>
            </a:r>
          </a:p>
          <a:p>
            <a:pPr lvl="1" eaLnBrk="1" hangingPunct="1"/>
            <a:r>
              <a:rPr lang="en-US" sz="2300" dirty="0"/>
              <a:t>Provide risk sharing and diversification across projects</a:t>
            </a:r>
          </a:p>
          <a:p>
            <a:pPr lvl="2" eaLnBrk="1" hangingPunct="1"/>
            <a:r>
              <a:rPr lang="en-US" b="1" dirty="0"/>
              <a:t>Diversification</a:t>
            </a:r>
            <a:r>
              <a:rPr lang="en-US" dirty="0"/>
              <a:t> is spreading one's wealth over a variety of investments to reduce risk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Benefits of Diversification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923925" y="1238250"/>
            <a:ext cx="7924800" cy="5486400"/>
          </a:xfrm>
        </p:spPr>
        <p:txBody>
          <a:bodyPr/>
          <a:lstStyle/>
          <a:p>
            <a:pPr eaLnBrk="1" hangingPunct="1"/>
            <a:r>
              <a:rPr lang="en-US" sz="2400" dirty="0" err="1"/>
              <a:t>Vikram</a:t>
            </a:r>
            <a:r>
              <a:rPr lang="en-US" sz="2400" dirty="0"/>
              <a:t> has $200 to invest in stocks, each $100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Buy 2 shares of either stock</a:t>
            </a:r>
          </a:p>
          <a:p>
            <a:pPr lvl="1" eaLnBrk="1" hangingPunct="1"/>
            <a:r>
              <a:rPr lang="en-US" sz="2400" dirty="0"/>
              <a:t>50% chance of $20 gain and 50% chance of $0</a:t>
            </a:r>
          </a:p>
          <a:p>
            <a:pPr eaLnBrk="1" hangingPunct="1"/>
            <a:r>
              <a:rPr lang="en-US" sz="2400" dirty="0"/>
              <a:t>Diversify and buy 1 share of each</a:t>
            </a:r>
          </a:p>
          <a:p>
            <a:pPr lvl="1" eaLnBrk="1" hangingPunct="1"/>
            <a:r>
              <a:rPr lang="en-US" sz="2400" dirty="0"/>
              <a:t>One stock will be worth $100 and the other will be worth $110 </a:t>
            </a:r>
            <a:r>
              <a:rPr lang="en-US" sz="2400" dirty="0">
                <a:sym typeface="Symbol"/>
              </a:rPr>
              <a:t> </a:t>
            </a:r>
            <a:r>
              <a:rPr lang="en-US" sz="2400" dirty="0"/>
              <a:t>Return is $10 with no risk</a:t>
            </a:r>
          </a:p>
          <a:p>
            <a:pPr lvl="1" eaLnBrk="1" hangingPunct="1"/>
            <a:r>
              <a:rPr lang="en-US" sz="2400" dirty="0"/>
              <a:t>Savers can put saving into a variety of financial assets - Diversification makes risky but potentially valuable projects possible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graphicFrame>
        <p:nvGraphicFramePr>
          <p:cNvPr id="49171" name="Group 19"/>
          <p:cNvGraphicFramePr>
            <a:graphicFrameLocks noGrp="1"/>
          </p:cNvGraphicFramePr>
          <p:nvPr/>
        </p:nvGraphicFramePr>
        <p:xfrm>
          <a:off x="1192213" y="1792288"/>
          <a:ext cx="7019925" cy="1584960"/>
        </p:xfrm>
        <a:graphic>
          <a:graphicData uri="http://schemas.openxmlformats.org/drawingml/2006/table">
            <a:tbl>
              <a:tblPr/>
              <a:tblGrid>
                <a:gridCol w="197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5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in Stock Price per Share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 Weather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Smith Umbrella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Jones Suntan Lotion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Rainy (50%)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+$10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Sunny (50%)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+$10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6162" y="16290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Money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96162" y="1204306"/>
            <a:ext cx="8229600" cy="5282219"/>
          </a:xfrm>
        </p:spPr>
        <p:txBody>
          <a:bodyPr/>
          <a:lstStyle/>
          <a:p>
            <a:pPr eaLnBrk="1" hangingPunct="1"/>
            <a:r>
              <a:rPr lang="en-US" b="1" dirty="0"/>
              <a:t>Money</a:t>
            </a:r>
            <a:r>
              <a:rPr lang="en-US" dirty="0"/>
              <a:t> is any asset that can be used in making purchases</a:t>
            </a:r>
          </a:p>
          <a:p>
            <a:pPr lvl="1" eaLnBrk="1" hangingPunct="1"/>
            <a:r>
              <a:rPr lang="en-US" dirty="0"/>
              <a:t>Examples include coins and currency and current account balances</a:t>
            </a:r>
          </a:p>
          <a:p>
            <a:pPr eaLnBrk="1" hangingPunct="1"/>
            <a:r>
              <a:rPr lang="en-US" dirty="0"/>
              <a:t>Money has three principal uses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 dirty="0"/>
              <a:t>Medium of exchange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 dirty="0"/>
              <a:t>Unit of account</a:t>
            </a:r>
          </a:p>
          <a:p>
            <a:pPr lvl="1" eaLnBrk="1" hangingPunct="1">
              <a:buFont typeface="Times New Roman" pitchFamily="18" charset="0"/>
              <a:buAutoNum type="arabicPeriod"/>
            </a:pPr>
            <a:r>
              <a:rPr lang="en-US" dirty="0"/>
              <a:t>Store of value</a:t>
            </a:r>
          </a:p>
          <a:p>
            <a:pPr eaLnBrk="1" hangingPunct="1"/>
            <a:r>
              <a:rPr lang="en-US" dirty="0"/>
              <a:t>Money makes barter unnecessary</a:t>
            </a:r>
          </a:p>
          <a:p>
            <a:pPr lvl="1" eaLnBrk="1" hangingPunct="1"/>
            <a:r>
              <a:rPr lang="en-US" b="1" dirty="0"/>
              <a:t>Barter</a:t>
            </a:r>
            <a:r>
              <a:rPr lang="en-US" dirty="0"/>
              <a:t> is trading goods directly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Measuring Money Supply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Definitions of money range from narrow to broad</a:t>
            </a:r>
          </a:p>
          <a:p>
            <a:pPr eaLnBrk="1" hangingPunct="1"/>
            <a:r>
              <a:rPr lang="en-US" dirty="0"/>
              <a:t>M1 = Currency + Demand Deposit</a:t>
            </a:r>
          </a:p>
          <a:p>
            <a:pPr eaLnBrk="1" hangingPunct="1"/>
            <a:r>
              <a:rPr lang="en-US"/>
              <a:t>Demand </a:t>
            </a:r>
            <a:r>
              <a:rPr lang="en-US" dirty="0"/>
              <a:t>deposits refer to deposits which can made withdrawal with cheque but did not pay deposit interest rate (Current Account)</a:t>
            </a:r>
          </a:p>
          <a:p>
            <a:pPr eaLnBrk="1" hangingPunct="1"/>
            <a:r>
              <a:rPr lang="en-US" dirty="0"/>
              <a:t>M2 = M1 + Saving and other Deposits</a:t>
            </a:r>
          </a:p>
          <a:p>
            <a:pPr eaLnBrk="1" hangingPunct="1"/>
            <a:r>
              <a:rPr lang="en-US" dirty="0"/>
              <a:t>M3 = M2 + Deposits in non-bank financial institutions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23874" y="430928"/>
            <a:ext cx="8477251" cy="1143000"/>
          </a:xfrm>
        </p:spPr>
        <p:txBody>
          <a:bodyPr/>
          <a:lstStyle/>
          <a:p>
            <a:pPr eaLnBrk="1" hangingPunct="1"/>
            <a:r>
              <a:rPr lang="en-US" sz="4000" dirty="0"/>
              <a:t>Commercial Banks Create Money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43460" y="1789392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Republic of Gorgonzola begins with no banking system</a:t>
            </a:r>
          </a:p>
          <a:p>
            <a:pPr lvl="1" eaLnBrk="1" hangingPunct="1"/>
            <a:r>
              <a:rPr lang="en-US" dirty="0"/>
              <a:t>Government issues 1 million guilders</a:t>
            </a:r>
          </a:p>
          <a:p>
            <a:pPr lvl="1" eaLnBrk="1" hangingPunct="1"/>
            <a:r>
              <a:rPr lang="en-US" dirty="0"/>
              <a:t>Banks are created to store cash</a:t>
            </a:r>
          </a:p>
          <a:p>
            <a:pPr lvl="1" eaLnBrk="1" hangingPunct="1"/>
            <a:r>
              <a:rPr lang="en-US" dirty="0"/>
              <a:t>Payments are made by withdrawing cash or writing </a:t>
            </a:r>
            <a:r>
              <a:rPr lang="en-US" dirty="0" err="1"/>
              <a:t>cheques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 idx="4294967295"/>
          </p:nvPr>
        </p:nvSpPr>
        <p:spPr>
          <a:xfrm>
            <a:off x="685800" y="41516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Consolidated Bank Balance Sheet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3875" y="1808987"/>
            <a:ext cx="8458200" cy="4525963"/>
          </a:xfrm>
        </p:spPr>
        <p:txBody>
          <a:bodyPr/>
          <a:lstStyle/>
          <a:p>
            <a:pPr eaLnBrk="1" hangingPunct="1"/>
            <a:r>
              <a:rPr lang="en-US" dirty="0"/>
              <a:t>All guilders (g) are deposited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Bank reserves</a:t>
            </a:r>
            <a:r>
              <a:rPr lang="en-US" dirty="0"/>
              <a:t> are cash or similar assets held by banks</a:t>
            </a:r>
          </a:p>
          <a:p>
            <a:pPr lvl="1" eaLnBrk="1" hangingPunct="1"/>
            <a:r>
              <a:rPr lang="en-US" dirty="0"/>
              <a:t>Used to meet depositors' withdrawals and payments</a:t>
            </a:r>
          </a:p>
          <a:p>
            <a:pPr lvl="1" eaLnBrk="1" hangingPunct="1"/>
            <a:r>
              <a:rPr lang="en-US" dirty="0"/>
              <a:t>Gorgonzola's banks have 100% reserves</a:t>
            </a:r>
          </a:p>
          <a:p>
            <a:pPr lvl="2" eaLnBrk="1" hangingPunct="1"/>
            <a:r>
              <a:rPr lang="en-US" b="1" dirty="0"/>
              <a:t>100% reserve banking</a:t>
            </a:r>
            <a:r>
              <a:rPr lang="en-US" dirty="0"/>
              <a:t> is when banks' reserves equal 100% of their deposits</a:t>
            </a:r>
          </a:p>
        </p:txBody>
      </p:sp>
      <p:graphicFrame>
        <p:nvGraphicFramePr>
          <p:cNvPr id="57360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248885"/>
              </p:ext>
            </p:extLst>
          </p:nvPr>
        </p:nvGraphicFramePr>
        <p:xfrm>
          <a:off x="1182688" y="2355087"/>
          <a:ext cx="7329487" cy="914400"/>
        </p:xfrm>
        <a:graphic>
          <a:graphicData uri="http://schemas.openxmlformats.org/drawingml/2006/table">
            <a:tbl>
              <a:tblPr/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 idx="4294967295"/>
          </p:nvPr>
        </p:nvSpPr>
        <p:spPr>
          <a:xfrm>
            <a:off x="717332" y="21020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Bank Reserves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458306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Cash in a bank's vault is not part of the money supply</a:t>
            </a:r>
          </a:p>
          <a:p>
            <a:pPr lvl="1" eaLnBrk="1" hangingPunct="1"/>
            <a:r>
              <a:rPr lang="en-US" dirty="0"/>
              <a:t>Unavailable for payments</a:t>
            </a:r>
          </a:p>
          <a:p>
            <a:pPr lvl="1" eaLnBrk="1" hangingPunct="1"/>
            <a:r>
              <a:rPr lang="en-US" dirty="0"/>
              <a:t>Bank deposits available for use in transactions are part of the money supply</a:t>
            </a:r>
          </a:p>
          <a:p>
            <a:pPr eaLnBrk="1" hangingPunct="1"/>
            <a:r>
              <a:rPr lang="en-US" dirty="0"/>
              <a:t>Bankers realize that inflows and outflows from vaults leave some guilders unused</a:t>
            </a:r>
          </a:p>
          <a:p>
            <a:pPr lvl="1" eaLnBrk="1" hangingPunct="1"/>
            <a:r>
              <a:rPr lang="en-US" dirty="0"/>
              <a:t>Only 10% of deposits are needed for transactions</a:t>
            </a:r>
          </a:p>
          <a:p>
            <a:pPr lvl="1" eaLnBrk="1" hangingPunct="1"/>
            <a:r>
              <a:rPr lang="en-US" dirty="0"/>
              <a:t>90% can be lent to borrowers for a fee -- interest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 idx="4294967295"/>
          </p:nvPr>
        </p:nvSpPr>
        <p:spPr>
          <a:xfrm>
            <a:off x="764630" y="46246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Consolidated Bank Balance Sheet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4630" y="175786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Currency held in the vault is the bank reserves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reserve deposit ratio</a:t>
            </a:r>
            <a:r>
              <a:rPr lang="en-US" dirty="0"/>
              <a:t> is bank reserves divided by total deposits (10%)</a:t>
            </a:r>
          </a:p>
          <a:p>
            <a:pPr eaLnBrk="1" hangingPunct="1"/>
            <a:r>
              <a:rPr lang="en-US" b="1" dirty="0"/>
              <a:t>Fractional reserve banking system </a:t>
            </a:r>
            <a:r>
              <a:rPr lang="en-US" dirty="0"/>
              <a:t>holds less bank reserves than deposits</a:t>
            </a:r>
          </a:p>
          <a:p>
            <a:pPr lvl="1" eaLnBrk="1" hangingPunct="1"/>
            <a:r>
              <a:rPr lang="en-US" dirty="0"/>
              <a:t>The reserve deposit ratio is less than 100%</a:t>
            </a:r>
          </a:p>
        </p:txBody>
      </p:sp>
      <p:graphicFrame>
        <p:nvGraphicFramePr>
          <p:cNvPr id="59413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845174"/>
              </p:ext>
            </p:extLst>
          </p:nvPr>
        </p:nvGraphicFramePr>
        <p:xfrm>
          <a:off x="1083718" y="2400798"/>
          <a:ext cx="7329487" cy="1371600"/>
        </p:xfrm>
        <a:graphic>
          <a:graphicData uri="http://schemas.openxmlformats.org/drawingml/2006/table">
            <a:tbl>
              <a:tblPr/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Loans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900,000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 idx="4294967295"/>
          </p:nvPr>
        </p:nvSpPr>
        <p:spPr>
          <a:xfrm>
            <a:off x="748864" y="41516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Consolidated Bank Balance Sheet –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8864" y="1799462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/>
              <a:t>Farmers borrow 900,000 guilders to buy supplies</a:t>
            </a:r>
          </a:p>
          <a:p>
            <a:pPr lvl="1" eaLnBrk="1" hangingPunct="1"/>
            <a:r>
              <a:rPr lang="en-US" sz="2300"/>
              <a:t>Farmers spend the 900,000 guilders which are then deposited in the banks</a:t>
            </a:r>
          </a:p>
          <a:p>
            <a:pPr lvl="1" eaLnBrk="1" hangingPunct="1"/>
            <a:endParaRPr lang="en-US" sz="2300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eaLnBrk="1" hangingPunct="1"/>
            <a:r>
              <a:rPr lang="en-US" sz="2600"/>
              <a:t>Bank deposits are the entire money supply</a:t>
            </a:r>
          </a:p>
          <a:p>
            <a:pPr lvl="1" eaLnBrk="1" hangingPunct="1"/>
            <a:r>
              <a:rPr lang="en-US" sz="2300"/>
              <a:t>Loan of 900,000 guilders increased the money supply by 900,000 guilders</a:t>
            </a:r>
          </a:p>
          <a:p>
            <a:pPr eaLnBrk="1" hangingPunct="1"/>
            <a:r>
              <a:rPr lang="en-US" sz="2600"/>
              <a:t>Banks are again holding excess reserves on deposits of 1,900,000 guilders</a:t>
            </a:r>
          </a:p>
        </p:txBody>
      </p:sp>
      <p:graphicFrame>
        <p:nvGraphicFramePr>
          <p:cNvPr id="60437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06680"/>
              </p:ext>
            </p:extLst>
          </p:nvPr>
        </p:nvGraphicFramePr>
        <p:xfrm>
          <a:off x="1312427" y="3059937"/>
          <a:ext cx="7329487" cy="1371600"/>
        </p:xfrm>
        <a:graphic>
          <a:graphicData uri="http://schemas.openxmlformats.org/drawingml/2006/table">
            <a:tbl>
              <a:tblPr/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1,900,000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Loans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900,000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 idx="4294967295"/>
          </p:nvPr>
        </p:nvSpPr>
        <p:spPr>
          <a:xfrm>
            <a:off x="717332" y="43092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Consolidated Bank Balance Sheet –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726328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With deposits of 1,900,000 guilders and a reserve – deposit ratio of 10%, banks want only 190,000 guilders in reserves</a:t>
            </a:r>
          </a:p>
          <a:p>
            <a:pPr lvl="1" eaLnBrk="1" hangingPunct="1"/>
            <a:r>
              <a:rPr lang="en-US"/>
              <a:t>Currently holding 1,000,000 guilders</a:t>
            </a:r>
          </a:p>
          <a:p>
            <a:pPr lvl="1" eaLnBrk="1" hangingPunct="1"/>
            <a:r>
              <a:rPr lang="en-US"/>
              <a:t>Loan 810,000 guilders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r>
              <a:rPr lang="en-US"/>
              <a:t>Loan are spent and re-deposited</a:t>
            </a:r>
          </a:p>
          <a:p>
            <a:pPr lvl="2" eaLnBrk="1" hangingPunct="1"/>
            <a:r>
              <a:rPr lang="en-US"/>
              <a:t>Excess reserves are created and re-loaned</a:t>
            </a:r>
          </a:p>
        </p:txBody>
      </p:sp>
      <p:graphicFrame>
        <p:nvGraphicFramePr>
          <p:cNvPr id="61461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90998"/>
              </p:ext>
            </p:extLst>
          </p:nvPr>
        </p:nvGraphicFramePr>
        <p:xfrm>
          <a:off x="1311057" y="4032966"/>
          <a:ext cx="7329488" cy="1371600"/>
        </p:xfrm>
        <a:graphic>
          <a:graphicData uri="http://schemas.openxmlformats.org/drawingml/2006/table">
            <a:tbl>
              <a:tblPr/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2,710,000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Loans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1,710,000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 idx="4294967295"/>
          </p:nvPr>
        </p:nvSpPr>
        <p:spPr>
          <a:xfrm>
            <a:off x="733098" y="41516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Consolidated Bank Balance Sheet –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710562"/>
            <a:ext cx="8229600" cy="4785488"/>
          </a:xfrm>
        </p:spPr>
        <p:txBody>
          <a:bodyPr/>
          <a:lstStyle/>
          <a:p>
            <a:pPr eaLnBrk="1" hangingPunct="1"/>
            <a:r>
              <a:rPr lang="en-US" dirty="0"/>
              <a:t>Expansion of loans and deposits stops when reserves are 10% of deposits</a:t>
            </a:r>
          </a:p>
          <a:p>
            <a:pPr lvl="1" eaLnBrk="1" hangingPunct="1"/>
            <a:r>
              <a:rPr lang="en-US" dirty="0"/>
              <a:t>1,000,000 guilders available as reserves</a:t>
            </a:r>
          </a:p>
          <a:p>
            <a:pPr lvl="1" eaLnBrk="1" hangingPunct="1"/>
            <a:r>
              <a:rPr lang="en-US" dirty="0"/>
              <a:t>Deposits stabilize at 10,000,000 guilders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/>
              <a:t>Beginning with 1,000,000 guilders in cash, the money supply is now 10,000,000 guilders</a:t>
            </a:r>
          </a:p>
          <a:p>
            <a:pPr eaLnBrk="1" hangingPunct="1"/>
            <a:r>
              <a:rPr lang="en-US" dirty="0"/>
              <a:t>Money multiplier = 1/0.1 = 10</a:t>
            </a:r>
          </a:p>
          <a:p>
            <a:pPr lvl="1" eaLnBrk="1" hangingPunct="1">
              <a:buFontTx/>
              <a:buNone/>
            </a:pPr>
            <a:endParaRPr lang="en-US" dirty="0"/>
          </a:p>
        </p:txBody>
      </p:sp>
      <p:graphicFrame>
        <p:nvGraphicFramePr>
          <p:cNvPr id="62486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827584"/>
              </p:ext>
            </p:extLst>
          </p:nvPr>
        </p:nvGraphicFramePr>
        <p:xfrm>
          <a:off x="1264911" y="3633025"/>
          <a:ext cx="7329487" cy="1188720"/>
        </p:xfrm>
        <a:graphic>
          <a:graphicData uri="http://schemas.openxmlformats.org/drawingml/2006/table">
            <a:tbl>
              <a:tblPr/>
              <a:tblGrid>
                <a:gridCol w="14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Liabilities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Loans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9,000,000 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487488" algn="r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Money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With 10% reserves, each guilder supports 10 guilders in deposits</a:t>
            </a:r>
          </a:p>
          <a:p>
            <a:pPr eaLnBrk="1" hangingPunct="1"/>
            <a:r>
              <a:rPr lang="en-US"/>
              <a:t>Deposits in the banking system satisfy this relationship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Solving for bank deposits we get </a:t>
            </a:r>
          </a:p>
          <a:p>
            <a:pPr eaLnBrk="1" hangingPunct="1"/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18982" y="3562350"/>
            <a:ext cx="5816077" cy="822325"/>
            <a:chOff x="1187355" y="3316406"/>
            <a:chExt cx="5816019" cy="823052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187355" y="3316406"/>
              <a:ext cx="2402006" cy="823052"/>
              <a:chOff x="1187355" y="3316406"/>
              <a:chExt cx="2402006" cy="823052"/>
            </a:xfrm>
          </p:grpSpPr>
          <p:sp>
            <p:nvSpPr>
              <p:cNvPr id="36875" name="TextBox 7"/>
              <p:cNvSpPr txBox="1">
                <a:spLocks noChangeArrowheads="1"/>
              </p:cNvSpPr>
              <p:nvPr/>
            </p:nvSpPr>
            <p:spPr bwMode="auto">
              <a:xfrm>
                <a:off x="1333412" y="3316406"/>
                <a:ext cx="2133705" cy="8230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/>
                  <a:t>Bank reserves</a:t>
                </a:r>
              </a:p>
              <a:p>
                <a:pPr algn="ctr"/>
                <a:r>
                  <a:rPr lang="en-US" sz="2400"/>
                  <a:t>Bank deposits</a:t>
                </a:r>
              </a:p>
            </p:txBody>
          </p:sp>
          <p:cxnSp>
            <p:nvCxnSpPr>
              <p:cNvPr id="36876" name="Straight Connector 8"/>
              <p:cNvCxnSpPr>
                <a:cxnSpLocks noChangeShapeType="1"/>
              </p:cNvCxnSpPr>
              <p:nvPr/>
            </p:nvCxnSpPr>
            <p:spPr bwMode="auto">
              <a:xfrm>
                <a:off x="1187355" y="3725839"/>
                <a:ext cx="2402006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36874" name="TextBox 6"/>
            <p:cNvSpPr txBox="1">
              <a:spLocks noChangeArrowheads="1"/>
            </p:cNvSpPr>
            <p:nvPr/>
          </p:nvSpPr>
          <p:spPr bwMode="auto">
            <a:xfrm>
              <a:off x="3643193" y="3500719"/>
              <a:ext cx="3360181" cy="4620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= Reserve deposit ratio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342807" y="5322888"/>
            <a:ext cx="6357296" cy="830997"/>
            <a:chOff x="1311020" y="4662662"/>
            <a:chExt cx="6357269" cy="831732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794076" y="4662662"/>
              <a:ext cx="3874213" cy="831732"/>
              <a:chOff x="1187354" y="3475307"/>
              <a:chExt cx="3874213" cy="831732"/>
            </a:xfrm>
          </p:grpSpPr>
          <p:sp>
            <p:nvSpPr>
              <p:cNvPr id="36871" name="TextBox 10"/>
              <p:cNvSpPr txBox="1">
                <a:spLocks noChangeArrowheads="1"/>
              </p:cNvSpPr>
              <p:nvPr/>
            </p:nvSpPr>
            <p:spPr bwMode="auto">
              <a:xfrm>
                <a:off x="1965860" y="3475307"/>
                <a:ext cx="3095707" cy="831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/>
                  <a:t>Bank reserves</a:t>
                </a:r>
              </a:p>
              <a:p>
                <a:pPr algn="ctr"/>
                <a:r>
                  <a:rPr lang="en-US" sz="2400" dirty="0"/>
                  <a:t>Reserve deposit ratio</a:t>
                </a:r>
              </a:p>
            </p:txBody>
          </p:sp>
          <p:cxnSp>
            <p:nvCxnSpPr>
              <p:cNvPr id="36872" name="Straight Connector 11"/>
              <p:cNvCxnSpPr>
                <a:cxnSpLocks noChangeShapeType="1"/>
                <a:endCxn id="36871" idx="3"/>
              </p:cNvCxnSpPr>
              <p:nvPr/>
            </p:nvCxnSpPr>
            <p:spPr bwMode="auto">
              <a:xfrm>
                <a:off x="1187354" y="3884740"/>
                <a:ext cx="3874213" cy="6434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36870" name="TextBox 12"/>
            <p:cNvSpPr txBox="1">
              <a:spLocks noChangeArrowheads="1"/>
            </p:cNvSpPr>
            <p:nvPr/>
          </p:nvSpPr>
          <p:spPr bwMode="auto">
            <a:xfrm>
              <a:off x="1311020" y="4846973"/>
              <a:ext cx="2530465" cy="457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Bank deposits  = 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41516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Money Supply with Currency and Deposits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735962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Gorgonzola residents hold 500,000 guilders as currency</a:t>
            </a:r>
          </a:p>
          <a:p>
            <a:pPr lvl="1" eaLnBrk="1" hangingPunct="1"/>
            <a:r>
              <a:rPr lang="en-US" dirty="0"/>
              <a:t>Deposit 500,000 guilders in the banks</a:t>
            </a:r>
          </a:p>
          <a:p>
            <a:pPr lvl="1" eaLnBrk="1" hangingPunct="1"/>
            <a:r>
              <a:rPr lang="en-US" dirty="0"/>
              <a:t>Reserve deposit ratio = 10%</a:t>
            </a:r>
          </a:p>
          <a:p>
            <a:pPr lvl="1" eaLnBrk="1" hangingPunct="1"/>
            <a:r>
              <a:rPr lang="en-US" dirty="0"/>
              <a:t>Bank deposits = 500,000 / 0.10 = 5,000,000 guilders</a:t>
            </a:r>
          </a:p>
          <a:p>
            <a:pPr lvl="1" eaLnBrk="1" hangingPunct="1"/>
            <a:r>
              <a:rPr lang="en-US" dirty="0"/>
              <a:t>Money supply = 500,000 cash + 5,000,000 deposits</a:t>
            </a:r>
            <a:br>
              <a:rPr lang="en-US" dirty="0"/>
            </a:br>
            <a:r>
              <a:rPr lang="en-US" dirty="0"/>
              <a:t>	= 5,500,000 guilders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496577" y="5242750"/>
            <a:ext cx="5864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Money supply = Currency held by public +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57189" y="5669787"/>
            <a:ext cx="3874341" cy="830997"/>
            <a:chOff x="1187355" y="3316406"/>
            <a:chExt cx="3874139" cy="830145"/>
          </a:xfrm>
        </p:grpSpPr>
        <p:sp>
          <p:nvSpPr>
            <p:cNvPr id="37893" name="TextBox 5"/>
            <p:cNvSpPr txBox="1">
              <a:spLocks noChangeArrowheads="1"/>
            </p:cNvSpPr>
            <p:nvPr/>
          </p:nvSpPr>
          <p:spPr bwMode="auto">
            <a:xfrm>
              <a:off x="1965936" y="3316406"/>
              <a:ext cx="3095557" cy="830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/>
                <a:t>Bank reserves</a:t>
              </a:r>
            </a:p>
            <a:p>
              <a:pPr algn="ctr"/>
              <a:r>
                <a:rPr lang="en-US" sz="2400" dirty="0"/>
                <a:t>Reserve deposit ratio</a:t>
              </a:r>
            </a:p>
          </p:txBody>
        </p:sp>
        <p:cxnSp>
          <p:nvCxnSpPr>
            <p:cNvPr id="37894" name="Straight Connector 6"/>
            <p:cNvCxnSpPr>
              <a:cxnSpLocks noChangeShapeType="1"/>
              <a:endCxn id="37893" idx="3"/>
            </p:cNvCxnSpPr>
            <p:nvPr/>
          </p:nvCxnSpPr>
          <p:spPr bwMode="auto">
            <a:xfrm>
              <a:off x="1187355" y="3725839"/>
              <a:ext cx="3874139" cy="564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22597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Money Supply at Christmas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395242"/>
            <a:ext cx="8229600" cy="5016575"/>
          </a:xfrm>
        </p:spPr>
        <p:txBody>
          <a:bodyPr/>
          <a:lstStyle/>
          <a:p>
            <a:pPr eaLnBrk="1" hangingPunct="1"/>
            <a:r>
              <a:rPr lang="en-US" dirty="0"/>
              <a:t>Suppose banks hold $500 million in reserves and the public holds $500 million in cash</a:t>
            </a:r>
          </a:p>
          <a:p>
            <a:pPr lvl="1" eaLnBrk="1" hangingPunct="1"/>
            <a:r>
              <a:rPr lang="en-US" dirty="0"/>
              <a:t>Reserve-deposit ratio = 0.20</a:t>
            </a:r>
          </a:p>
          <a:p>
            <a:pPr lvl="1" eaLnBrk="1" hangingPunct="1"/>
            <a:r>
              <a:rPr lang="en-US" dirty="0"/>
              <a:t>Money supply = $500 + (500 / 0.20) = $3,000m</a:t>
            </a:r>
          </a:p>
          <a:p>
            <a:pPr eaLnBrk="1" hangingPunct="1"/>
            <a:r>
              <a:rPr lang="en-US" dirty="0"/>
              <a:t>As Christmas approaches, consumers reduce bank deposits by $100 million</a:t>
            </a:r>
          </a:p>
          <a:p>
            <a:pPr lvl="1" eaLnBrk="1" hangingPunct="1"/>
            <a:r>
              <a:rPr lang="en-US" dirty="0"/>
              <a:t>Banks have $400 million in reserves; public holds $600 million cash</a:t>
            </a:r>
          </a:p>
          <a:p>
            <a:pPr lvl="1" eaLnBrk="1" hangingPunct="1"/>
            <a:r>
              <a:rPr lang="en-US" dirty="0"/>
              <a:t>Money supply = $600 + ($400 / 0.20) = $2,600m</a:t>
            </a:r>
          </a:p>
          <a:p>
            <a:pPr eaLnBrk="1" hangingPunct="1"/>
            <a:r>
              <a:rPr lang="en-US" dirty="0"/>
              <a:t>Reducing bank deposits reduces the money supply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80975"/>
            <a:ext cx="8229600" cy="8477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Central Banking System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69732" y="1000125"/>
            <a:ext cx="7924800" cy="5743575"/>
          </a:xfrm>
        </p:spPr>
        <p:txBody>
          <a:bodyPr/>
          <a:lstStyle/>
          <a:p>
            <a:pPr eaLnBrk="1" hangingPunct="1"/>
            <a:r>
              <a:rPr lang="en-US" dirty="0"/>
              <a:t>Responsibilities of the central bank:</a:t>
            </a:r>
          </a:p>
          <a:p>
            <a:pPr lvl="1" eaLnBrk="1" hangingPunct="1"/>
            <a:r>
              <a:rPr lang="en-US" dirty="0"/>
              <a:t>Conduct monetary policy</a:t>
            </a:r>
          </a:p>
          <a:p>
            <a:pPr lvl="1" eaLnBrk="1" hangingPunct="1"/>
            <a:r>
              <a:rPr lang="en-US" dirty="0"/>
              <a:t>Oversee and regulate financial markets</a:t>
            </a:r>
          </a:p>
          <a:p>
            <a:pPr lvl="1" eaLnBrk="1" hangingPunct="1"/>
            <a:r>
              <a:rPr lang="en-US" dirty="0"/>
              <a:t>Promotes public goals such as economic growth, low inflation, and stabilize the financial markets</a:t>
            </a:r>
          </a:p>
          <a:p>
            <a:pPr eaLnBrk="1" hangingPunct="1"/>
            <a:r>
              <a:rPr lang="en-US" sz="2500" b="1" dirty="0"/>
              <a:t>Banking panics </a:t>
            </a:r>
            <a:r>
              <a:rPr lang="en-US" sz="2500" dirty="0"/>
              <a:t>occurred when customers believe one or more banks might be bankrupt</a:t>
            </a:r>
          </a:p>
          <a:p>
            <a:pPr lvl="1" eaLnBrk="1" hangingPunct="1"/>
            <a:r>
              <a:rPr lang="en-US" dirty="0"/>
              <a:t>Depositors rush to withdraw funds</a:t>
            </a:r>
          </a:p>
          <a:p>
            <a:pPr lvl="1" eaLnBrk="1" hangingPunct="1"/>
            <a:r>
              <a:rPr lang="en-US" dirty="0"/>
              <a:t>Banks have inadequate reserves to meet demand and </a:t>
            </a:r>
            <a:r>
              <a:rPr lang="en-US" sz="2500" dirty="0"/>
              <a:t>Banks close (Bank run)</a:t>
            </a:r>
          </a:p>
          <a:p>
            <a:pPr eaLnBrk="1" hangingPunct="1"/>
            <a:r>
              <a:rPr lang="en-US" sz="2500" dirty="0"/>
              <a:t>The central bank prevents bank panics by</a:t>
            </a:r>
          </a:p>
          <a:p>
            <a:pPr lvl="1" eaLnBrk="1" hangingPunct="1"/>
            <a:r>
              <a:rPr lang="en-US" dirty="0"/>
              <a:t>Supervising and regulating banks</a:t>
            </a:r>
          </a:p>
          <a:p>
            <a:pPr lvl="1" eaLnBrk="1" hangingPunct="1"/>
            <a:r>
              <a:rPr lang="en-US" dirty="0"/>
              <a:t>Loaning banks funds if needed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>
          <a:xfrm>
            <a:off x="628651" y="291991"/>
            <a:ext cx="83820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The Real and Nominal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438276"/>
            <a:ext cx="8229600" cy="5305424"/>
          </a:xfrm>
        </p:spPr>
        <p:txBody>
          <a:bodyPr/>
          <a:lstStyle/>
          <a:p>
            <a:pPr eaLnBrk="1" hangingPunct="1"/>
            <a:r>
              <a:rPr lang="en-US" dirty="0"/>
              <a:t>The central bank controls the money supply to control the nominal interest rate </a:t>
            </a:r>
            <a:r>
              <a:rPr lang="en-US" dirty="0" err="1"/>
              <a:t>i</a:t>
            </a:r>
            <a:endParaRPr lang="en-US" dirty="0"/>
          </a:p>
          <a:p>
            <a:pPr eaLnBrk="1" hangingPunct="1"/>
            <a:r>
              <a:rPr lang="en-US" dirty="0">
                <a:sym typeface="Symbol" pitchFamily="18" charset="2"/>
              </a:rPr>
              <a:t>The </a:t>
            </a:r>
            <a:r>
              <a:rPr lang="en-US" dirty="0"/>
              <a:t>central bank </a:t>
            </a:r>
            <a:r>
              <a:rPr lang="en-US" dirty="0">
                <a:sym typeface="Symbol" pitchFamily="18" charset="2"/>
              </a:rPr>
              <a:t>has good control over </a:t>
            </a:r>
            <a:r>
              <a:rPr lang="en-US" dirty="0" err="1">
                <a:sym typeface="Symbol" pitchFamily="18" charset="2"/>
              </a:rPr>
              <a:t>i</a:t>
            </a:r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/>
              <a:t>Investment and saving decisions are based on the real interest rate, r = </a:t>
            </a:r>
            <a:r>
              <a:rPr lang="en-US" dirty="0" err="1"/>
              <a:t>i</a:t>
            </a:r>
            <a:r>
              <a:rPr lang="en-US" dirty="0"/>
              <a:t> - </a:t>
            </a:r>
            <a:r>
              <a:rPr lang="en-US" dirty="0">
                <a:sym typeface="Symbol" pitchFamily="18" charset="2"/>
              </a:rPr>
              <a:t>,  is the rate of inflation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Inflation changes relatively slowly in the short run - Changes in nominal rates become changes in real rates</a:t>
            </a:r>
          </a:p>
          <a:p>
            <a:pPr marL="342900" lvl="1" indent="-342900" eaLnBrk="1" hangingPunct="1">
              <a:buFontTx/>
              <a:buChar char="•"/>
            </a:pPr>
            <a:r>
              <a:rPr lang="en-US" dirty="0"/>
              <a:t>The central bank has some control over r in short run</a:t>
            </a:r>
            <a:endParaRPr lang="en-US" dirty="0">
              <a:sym typeface="Symbol" pitchFamily="18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41736"/>
            <a:ext cx="8229600" cy="1091764"/>
          </a:xfrm>
        </p:spPr>
        <p:txBody>
          <a:bodyPr/>
          <a:lstStyle/>
          <a:p>
            <a:pPr eaLnBrk="1" hangingPunct="1"/>
            <a:r>
              <a:rPr lang="en-US" dirty="0"/>
              <a:t>Central Bank and Money Supply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799" y="1428750"/>
            <a:ext cx="8237483" cy="5114925"/>
          </a:xfrm>
        </p:spPr>
        <p:txBody>
          <a:bodyPr/>
          <a:lstStyle/>
          <a:p>
            <a:pPr eaLnBrk="1" hangingPunct="1"/>
            <a:r>
              <a:rPr lang="en-US" sz="3200" dirty="0"/>
              <a:t>The central bank is responsible for monetary policy</a:t>
            </a:r>
          </a:p>
          <a:p>
            <a:pPr eaLnBrk="1" hangingPunct="1"/>
            <a:r>
              <a:rPr lang="en-US" sz="3200" dirty="0"/>
              <a:t>Monetary policy is deciding and managing the size of the nation's money supply</a:t>
            </a:r>
          </a:p>
          <a:p>
            <a:pPr eaLnBrk="1" hangingPunct="1"/>
            <a:r>
              <a:rPr lang="en-US" sz="3200" dirty="0"/>
              <a:t>Central bank can control money supply using three methods:</a:t>
            </a:r>
          </a:p>
          <a:p>
            <a:pPr lvl="1" eaLnBrk="1" hangingPunct="1"/>
            <a:r>
              <a:rPr lang="en-US" sz="2800" dirty="0"/>
              <a:t>Open market operation</a:t>
            </a:r>
          </a:p>
          <a:p>
            <a:pPr lvl="1" eaLnBrk="1" hangingPunct="1"/>
            <a:r>
              <a:rPr lang="en-US" sz="2800" dirty="0"/>
              <a:t>Discount window</a:t>
            </a:r>
          </a:p>
          <a:p>
            <a:pPr lvl="1" eaLnBrk="1" hangingPunct="1"/>
            <a:r>
              <a:rPr lang="en-US" sz="2800" dirty="0"/>
              <a:t>Reserve Deposit ratio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Open Market Operations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362076"/>
            <a:ext cx="8229600" cy="5314950"/>
          </a:xfrm>
        </p:spPr>
        <p:txBody>
          <a:bodyPr/>
          <a:lstStyle/>
          <a:p>
            <a:pPr eaLnBrk="1" hangingPunct="1"/>
            <a:r>
              <a:rPr lang="en-US" sz="2400" b="1" dirty="0"/>
              <a:t>Open-market purchase</a:t>
            </a:r>
            <a:r>
              <a:rPr lang="en-US" sz="2400" dirty="0"/>
              <a:t> of government bonds from </a:t>
            </a:r>
            <a:r>
              <a:rPr lang="en-US" sz="2400"/>
              <a:t>the public </a:t>
            </a:r>
            <a:r>
              <a:rPr lang="en-US" sz="2400" dirty="0"/>
              <a:t>by the central bank increases the money supply</a:t>
            </a:r>
          </a:p>
          <a:p>
            <a:pPr eaLnBrk="1" hangingPunct="1"/>
            <a:r>
              <a:rPr lang="en-US" sz="2400" b="1" dirty="0"/>
              <a:t>Open market sale</a:t>
            </a:r>
            <a:r>
              <a:rPr lang="en-US" sz="2400" dirty="0"/>
              <a:t> of government bonds by the central bank to the public decreases the money supply</a:t>
            </a:r>
          </a:p>
          <a:p>
            <a:pPr eaLnBrk="1" hangingPunct="1"/>
            <a:r>
              <a:rPr lang="en-US" sz="2400" dirty="0"/>
              <a:t>When the central bank purchases a bond from the public - The central bank pays bond holder with new money</a:t>
            </a:r>
          </a:p>
          <a:p>
            <a:pPr lvl="2" eaLnBrk="1" hangingPunct="1"/>
            <a:r>
              <a:rPr lang="en-US" sz="2400" dirty="0"/>
              <a:t>Receipts are deposited and this leads to a multiple expansion of the money supply</a:t>
            </a:r>
          </a:p>
          <a:p>
            <a:pPr eaLnBrk="1" hangingPunct="1"/>
            <a:r>
              <a:rPr lang="en-US" sz="2400" dirty="0"/>
              <a:t>When the central bank sells a bond to the public</a:t>
            </a:r>
          </a:p>
          <a:p>
            <a:pPr lvl="1" eaLnBrk="1" hangingPunct="1"/>
            <a:r>
              <a:rPr lang="en-US" sz="2400" dirty="0"/>
              <a:t>Bondholder pays with </a:t>
            </a:r>
            <a:r>
              <a:rPr lang="en-US" sz="2400" dirty="0" err="1"/>
              <a:t>cheques</a:t>
            </a:r>
            <a:endParaRPr lang="en-US" sz="2400" dirty="0"/>
          </a:p>
          <a:p>
            <a:pPr lvl="2" eaLnBrk="1" hangingPunct="1"/>
            <a:r>
              <a:rPr lang="en-US" sz="2400" dirty="0"/>
              <a:t>Bank reserves decrease and this leads to a multiple contraction of the money supply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Increasing the Money Supply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4733925"/>
          </a:xfrm>
        </p:spPr>
        <p:txBody>
          <a:bodyPr/>
          <a:lstStyle/>
          <a:p>
            <a:pPr eaLnBrk="1" hangingPunct="1"/>
            <a:r>
              <a:rPr lang="en-US" dirty="0"/>
              <a:t>An economy has 1,000 shekels in currency and bank reserves of 200 shekels</a:t>
            </a:r>
          </a:p>
          <a:p>
            <a:pPr lvl="1" eaLnBrk="1" hangingPunct="1"/>
            <a:r>
              <a:rPr lang="en-US" dirty="0"/>
              <a:t>Reserve-deposit ratio = 0.2</a:t>
            </a:r>
          </a:p>
          <a:p>
            <a:pPr lvl="1" eaLnBrk="1" hangingPunct="1"/>
            <a:r>
              <a:rPr lang="en-US" dirty="0"/>
              <a:t>Money supply = 1,000 + (200 / 0.2) = 2,000 shekels</a:t>
            </a:r>
          </a:p>
          <a:p>
            <a:pPr eaLnBrk="1" hangingPunct="1"/>
            <a:r>
              <a:rPr lang="en-US" dirty="0"/>
              <a:t>Central bank pays 100 shekels for a bond held by the public</a:t>
            </a:r>
          </a:p>
          <a:p>
            <a:pPr lvl="1" eaLnBrk="1" hangingPunct="1"/>
            <a:r>
              <a:rPr lang="en-US" dirty="0"/>
              <a:t>Assume that all 100 shekels are deposited</a:t>
            </a:r>
          </a:p>
          <a:p>
            <a:pPr lvl="1" eaLnBrk="1" hangingPunct="1"/>
            <a:r>
              <a:rPr lang="en-US" dirty="0"/>
              <a:t>Money supply = 1,000 + (300/ 0.2) = 2,500 shekels</a:t>
            </a:r>
          </a:p>
          <a:p>
            <a:pPr lvl="1" eaLnBrk="1" hangingPunct="1"/>
            <a:r>
              <a:rPr lang="en-US" dirty="0"/>
              <a:t>100 shekel increase in reserves leads to a 500 shekel increase in the money supply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143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Central Bank (CB) Controls the Nominal Interest Rate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5031815"/>
              </p:ext>
            </p:extLst>
          </p:nvPr>
        </p:nvGraphicFramePr>
        <p:xfrm>
          <a:off x="838200" y="812800"/>
          <a:ext cx="7924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7107" name="TextBox 11"/>
          <p:cNvSpPr txBox="1">
            <a:spLocks noChangeArrowheads="1"/>
          </p:cNvSpPr>
          <p:nvPr/>
        </p:nvSpPr>
        <p:spPr bwMode="auto">
          <a:xfrm>
            <a:off x="900113" y="1447800"/>
            <a:ext cx="44640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u="sng" dirty="0"/>
              <a:t>To Decrease the Money Supply</a:t>
            </a:r>
          </a:p>
        </p:txBody>
      </p:sp>
      <p:graphicFrame>
        <p:nvGraphicFramePr>
          <p:cNvPr id="1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0818743"/>
              </p:ext>
            </p:extLst>
          </p:nvPr>
        </p:nvGraphicFramePr>
        <p:xfrm>
          <a:off x="878494" y="4695878"/>
          <a:ext cx="8068557" cy="1713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912813" y="4275138"/>
            <a:ext cx="431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u="sng"/>
              <a:t>To Increase the Money Supply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Discount Window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568669"/>
            <a:ext cx="8296602" cy="4832132"/>
          </a:xfrm>
        </p:spPr>
        <p:txBody>
          <a:bodyPr/>
          <a:lstStyle/>
          <a:p>
            <a:pPr eaLnBrk="1" hangingPunct="1"/>
            <a:r>
              <a:rPr lang="en-US" sz="2400" dirty="0"/>
              <a:t>Open market operations - Main tool of money supply</a:t>
            </a:r>
          </a:p>
          <a:p>
            <a:pPr eaLnBrk="1" hangingPunct="1"/>
            <a:r>
              <a:rPr lang="en-US" sz="2400" dirty="0"/>
              <a:t>Central bank also offers lending facility to banks, called </a:t>
            </a:r>
            <a:r>
              <a:rPr lang="en-US" sz="2400" b="1" dirty="0"/>
              <a:t>discount window lending</a:t>
            </a:r>
          </a:p>
          <a:p>
            <a:pPr lvl="1" eaLnBrk="1" hangingPunct="1"/>
            <a:r>
              <a:rPr lang="en-US" sz="2400" dirty="0"/>
              <a:t>Bank needs reserves can borrow from the central bank at the discount rate. The </a:t>
            </a:r>
            <a:r>
              <a:rPr lang="en-US" sz="2400" b="1" dirty="0"/>
              <a:t>discount rate</a:t>
            </a:r>
            <a:r>
              <a:rPr lang="en-US" sz="2400" dirty="0"/>
              <a:t> is the rate the central bank charges banks when borrowing</a:t>
            </a:r>
          </a:p>
          <a:p>
            <a:pPr eaLnBrk="1" hangingPunct="1"/>
            <a:r>
              <a:rPr lang="en-US" sz="2400" dirty="0"/>
              <a:t>Lending increases reserves and the money supply</a:t>
            </a:r>
          </a:p>
          <a:p>
            <a:pPr eaLnBrk="1" hangingPunct="1"/>
            <a:r>
              <a:rPr lang="en-US" sz="2400" dirty="0"/>
              <a:t>Changes in the discount rate signal tightening or loosening of the money supply</a:t>
            </a:r>
          </a:p>
          <a:p>
            <a:pPr eaLnBrk="1" hangingPunct="1"/>
            <a:r>
              <a:rPr lang="en-US" sz="2400" dirty="0"/>
              <a:t>Higher discount rate reduces lending and money supply</a:t>
            </a:r>
          </a:p>
          <a:p>
            <a:pPr eaLnBrk="1" hangingPunct="1"/>
            <a:r>
              <a:rPr lang="en-US" sz="2400" dirty="0"/>
              <a:t>Lower discount rate increases lending and money supply</a:t>
            </a:r>
          </a:p>
          <a:p>
            <a:pPr eaLnBrk="1" hangingPunct="1"/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Reserve Deposit Ratio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323974"/>
            <a:ext cx="8296602" cy="5362575"/>
          </a:xfrm>
        </p:spPr>
        <p:txBody>
          <a:bodyPr/>
          <a:lstStyle/>
          <a:p>
            <a:pPr eaLnBrk="1" hangingPunct="1"/>
            <a:r>
              <a:rPr lang="en-US" sz="2700" dirty="0"/>
              <a:t>The central bank decides on the reserve deposit ratio r, the percentage of deposits which the banks must keep as required reserves</a:t>
            </a:r>
          </a:p>
          <a:p>
            <a:pPr eaLnBrk="1" hangingPunct="1"/>
            <a:r>
              <a:rPr lang="en-US" sz="2700" dirty="0"/>
              <a:t>Higher reserve deposit ratio means banks must keep more deposits as reserves and lend out less money </a:t>
            </a:r>
            <a:r>
              <a:rPr lang="en-US" sz="2700" dirty="0">
                <a:sym typeface="Symbol"/>
              </a:rPr>
              <a:t> Decrease</a:t>
            </a:r>
            <a:r>
              <a:rPr lang="en-US" sz="2700" dirty="0"/>
              <a:t> money supply</a:t>
            </a:r>
          </a:p>
          <a:p>
            <a:pPr eaLnBrk="1" hangingPunct="1"/>
            <a:r>
              <a:rPr lang="en-US" dirty="0"/>
              <a:t>Lower reserve deposit ratio means banks can keep less deposits as reserves and lend out more loans  </a:t>
            </a:r>
            <a:r>
              <a:rPr lang="en-US" dirty="0">
                <a:sym typeface="Symbol"/>
              </a:rPr>
              <a:t> Increase</a:t>
            </a:r>
            <a:r>
              <a:rPr lang="en-US" dirty="0"/>
              <a:t> money supply</a:t>
            </a:r>
          </a:p>
          <a:p>
            <a:pPr eaLnBrk="1" hangingPunct="1"/>
            <a:r>
              <a:rPr lang="en-US" dirty="0"/>
              <a:t>Money multiplier = 1/(reserve deposit ratio)</a:t>
            </a:r>
          </a:p>
          <a:p>
            <a:pPr eaLnBrk="1" hangingPunct="1"/>
            <a:r>
              <a:rPr lang="en-US" dirty="0"/>
              <a:t>Reserve deposit ratio is also called Required reserve ratio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225970"/>
            <a:ext cx="8229600" cy="926555"/>
          </a:xfrm>
        </p:spPr>
        <p:txBody>
          <a:bodyPr/>
          <a:lstStyle/>
          <a:p>
            <a:pPr eaLnBrk="1" hangingPunct="1"/>
            <a:r>
              <a:rPr lang="en-US" dirty="0"/>
              <a:t>Demand for Money</a:t>
            </a:r>
          </a:p>
        </p:txBody>
      </p:sp>
      <p:sp>
        <p:nvSpPr>
          <p:cNvPr id="190467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717332" y="1181100"/>
            <a:ext cx="8229600" cy="5514975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demand for money</a:t>
            </a:r>
            <a:r>
              <a:rPr lang="en-US" dirty="0"/>
              <a:t> is the amount of wealth held in the form of money - Liquidity preference</a:t>
            </a:r>
          </a:p>
          <a:p>
            <a:pPr eaLnBrk="1" hangingPunct="1"/>
            <a:r>
              <a:rPr lang="en-US" dirty="0"/>
              <a:t>Marginal Benefit of holding money is the ability to make transactions</a:t>
            </a:r>
          </a:p>
          <a:p>
            <a:pPr eaLnBrk="1" hangingPunct="1"/>
            <a:r>
              <a:rPr lang="en-US" dirty="0"/>
              <a:t>Marginal Cost of holding money is the interest forgone when holding interest-bearing assets</a:t>
            </a:r>
          </a:p>
          <a:p>
            <a:pPr eaLnBrk="1" hangingPunct="1"/>
            <a:r>
              <a:rPr lang="en-US" dirty="0"/>
              <a:t>The higher the nominal interest rate, the smaller the quantity of money demanded</a:t>
            </a:r>
          </a:p>
          <a:p>
            <a:pPr eaLnBrk="1" hangingPunct="1"/>
            <a:r>
              <a:rPr lang="en-US" dirty="0"/>
              <a:t>Quantity of money demanded increases with income and price level</a:t>
            </a:r>
          </a:p>
          <a:p>
            <a:pPr eaLnBrk="1" hangingPunct="1"/>
            <a:r>
              <a:rPr lang="en-US" dirty="0"/>
              <a:t>Technologies such as online banking and ATMs have reduced the demand for money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 idx="4294967295"/>
          </p:nvPr>
        </p:nvSpPr>
        <p:spPr>
          <a:xfrm>
            <a:off x="733098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343026"/>
            <a:ext cx="8229600" cy="4798904"/>
          </a:xfrm>
        </p:spPr>
        <p:txBody>
          <a:bodyPr/>
          <a:lstStyle/>
          <a:p>
            <a:pPr eaLnBrk="1" hangingPunct="1"/>
            <a:r>
              <a:rPr lang="en-US" dirty="0"/>
              <a:t>Demand for money depends on: </a:t>
            </a:r>
          </a:p>
          <a:p>
            <a:pPr lvl="1" eaLnBrk="1" hangingPunct="1"/>
            <a:r>
              <a:rPr lang="en-US" dirty="0"/>
              <a:t>Nominal interest rate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lvl="2" eaLnBrk="1" hangingPunct="1"/>
            <a:r>
              <a:rPr lang="en-US" dirty="0"/>
              <a:t>The higher the interest rate, the lower the quantity of money demanded</a:t>
            </a:r>
          </a:p>
          <a:p>
            <a:pPr lvl="1" eaLnBrk="1" hangingPunct="1"/>
            <a:r>
              <a:rPr lang="en-US" dirty="0"/>
              <a:t>Real income or output (Y)</a:t>
            </a:r>
          </a:p>
          <a:p>
            <a:pPr lvl="2" eaLnBrk="1" hangingPunct="1"/>
            <a:r>
              <a:rPr lang="en-US" dirty="0"/>
              <a:t>The higher the level of income, the greater the quantity of money demanded</a:t>
            </a:r>
          </a:p>
          <a:p>
            <a:pPr lvl="1" eaLnBrk="1" hangingPunct="1"/>
            <a:r>
              <a:rPr lang="en-US" dirty="0"/>
              <a:t>The price level (P)</a:t>
            </a:r>
          </a:p>
          <a:p>
            <a:pPr lvl="2" eaLnBrk="1" hangingPunct="1"/>
            <a:r>
              <a:rPr lang="en-US" dirty="0"/>
              <a:t>The higher the price level, the greater the quantity of money demanded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Money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sz="2400"/>
              <a:t>Interaction of the aggregate demand for money and the supply of money determines the nominal interest rate</a:t>
            </a:r>
          </a:p>
          <a:p>
            <a:pPr eaLnBrk="1" hangingPunct="1"/>
            <a:r>
              <a:rPr lang="en-US" sz="2400"/>
              <a:t>The </a:t>
            </a:r>
            <a:r>
              <a:rPr lang="en-US" sz="2400" b="1"/>
              <a:t>money demand curve </a:t>
            </a:r>
            <a:r>
              <a:rPr lang="en-US" sz="2400"/>
              <a:t>shows the relationship between the aggregate quantity of money demanded, M, and the nominal </a:t>
            </a:r>
            <a:br>
              <a:rPr lang="en-US" sz="2400"/>
            </a:br>
            <a:r>
              <a:rPr lang="en-US" sz="2400"/>
              <a:t>interest rate</a:t>
            </a:r>
          </a:p>
          <a:p>
            <a:pPr lvl="1" eaLnBrk="1" hangingPunct="1"/>
            <a:r>
              <a:rPr lang="en-US" sz="2400"/>
              <a:t>An increase in the </a:t>
            </a:r>
            <a:br>
              <a:rPr lang="en-US" sz="2400"/>
            </a:br>
            <a:r>
              <a:rPr lang="en-US" sz="2400"/>
              <a:t>nominal interest rate </a:t>
            </a:r>
            <a:br>
              <a:rPr lang="en-US" sz="2400"/>
            </a:br>
            <a:r>
              <a:rPr lang="en-US" sz="2400"/>
              <a:t>increases the </a:t>
            </a:r>
            <a:br>
              <a:rPr lang="en-US" sz="2400"/>
            </a:br>
            <a:r>
              <a:rPr lang="en-US" sz="2400"/>
              <a:t>opportunity cost of </a:t>
            </a:r>
            <a:br>
              <a:rPr lang="en-US" sz="2400"/>
            </a:br>
            <a:r>
              <a:rPr lang="en-US" sz="2400"/>
              <a:t>holding money</a:t>
            </a:r>
          </a:p>
          <a:p>
            <a:pPr lvl="2" eaLnBrk="1" hangingPunct="1"/>
            <a:r>
              <a:rPr lang="en-US" sz="2400"/>
              <a:t>Negative slope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430713" y="3319463"/>
            <a:ext cx="4119562" cy="3008312"/>
            <a:chOff x="4951828" y="3559126"/>
            <a:chExt cx="4119489" cy="3008142"/>
          </a:xfrm>
        </p:grpSpPr>
        <p:sp>
          <p:nvSpPr>
            <p:cNvPr id="15" name="Rectangle 14"/>
            <p:cNvSpPr/>
            <p:nvPr/>
          </p:nvSpPr>
          <p:spPr bwMode="auto">
            <a:xfrm>
              <a:off x="4951828" y="3559126"/>
              <a:ext cx="4119489" cy="300814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5028027" y="3635322"/>
              <a:ext cx="3967092" cy="285575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4" name="Group 14"/>
            <p:cNvGrpSpPr>
              <a:grpSpLocks noChangeAspect="1"/>
            </p:cNvGrpSpPr>
            <p:nvPr/>
          </p:nvGrpSpPr>
          <p:grpSpPr bwMode="auto">
            <a:xfrm>
              <a:off x="5147384" y="3621036"/>
              <a:ext cx="3712991" cy="2874277"/>
              <a:chOff x="1427591" y="533792"/>
              <a:chExt cx="6582934" cy="6163050"/>
            </a:xfrm>
          </p:grpSpPr>
          <p:sp>
            <p:nvSpPr>
              <p:cNvPr id="39945" name="Text Box 3"/>
              <p:cNvSpPr txBox="1">
                <a:spLocks noChangeArrowheads="1"/>
              </p:cNvSpPr>
              <p:nvPr/>
            </p:nvSpPr>
            <p:spPr bwMode="auto">
              <a:xfrm>
                <a:off x="3325814" y="5764215"/>
                <a:ext cx="3513137" cy="8578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Money (M)</a:t>
                </a:r>
              </a:p>
            </p:txBody>
          </p:sp>
          <p:sp>
            <p:nvSpPr>
              <p:cNvPr id="39946" name="Text Box 4"/>
              <p:cNvSpPr txBox="1">
                <a:spLocks noChangeArrowheads="1"/>
              </p:cNvSpPr>
              <p:nvPr/>
            </p:nvSpPr>
            <p:spPr bwMode="auto">
              <a:xfrm rot="16200000">
                <a:off x="-1299253" y="3260636"/>
                <a:ext cx="6163050" cy="7093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Nominal interest rate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</a:t>
                </a:r>
              </a:p>
            </p:txBody>
          </p:sp>
          <p:sp>
            <p:nvSpPr>
              <p:cNvPr id="39947" name="Line 5"/>
              <p:cNvSpPr>
                <a:spLocks noChangeShapeType="1"/>
              </p:cNvSpPr>
              <p:nvPr/>
            </p:nvSpPr>
            <p:spPr bwMode="auto">
              <a:xfrm>
                <a:off x="2246313" y="5715000"/>
                <a:ext cx="5764212" cy="15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48" name="Line 6"/>
              <p:cNvSpPr>
                <a:spLocks noChangeShapeType="1"/>
              </p:cNvSpPr>
              <p:nvPr/>
            </p:nvSpPr>
            <p:spPr bwMode="auto">
              <a:xfrm>
                <a:off x="2255838" y="1270000"/>
                <a:ext cx="1587" cy="4445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49" name="Text Box 7"/>
              <p:cNvSpPr txBox="1">
                <a:spLocks noChangeArrowheads="1"/>
              </p:cNvSpPr>
              <p:nvPr/>
            </p:nvSpPr>
            <p:spPr bwMode="auto">
              <a:xfrm>
                <a:off x="6088063" y="4433886"/>
                <a:ext cx="1440841" cy="8578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MD</a:t>
                </a:r>
              </a:p>
            </p:txBody>
          </p:sp>
          <p:sp>
            <p:nvSpPr>
              <p:cNvPr id="13" name="Freeform 8"/>
              <p:cNvSpPr>
                <a:spLocks/>
              </p:cNvSpPr>
              <p:nvPr/>
            </p:nvSpPr>
            <p:spPr bwMode="auto">
              <a:xfrm>
                <a:off x="3121392" y="1636600"/>
                <a:ext cx="2958042" cy="29714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546"/>
                  </a:cxn>
                  <a:cxn ang="0">
                    <a:pos x="464" y="935"/>
                  </a:cxn>
                  <a:cxn ang="0">
                    <a:pos x="823" y="1309"/>
                  </a:cxn>
                  <a:cxn ang="0">
                    <a:pos x="1265" y="1631"/>
                  </a:cxn>
                  <a:cxn ang="0">
                    <a:pos x="1579" y="1796"/>
                  </a:cxn>
                  <a:cxn ang="0">
                    <a:pos x="1863" y="1870"/>
                  </a:cxn>
                </a:cxnLst>
                <a:rect l="0" t="0" r="r" b="b"/>
                <a:pathLst>
                  <a:path w="1863" h="1870">
                    <a:moveTo>
                      <a:pt x="0" y="0"/>
                    </a:moveTo>
                    <a:cubicBezTo>
                      <a:pt x="36" y="91"/>
                      <a:pt x="133" y="390"/>
                      <a:pt x="210" y="546"/>
                    </a:cubicBezTo>
                    <a:cubicBezTo>
                      <a:pt x="287" y="702"/>
                      <a:pt x="362" y="808"/>
                      <a:pt x="464" y="935"/>
                    </a:cubicBezTo>
                    <a:cubicBezTo>
                      <a:pt x="566" y="1062"/>
                      <a:pt x="689" y="1193"/>
                      <a:pt x="823" y="1309"/>
                    </a:cubicBezTo>
                    <a:cubicBezTo>
                      <a:pt x="957" y="1425"/>
                      <a:pt x="1139" y="1550"/>
                      <a:pt x="1265" y="1631"/>
                    </a:cubicBezTo>
                    <a:cubicBezTo>
                      <a:pt x="1391" y="1712"/>
                      <a:pt x="1479" y="1756"/>
                      <a:pt x="1579" y="1796"/>
                    </a:cubicBezTo>
                    <a:cubicBezTo>
                      <a:pt x="1679" y="1836"/>
                      <a:pt x="1804" y="1855"/>
                      <a:pt x="1863" y="1870"/>
                    </a:cubicBezTo>
                  </a:path>
                </a:pathLst>
              </a:cu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The Money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3020" y="1258546"/>
            <a:ext cx="8229600" cy="4525963"/>
          </a:xfrm>
        </p:spPr>
        <p:txBody>
          <a:bodyPr/>
          <a:lstStyle/>
          <a:p>
            <a:pPr eaLnBrk="1" hangingPunct="1"/>
            <a:r>
              <a:rPr lang="en-US" sz="2400" dirty="0"/>
              <a:t>Changes in factors other than the nominal interest rate cause a shift in the money demand curve</a:t>
            </a:r>
          </a:p>
          <a:p>
            <a:pPr eaLnBrk="1" hangingPunct="1"/>
            <a:r>
              <a:rPr lang="en-US" sz="2400" dirty="0"/>
              <a:t>An increase in demand for money can result from</a:t>
            </a:r>
          </a:p>
          <a:p>
            <a:pPr lvl="1" eaLnBrk="1" hangingPunct="1"/>
            <a:r>
              <a:rPr lang="en-US" sz="2400" dirty="0"/>
              <a:t>An increase in output</a:t>
            </a:r>
          </a:p>
          <a:p>
            <a:pPr lvl="1" eaLnBrk="1" hangingPunct="1"/>
            <a:r>
              <a:rPr lang="en-US" sz="2400" dirty="0"/>
              <a:t>Higher price levels</a:t>
            </a:r>
          </a:p>
          <a:p>
            <a:pPr eaLnBrk="1" hangingPunct="1"/>
            <a:r>
              <a:rPr lang="en-US" sz="2400" dirty="0"/>
              <a:t>Technological advances</a:t>
            </a:r>
          </a:p>
          <a:p>
            <a:pPr eaLnBrk="1" hangingPunct="1">
              <a:buNone/>
            </a:pPr>
            <a:r>
              <a:rPr lang="en-US" sz="2400" dirty="0"/>
              <a:t> leads to money demand</a:t>
            </a:r>
          </a:p>
          <a:p>
            <a:pPr eaLnBrk="1" hangingPunct="1">
              <a:buNone/>
            </a:pPr>
            <a:r>
              <a:rPr lang="en-US" sz="2400" dirty="0"/>
              <a:t> decreases 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4857896" y="3024199"/>
            <a:ext cx="4133557" cy="33035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3950" y="3086100"/>
            <a:ext cx="3981450" cy="317976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67" name="Text Box 12"/>
          <p:cNvSpPr txBox="1">
            <a:spLocks noChangeArrowheads="1"/>
          </p:cNvSpPr>
          <p:nvPr/>
        </p:nvSpPr>
        <p:spPr bwMode="auto">
          <a:xfrm>
            <a:off x="6094413" y="5873750"/>
            <a:ext cx="1952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/>
              <a:t>Money (</a:t>
            </a:r>
            <a:r>
              <a:rPr lang="en-US" sz="1800" i="1" dirty="0"/>
              <a:t>M)</a:t>
            </a:r>
            <a:endParaRPr lang="en-US" sz="1800" dirty="0"/>
          </a:p>
        </p:txBody>
      </p:sp>
      <p:sp>
        <p:nvSpPr>
          <p:cNvPr id="40968" name="Text Box 13"/>
          <p:cNvSpPr txBox="1">
            <a:spLocks noChangeArrowheads="1"/>
          </p:cNvSpPr>
          <p:nvPr/>
        </p:nvSpPr>
        <p:spPr bwMode="auto">
          <a:xfrm rot="-5400000">
            <a:off x="3687763" y="4476720"/>
            <a:ext cx="29400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Nominal interest rate (</a:t>
            </a:r>
            <a:r>
              <a:rPr lang="en-US" sz="2000" i="1" dirty="0" err="1"/>
              <a:t>i</a:t>
            </a:r>
            <a:r>
              <a:rPr lang="en-US" sz="2000" i="1" dirty="0"/>
              <a:t>)</a:t>
            </a:r>
            <a:endParaRPr lang="en-US" sz="2000" dirty="0"/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5494338" y="5846763"/>
            <a:ext cx="3203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>
            <a:off x="5499100" y="3375025"/>
            <a:ext cx="1588" cy="2471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Text Box 23"/>
          <p:cNvSpPr txBox="1">
            <a:spLocks noChangeArrowheads="1"/>
          </p:cNvSpPr>
          <p:nvPr/>
        </p:nvSpPr>
        <p:spPr bwMode="auto">
          <a:xfrm>
            <a:off x="7629524" y="5133975"/>
            <a:ext cx="8001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i="1" dirty="0"/>
              <a:t>MD</a:t>
            </a:r>
            <a:endParaRPr lang="en-US" sz="2000" dirty="0"/>
          </a:p>
        </p:txBody>
      </p:sp>
      <p:sp>
        <p:nvSpPr>
          <p:cNvPr id="15" name="Freeform 24"/>
          <p:cNvSpPr>
            <a:spLocks/>
          </p:cNvSpPr>
          <p:nvPr/>
        </p:nvSpPr>
        <p:spPr bwMode="auto">
          <a:xfrm>
            <a:off x="5981700" y="3579813"/>
            <a:ext cx="1643063" cy="165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0" y="546"/>
              </a:cxn>
              <a:cxn ang="0">
                <a:pos x="464" y="935"/>
              </a:cxn>
              <a:cxn ang="0">
                <a:pos x="823" y="1309"/>
              </a:cxn>
              <a:cxn ang="0">
                <a:pos x="1265" y="1631"/>
              </a:cxn>
              <a:cxn ang="0">
                <a:pos x="1579" y="1796"/>
              </a:cxn>
              <a:cxn ang="0">
                <a:pos x="1863" y="1870"/>
              </a:cxn>
            </a:cxnLst>
            <a:rect l="0" t="0" r="r" b="b"/>
            <a:pathLst>
              <a:path w="1863" h="1870">
                <a:moveTo>
                  <a:pt x="0" y="0"/>
                </a:moveTo>
                <a:cubicBezTo>
                  <a:pt x="36" y="91"/>
                  <a:pt x="133" y="390"/>
                  <a:pt x="210" y="546"/>
                </a:cubicBezTo>
                <a:cubicBezTo>
                  <a:pt x="287" y="702"/>
                  <a:pt x="362" y="808"/>
                  <a:pt x="464" y="935"/>
                </a:cubicBezTo>
                <a:cubicBezTo>
                  <a:pt x="566" y="1062"/>
                  <a:pt x="689" y="1193"/>
                  <a:pt x="823" y="1309"/>
                </a:cubicBezTo>
                <a:cubicBezTo>
                  <a:pt x="957" y="1425"/>
                  <a:pt x="1139" y="1550"/>
                  <a:pt x="1265" y="1631"/>
                </a:cubicBezTo>
                <a:cubicBezTo>
                  <a:pt x="1391" y="1712"/>
                  <a:pt x="1479" y="1756"/>
                  <a:pt x="1579" y="1796"/>
                </a:cubicBezTo>
                <a:cubicBezTo>
                  <a:pt x="1679" y="1836"/>
                  <a:pt x="1804" y="1855"/>
                  <a:pt x="1863" y="1870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284913" y="3335339"/>
            <a:ext cx="2449511" cy="1946916"/>
            <a:chOff x="6285018" y="3335682"/>
            <a:chExt cx="2449860" cy="1947057"/>
          </a:xfrm>
        </p:grpSpPr>
        <p:sp>
          <p:nvSpPr>
            <p:cNvPr id="40974" name="Text Box 26"/>
            <p:cNvSpPr txBox="1">
              <a:spLocks noChangeArrowheads="1"/>
            </p:cNvSpPr>
            <p:nvPr/>
          </p:nvSpPr>
          <p:spPr bwMode="auto">
            <a:xfrm>
              <a:off x="7900768" y="4882600"/>
              <a:ext cx="834110" cy="400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i="1" dirty="0"/>
                <a:t>MD'</a:t>
              </a:r>
              <a:endParaRPr lang="en-US" sz="2000" dirty="0"/>
            </a:p>
          </p:txBody>
        </p:sp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6536514" y="4438733"/>
              <a:ext cx="553603" cy="245810"/>
            </a:xfrm>
            <a:prstGeom prst="rightArrow">
              <a:avLst>
                <a:gd name="adj1" fmla="val 50000"/>
                <a:gd name="adj2" fmla="val 134451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25"/>
            <p:cNvSpPr>
              <a:spLocks/>
            </p:cNvSpPr>
            <p:nvPr/>
          </p:nvSpPr>
          <p:spPr bwMode="auto">
            <a:xfrm>
              <a:off x="6285018" y="3335682"/>
              <a:ext cx="1643296" cy="16495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" y="546"/>
                </a:cxn>
                <a:cxn ang="0">
                  <a:pos x="464" y="935"/>
                </a:cxn>
                <a:cxn ang="0">
                  <a:pos x="823" y="1309"/>
                </a:cxn>
                <a:cxn ang="0">
                  <a:pos x="1265" y="1631"/>
                </a:cxn>
                <a:cxn ang="0">
                  <a:pos x="1579" y="1796"/>
                </a:cxn>
                <a:cxn ang="0">
                  <a:pos x="1863" y="1870"/>
                </a:cxn>
              </a:cxnLst>
              <a:rect l="0" t="0" r="r" b="b"/>
              <a:pathLst>
                <a:path w="1863" h="1870">
                  <a:moveTo>
                    <a:pt x="0" y="0"/>
                  </a:moveTo>
                  <a:cubicBezTo>
                    <a:pt x="36" y="91"/>
                    <a:pt x="133" y="390"/>
                    <a:pt x="210" y="546"/>
                  </a:cubicBezTo>
                  <a:cubicBezTo>
                    <a:pt x="287" y="702"/>
                    <a:pt x="362" y="808"/>
                    <a:pt x="464" y="935"/>
                  </a:cubicBezTo>
                  <a:cubicBezTo>
                    <a:pt x="566" y="1062"/>
                    <a:pt x="689" y="1193"/>
                    <a:pt x="823" y="1309"/>
                  </a:cubicBezTo>
                  <a:cubicBezTo>
                    <a:pt x="957" y="1425"/>
                    <a:pt x="1139" y="1550"/>
                    <a:pt x="1265" y="1631"/>
                  </a:cubicBezTo>
                  <a:cubicBezTo>
                    <a:pt x="1391" y="1712"/>
                    <a:pt x="1479" y="1756"/>
                    <a:pt x="1579" y="1796"/>
                  </a:cubicBezTo>
                  <a:cubicBezTo>
                    <a:pt x="1679" y="1836"/>
                    <a:pt x="1804" y="1855"/>
                    <a:pt x="1863" y="1870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Supply of Money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11928" y="1426774"/>
            <a:ext cx="8229600" cy="5307401"/>
          </a:xfrm>
        </p:spPr>
        <p:txBody>
          <a:bodyPr/>
          <a:lstStyle/>
          <a:p>
            <a:pPr eaLnBrk="1" hangingPunct="1"/>
            <a:r>
              <a:rPr lang="en-US" sz="2400" dirty="0"/>
              <a:t>The central bank primarily controls the supply of money with open-market operations</a:t>
            </a:r>
          </a:p>
          <a:p>
            <a:pPr lvl="1" eaLnBrk="1" hangingPunct="1"/>
            <a:r>
              <a:rPr lang="en-US" sz="2400" dirty="0"/>
              <a:t>An open-market purchase of bonds by the central bank increases the money supply</a:t>
            </a:r>
          </a:p>
          <a:p>
            <a:pPr lvl="1" eaLnBrk="1" hangingPunct="1"/>
            <a:r>
              <a:rPr lang="en-US" sz="2400" dirty="0"/>
              <a:t>An open-market sale of </a:t>
            </a:r>
            <a:br>
              <a:rPr lang="en-US" sz="2400" dirty="0"/>
            </a:br>
            <a:r>
              <a:rPr lang="en-US" sz="2400" dirty="0"/>
              <a:t>bonds by the central bank </a:t>
            </a:r>
            <a:br>
              <a:rPr lang="en-US" sz="2400" dirty="0"/>
            </a:br>
            <a:r>
              <a:rPr lang="en-US" sz="2400" dirty="0"/>
              <a:t>decreases the money </a:t>
            </a:r>
            <a:br>
              <a:rPr lang="en-US" sz="2400" dirty="0"/>
            </a:br>
            <a:r>
              <a:rPr lang="en-US" sz="2400" dirty="0"/>
              <a:t>supply</a:t>
            </a:r>
          </a:p>
          <a:p>
            <a:pPr eaLnBrk="1" hangingPunct="1"/>
            <a:r>
              <a:rPr lang="en-US" sz="2400" dirty="0"/>
              <a:t>Supply of money is vertical</a:t>
            </a:r>
          </a:p>
          <a:p>
            <a:pPr eaLnBrk="1" hangingPunct="1"/>
            <a:r>
              <a:rPr lang="en-US" sz="2400" dirty="0"/>
              <a:t>Equilibrium is at E</a:t>
            </a:r>
          </a:p>
          <a:p>
            <a:pPr lvl="1" eaLnBrk="1" hangingPunct="1"/>
            <a:endParaRPr lang="en-US" sz="2400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211763" y="3178175"/>
            <a:ext cx="3829050" cy="3451225"/>
            <a:chOff x="1857058" y="964253"/>
            <a:chExt cx="3828237" cy="3451267"/>
          </a:xfrm>
        </p:grpSpPr>
        <p:sp>
          <p:nvSpPr>
            <p:cNvPr id="7" name="Rectangle 6"/>
            <p:cNvSpPr/>
            <p:nvPr/>
          </p:nvSpPr>
          <p:spPr bwMode="auto">
            <a:xfrm>
              <a:off x="1920240" y="998806"/>
              <a:ext cx="3711526" cy="334576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990380" y="1081729"/>
              <a:ext cx="3571117" cy="3179802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3" name="Group 30"/>
            <p:cNvGrpSpPr>
              <a:grpSpLocks/>
            </p:cNvGrpSpPr>
            <p:nvPr/>
          </p:nvGrpSpPr>
          <p:grpSpPr bwMode="auto">
            <a:xfrm>
              <a:off x="2048027" y="1139867"/>
              <a:ext cx="3455952" cy="3060468"/>
              <a:chOff x="2016380" y="1125410"/>
              <a:chExt cx="3455952" cy="3060468"/>
            </a:xfrm>
          </p:grpSpPr>
          <p:sp>
            <p:nvSpPr>
              <p:cNvPr id="44041" name="Line 6"/>
              <p:cNvSpPr>
                <a:spLocks noChangeShapeType="1"/>
              </p:cNvSpPr>
              <p:nvPr/>
            </p:nvSpPr>
            <p:spPr bwMode="auto">
              <a:xfrm>
                <a:off x="2631094" y="1270000"/>
                <a:ext cx="889" cy="24913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2" name="Text Box 17"/>
              <p:cNvSpPr txBox="1">
                <a:spLocks noChangeArrowheads="1"/>
              </p:cNvSpPr>
              <p:nvPr/>
            </p:nvSpPr>
            <p:spPr bwMode="auto">
              <a:xfrm>
                <a:off x="4052186" y="3779298"/>
                <a:ext cx="1420146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Money (M)</a:t>
                </a:r>
              </a:p>
            </p:txBody>
          </p:sp>
          <p:sp>
            <p:nvSpPr>
              <p:cNvPr id="44043" name="Text Box 7"/>
              <p:cNvSpPr txBox="1">
                <a:spLocks noChangeArrowheads="1"/>
              </p:cNvSpPr>
              <p:nvPr/>
            </p:nvSpPr>
            <p:spPr bwMode="auto">
              <a:xfrm>
                <a:off x="4299720" y="2812082"/>
                <a:ext cx="666437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MD</a:t>
                </a:r>
              </a:p>
            </p:txBody>
          </p:sp>
          <p:sp>
            <p:nvSpPr>
              <p:cNvPr id="13" name="Freeform 8"/>
              <p:cNvSpPr>
                <a:spLocks/>
              </p:cNvSpPr>
              <p:nvPr/>
            </p:nvSpPr>
            <p:spPr bwMode="auto">
              <a:xfrm>
                <a:off x="2745965" y="1476852"/>
                <a:ext cx="1983954" cy="17637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546"/>
                  </a:cxn>
                  <a:cxn ang="0">
                    <a:pos x="464" y="935"/>
                  </a:cxn>
                  <a:cxn ang="0">
                    <a:pos x="823" y="1309"/>
                  </a:cxn>
                  <a:cxn ang="0">
                    <a:pos x="1265" y="1631"/>
                  </a:cxn>
                  <a:cxn ang="0">
                    <a:pos x="1889" y="1904"/>
                  </a:cxn>
                  <a:cxn ang="0">
                    <a:pos x="2230" y="1983"/>
                  </a:cxn>
                </a:cxnLst>
                <a:rect l="0" t="0" r="r" b="b"/>
                <a:pathLst>
                  <a:path w="2230" h="1983">
                    <a:moveTo>
                      <a:pt x="0" y="0"/>
                    </a:moveTo>
                    <a:cubicBezTo>
                      <a:pt x="36" y="91"/>
                      <a:pt x="133" y="390"/>
                      <a:pt x="210" y="546"/>
                    </a:cubicBezTo>
                    <a:cubicBezTo>
                      <a:pt x="287" y="702"/>
                      <a:pt x="362" y="808"/>
                      <a:pt x="464" y="935"/>
                    </a:cubicBezTo>
                    <a:cubicBezTo>
                      <a:pt x="566" y="1062"/>
                      <a:pt x="689" y="1193"/>
                      <a:pt x="823" y="1309"/>
                    </a:cubicBezTo>
                    <a:cubicBezTo>
                      <a:pt x="957" y="1425"/>
                      <a:pt x="1087" y="1532"/>
                      <a:pt x="1265" y="1631"/>
                    </a:cubicBezTo>
                    <a:cubicBezTo>
                      <a:pt x="1443" y="1730"/>
                      <a:pt x="1728" y="1845"/>
                      <a:pt x="1889" y="1904"/>
                    </a:cubicBezTo>
                    <a:cubicBezTo>
                      <a:pt x="2050" y="1963"/>
                      <a:pt x="2159" y="1967"/>
                      <a:pt x="2230" y="1983"/>
                    </a:cubicBezTo>
                  </a:path>
                </a:pathLst>
              </a:custGeom>
              <a:ln>
                <a:solidFill>
                  <a:srgbClr val="00B0F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/>
              </a:p>
            </p:txBody>
          </p:sp>
          <p:sp>
            <p:nvSpPr>
              <p:cNvPr id="44045" name="Line 10"/>
              <p:cNvSpPr>
                <a:spLocks noChangeShapeType="1"/>
              </p:cNvSpPr>
              <p:nvPr/>
            </p:nvSpPr>
            <p:spPr bwMode="auto">
              <a:xfrm>
                <a:off x="2636164" y="2679179"/>
                <a:ext cx="873577" cy="19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 flipV="1">
                <a:off x="3518913" y="1643542"/>
                <a:ext cx="0" cy="2109813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/>
              </a:p>
            </p:txBody>
          </p:sp>
          <p:sp>
            <p:nvSpPr>
              <p:cNvPr id="44047" name="Text Box 14"/>
              <p:cNvSpPr txBox="1">
                <a:spLocks noChangeArrowheads="1"/>
              </p:cNvSpPr>
              <p:nvPr/>
            </p:nvSpPr>
            <p:spPr bwMode="auto">
              <a:xfrm>
                <a:off x="3501583" y="2376914"/>
                <a:ext cx="366540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E</a:t>
                </a:r>
              </a:p>
            </p:txBody>
          </p:sp>
          <p:sp>
            <p:nvSpPr>
              <p:cNvPr id="44048" name="Text Box 15"/>
              <p:cNvSpPr txBox="1">
                <a:spLocks noChangeArrowheads="1"/>
              </p:cNvSpPr>
              <p:nvPr/>
            </p:nvSpPr>
            <p:spPr bwMode="auto">
              <a:xfrm>
                <a:off x="3501583" y="1447815"/>
                <a:ext cx="606140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MS</a:t>
                </a:r>
              </a:p>
            </p:txBody>
          </p:sp>
          <p:sp>
            <p:nvSpPr>
              <p:cNvPr id="44049" name="Text Box 16"/>
              <p:cNvSpPr txBox="1">
                <a:spLocks noChangeArrowheads="1"/>
              </p:cNvSpPr>
              <p:nvPr/>
            </p:nvSpPr>
            <p:spPr bwMode="auto">
              <a:xfrm>
                <a:off x="3277850" y="3788827"/>
                <a:ext cx="403036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M</a:t>
                </a:r>
              </a:p>
            </p:txBody>
          </p:sp>
          <p:sp>
            <p:nvSpPr>
              <p:cNvPr id="44050" name="Text Box 18"/>
              <p:cNvSpPr txBox="1">
                <a:spLocks noChangeArrowheads="1"/>
              </p:cNvSpPr>
              <p:nvPr/>
            </p:nvSpPr>
            <p:spPr bwMode="auto">
              <a:xfrm>
                <a:off x="2363879" y="2475383"/>
                <a:ext cx="461746" cy="3970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i</a:t>
                </a:r>
              </a:p>
            </p:txBody>
          </p:sp>
          <p:sp>
            <p:nvSpPr>
              <p:cNvPr id="44051" name="Text Box 24"/>
              <p:cNvSpPr txBox="1">
                <a:spLocks noChangeArrowheads="1"/>
              </p:cNvSpPr>
              <p:nvPr/>
            </p:nvSpPr>
            <p:spPr bwMode="auto">
              <a:xfrm rot="-5400000">
                <a:off x="746363" y="2395427"/>
                <a:ext cx="294014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/>
                  <a:t>Nominal interest rate (i) </a:t>
                </a:r>
              </a:p>
            </p:txBody>
          </p:sp>
          <p:cxnSp>
            <p:nvCxnSpPr>
              <p:cNvPr id="44052" name="Straight Connector 23"/>
              <p:cNvCxnSpPr>
                <a:cxnSpLocks noChangeShapeType="1"/>
              </p:cNvCxnSpPr>
              <p:nvPr/>
            </p:nvCxnSpPr>
            <p:spPr bwMode="auto">
              <a:xfrm rot="10800000">
                <a:off x="2628280" y="3786274"/>
                <a:ext cx="2389078" cy="89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 bwMode="auto">
          <a:xfrm>
            <a:off x="5303520" y="2616582"/>
            <a:ext cx="3444240" cy="355678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386388" y="2700338"/>
            <a:ext cx="3278187" cy="338931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85" name="Title 1"/>
          <p:cNvSpPr>
            <a:spLocks noGrp="1"/>
          </p:cNvSpPr>
          <p:nvPr>
            <p:ph type="title" idx="4294967295"/>
          </p:nvPr>
        </p:nvSpPr>
        <p:spPr>
          <a:xfrm>
            <a:off x="504824" y="383630"/>
            <a:ext cx="8426341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Effect of Money Supply Increases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43459" y="1679030"/>
            <a:ext cx="8348031" cy="4525963"/>
          </a:xfrm>
        </p:spPr>
        <p:txBody>
          <a:bodyPr/>
          <a:lstStyle/>
          <a:p>
            <a:pPr eaLnBrk="1" hangingPunct="1"/>
            <a:r>
              <a:rPr lang="en-US" sz="2400" dirty="0"/>
              <a:t>Central bank policy is stated in terms of interest rates</a:t>
            </a:r>
          </a:p>
          <a:p>
            <a:pPr lvl="1" eaLnBrk="1" hangingPunct="1"/>
            <a:r>
              <a:rPr lang="en-US" sz="2400" dirty="0"/>
              <a:t>The tool they use is the supply of money</a:t>
            </a:r>
          </a:p>
          <a:p>
            <a:pPr eaLnBrk="1" hangingPunct="1"/>
            <a:r>
              <a:rPr lang="en-US" sz="2400" dirty="0"/>
              <a:t>Initial equilibrium at E</a:t>
            </a:r>
          </a:p>
          <a:p>
            <a:pPr eaLnBrk="1" hangingPunct="1"/>
            <a:r>
              <a:rPr lang="en-US" sz="2400" dirty="0"/>
              <a:t>The central bank increases</a:t>
            </a:r>
            <a:br>
              <a:rPr lang="en-US" sz="2400" dirty="0"/>
            </a:br>
            <a:r>
              <a:rPr lang="en-US" sz="2400" dirty="0"/>
              <a:t>the money supply to MS'</a:t>
            </a:r>
          </a:p>
          <a:p>
            <a:pPr lvl="1" eaLnBrk="1" hangingPunct="1"/>
            <a:r>
              <a:rPr lang="en-US" sz="2400" dirty="0"/>
              <a:t>New equilibrium at F</a:t>
            </a:r>
          </a:p>
          <a:p>
            <a:pPr lvl="1" eaLnBrk="1" hangingPunct="1"/>
            <a:r>
              <a:rPr lang="en-US" sz="2400" dirty="0"/>
              <a:t>Interest rated decrease to </a:t>
            </a:r>
            <a:r>
              <a:rPr lang="en-US" sz="2400" dirty="0" err="1"/>
              <a:t>i</a:t>
            </a:r>
            <a:r>
              <a:rPr lang="en-US" sz="2400" dirty="0"/>
              <a:t>'</a:t>
            </a:r>
            <a:br>
              <a:rPr lang="en-US" sz="2400" dirty="0"/>
            </a:br>
            <a:r>
              <a:rPr lang="en-US" sz="2400" dirty="0"/>
              <a:t>to convince the market</a:t>
            </a:r>
            <a:br>
              <a:rPr lang="en-US" sz="2400" dirty="0"/>
            </a:br>
            <a:r>
              <a:rPr lang="en-US" sz="2400" dirty="0"/>
              <a:t>to hold the new, larger</a:t>
            </a:r>
            <a:br>
              <a:rPr lang="en-US" sz="2400" dirty="0"/>
            </a:br>
            <a:r>
              <a:rPr lang="en-US" sz="2400" dirty="0"/>
              <a:t>amount of money</a:t>
            </a:r>
          </a:p>
        </p:txBody>
      </p:sp>
      <p:sp>
        <p:nvSpPr>
          <p:cNvPr id="46087" name="Line 6"/>
          <p:cNvSpPr>
            <a:spLocks noChangeShapeType="1"/>
          </p:cNvSpPr>
          <p:nvPr/>
        </p:nvSpPr>
        <p:spPr bwMode="auto">
          <a:xfrm>
            <a:off x="6018213" y="2887663"/>
            <a:ext cx="1587" cy="2492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8" name="Text Box 17"/>
          <p:cNvSpPr txBox="1">
            <a:spLocks noChangeArrowheads="1"/>
          </p:cNvSpPr>
          <p:nvPr/>
        </p:nvSpPr>
        <p:spPr bwMode="auto">
          <a:xfrm>
            <a:off x="6440488" y="5678488"/>
            <a:ext cx="1420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Money (M)</a:t>
            </a:r>
          </a:p>
        </p:txBody>
      </p:sp>
      <p:sp>
        <p:nvSpPr>
          <p:cNvPr id="46089" name="Text Box 7"/>
          <p:cNvSpPr txBox="1">
            <a:spLocks noChangeArrowheads="1"/>
          </p:cNvSpPr>
          <p:nvPr/>
        </p:nvSpPr>
        <p:spPr bwMode="auto">
          <a:xfrm>
            <a:off x="7756525" y="4922838"/>
            <a:ext cx="666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MD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V="1">
            <a:off x="6907213" y="3262313"/>
            <a:ext cx="0" cy="2109787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sp>
        <p:nvSpPr>
          <p:cNvPr id="46091" name="Text Box 15"/>
          <p:cNvSpPr txBox="1">
            <a:spLocks noChangeArrowheads="1"/>
          </p:cNvSpPr>
          <p:nvPr/>
        </p:nvSpPr>
        <p:spPr bwMode="auto">
          <a:xfrm>
            <a:off x="6381750" y="3086100"/>
            <a:ext cx="6064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MS</a:t>
            </a:r>
          </a:p>
        </p:txBody>
      </p:sp>
      <p:sp>
        <p:nvSpPr>
          <p:cNvPr id="46092" name="Text Box 16"/>
          <p:cNvSpPr txBox="1">
            <a:spLocks noChangeArrowheads="1"/>
          </p:cNvSpPr>
          <p:nvPr/>
        </p:nvSpPr>
        <p:spPr bwMode="auto">
          <a:xfrm>
            <a:off x="6665913" y="5392738"/>
            <a:ext cx="403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M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751513" y="3995738"/>
            <a:ext cx="1504950" cy="498475"/>
            <a:chOff x="5750803" y="4389506"/>
            <a:chExt cx="1505240" cy="498584"/>
          </a:xfrm>
        </p:grpSpPr>
        <p:sp>
          <p:nvSpPr>
            <p:cNvPr id="46111" name="Line 10"/>
            <p:cNvSpPr>
              <a:spLocks noChangeShapeType="1"/>
            </p:cNvSpPr>
            <p:nvPr/>
          </p:nvSpPr>
          <p:spPr bwMode="auto">
            <a:xfrm>
              <a:off x="6023592" y="4691247"/>
              <a:ext cx="873577" cy="19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Text Box 14"/>
            <p:cNvSpPr txBox="1">
              <a:spLocks noChangeArrowheads="1"/>
            </p:cNvSpPr>
            <p:nvPr/>
          </p:nvSpPr>
          <p:spPr bwMode="auto">
            <a:xfrm>
              <a:off x="6888505" y="4389506"/>
              <a:ext cx="36753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E</a:t>
              </a:r>
            </a:p>
          </p:txBody>
        </p:sp>
        <p:sp>
          <p:nvSpPr>
            <p:cNvPr id="46113" name="Text Box 18"/>
            <p:cNvSpPr txBox="1">
              <a:spLocks noChangeArrowheads="1"/>
            </p:cNvSpPr>
            <p:nvPr/>
          </p:nvSpPr>
          <p:spPr bwMode="auto">
            <a:xfrm>
              <a:off x="5750803" y="4487980"/>
              <a:ext cx="46248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i</a:t>
              </a:r>
            </a:p>
          </p:txBody>
        </p:sp>
      </p:grpSp>
      <p:sp>
        <p:nvSpPr>
          <p:cNvPr id="46094" name="Text Box 24"/>
          <p:cNvSpPr txBox="1">
            <a:spLocks noChangeArrowheads="1"/>
          </p:cNvSpPr>
          <p:nvPr/>
        </p:nvSpPr>
        <p:spPr bwMode="auto">
          <a:xfrm rot="-5400000">
            <a:off x="4133850" y="3951615"/>
            <a:ext cx="2940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Nominal interest rate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</p:txBody>
      </p:sp>
      <p:cxnSp>
        <p:nvCxnSpPr>
          <p:cNvPr id="46095" name="Straight Connector 18"/>
          <p:cNvCxnSpPr>
            <a:cxnSpLocks noChangeShapeType="1"/>
          </p:cNvCxnSpPr>
          <p:nvPr/>
        </p:nvCxnSpPr>
        <p:spPr bwMode="auto">
          <a:xfrm rot="10800000">
            <a:off x="6015038" y="5403850"/>
            <a:ext cx="2389187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7477125" y="4330700"/>
            <a:ext cx="3667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F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748338" y="4305300"/>
            <a:ext cx="1749425" cy="509588"/>
            <a:chOff x="5748455" y="4698609"/>
            <a:chExt cx="1749625" cy="510697"/>
          </a:xfrm>
        </p:grpSpPr>
        <p:sp>
          <p:nvSpPr>
            <p:cNvPr id="46106" name="Text Box 18"/>
            <p:cNvSpPr txBox="1">
              <a:spLocks noChangeArrowheads="1"/>
            </p:cNvSpPr>
            <p:nvPr/>
          </p:nvSpPr>
          <p:spPr bwMode="auto">
            <a:xfrm>
              <a:off x="5748455" y="4809196"/>
              <a:ext cx="46248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i'</a:t>
              </a:r>
            </a:p>
          </p:txBody>
        </p:sp>
        <p:cxnSp>
          <p:nvCxnSpPr>
            <p:cNvPr id="46107" name="Straight Connector 26"/>
            <p:cNvCxnSpPr>
              <a:cxnSpLocks noChangeShapeType="1"/>
            </p:cNvCxnSpPr>
            <p:nvPr/>
          </p:nvCxnSpPr>
          <p:spPr bwMode="auto">
            <a:xfrm rot="10800000">
              <a:off x="6035040" y="5084763"/>
              <a:ext cx="1463040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8" name="Down Arrow 27"/>
            <p:cNvSpPr/>
            <p:nvPr/>
          </p:nvSpPr>
          <p:spPr bwMode="auto">
            <a:xfrm>
              <a:off x="6203848" y="4698609"/>
              <a:ext cx="253219" cy="379828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" name="Freeform 8"/>
          <p:cNvSpPr>
            <a:spLocks/>
          </p:cNvSpPr>
          <p:nvPr/>
        </p:nvSpPr>
        <p:spPr bwMode="auto">
          <a:xfrm>
            <a:off x="6134100" y="3094038"/>
            <a:ext cx="1984375" cy="1765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0" y="546"/>
              </a:cxn>
              <a:cxn ang="0">
                <a:pos x="464" y="935"/>
              </a:cxn>
              <a:cxn ang="0">
                <a:pos x="823" y="1309"/>
              </a:cxn>
              <a:cxn ang="0">
                <a:pos x="1265" y="1631"/>
              </a:cxn>
              <a:cxn ang="0">
                <a:pos x="1889" y="1904"/>
              </a:cxn>
              <a:cxn ang="0">
                <a:pos x="2230" y="1983"/>
              </a:cxn>
            </a:cxnLst>
            <a:rect l="0" t="0" r="r" b="b"/>
            <a:pathLst>
              <a:path w="2230" h="1983">
                <a:moveTo>
                  <a:pt x="0" y="0"/>
                </a:moveTo>
                <a:cubicBezTo>
                  <a:pt x="36" y="91"/>
                  <a:pt x="133" y="390"/>
                  <a:pt x="210" y="546"/>
                </a:cubicBezTo>
                <a:cubicBezTo>
                  <a:pt x="287" y="702"/>
                  <a:pt x="362" y="808"/>
                  <a:pt x="464" y="935"/>
                </a:cubicBezTo>
                <a:cubicBezTo>
                  <a:pt x="566" y="1062"/>
                  <a:pt x="689" y="1193"/>
                  <a:pt x="823" y="1309"/>
                </a:cubicBezTo>
                <a:cubicBezTo>
                  <a:pt x="957" y="1425"/>
                  <a:pt x="1087" y="1532"/>
                  <a:pt x="1265" y="1631"/>
                </a:cubicBezTo>
                <a:cubicBezTo>
                  <a:pt x="1443" y="1730"/>
                  <a:pt x="1728" y="1845"/>
                  <a:pt x="1889" y="1904"/>
                </a:cubicBezTo>
                <a:cubicBezTo>
                  <a:pt x="2050" y="1963"/>
                  <a:pt x="2159" y="1967"/>
                  <a:pt x="2230" y="1983"/>
                </a:cubicBezTo>
              </a:path>
            </a:pathLst>
          </a:cu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6935788" y="3086100"/>
            <a:ext cx="1250950" cy="2706688"/>
            <a:chOff x="6935373" y="3479949"/>
            <a:chExt cx="1252024" cy="2707105"/>
          </a:xfrm>
        </p:grpSpPr>
        <p:sp>
          <p:nvSpPr>
            <p:cNvPr id="46100" name="Text Box 16"/>
            <p:cNvSpPr txBox="1">
              <a:spLocks noChangeArrowheads="1"/>
            </p:cNvSpPr>
            <p:nvPr/>
          </p:nvSpPr>
          <p:spPr bwMode="auto">
            <a:xfrm>
              <a:off x="7239633" y="5786944"/>
              <a:ext cx="5257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M'</a:t>
              </a:r>
            </a:p>
          </p:txBody>
        </p:sp>
        <p:sp>
          <p:nvSpPr>
            <p:cNvPr id="33" name="Line 11"/>
            <p:cNvSpPr>
              <a:spLocks noChangeShapeType="1"/>
            </p:cNvSpPr>
            <p:nvPr/>
          </p:nvSpPr>
          <p:spPr bwMode="auto">
            <a:xfrm flipV="1">
              <a:off x="7481942" y="3695882"/>
              <a:ext cx="0" cy="2110113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/>
            </a:p>
          </p:txBody>
        </p:sp>
        <p:sp>
          <p:nvSpPr>
            <p:cNvPr id="46102" name="Text Box 15"/>
            <p:cNvSpPr txBox="1">
              <a:spLocks noChangeArrowheads="1"/>
            </p:cNvSpPr>
            <p:nvPr/>
          </p:nvSpPr>
          <p:spPr bwMode="auto">
            <a:xfrm>
              <a:off x="7462761" y="3479949"/>
              <a:ext cx="72463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/>
                <a:t>MS'</a:t>
              </a:r>
            </a:p>
          </p:txBody>
        </p:sp>
        <p:sp>
          <p:nvSpPr>
            <p:cNvPr id="35" name="Right Arrow 34"/>
            <p:cNvSpPr/>
            <p:nvPr/>
          </p:nvSpPr>
          <p:spPr bwMode="auto">
            <a:xfrm>
              <a:off x="6935373" y="5486400"/>
              <a:ext cx="534572" cy="21101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Money and Prices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199" y="1514475"/>
            <a:ext cx="8086725" cy="4648200"/>
          </a:xfrm>
        </p:spPr>
        <p:txBody>
          <a:bodyPr/>
          <a:lstStyle/>
          <a:p>
            <a:pPr eaLnBrk="1" hangingPunct="1"/>
            <a:r>
              <a:rPr lang="en-US" sz="2400" dirty="0"/>
              <a:t>In the long run, the amount of money circulating and the level of prices are closely linked</a:t>
            </a:r>
          </a:p>
          <a:p>
            <a:pPr lvl="1" eaLnBrk="1" hangingPunct="1"/>
            <a:r>
              <a:rPr lang="en-US" sz="2400" dirty="0"/>
              <a:t>Sustained high inflation rates occur with a comparably high growth rate of the money supply</a:t>
            </a:r>
          </a:p>
          <a:p>
            <a:pPr eaLnBrk="1" hangingPunct="1"/>
            <a:r>
              <a:rPr lang="en-US" sz="2400" dirty="0"/>
              <a:t>The </a:t>
            </a:r>
            <a:r>
              <a:rPr lang="en-US" sz="2400" b="1" dirty="0"/>
              <a:t>quantity equation </a:t>
            </a:r>
            <a:r>
              <a:rPr lang="en-US" sz="2400" dirty="0"/>
              <a:t>states that money times velocity equals nominal GDP, M x V = P x Y</a:t>
            </a:r>
          </a:p>
          <a:p>
            <a:pPr eaLnBrk="1" hangingPunct="1"/>
            <a:r>
              <a:rPr lang="en-US" sz="2400" b="1" dirty="0"/>
              <a:t>Velocity</a:t>
            </a:r>
            <a:r>
              <a:rPr lang="en-US" sz="2400" dirty="0"/>
              <a:t> is a measure of the speed money changes hands in transactions for final goods and services</a:t>
            </a:r>
          </a:p>
          <a:p>
            <a:pPr eaLnBrk="1" hangingPunct="1"/>
            <a:r>
              <a:rPr lang="en-US" sz="2400" dirty="0"/>
              <a:t>Nominal GDP is the price level (P) times real GDP (Y)</a:t>
            </a:r>
          </a:p>
          <a:p>
            <a:pPr eaLnBrk="1" hangingPunct="1"/>
            <a:r>
              <a:rPr lang="en-US" sz="2400" dirty="0"/>
              <a:t>M is the money stock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471658"/>
            <a:ext cx="8429625" cy="1143000"/>
          </a:xfrm>
        </p:spPr>
        <p:txBody>
          <a:bodyPr/>
          <a:lstStyle/>
          <a:p>
            <a:pPr eaLnBrk="1" hangingPunct="1"/>
            <a:r>
              <a:rPr lang="en-US" dirty="0"/>
              <a:t>Money and Inflation in Long Run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619250"/>
            <a:ext cx="8229600" cy="4757908"/>
          </a:xfrm>
        </p:spPr>
        <p:txBody>
          <a:bodyPr/>
          <a:lstStyle/>
          <a:p>
            <a:pPr eaLnBrk="1" hangingPunct="1"/>
            <a:r>
              <a:rPr lang="en-US" sz="2300" dirty="0"/>
              <a:t>Shows a relationship between money and price level</a:t>
            </a:r>
          </a:p>
          <a:p>
            <a:pPr eaLnBrk="1" hangingPunct="1"/>
            <a:r>
              <a:rPr lang="en-US" sz="2600" dirty="0"/>
              <a:t>Assume velocity is constant and real GDP is constant in the long run (equals potential output)</a:t>
            </a:r>
          </a:p>
          <a:p>
            <a:pPr eaLnBrk="1" hangingPunct="1"/>
            <a:r>
              <a:rPr lang="en-US" sz="2300" dirty="0"/>
              <a:t>The quantity equation becomes</a:t>
            </a:r>
          </a:p>
          <a:p>
            <a:pPr eaLnBrk="1" hangingPunct="1"/>
            <a:r>
              <a:rPr lang="en-US" sz="2600" dirty="0"/>
              <a:t>An increase in the money supply by a given percentage would increase the price level by the same percentage</a:t>
            </a:r>
          </a:p>
          <a:p>
            <a:pPr eaLnBrk="1" hangingPunct="1"/>
            <a:r>
              <a:rPr lang="en-US" sz="2600" dirty="0"/>
              <a:t>In the short run increasing money supply may lead to both price level and output increases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329238" y="2921174"/>
            <a:ext cx="2528887" cy="461962"/>
            <a:chOff x="2988870" y="5172502"/>
            <a:chExt cx="2091634" cy="461368"/>
          </a:xfrm>
        </p:grpSpPr>
        <p:sp>
          <p:nvSpPr>
            <p:cNvPr id="47109" name="TextBox 17"/>
            <p:cNvSpPr txBox="1">
              <a:spLocks noChangeArrowheads="1"/>
            </p:cNvSpPr>
            <p:nvPr/>
          </p:nvSpPr>
          <p:spPr bwMode="auto">
            <a:xfrm>
              <a:off x="2988870" y="5172502"/>
              <a:ext cx="2091634" cy="461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 dirty="0"/>
                <a:t>M x V = P x Y</a:t>
              </a:r>
            </a:p>
          </p:txBody>
        </p:sp>
        <p:cxnSp>
          <p:nvCxnSpPr>
            <p:cNvPr id="47110" name="Straight Connector 18"/>
            <p:cNvCxnSpPr>
              <a:cxnSpLocks noChangeShapeType="1"/>
            </p:cNvCxnSpPr>
            <p:nvPr/>
          </p:nvCxnSpPr>
          <p:spPr bwMode="auto">
            <a:xfrm flipV="1">
              <a:off x="3473738" y="5202338"/>
              <a:ext cx="259191" cy="7697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1" name="Straight Connector 19"/>
            <p:cNvCxnSpPr>
              <a:cxnSpLocks noChangeShapeType="1"/>
            </p:cNvCxnSpPr>
            <p:nvPr/>
          </p:nvCxnSpPr>
          <p:spPr bwMode="auto">
            <a:xfrm>
              <a:off x="4345685" y="5215559"/>
              <a:ext cx="295435" cy="1587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Lecture 9. 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1876</TotalTime>
  <Words>4339</Words>
  <Application>Microsoft Office PowerPoint</Application>
  <PresentationFormat>On-screen Show (4:3)</PresentationFormat>
  <Paragraphs>648</Paragraphs>
  <Slides>66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Arial Black</vt:lpstr>
      <vt:lpstr>Symbol</vt:lpstr>
      <vt:lpstr>Times New Roman</vt:lpstr>
      <vt:lpstr>Default Design</vt:lpstr>
      <vt:lpstr>HE5091 Principles of Economics Lecture 9 Capital Formation, Financial Markets and Money Supply</vt:lpstr>
      <vt:lpstr>Topics</vt:lpstr>
      <vt:lpstr>Savings and Wealth</vt:lpstr>
      <vt:lpstr>Individual Balance Sheet, 1/1/14</vt:lpstr>
      <vt:lpstr>Flow Values and Stock Values</vt:lpstr>
      <vt:lpstr>Capital Gains and Losses</vt:lpstr>
      <vt:lpstr>National Savings</vt:lpstr>
      <vt:lpstr>Calculate National Savings</vt:lpstr>
      <vt:lpstr>National Savings, 1960 - 2011</vt:lpstr>
      <vt:lpstr>Private Saving</vt:lpstr>
      <vt:lpstr>Private Saving</vt:lpstr>
      <vt:lpstr>Public and National Savings</vt:lpstr>
      <vt:lpstr>The Government Budget</vt:lpstr>
      <vt:lpstr>Three Reasons for Household Saving</vt:lpstr>
      <vt:lpstr>Saving and Real Interest Rate</vt:lpstr>
      <vt:lpstr>Reasons of Low Savings</vt:lpstr>
      <vt:lpstr>Investment and Capital Formation</vt:lpstr>
      <vt:lpstr>Larry and the Lawn Mower</vt:lpstr>
      <vt:lpstr>Larry and the Lawn Mower</vt:lpstr>
      <vt:lpstr>The Investment Decision</vt:lpstr>
      <vt:lpstr>Saving, Investment, and Financial Markets</vt:lpstr>
      <vt:lpstr>Financial Market</vt:lpstr>
      <vt:lpstr>Technological Improvement </vt:lpstr>
      <vt:lpstr>Government Budget Deficit Increases</vt:lpstr>
      <vt:lpstr>Increase National Saving</vt:lpstr>
      <vt:lpstr>The Allocation of Saving</vt:lpstr>
      <vt:lpstr>Banking System</vt:lpstr>
      <vt:lpstr>Banking System</vt:lpstr>
      <vt:lpstr>Bonds </vt:lpstr>
      <vt:lpstr>Bonds</vt:lpstr>
      <vt:lpstr>Bond Market</vt:lpstr>
      <vt:lpstr>Selling a Bond</vt:lpstr>
      <vt:lpstr>Stocks</vt:lpstr>
      <vt:lpstr>FortuneCookie.com</vt:lpstr>
      <vt:lpstr>Risk Premium</vt:lpstr>
      <vt:lpstr>Bond Markets and Stock Markets</vt:lpstr>
      <vt:lpstr>Benefits of Diversification</vt:lpstr>
      <vt:lpstr>Money</vt:lpstr>
      <vt:lpstr>Measuring Money Supply</vt:lpstr>
      <vt:lpstr>Commercial Banks Create Money</vt:lpstr>
      <vt:lpstr>Consolidated Bank Balance Sheet – Part 1</vt:lpstr>
      <vt:lpstr>Bank Reserves</vt:lpstr>
      <vt:lpstr>Consolidated Bank Balance Sheet – Part 2</vt:lpstr>
      <vt:lpstr>Consolidated Bank Balance Sheet – Part 3</vt:lpstr>
      <vt:lpstr>Consolidated Bank Balance Sheet – Part 4</vt:lpstr>
      <vt:lpstr>Consolidated Bank Balance Sheet – The End</vt:lpstr>
      <vt:lpstr>Money Creation</vt:lpstr>
      <vt:lpstr>Money Supply with Currency and Deposits</vt:lpstr>
      <vt:lpstr>Money Supply at Christmas</vt:lpstr>
      <vt:lpstr>The Central Banking System</vt:lpstr>
      <vt:lpstr>The Real and Nominal Interest Rate</vt:lpstr>
      <vt:lpstr>Central Bank and Money Supply</vt:lpstr>
      <vt:lpstr>Open Market Operations</vt:lpstr>
      <vt:lpstr>Increasing the Money Supply</vt:lpstr>
      <vt:lpstr>The Central Bank (CB) Controls the Nominal Interest Rate</vt:lpstr>
      <vt:lpstr>Discount Window</vt:lpstr>
      <vt:lpstr>Reserve Deposit Ratio</vt:lpstr>
      <vt:lpstr>Demand for Money</vt:lpstr>
      <vt:lpstr>Demand for Money</vt:lpstr>
      <vt:lpstr>The Money Demand Curve</vt:lpstr>
      <vt:lpstr>The Money Demand Curve</vt:lpstr>
      <vt:lpstr>Supply of Money</vt:lpstr>
      <vt:lpstr>Effect of Money Supply Increases</vt:lpstr>
      <vt:lpstr>Money and Prices</vt:lpstr>
      <vt:lpstr>Money and Inflation in Long Run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165</cp:revision>
  <dcterms:created xsi:type="dcterms:W3CDTF">2010-08-19T13:36:39Z</dcterms:created>
  <dcterms:modified xsi:type="dcterms:W3CDTF">2025-10-14T03:50:09Z</dcterms:modified>
</cp:coreProperties>
</file>