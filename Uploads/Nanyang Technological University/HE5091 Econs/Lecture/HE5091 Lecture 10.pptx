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63"/>
  </p:notesMasterIdLst>
  <p:handoutMasterIdLst>
    <p:handoutMasterId r:id="rId64"/>
  </p:handoutMasterIdLst>
  <p:sldIdLst>
    <p:sldId id="384" r:id="rId2"/>
    <p:sldId id="385" r:id="rId3"/>
    <p:sldId id="436" r:id="rId4"/>
    <p:sldId id="437" r:id="rId5"/>
    <p:sldId id="512" r:id="rId6"/>
    <p:sldId id="441" r:id="rId7"/>
    <p:sldId id="445" r:id="rId8"/>
    <p:sldId id="446" r:id="rId9"/>
    <p:sldId id="447" r:id="rId10"/>
    <p:sldId id="451" r:id="rId11"/>
    <p:sldId id="455" r:id="rId12"/>
    <p:sldId id="456" r:id="rId13"/>
    <p:sldId id="457" r:id="rId14"/>
    <p:sldId id="469" r:id="rId15"/>
    <p:sldId id="470" r:id="rId16"/>
    <p:sldId id="472" r:id="rId17"/>
    <p:sldId id="473" r:id="rId18"/>
    <p:sldId id="474" r:id="rId19"/>
    <p:sldId id="477" r:id="rId20"/>
    <p:sldId id="478" r:id="rId21"/>
    <p:sldId id="481" r:id="rId22"/>
    <p:sldId id="482" r:id="rId23"/>
    <p:sldId id="513" r:id="rId24"/>
    <p:sldId id="483" r:id="rId25"/>
    <p:sldId id="484" r:id="rId26"/>
    <p:sldId id="485" r:id="rId27"/>
    <p:sldId id="486" r:id="rId28"/>
    <p:sldId id="487" r:id="rId29"/>
    <p:sldId id="488" r:id="rId30"/>
    <p:sldId id="489" r:id="rId31"/>
    <p:sldId id="490" r:id="rId32"/>
    <p:sldId id="491" r:id="rId33"/>
    <p:sldId id="492" r:id="rId34"/>
    <p:sldId id="493" r:id="rId35"/>
    <p:sldId id="498" r:id="rId36"/>
    <p:sldId id="499" r:id="rId37"/>
    <p:sldId id="500" r:id="rId38"/>
    <p:sldId id="501" r:id="rId39"/>
    <p:sldId id="503" r:id="rId40"/>
    <p:sldId id="504" r:id="rId41"/>
    <p:sldId id="507" r:id="rId42"/>
    <p:sldId id="508" r:id="rId43"/>
    <p:sldId id="509" r:id="rId44"/>
    <p:sldId id="510" r:id="rId45"/>
    <p:sldId id="390" r:id="rId46"/>
    <p:sldId id="396" r:id="rId47"/>
    <p:sldId id="511" r:id="rId48"/>
    <p:sldId id="397" r:id="rId49"/>
    <p:sldId id="400" r:id="rId50"/>
    <p:sldId id="401" r:id="rId51"/>
    <p:sldId id="402" r:id="rId52"/>
    <p:sldId id="403" r:id="rId53"/>
    <p:sldId id="404" r:id="rId54"/>
    <p:sldId id="405" r:id="rId55"/>
    <p:sldId id="406" r:id="rId56"/>
    <p:sldId id="409" r:id="rId57"/>
    <p:sldId id="410" r:id="rId58"/>
    <p:sldId id="411" r:id="rId59"/>
    <p:sldId id="413" r:id="rId60"/>
    <p:sldId id="415" r:id="rId61"/>
    <p:sldId id="460" r:id="rId62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1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5726">
          <p15:clr>
            <a:srgbClr val="A4A3A4"/>
          </p15:clr>
        </p15:guide>
        <p15:guide id="2" pos="43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6A5218"/>
    <a:srgbClr val="FFFFCC"/>
    <a:srgbClr val="5CBE02"/>
    <a:srgbClr val="C5E3E5"/>
    <a:srgbClr val="CBE2C8"/>
    <a:srgbClr val="AFD3FB"/>
    <a:srgbClr val="F7FFF4"/>
    <a:srgbClr val="F1FFFF"/>
    <a:srgbClr val="F6F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8" autoAdjust="0"/>
    <p:restoredTop sz="86509" autoAdjust="0"/>
  </p:normalViewPr>
  <p:slideViewPr>
    <p:cSldViewPr snapToGrid="0">
      <p:cViewPr varScale="1">
        <p:scale>
          <a:sx n="58" d="100"/>
          <a:sy n="58" d="100"/>
        </p:scale>
        <p:origin x="816" y="36"/>
      </p:cViewPr>
      <p:guideLst>
        <p:guide orient="horz" pos="4311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12500"/>
    </p:cViewPr>
  </p:sorterViewPr>
  <p:notesViewPr>
    <p:cSldViewPr snapToGrid="0">
      <p:cViewPr>
        <p:scale>
          <a:sx n="110" d="100"/>
          <a:sy n="110" d="100"/>
        </p:scale>
        <p:origin x="-2320" y="1456"/>
      </p:cViewPr>
      <p:guideLst>
        <p:guide orient="horz" pos="5726"/>
        <p:guide pos="431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301DA1-79A6-47A3-9764-AEC84BC7DC56}" type="doc">
      <dgm:prSet loTypeId="urn:microsoft.com/office/officeart/2005/8/layout/vProcess5" loCatId="process" qsTypeId="urn:microsoft.com/office/officeart/2005/8/quickstyle/3d2#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FFE4DB5-D737-44C9-A58A-0B9A2677F695}">
      <dgm:prSet phldrT="[Text]" custT="1"/>
      <dgm:spPr/>
      <dgm:t>
        <a:bodyPr/>
        <a:lstStyle/>
        <a:p>
          <a:r>
            <a:rPr lang="en-US" sz="2400" dirty="0"/>
            <a:t>Eliminate output gaps by changing the money supply</a:t>
          </a:r>
        </a:p>
      </dgm:t>
    </dgm:pt>
    <dgm:pt modelId="{5B110FCE-5887-4C84-9DF7-BB92A440B11E}" type="parTrans" cxnId="{7D0F3C7A-292F-4E86-8883-5E55917E5012}">
      <dgm:prSet/>
      <dgm:spPr/>
      <dgm:t>
        <a:bodyPr/>
        <a:lstStyle/>
        <a:p>
          <a:endParaRPr lang="en-US" sz="2400"/>
        </a:p>
      </dgm:t>
    </dgm:pt>
    <dgm:pt modelId="{9A8A413A-28BD-4CBE-8BB6-F26643CB7386}" type="sibTrans" cxnId="{7D0F3C7A-292F-4E86-8883-5E55917E5012}">
      <dgm:prSet custT="1"/>
      <dgm:spPr/>
      <dgm:t>
        <a:bodyPr/>
        <a:lstStyle/>
        <a:p>
          <a:endParaRPr lang="en-US" sz="2400"/>
        </a:p>
      </dgm:t>
    </dgm:pt>
    <dgm:pt modelId="{9B0DA730-6F8C-43B0-A678-9D4A0CD6D603}">
      <dgm:prSet phldrT="[Text]" custT="1"/>
      <dgm:spPr/>
      <dgm:t>
        <a:bodyPr/>
        <a:lstStyle/>
        <a:p>
          <a:r>
            <a:rPr lang="en-US" sz="2400" dirty="0"/>
            <a:t>Changes in money supply cause changes in nominal interest rate</a:t>
          </a:r>
        </a:p>
      </dgm:t>
    </dgm:pt>
    <dgm:pt modelId="{ECB0F6B5-ECA0-4CEE-BA38-3CF9ABB079F1}" type="parTrans" cxnId="{6C474DEE-E9DC-4F8F-A98E-B8408749566A}">
      <dgm:prSet/>
      <dgm:spPr/>
      <dgm:t>
        <a:bodyPr/>
        <a:lstStyle/>
        <a:p>
          <a:endParaRPr lang="en-US" sz="2400"/>
        </a:p>
      </dgm:t>
    </dgm:pt>
    <dgm:pt modelId="{2616F05D-86F4-437F-B745-4D4CCCE4B049}" type="sibTrans" cxnId="{6C474DEE-E9DC-4F8F-A98E-B8408749566A}">
      <dgm:prSet custT="1"/>
      <dgm:spPr/>
      <dgm:t>
        <a:bodyPr/>
        <a:lstStyle/>
        <a:p>
          <a:endParaRPr lang="en-US" sz="2400"/>
        </a:p>
      </dgm:t>
    </dgm:pt>
    <dgm:pt modelId="{3D397CEB-AC23-4C30-9737-583DDF1E976A}">
      <dgm:prSet phldrT="[Text]" custT="1"/>
      <dgm:spPr/>
      <dgm:t>
        <a:bodyPr/>
        <a:lstStyle/>
        <a:p>
          <a:r>
            <a:rPr lang="en-US" sz="2400" dirty="0"/>
            <a:t>Interest rates affect planned aggregate expenditure, PAE</a:t>
          </a:r>
        </a:p>
      </dgm:t>
    </dgm:pt>
    <dgm:pt modelId="{13BDEFD3-66E3-4CB0-8A7E-EA167305BCD9}" type="parTrans" cxnId="{D5020CEF-1A83-4269-9442-AA8BB2E3A51A}">
      <dgm:prSet/>
      <dgm:spPr/>
      <dgm:t>
        <a:bodyPr/>
        <a:lstStyle/>
        <a:p>
          <a:endParaRPr lang="en-US" sz="2400"/>
        </a:p>
      </dgm:t>
    </dgm:pt>
    <dgm:pt modelId="{515172AD-596A-454D-B81F-E3589A5717E5}" type="sibTrans" cxnId="{D5020CEF-1A83-4269-9442-AA8BB2E3A51A}">
      <dgm:prSet/>
      <dgm:spPr/>
      <dgm:t>
        <a:bodyPr/>
        <a:lstStyle/>
        <a:p>
          <a:endParaRPr lang="en-US" sz="2400"/>
        </a:p>
      </dgm:t>
    </dgm:pt>
    <dgm:pt modelId="{54142873-540D-481B-883A-098D4CF37316}" type="pres">
      <dgm:prSet presAssocID="{AC301DA1-79A6-47A3-9764-AEC84BC7DC56}" presName="outerComposite" presStyleCnt="0">
        <dgm:presLayoutVars>
          <dgm:chMax val="5"/>
          <dgm:dir/>
          <dgm:resizeHandles val="exact"/>
        </dgm:presLayoutVars>
      </dgm:prSet>
      <dgm:spPr/>
    </dgm:pt>
    <dgm:pt modelId="{21D9D005-7FB4-47BC-98FB-1C682C82FABF}" type="pres">
      <dgm:prSet presAssocID="{AC301DA1-79A6-47A3-9764-AEC84BC7DC56}" presName="dummyMaxCanvas" presStyleCnt="0">
        <dgm:presLayoutVars/>
      </dgm:prSet>
      <dgm:spPr/>
    </dgm:pt>
    <dgm:pt modelId="{F250DBA1-418B-4B8C-AAF1-DCB40B6B98D7}" type="pres">
      <dgm:prSet presAssocID="{AC301DA1-79A6-47A3-9764-AEC84BC7DC56}" presName="ThreeNodes_1" presStyleLbl="node1" presStyleIdx="0" presStyleCnt="3">
        <dgm:presLayoutVars>
          <dgm:bulletEnabled val="1"/>
        </dgm:presLayoutVars>
      </dgm:prSet>
      <dgm:spPr/>
    </dgm:pt>
    <dgm:pt modelId="{FB4F9E1F-802A-42F3-9AAE-0840646F5BA5}" type="pres">
      <dgm:prSet presAssocID="{AC301DA1-79A6-47A3-9764-AEC84BC7DC56}" presName="ThreeNodes_2" presStyleLbl="node1" presStyleIdx="1" presStyleCnt="3">
        <dgm:presLayoutVars>
          <dgm:bulletEnabled val="1"/>
        </dgm:presLayoutVars>
      </dgm:prSet>
      <dgm:spPr/>
    </dgm:pt>
    <dgm:pt modelId="{975CEDBA-64AF-4EC7-9253-64515CF49F1C}" type="pres">
      <dgm:prSet presAssocID="{AC301DA1-79A6-47A3-9764-AEC84BC7DC56}" presName="ThreeNodes_3" presStyleLbl="node1" presStyleIdx="2" presStyleCnt="3">
        <dgm:presLayoutVars>
          <dgm:bulletEnabled val="1"/>
        </dgm:presLayoutVars>
      </dgm:prSet>
      <dgm:spPr/>
    </dgm:pt>
    <dgm:pt modelId="{D2389CA9-7B4E-4C3A-894C-59AC425C8EF4}" type="pres">
      <dgm:prSet presAssocID="{AC301DA1-79A6-47A3-9764-AEC84BC7DC56}" presName="ThreeConn_1-2" presStyleLbl="fgAccFollowNode1" presStyleIdx="0" presStyleCnt="2">
        <dgm:presLayoutVars>
          <dgm:bulletEnabled val="1"/>
        </dgm:presLayoutVars>
      </dgm:prSet>
      <dgm:spPr/>
    </dgm:pt>
    <dgm:pt modelId="{8C3BB5F8-F184-45EA-A3BF-AEFE29C3337A}" type="pres">
      <dgm:prSet presAssocID="{AC301DA1-79A6-47A3-9764-AEC84BC7DC56}" presName="ThreeConn_2-3" presStyleLbl="fgAccFollowNode1" presStyleIdx="1" presStyleCnt="2">
        <dgm:presLayoutVars>
          <dgm:bulletEnabled val="1"/>
        </dgm:presLayoutVars>
      </dgm:prSet>
      <dgm:spPr/>
    </dgm:pt>
    <dgm:pt modelId="{9708738D-4861-4245-A987-7A0FDFBBD40C}" type="pres">
      <dgm:prSet presAssocID="{AC301DA1-79A6-47A3-9764-AEC84BC7DC56}" presName="ThreeNodes_1_text" presStyleLbl="node1" presStyleIdx="2" presStyleCnt="3">
        <dgm:presLayoutVars>
          <dgm:bulletEnabled val="1"/>
        </dgm:presLayoutVars>
      </dgm:prSet>
      <dgm:spPr/>
    </dgm:pt>
    <dgm:pt modelId="{C46AAEFF-733E-4EA2-8175-03BDFD259FDE}" type="pres">
      <dgm:prSet presAssocID="{AC301DA1-79A6-47A3-9764-AEC84BC7DC56}" presName="ThreeNodes_2_text" presStyleLbl="node1" presStyleIdx="2" presStyleCnt="3">
        <dgm:presLayoutVars>
          <dgm:bulletEnabled val="1"/>
        </dgm:presLayoutVars>
      </dgm:prSet>
      <dgm:spPr/>
    </dgm:pt>
    <dgm:pt modelId="{7ABE4272-9976-46A9-AB3A-0C46213FB74E}" type="pres">
      <dgm:prSet presAssocID="{AC301DA1-79A6-47A3-9764-AEC84BC7DC5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E971A0D-7FF9-4987-9860-2F661B321B91}" type="presOf" srcId="{AC301DA1-79A6-47A3-9764-AEC84BC7DC56}" destId="{54142873-540D-481B-883A-098D4CF37316}" srcOrd="0" destOrd="0" presId="urn:microsoft.com/office/officeart/2005/8/layout/vProcess5"/>
    <dgm:cxn modelId="{1E44DE13-4493-4AED-ADF0-2296BEA583DE}" type="presOf" srcId="{2616F05D-86F4-437F-B745-4D4CCCE4B049}" destId="{8C3BB5F8-F184-45EA-A3BF-AEFE29C3337A}" srcOrd="0" destOrd="0" presId="urn:microsoft.com/office/officeart/2005/8/layout/vProcess5"/>
    <dgm:cxn modelId="{3BF3161F-6B98-4977-8C7E-11B20B414A78}" type="presOf" srcId="{9B0DA730-6F8C-43B0-A678-9D4A0CD6D603}" destId="{C46AAEFF-733E-4EA2-8175-03BDFD259FDE}" srcOrd="1" destOrd="0" presId="urn:microsoft.com/office/officeart/2005/8/layout/vProcess5"/>
    <dgm:cxn modelId="{37EECD37-1739-4ED2-9D3E-2B3E1F4B902A}" type="presOf" srcId="{6FFE4DB5-D737-44C9-A58A-0B9A2677F695}" destId="{F250DBA1-418B-4B8C-AAF1-DCB40B6B98D7}" srcOrd="0" destOrd="0" presId="urn:microsoft.com/office/officeart/2005/8/layout/vProcess5"/>
    <dgm:cxn modelId="{B41EA85B-9C56-4C46-B4B9-29FA2AC565AA}" type="presOf" srcId="{3D397CEB-AC23-4C30-9737-583DDF1E976A}" destId="{975CEDBA-64AF-4EC7-9253-64515CF49F1C}" srcOrd="0" destOrd="0" presId="urn:microsoft.com/office/officeart/2005/8/layout/vProcess5"/>
    <dgm:cxn modelId="{FEB43A41-6DE4-4C76-9DD0-CC0738A41723}" type="presOf" srcId="{6FFE4DB5-D737-44C9-A58A-0B9A2677F695}" destId="{9708738D-4861-4245-A987-7A0FDFBBD40C}" srcOrd="1" destOrd="0" presId="urn:microsoft.com/office/officeart/2005/8/layout/vProcess5"/>
    <dgm:cxn modelId="{DE1C6147-94D1-4413-9EC4-82B4D9D34A48}" type="presOf" srcId="{3D397CEB-AC23-4C30-9737-583DDF1E976A}" destId="{7ABE4272-9976-46A9-AB3A-0C46213FB74E}" srcOrd="1" destOrd="0" presId="urn:microsoft.com/office/officeart/2005/8/layout/vProcess5"/>
    <dgm:cxn modelId="{D4CAF879-1D2B-4683-A89B-43B2D89566A2}" type="presOf" srcId="{9B0DA730-6F8C-43B0-A678-9D4A0CD6D603}" destId="{FB4F9E1F-802A-42F3-9AAE-0840646F5BA5}" srcOrd="0" destOrd="0" presId="urn:microsoft.com/office/officeart/2005/8/layout/vProcess5"/>
    <dgm:cxn modelId="{7D0F3C7A-292F-4E86-8883-5E55917E5012}" srcId="{AC301DA1-79A6-47A3-9764-AEC84BC7DC56}" destId="{6FFE4DB5-D737-44C9-A58A-0B9A2677F695}" srcOrd="0" destOrd="0" parTransId="{5B110FCE-5887-4C84-9DF7-BB92A440B11E}" sibTransId="{9A8A413A-28BD-4CBE-8BB6-F26643CB7386}"/>
    <dgm:cxn modelId="{6196A3D9-1A10-4D88-AFB8-70681F40D106}" type="presOf" srcId="{9A8A413A-28BD-4CBE-8BB6-F26643CB7386}" destId="{D2389CA9-7B4E-4C3A-894C-59AC425C8EF4}" srcOrd="0" destOrd="0" presId="urn:microsoft.com/office/officeart/2005/8/layout/vProcess5"/>
    <dgm:cxn modelId="{6C474DEE-E9DC-4F8F-A98E-B8408749566A}" srcId="{AC301DA1-79A6-47A3-9764-AEC84BC7DC56}" destId="{9B0DA730-6F8C-43B0-A678-9D4A0CD6D603}" srcOrd="1" destOrd="0" parTransId="{ECB0F6B5-ECA0-4CEE-BA38-3CF9ABB079F1}" sibTransId="{2616F05D-86F4-437F-B745-4D4CCCE4B049}"/>
    <dgm:cxn modelId="{D5020CEF-1A83-4269-9442-AA8BB2E3A51A}" srcId="{AC301DA1-79A6-47A3-9764-AEC84BC7DC56}" destId="{3D397CEB-AC23-4C30-9737-583DDF1E976A}" srcOrd="2" destOrd="0" parTransId="{13BDEFD3-66E3-4CB0-8A7E-EA167305BCD9}" sibTransId="{515172AD-596A-454D-B81F-E3589A5717E5}"/>
    <dgm:cxn modelId="{27F78E45-57F2-4C61-A7E7-517E8CD55D3A}" type="presParOf" srcId="{54142873-540D-481B-883A-098D4CF37316}" destId="{21D9D005-7FB4-47BC-98FB-1C682C82FABF}" srcOrd="0" destOrd="0" presId="urn:microsoft.com/office/officeart/2005/8/layout/vProcess5"/>
    <dgm:cxn modelId="{BBE87866-BC11-4B2F-A0C6-4F1B4446748C}" type="presParOf" srcId="{54142873-540D-481B-883A-098D4CF37316}" destId="{F250DBA1-418B-4B8C-AAF1-DCB40B6B98D7}" srcOrd="1" destOrd="0" presId="urn:microsoft.com/office/officeart/2005/8/layout/vProcess5"/>
    <dgm:cxn modelId="{6D407484-5041-4ED7-8422-BAFF74E2D686}" type="presParOf" srcId="{54142873-540D-481B-883A-098D4CF37316}" destId="{FB4F9E1F-802A-42F3-9AAE-0840646F5BA5}" srcOrd="2" destOrd="0" presId="urn:microsoft.com/office/officeart/2005/8/layout/vProcess5"/>
    <dgm:cxn modelId="{A7498530-8A8C-4367-981F-B1364DD33541}" type="presParOf" srcId="{54142873-540D-481B-883A-098D4CF37316}" destId="{975CEDBA-64AF-4EC7-9253-64515CF49F1C}" srcOrd="3" destOrd="0" presId="urn:microsoft.com/office/officeart/2005/8/layout/vProcess5"/>
    <dgm:cxn modelId="{7B6C5F15-A2F0-41DE-9121-9543BFEF2672}" type="presParOf" srcId="{54142873-540D-481B-883A-098D4CF37316}" destId="{D2389CA9-7B4E-4C3A-894C-59AC425C8EF4}" srcOrd="4" destOrd="0" presId="urn:microsoft.com/office/officeart/2005/8/layout/vProcess5"/>
    <dgm:cxn modelId="{C25C0AB7-9B36-4B01-B28B-EBEE5DD44038}" type="presParOf" srcId="{54142873-540D-481B-883A-098D4CF37316}" destId="{8C3BB5F8-F184-45EA-A3BF-AEFE29C3337A}" srcOrd="5" destOrd="0" presId="urn:microsoft.com/office/officeart/2005/8/layout/vProcess5"/>
    <dgm:cxn modelId="{0A52DF30-E4EC-4B17-8A7F-FE5E95BD5D80}" type="presParOf" srcId="{54142873-540D-481B-883A-098D4CF37316}" destId="{9708738D-4861-4245-A987-7A0FDFBBD40C}" srcOrd="6" destOrd="0" presId="urn:microsoft.com/office/officeart/2005/8/layout/vProcess5"/>
    <dgm:cxn modelId="{EC92B5A2-1058-4697-8CA9-FE35AEBFA1A4}" type="presParOf" srcId="{54142873-540D-481B-883A-098D4CF37316}" destId="{C46AAEFF-733E-4EA2-8175-03BDFD259FDE}" srcOrd="7" destOrd="0" presId="urn:microsoft.com/office/officeart/2005/8/layout/vProcess5"/>
    <dgm:cxn modelId="{6C00696F-DC0C-44A7-86CF-719CE0AE4AF3}" type="presParOf" srcId="{54142873-540D-481B-883A-098D4CF37316}" destId="{7ABE4272-9976-46A9-AB3A-0C46213FB74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204D28-AD25-480A-AC23-D1BCEAA59BB0}" type="doc">
      <dgm:prSet loTypeId="urn:microsoft.com/office/officeart/2005/8/layout/process1" loCatId="process" qsTypeId="urn:microsoft.com/office/officeart/2005/8/quickstyle/3d2#2" qsCatId="3D" csTypeId="urn:microsoft.com/office/officeart/2005/8/colors/accent2_2" csCatId="accent2" phldr="1"/>
      <dgm:spPr/>
    </dgm:pt>
    <dgm:pt modelId="{033B0FD5-C523-48CC-AB8B-5A378CDB2051}">
      <dgm:prSet phldrT="[Text]" custT="1"/>
      <dgm:spPr/>
      <dgm:t>
        <a:bodyPr/>
        <a:lstStyle/>
        <a:p>
          <a:r>
            <a:rPr lang="en-US" sz="2400" b="1" dirty="0"/>
            <a:t> r </a:t>
          </a:r>
          <a:r>
            <a:rPr lang="en-US" sz="2800" b="1" dirty="0">
              <a:sym typeface="Symbol"/>
            </a:rPr>
            <a:t></a:t>
          </a:r>
          <a:r>
            <a:rPr lang="en-US" sz="2400" b="1" dirty="0"/>
            <a:t>  </a:t>
          </a:r>
        </a:p>
      </dgm:t>
    </dgm:pt>
    <dgm:pt modelId="{B84B50C3-9FD2-4566-90B0-39A73B4F32CA}" type="parTrans" cxnId="{4A169DB5-6625-4057-81DC-7A7A9E644FB3}">
      <dgm:prSet/>
      <dgm:spPr/>
      <dgm:t>
        <a:bodyPr/>
        <a:lstStyle/>
        <a:p>
          <a:endParaRPr lang="en-US" sz="2400" b="1"/>
        </a:p>
      </dgm:t>
    </dgm:pt>
    <dgm:pt modelId="{5F2865CE-A9EF-445C-9537-5E52E0A3F5AD}" type="sibTrans" cxnId="{4A169DB5-6625-4057-81DC-7A7A9E644FB3}">
      <dgm:prSet custT="1"/>
      <dgm:spPr/>
      <dgm:t>
        <a:bodyPr/>
        <a:lstStyle/>
        <a:p>
          <a:endParaRPr lang="en-US" sz="2400" b="1"/>
        </a:p>
      </dgm:t>
    </dgm:pt>
    <dgm:pt modelId="{02E55053-5427-4976-9F0C-E149ABCB84FD}">
      <dgm:prSet phldrT="[Text]" custT="1"/>
      <dgm:spPr/>
      <dgm:t>
        <a:bodyPr/>
        <a:lstStyle/>
        <a:p>
          <a:r>
            <a:rPr lang="en-US" sz="2400" b="1" dirty="0"/>
            <a:t>C, I</a:t>
          </a:r>
          <a:r>
            <a:rPr lang="en-US" sz="2400" b="1" baseline="30000" dirty="0"/>
            <a:t>P</a:t>
          </a:r>
          <a:r>
            <a:rPr lang="en-US" sz="2800" b="1" baseline="30000" dirty="0"/>
            <a:t> </a:t>
          </a:r>
          <a:r>
            <a:rPr lang="en-US" sz="2800" b="1" baseline="0" dirty="0">
              <a:sym typeface="Symbol"/>
            </a:rPr>
            <a:t></a:t>
          </a:r>
          <a:r>
            <a:rPr lang="en-US" sz="2400" b="1" dirty="0"/>
            <a:t> </a:t>
          </a:r>
        </a:p>
      </dgm:t>
    </dgm:pt>
    <dgm:pt modelId="{5EF56916-5C16-438B-A90D-6524C65CD68F}" type="parTrans" cxnId="{53FB11BE-529E-4C2B-93D1-FCC1C61A5CC0}">
      <dgm:prSet/>
      <dgm:spPr/>
      <dgm:t>
        <a:bodyPr/>
        <a:lstStyle/>
        <a:p>
          <a:endParaRPr lang="en-US" sz="2400" b="1"/>
        </a:p>
      </dgm:t>
    </dgm:pt>
    <dgm:pt modelId="{DE7D1741-448B-464F-BF4E-52E249D0B2D8}" type="sibTrans" cxnId="{53FB11BE-529E-4C2B-93D1-FCC1C61A5CC0}">
      <dgm:prSet custT="1"/>
      <dgm:spPr/>
      <dgm:t>
        <a:bodyPr/>
        <a:lstStyle/>
        <a:p>
          <a:endParaRPr lang="en-US" sz="2400" b="1"/>
        </a:p>
      </dgm:t>
    </dgm:pt>
    <dgm:pt modelId="{89D0B6BD-FED6-42C2-8AFB-CD9F4B942B39}">
      <dgm:prSet phldrT="[Text]" custT="1"/>
      <dgm:spPr/>
      <dgm:t>
        <a:bodyPr/>
        <a:lstStyle/>
        <a:p>
          <a:r>
            <a:rPr lang="en-US" sz="2400" b="1" dirty="0"/>
            <a:t>Y </a:t>
          </a:r>
          <a:r>
            <a:rPr lang="en-US" sz="2800" b="1" baseline="0" dirty="0">
              <a:sym typeface="Symbol"/>
            </a:rPr>
            <a:t> </a:t>
          </a:r>
          <a:r>
            <a:rPr lang="en-US" sz="2400" b="1" dirty="0"/>
            <a:t>via the multiplier</a:t>
          </a:r>
        </a:p>
      </dgm:t>
    </dgm:pt>
    <dgm:pt modelId="{A569310D-B050-4601-8633-61AF01D905CF}" type="par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65E1D993-DD27-4549-A8B3-6704B4CAB46D}" type="sib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EBFAAC2A-5F82-4D89-A3BD-BBD231FF6DC5}">
      <dgm:prSet phldrT="[Text]" custT="1"/>
      <dgm:spPr/>
      <dgm:t>
        <a:bodyPr/>
        <a:lstStyle/>
        <a:p>
          <a:r>
            <a:rPr lang="en-US" sz="2400" b="1" dirty="0"/>
            <a:t>PAE </a:t>
          </a:r>
          <a:r>
            <a:rPr lang="en-US" sz="2800" b="1" baseline="0" dirty="0">
              <a:sym typeface="Symbol"/>
            </a:rPr>
            <a:t></a:t>
          </a:r>
          <a:r>
            <a:rPr lang="en-US" sz="2400" b="1" dirty="0"/>
            <a:t> </a:t>
          </a:r>
        </a:p>
      </dgm:t>
    </dgm:pt>
    <dgm:pt modelId="{E5A07815-27A5-4359-B2ED-39207CF89851}" type="parTrans" cxnId="{77D7D000-BC07-447F-A0AB-97DDDC569334}">
      <dgm:prSet/>
      <dgm:spPr/>
      <dgm:t>
        <a:bodyPr/>
        <a:lstStyle/>
        <a:p>
          <a:endParaRPr lang="en-US" sz="2400" b="1"/>
        </a:p>
      </dgm:t>
    </dgm:pt>
    <dgm:pt modelId="{E4B13E03-109F-43C4-8582-DED5EEB9A17D}" type="sibTrans" cxnId="{77D7D000-BC07-447F-A0AB-97DDDC569334}">
      <dgm:prSet custT="1"/>
      <dgm:spPr/>
      <dgm:t>
        <a:bodyPr/>
        <a:lstStyle/>
        <a:p>
          <a:endParaRPr lang="en-US" sz="2400" b="1"/>
        </a:p>
      </dgm:t>
    </dgm:pt>
    <dgm:pt modelId="{BF315171-E209-441A-BDD6-1CA63D1A6242}" type="pres">
      <dgm:prSet presAssocID="{E9204D28-AD25-480A-AC23-D1BCEAA59BB0}" presName="Name0" presStyleCnt="0">
        <dgm:presLayoutVars>
          <dgm:dir/>
          <dgm:resizeHandles val="exact"/>
        </dgm:presLayoutVars>
      </dgm:prSet>
      <dgm:spPr/>
    </dgm:pt>
    <dgm:pt modelId="{92C02F95-1AD7-4244-AF62-045404F02640}" type="pres">
      <dgm:prSet presAssocID="{033B0FD5-C523-48CC-AB8B-5A378CDB2051}" presName="node" presStyleLbl="node1" presStyleIdx="0" presStyleCnt="4" custScaleX="59466">
        <dgm:presLayoutVars>
          <dgm:bulletEnabled val="1"/>
        </dgm:presLayoutVars>
      </dgm:prSet>
      <dgm:spPr/>
    </dgm:pt>
    <dgm:pt modelId="{EFB2F4FE-1724-43E4-8B56-8DFFEAF8C234}" type="pres">
      <dgm:prSet presAssocID="{5F2865CE-A9EF-445C-9537-5E52E0A3F5AD}" presName="sibTrans" presStyleLbl="sibTrans2D1" presStyleIdx="0" presStyleCnt="3"/>
      <dgm:spPr/>
    </dgm:pt>
    <dgm:pt modelId="{A8FEE831-DCA2-4C58-9027-7582CDE1A79F}" type="pres">
      <dgm:prSet presAssocID="{5F2865CE-A9EF-445C-9537-5E52E0A3F5AD}" presName="connectorText" presStyleLbl="sibTrans2D1" presStyleIdx="0" presStyleCnt="3"/>
      <dgm:spPr/>
    </dgm:pt>
    <dgm:pt modelId="{563EE3C3-B019-40A1-A39F-B7597F845D8E}" type="pres">
      <dgm:prSet presAssocID="{02E55053-5427-4976-9F0C-E149ABCB84FD}" presName="node" presStyleLbl="node1" presStyleIdx="1" presStyleCnt="4" custScaleX="60093">
        <dgm:presLayoutVars>
          <dgm:bulletEnabled val="1"/>
        </dgm:presLayoutVars>
      </dgm:prSet>
      <dgm:spPr/>
    </dgm:pt>
    <dgm:pt modelId="{B39EA355-8EFD-4E1E-8131-36C83F564235}" type="pres">
      <dgm:prSet presAssocID="{DE7D1741-448B-464F-BF4E-52E249D0B2D8}" presName="sibTrans" presStyleLbl="sibTrans2D1" presStyleIdx="1" presStyleCnt="3"/>
      <dgm:spPr/>
    </dgm:pt>
    <dgm:pt modelId="{3AE0B0B0-E8A7-4ED4-8540-F38008C607CC}" type="pres">
      <dgm:prSet presAssocID="{DE7D1741-448B-464F-BF4E-52E249D0B2D8}" presName="connectorText" presStyleLbl="sibTrans2D1" presStyleIdx="1" presStyleCnt="3"/>
      <dgm:spPr/>
    </dgm:pt>
    <dgm:pt modelId="{D140FCDC-36ED-4651-B954-8DC899549259}" type="pres">
      <dgm:prSet presAssocID="{EBFAAC2A-5F82-4D89-A3BD-BBD231FF6DC5}" presName="node" presStyleLbl="node1" presStyleIdx="2" presStyleCnt="4" custScaleX="70173">
        <dgm:presLayoutVars>
          <dgm:bulletEnabled val="1"/>
        </dgm:presLayoutVars>
      </dgm:prSet>
      <dgm:spPr/>
    </dgm:pt>
    <dgm:pt modelId="{30CAA2C4-A72C-4392-8A55-4D9AA281059C}" type="pres">
      <dgm:prSet presAssocID="{E4B13E03-109F-43C4-8582-DED5EEB9A17D}" presName="sibTrans" presStyleLbl="sibTrans2D1" presStyleIdx="2" presStyleCnt="3"/>
      <dgm:spPr/>
    </dgm:pt>
    <dgm:pt modelId="{4C8AE31E-EEB8-4CAA-AC58-2945233A1A71}" type="pres">
      <dgm:prSet presAssocID="{E4B13E03-109F-43C4-8582-DED5EEB9A17D}" presName="connectorText" presStyleLbl="sibTrans2D1" presStyleIdx="2" presStyleCnt="3"/>
      <dgm:spPr/>
    </dgm:pt>
    <dgm:pt modelId="{22835E65-87F6-46D5-AA3A-27DD8F132ABA}" type="pres">
      <dgm:prSet presAssocID="{89D0B6BD-FED6-42C2-8AFB-CD9F4B942B39}" presName="node" presStyleLbl="node1" presStyleIdx="3" presStyleCnt="4">
        <dgm:presLayoutVars>
          <dgm:bulletEnabled val="1"/>
        </dgm:presLayoutVars>
      </dgm:prSet>
      <dgm:spPr/>
    </dgm:pt>
  </dgm:ptLst>
  <dgm:cxnLst>
    <dgm:cxn modelId="{77D7D000-BC07-447F-A0AB-97DDDC569334}" srcId="{E9204D28-AD25-480A-AC23-D1BCEAA59BB0}" destId="{EBFAAC2A-5F82-4D89-A3BD-BBD231FF6DC5}" srcOrd="2" destOrd="0" parTransId="{E5A07815-27A5-4359-B2ED-39207CF89851}" sibTransId="{E4B13E03-109F-43C4-8582-DED5EEB9A17D}"/>
    <dgm:cxn modelId="{FFD98D04-E11B-4349-99E3-6F5DF3DE1E2E}" type="presOf" srcId="{5F2865CE-A9EF-445C-9537-5E52E0A3F5AD}" destId="{A8FEE831-DCA2-4C58-9027-7582CDE1A79F}" srcOrd="1" destOrd="0" presId="urn:microsoft.com/office/officeart/2005/8/layout/process1"/>
    <dgm:cxn modelId="{A3722019-3EF9-4F21-B33F-5D5EB3A3B96C}" type="presOf" srcId="{E9204D28-AD25-480A-AC23-D1BCEAA59BB0}" destId="{BF315171-E209-441A-BDD6-1CA63D1A6242}" srcOrd="0" destOrd="0" presId="urn:microsoft.com/office/officeart/2005/8/layout/process1"/>
    <dgm:cxn modelId="{0998C940-27BF-455A-B38B-F57EDEE27CF1}" type="presOf" srcId="{033B0FD5-C523-48CC-AB8B-5A378CDB2051}" destId="{92C02F95-1AD7-4244-AF62-045404F02640}" srcOrd="0" destOrd="0" presId="urn:microsoft.com/office/officeart/2005/8/layout/process1"/>
    <dgm:cxn modelId="{4ACB2E4B-7638-4E93-AA4F-66E4953D4C3E}" type="presOf" srcId="{5F2865CE-A9EF-445C-9537-5E52E0A3F5AD}" destId="{EFB2F4FE-1724-43E4-8B56-8DFFEAF8C234}" srcOrd="0" destOrd="0" presId="urn:microsoft.com/office/officeart/2005/8/layout/process1"/>
    <dgm:cxn modelId="{252AE24D-DC58-4BF4-8B69-2FFBBACE01CC}" type="presOf" srcId="{E4B13E03-109F-43C4-8582-DED5EEB9A17D}" destId="{30CAA2C4-A72C-4392-8A55-4D9AA281059C}" srcOrd="0" destOrd="0" presId="urn:microsoft.com/office/officeart/2005/8/layout/process1"/>
    <dgm:cxn modelId="{25029782-8E1C-4136-BD44-9CC66E5E9971}" type="presOf" srcId="{DE7D1741-448B-464F-BF4E-52E249D0B2D8}" destId="{B39EA355-8EFD-4E1E-8131-36C83F564235}" srcOrd="0" destOrd="0" presId="urn:microsoft.com/office/officeart/2005/8/layout/process1"/>
    <dgm:cxn modelId="{9E0AF18E-ACCF-4458-9D08-D27DC9758DD8}" type="presOf" srcId="{DE7D1741-448B-464F-BF4E-52E249D0B2D8}" destId="{3AE0B0B0-E8A7-4ED4-8540-F38008C607CC}" srcOrd="1" destOrd="0" presId="urn:microsoft.com/office/officeart/2005/8/layout/process1"/>
    <dgm:cxn modelId="{BA8A58AD-BBD7-43A5-A200-4334777DDE90}" srcId="{E9204D28-AD25-480A-AC23-D1BCEAA59BB0}" destId="{89D0B6BD-FED6-42C2-8AFB-CD9F4B942B39}" srcOrd="3" destOrd="0" parTransId="{A569310D-B050-4601-8633-61AF01D905CF}" sibTransId="{65E1D993-DD27-4549-A8B3-6704B4CAB46D}"/>
    <dgm:cxn modelId="{4A169DB5-6625-4057-81DC-7A7A9E644FB3}" srcId="{E9204D28-AD25-480A-AC23-D1BCEAA59BB0}" destId="{033B0FD5-C523-48CC-AB8B-5A378CDB2051}" srcOrd="0" destOrd="0" parTransId="{B84B50C3-9FD2-4566-90B0-39A73B4F32CA}" sibTransId="{5F2865CE-A9EF-445C-9537-5E52E0A3F5AD}"/>
    <dgm:cxn modelId="{ADB745B6-CD1B-4963-9F09-FA64996DC59C}" type="presOf" srcId="{EBFAAC2A-5F82-4D89-A3BD-BBD231FF6DC5}" destId="{D140FCDC-36ED-4651-B954-8DC899549259}" srcOrd="0" destOrd="0" presId="urn:microsoft.com/office/officeart/2005/8/layout/process1"/>
    <dgm:cxn modelId="{39AE32B7-74D5-4781-BB08-C6D767300500}" type="presOf" srcId="{02E55053-5427-4976-9F0C-E149ABCB84FD}" destId="{563EE3C3-B019-40A1-A39F-B7597F845D8E}" srcOrd="0" destOrd="0" presId="urn:microsoft.com/office/officeart/2005/8/layout/process1"/>
    <dgm:cxn modelId="{53FB11BE-529E-4C2B-93D1-FCC1C61A5CC0}" srcId="{E9204D28-AD25-480A-AC23-D1BCEAA59BB0}" destId="{02E55053-5427-4976-9F0C-E149ABCB84FD}" srcOrd="1" destOrd="0" parTransId="{5EF56916-5C16-438B-A90D-6524C65CD68F}" sibTransId="{DE7D1741-448B-464F-BF4E-52E249D0B2D8}"/>
    <dgm:cxn modelId="{EFB57AC5-9299-4481-A79F-91A3A8BCADC5}" type="presOf" srcId="{E4B13E03-109F-43C4-8582-DED5EEB9A17D}" destId="{4C8AE31E-EEB8-4CAA-AC58-2945233A1A71}" srcOrd="1" destOrd="0" presId="urn:microsoft.com/office/officeart/2005/8/layout/process1"/>
    <dgm:cxn modelId="{5036D7F9-E17A-4CF4-84BF-54D036D68E1E}" type="presOf" srcId="{89D0B6BD-FED6-42C2-8AFB-CD9F4B942B39}" destId="{22835E65-87F6-46D5-AA3A-27DD8F132ABA}" srcOrd="0" destOrd="0" presId="urn:microsoft.com/office/officeart/2005/8/layout/process1"/>
    <dgm:cxn modelId="{66A11797-B74C-4868-AAEA-63AD7F63145B}" type="presParOf" srcId="{BF315171-E209-441A-BDD6-1CA63D1A6242}" destId="{92C02F95-1AD7-4244-AF62-045404F02640}" srcOrd="0" destOrd="0" presId="urn:microsoft.com/office/officeart/2005/8/layout/process1"/>
    <dgm:cxn modelId="{41F63572-C057-42CF-AC3B-14FA307A2662}" type="presParOf" srcId="{BF315171-E209-441A-BDD6-1CA63D1A6242}" destId="{EFB2F4FE-1724-43E4-8B56-8DFFEAF8C234}" srcOrd="1" destOrd="0" presId="urn:microsoft.com/office/officeart/2005/8/layout/process1"/>
    <dgm:cxn modelId="{9B76C8D4-0801-4405-B750-760358AF0C97}" type="presParOf" srcId="{EFB2F4FE-1724-43E4-8B56-8DFFEAF8C234}" destId="{A8FEE831-DCA2-4C58-9027-7582CDE1A79F}" srcOrd="0" destOrd="0" presId="urn:microsoft.com/office/officeart/2005/8/layout/process1"/>
    <dgm:cxn modelId="{C33DC595-362C-49F5-B149-3212CEB5B777}" type="presParOf" srcId="{BF315171-E209-441A-BDD6-1CA63D1A6242}" destId="{563EE3C3-B019-40A1-A39F-B7597F845D8E}" srcOrd="2" destOrd="0" presId="urn:microsoft.com/office/officeart/2005/8/layout/process1"/>
    <dgm:cxn modelId="{D787C4B7-85A2-43CB-9B61-9D00FEF5C671}" type="presParOf" srcId="{BF315171-E209-441A-BDD6-1CA63D1A6242}" destId="{B39EA355-8EFD-4E1E-8131-36C83F564235}" srcOrd="3" destOrd="0" presId="urn:microsoft.com/office/officeart/2005/8/layout/process1"/>
    <dgm:cxn modelId="{7D691E19-DA58-450E-8130-3D45D3D25563}" type="presParOf" srcId="{B39EA355-8EFD-4E1E-8131-36C83F564235}" destId="{3AE0B0B0-E8A7-4ED4-8540-F38008C607CC}" srcOrd="0" destOrd="0" presId="urn:microsoft.com/office/officeart/2005/8/layout/process1"/>
    <dgm:cxn modelId="{FC65B3E9-F4B5-4CCE-85DF-680950004616}" type="presParOf" srcId="{BF315171-E209-441A-BDD6-1CA63D1A6242}" destId="{D140FCDC-36ED-4651-B954-8DC899549259}" srcOrd="4" destOrd="0" presId="urn:microsoft.com/office/officeart/2005/8/layout/process1"/>
    <dgm:cxn modelId="{3103B0E7-FF3C-461A-AC18-D0D0D6FD0953}" type="presParOf" srcId="{BF315171-E209-441A-BDD6-1CA63D1A6242}" destId="{30CAA2C4-A72C-4392-8A55-4D9AA281059C}" srcOrd="5" destOrd="0" presId="urn:microsoft.com/office/officeart/2005/8/layout/process1"/>
    <dgm:cxn modelId="{754B5793-F7AB-45CA-9C94-25C51B6F2CAF}" type="presParOf" srcId="{30CAA2C4-A72C-4392-8A55-4D9AA281059C}" destId="{4C8AE31E-EEB8-4CAA-AC58-2945233A1A71}" srcOrd="0" destOrd="0" presId="urn:microsoft.com/office/officeart/2005/8/layout/process1"/>
    <dgm:cxn modelId="{88291445-607A-46FA-AD15-025ABA0F2512}" type="presParOf" srcId="{BF315171-E209-441A-BDD6-1CA63D1A6242}" destId="{22835E65-87F6-46D5-AA3A-27DD8F132AB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204D28-AD25-480A-AC23-D1BCEAA59BB0}" type="doc">
      <dgm:prSet loTypeId="urn:microsoft.com/office/officeart/2005/8/layout/process1" loCatId="process" qsTypeId="urn:microsoft.com/office/officeart/2005/8/quickstyle/3d2#3" qsCatId="3D" csTypeId="urn:microsoft.com/office/officeart/2005/8/colors/accent2_2" csCatId="accent2" phldr="1"/>
      <dgm:spPr/>
    </dgm:pt>
    <dgm:pt modelId="{033B0FD5-C523-48CC-AB8B-5A378CDB2051}">
      <dgm:prSet phldrT="[Text]" custT="1"/>
      <dgm:spPr/>
      <dgm:t>
        <a:bodyPr/>
        <a:lstStyle/>
        <a:p>
          <a:r>
            <a:rPr lang="en-US" sz="2400" b="1" dirty="0"/>
            <a:t> r </a:t>
          </a:r>
          <a:r>
            <a:rPr lang="en-US" sz="2400" b="1" baseline="0" dirty="0">
              <a:sym typeface="Symbol"/>
            </a:rPr>
            <a:t></a:t>
          </a:r>
          <a:r>
            <a:rPr lang="en-US" sz="2400" b="1" dirty="0"/>
            <a:t>  </a:t>
          </a:r>
        </a:p>
      </dgm:t>
    </dgm:pt>
    <dgm:pt modelId="{B84B50C3-9FD2-4566-90B0-39A73B4F32CA}" type="parTrans" cxnId="{4A169DB5-6625-4057-81DC-7A7A9E644FB3}">
      <dgm:prSet/>
      <dgm:spPr/>
      <dgm:t>
        <a:bodyPr/>
        <a:lstStyle/>
        <a:p>
          <a:endParaRPr lang="en-US" sz="2400" b="1"/>
        </a:p>
      </dgm:t>
    </dgm:pt>
    <dgm:pt modelId="{5F2865CE-A9EF-445C-9537-5E52E0A3F5AD}" type="sibTrans" cxnId="{4A169DB5-6625-4057-81DC-7A7A9E644FB3}">
      <dgm:prSet custT="1"/>
      <dgm:spPr/>
      <dgm:t>
        <a:bodyPr/>
        <a:lstStyle/>
        <a:p>
          <a:endParaRPr lang="en-US" sz="2400" b="1"/>
        </a:p>
      </dgm:t>
    </dgm:pt>
    <dgm:pt modelId="{02E55053-5427-4976-9F0C-E149ABCB84FD}">
      <dgm:prSet phldrT="[Text]" custT="1"/>
      <dgm:spPr/>
      <dgm:t>
        <a:bodyPr/>
        <a:lstStyle/>
        <a:p>
          <a:r>
            <a:rPr lang="en-US" sz="2400" b="1" dirty="0"/>
            <a:t>C, I</a:t>
          </a:r>
          <a:r>
            <a:rPr lang="en-US" sz="2400" b="1" baseline="30000" dirty="0"/>
            <a:t>P</a:t>
          </a:r>
          <a:r>
            <a:rPr lang="en-US" sz="2400" b="1" dirty="0">
              <a:sym typeface="Symbol"/>
            </a:rPr>
            <a:t></a:t>
          </a:r>
          <a:r>
            <a:rPr lang="en-US" sz="2400" b="1" dirty="0"/>
            <a:t> </a:t>
          </a:r>
        </a:p>
      </dgm:t>
    </dgm:pt>
    <dgm:pt modelId="{5EF56916-5C16-438B-A90D-6524C65CD68F}" type="parTrans" cxnId="{53FB11BE-529E-4C2B-93D1-FCC1C61A5CC0}">
      <dgm:prSet/>
      <dgm:spPr/>
      <dgm:t>
        <a:bodyPr/>
        <a:lstStyle/>
        <a:p>
          <a:endParaRPr lang="en-US" sz="2400" b="1"/>
        </a:p>
      </dgm:t>
    </dgm:pt>
    <dgm:pt modelId="{DE7D1741-448B-464F-BF4E-52E249D0B2D8}" type="sibTrans" cxnId="{53FB11BE-529E-4C2B-93D1-FCC1C61A5CC0}">
      <dgm:prSet custT="1"/>
      <dgm:spPr/>
      <dgm:t>
        <a:bodyPr/>
        <a:lstStyle/>
        <a:p>
          <a:endParaRPr lang="en-US" sz="2400" b="1"/>
        </a:p>
      </dgm:t>
    </dgm:pt>
    <dgm:pt modelId="{89D0B6BD-FED6-42C2-8AFB-CD9F4B942B39}">
      <dgm:prSet phldrT="[Text]" custT="1"/>
      <dgm:spPr/>
      <dgm:t>
        <a:bodyPr/>
        <a:lstStyle/>
        <a:p>
          <a:r>
            <a:rPr lang="en-US" sz="2400" b="1" dirty="0"/>
            <a:t>Y </a:t>
          </a:r>
          <a:r>
            <a:rPr lang="en-US" sz="2400" b="1" dirty="0">
              <a:sym typeface="Symbol"/>
            </a:rPr>
            <a:t></a:t>
          </a:r>
          <a:r>
            <a:rPr lang="en-US" sz="2800" b="1" baseline="0" dirty="0">
              <a:sym typeface="Symbol"/>
            </a:rPr>
            <a:t> </a:t>
          </a:r>
          <a:r>
            <a:rPr lang="en-US" sz="2400" b="1" dirty="0"/>
            <a:t>via the multiplier</a:t>
          </a:r>
        </a:p>
      </dgm:t>
    </dgm:pt>
    <dgm:pt modelId="{A569310D-B050-4601-8633-61AF01D905CF}" type="par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65E1D993-DD27-4549-A8B3-6704B4CAB46D}" type="sib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EBFAAC2A-5F82-4D89-A3BD-BBD231FF6DC5}">
      <dgm:prSet phldrT="[Text]" custT="1"/>
      <dgm:spPr/>
      <dgm:t>
        <a:bodyPr/>
        <a:lstStyle/>
        <a:p>
          <a:r>
            <a:rPr lang="en-US" sz="2400" b="1" dirty="0"/>
            <a:t>PAE </a:t>
          </a:r>
          <a:r>
            <a:rPr lang="en-US" sz="2400" b="1" dirty="0">
              <a:sym typeface="Symbol"/>
            </a:rPr>
            <a:t></a:t>
          </a:r>
          <a:r>
            <a:rPr lang="en-US" sz="2400" b="1" dirty="0"/>
            <a:t> </a:t>
          </a:r>
        </a:p>
      </dgm:t>
    </dgm:pt>
    <dgm:pt modelId="{E5A07815-27A5-4359-B2ED-39207CF89851}" type="parTrans" cxnId="{77D7D000-BC07-447F-A0AB-97DDDC569334}">
      <dgm:prSet/>
      <dgm:spPr/>
      <dgm:t>
        <a:bodyPr/>
        <a:lstStyle/>
        <a:p>
          <a:endParaRPr lang="en-US" sz="2400" b="1"/>
        </a:p>
      </dgm:t>
    </dgm:pt>
    <dgm:pt modelId="{E4B13E03-109F-43C4-8582-DED5EEB9A17D}" type="sibTrans" cxnId="{77D7D000-BC07-447F-A0AB-97DDDC569334}">
      <dgm:prSet custT="1"/>
      <dgm:spPr/>
      <dgm:t>
        <a:bodyPr/>
        <a:lstStyle/>
        <a:p>
          <a:endParaRPr lang="en-US" sz="2400" b="1"/>
        </a:p>
      </dgm:t>
    </dgm:pt>
    <dgm:pt modelId="{BF315171-E209-441A-BDD6-1CA63D1A6242}" type="pres">
      <dgm:prSet presAssocID="{E9204D28-AD25-480A-AC23-D1BCEAA59BB0}" presName="Name0" presStyleCnt="0">
        <dgm:presLayoutVars>
          <dgm:dir/>
          <dgm:resizeHandles val="exact"/>
        </dgm:presLayoutVars>
      </dgm:prSet>
      <dgm:spPr/>
    </dgm:pt>
    <dgm:pt modelId="{92C02F95-1AD7-4244-AF62-045404F02640}" type="pres">
      <dgm:prSet presAssocID="{033B0FD5-C523-48CC-AB8B-5A378CDB2051}" presName="node" presStyleLbl="node1" presStyleIdx="0" presStyleCnt="4" custScaleX="59466">
        <dgm:presLayoutVars>
          <dgm:bulletEnabled val="1"/>
        </dgm:presLayoutVars>
      </dgm:prSet>
      <dgm:spPr/>
    </dgm:pt>
    <dgm:pt modelId="{EFB2F4FE-1724-43E4-8B56-8DFFEAF8C234}" type="pres">
      <dgm:prSet presAssocID="{5F2865CE-A9EF-445C-9537-5E52E0A3F5AD}" presName="sibTrans" presStyleLbl="sibTrans2D1" presStyleIdx="0" presStyleCnt="3"/>
      <dgm:spPr/>
    </dgm:pt>
    <dgm:pt modelId="{A8FEE831-DCA2-4C58-9027-7582CDE1A79F}" type="pres">
      <dgm:prSet presAssocID="{5F2865CE-A9EF-445C-9537-5E52E0A3F5AD}" presName="connectorText" presStyleLbl="sibTrans2D1" presStyleIdx="0" presStyleCnt="3"/>
      <dgm:spPr/>
    </dgm:pt>
    <dgm:pt modelId="{563EE3C3-B019-40A1-A39F-B7597F845D8E}" type="pres">
      <dgm:prSet presAssocID="{02E55053-5427-4976-9F0C-E149ABCB84FD}" presName="node" presStyleLbl="node1" presStyleIdx="1" presStyleCnt="4" custScaleX="60093">
        <dgm:presLayoutVars>
          <dgm:bulletEnabled val="1"/>
        </dgm:presLayoutVars>
      </dgm:prSet>
      <dgm:spPr/>
    </dgm:pt>
    <dgm:pt modelId="{B39EA355-8EFD-4E1E-8131-36C83F564235}" type="pres">
      <dgm:prSet presAssocID="{DE7D1741-448B-464F-BF4E-52E249D0B2D8}" presName="sibTrans" presStyleLbl="sibTrans2D1" presStyleIdx="1" presStyleCnt="3"/>
      <dgm:spPr/>
    </dgm:pt>
    <dgm:pt modelId="{3AE0B0B0-E8A7-4ED4-8540-F38008C607CC}" type="pres">
      <dgm:prSet presAssocID="{DE7D1741-448B-464F-BF4E-52E249D0B2D8}" presName="connectorText" presStyleLbl="sibTrans2D1" presStyleIdx="1" presStyleCnt="3"/>
      <dgm:spPr/>
    </dgm:pt>
    <dgm:pt modelId="{D140FCDC-36ED-4651-B954-8DC899549259}" type="pres">
      <dgm:prSet presAssocID="{EBFAAC2A-5F82-4D89-A3BD-BBD231FF6DC5}" presName="node" presStyleLbl="node1" presStyleIdx="2" presStyleCnt="4" custScaleX="70173">
        <dgm:presLayoutVars>
          <dgm:bulletEnabled val="1"/>
        </dgm:presLayoutVars>
      </dgm:prSet>
      <dgm:spPr/>
    </dgm:pt>
    <dgm:pt modelId="{30CAA2C4-A72C-4392-8A55-4D9AA281059C}" type="pres">
      <dgm:prSet presAssocID="{E4B13E03-109F-43C4-8582-DED5EEB9A17D}" presName="sibTrans" presStyleLbl="sibTrans2D1" presStyleIdx="2" presStyleCnt="3"/>
      <dgm:spPr/>
    </dgm:pt>
    <dgm:pt modelId="{4C8AE31E-EEB8-4CAA-AC58-2945233A1A71}" type="pres">
      <dgm:prSet presAssocID="{E4B13E03-109F-43C4-8582-DED5EEB9A17D}" presName="connectorText" presStyleLbl="sibTrans2D1" presStyleIdx="2" presStyleCnt="3"/>
      <dgm:spPr/>
    </dgm:pt>
    <dgm:pt modelId="{22835E65-87F6-46D5-AA3A-27DD8F132ABA}" type="pres">
      <dgm:prSet presAssocID="{89D0B6BD-FED6-42C2-8AFB-CD9F4B942B39}" presName="node" presStyleLbl="node1" presStyleIdx="3" presStyleCnt="4">
        <dgm:presLayoutVars>
          <dgm:bulletEnabled val="1"/>
        </dgm:presLayoutVars>
      </dgm:prSet>
      <dgm:spPr/>
    </dgm:pt>
  </dgm:ptLst>
  <dgm:cxnLst>
    <dgm:cxn modelId="{77D7D000-BC07-447F-A0AB-97DDDC569334}" srcId="{E9204D28-AD25-480A-AC23-D1BCEAA59BB0}" destId="{EBFAAC2A-5F82-4D89-A3BD-BBD231FF6DC5}" srcOrd="2" destOrd="0" parTransId="{E5A07815-27A5-4359-B2ED-39207CF89851}" sibTransId="{E4B13E03-109F-43C4-8582-DED5EEB9A17D}"/>
    <dgm:cxn modelId="{C3E2290D-9656-4B65-BC8B-8DA68855250A}" type="presOf" srcId="{DE7D1741-448B-464F-BF4E-52E249D0B2D8}" destId="{B39EA355-8EFD-4E1E-8131-36C83F564235}" srcOrd="0" destOrd="0" presId="urn:microsoft.com/office/officeart/2005/8/layout/process1"/>
    <dgm:cxn modelId="{2811D214-9C20-4A60-A3D7-59D25E27771C}" type="presOf" srcId="{E4B13E03-109F-43C4-8582-DED5EEB9A17D}" destId="{30CAA2C4-A72C-4392-8A55-4D9AA281059C}" srcOrd="0" destOrd="0" presId="urn:microsoft.com/office/officeart/2005/8/layout/process1"/>
    <dgm:cxn modelId="{762C272C-2B47-4D7A-B0F5-CD35C08983FF}" type="presOf" srcId="{DE7D1741-448B-464F-BF4E-52E249D0B2D8}" destId="{3AE0B0B0-E8A7-4ED4-8540-F38008C607CC}" srcOrd="1" destOrd="0" presId="urn:microsoft.com/office/officeart/2005/8/layout/process1"/>
    <dgm:cxn modelId="{63739E3B-5769-4186-A8B5-81406F738357}" type="presOf" srcId="{5F2865CE-A9EF-445C-9537-5E52E0A3F5AD}" destId="{A8FEE831-DCA2-4C58-9027-7582CDE1A79F}" srcOrd="1" destOrd="0" presId="urn:microsoft.com/office/officeart/2005/8/layout/process1"/>
    <dgm:cxn modelId="{D6FD6166-190C-430C-A3AB-78AD17C480D6}" type="presOf" srcId="{5F2865CE-A9EF-445C-9537-5E52E0A3F5AD}" destId="{EFB2F4FE-1724-43E4-8B56-8DFFEAF8C234}" srcOrd="0" destOrd="0" presId="urn:microsoft.com/office/officeart/2005/8/layout/process1"/>
    <dgm:cxn modelId="{D083EA6B-536A-43C5-8AA4-1028017D1EE1}" type="presOf" srcId="{02E55053-5427-4976-9F0C-E149ABCB84FD}" destId="{563EE3C3-B019-40A1-A39F-B7597F845D8E}" srcOrd="0" destOrd="0" presId="urn:microsoft.com/office/officeart/2005/8/layout/process1"/>
    <dgm:cxn modelId="{59FAFB70-02CD-4C83-A2FF-E521DE1212E1}" type="presOf" srcId="{033B0FD5-C523-48CC-AB8B-5A378CDB2051}" destId="{92C02F95-1AD7-4244-AF62-045404F02640}" srcOrd="0" destOrd="0" presId="urn:microsoft.com/office/officeart/2005/8/layout/process1"/>
    <dgm:cxn modelId="{5D513B71-8781-4FAB-8993-5F93ED713BCC}" type="presOf" srcId="{E9204D28-AD25-480A-AC23-D1BCEAA59BB0}" destId="{BF315171-E209-441A-BDD6-1CA63D1A6242}" srcOrd="0" destOrd="0" presId="urn:microsoft.com/office/officeart/2005/8/layout/process1"/>
    <dgm:cxn modelId="{465B3D72-473D-41DB-B51E-42DB1DC94B24}" type="presOf" srcId="{EBFAAC2A-5F82-4D89-A3BD-BBD231FF6DC5}" destId="{D140FCDC-36ED-4651-B954-8DC899549259}" srcOrd="0" destOrd="0" presId="urn:microsoft.com/office/officeart/2005/8/layout/process1"/>
    <dgm:cxn modelId="{37C6E455-23ED-4157-8368-C5D0A7331083}" type="presOf" srcId="{E4B13E03-109F-43C4-8582-DED5EEB9A17D}" destId="{4C8AE31E-EEB8-4CAA-AC58-2945233A1A71}" srcOrd="1" destOrd="0" presId="urn:microsoft.com/office/officeart/2005/8/layout/process1"/>
    <dgm:cxn modelId="{BA8A58AD-BBD7-43A5-A200-4334777DDE90}" srcId="{E9204D28-AD25-480A-AC23-D1BCEAA59BB0}" destId="{89D0B6BD-FED6-42C2-8AFB-CD9F4B942B39}" srcOrd="3" destOrd="0" parTransId="{A569310D-B050-4601-8633-61AF01D905CF}" sibTransId="{65E1D993-DD27-4549-A8B3-6704B4CAB46D}"/>
    <dgm:cxn modelId="{4A169DB5-6625-4057-81DC-7A7A9E644FB3}" srcId="{E9204D28-AD25-480A-AC23-D1BCEAA59BB0}" destId="{033B0FD5-C523-48CC-AB8B-5A378CDB2051}" srcOrd="0" destOrd="0" parTransId="{B84B50C3-9FD2-4566-90B0-39A73B4F32CA}" sibTransId="{5F2865CE-A9EF-445C-9537-5E52E0A3F5AD}"/>
    <dgm:cxn modelId="{53FB11BE-529E-4C2B-93D1-FCC1C61A5CC0}" srcId="{E9204D28-AD25-480A-AC23-D1BCEAA59BB0}" destId="{02E55053-5427-4976-9F0C-E149ABCB84FD}" srcOrd="1" destOrd="0" parTransId="{5EF56916-5C16-438B-A90D-6524C65CD68F}" sibTransId="{DE7D1741-448B-464F-BF4E-52E249D0B2D8}"/>
    <dgm:cxn modelId="{DB16B1FD-3310-425A-84D8-2A1A1ECC2F7B}" type="presOf" srcId="{89D0B6BD-FED6-42C2-8AFB-CD9F4B942B39}" destId="{22835E65-87F6-46D5-AA3A-27DD8F132ABA}" srcOrd="0" destOrd="0" presId="urn:microsoft.com/office/officeart/2005/8/layout/process1"/>
    <dgm:cxn modelId="{E8B2763C-9E29-4F3A-82A8-84A44468CA3E}" type="presParOf" srcId="{BF315171-E209-441A-BDD6-1CA63D1A6242}" destId="{92C02F95-1AD7-4244-AF62-045404F02640}" srcOrd="0" destOrd="0" presId="urn:microsoft.com/office/officeart/2005/8/layout/process1"/>
    <dgm:cxn modelId="{FF7E276F-8C38-44BF-8098-2E20B316A850}" type="presParOf" srcId="{BF315171-E209-441A-BDD6-1CA63D1A6242}" destId="{EFB2F4FE-1724-43E4-8B56-8DFFEAF8C234}" srcOrd="1" destOrd="0" presId="urn:microsoft.com/office/officeart/2005/8/layout/process1"/>
    <dgm:cxn modelId="{29F5B47D-D0FA-4F4A-AA8E-ED31995EEEF9}" type="presParOf" srcId="{EFB2F4FE-1724-43E4-8B56-8DFFEAF8C234}" destId="{A8FEE831-DCA2-4C58-9027-7582CDE1A79F}" srcOrd="0" destOrd="0" presId="urn:microsoft.com/office/officeart/2005/8/layout/process1"/>
    <dgm:cxn modelId="{20BD3FDB-21E7-4600-B9C0-1C74A974E6D9}" type="presParOf" srcId="{BF315171-E209-441A-BDD6-1CA63D1A6242}" destId="{563EE3C3-B019-40A1-A39F-B7597F845D8E}" srcOrd="2" destOrd="0" presId="urn:microsoft.com/office/officeart/2005/8/layout/process1"/>
    <dgm:cxn modelId="{592172BE-1C28-48C0-8E6E-1E3261524517}" type="presParOf" srcId="{BF315171-E209-441A-BDD6-1CA63D1A6242}" destId="{B39EA355-8EFD-4E1E-8131-36C83F564235}" srcOrd="3" destOrd="0" presId="urn:microsoft.com/office/officeart/2005/8/layout/process1"/>
    <dgm:cxn modelId="{D2AE50AB-2A36-415C-A99F-8A3D44D9E7B9}" type="presParOf" srcId="{B39EA355-8EFD-4E1E-8131-36C83F564235}" destId="{3AE0B0B0-E8A7-4ED4-8540-F38008C607CC}" srcOrd="0" destOrd="0" presId="urn:microsoft.com/office/officeart/2005/8/layout/process1"/>
    <dgm:cxn modelId="{23E57699-93B0-4F88-9639-58A7177E5B90}" type="presParOf" srcId="{BF315171-E209-441A-BDD6-1CA63D1A6242}" destId="{D140FCDC-36ED-4651-B954-8DC899549259}" srcOrd="4" destOrd="0" presId="urn:microsoft.com/office/officeart/2005/8/layout/process1"/>
    <dgm:cxn modelId="{AAADC2A4-ECAD-43BB-8E1F-D90CD8A16376}" type="presParOf" srcId="{BF315171-E209-441A-BDD6-1CA63D1A6242}" destId="{30CAA2C4-A72C-4392-8A55-4D9AA281059C}" srcOrd="5" destOrd="0" presId="urn:microsoft.com/office/officeart/2005/8/layout/process1"/>
    <dgm:cxn modelId="{504F1168-2ADC-485B-B714-5ECA9F10ADB1}" type="presParOf" srcId="{30CAA2C4-A72C-4392-8A55-4D9AA281059C}" destId="{4C8AE31E-EEB8-4CAA-AC58-2945233A1A71}" srcOrd="0" destOrd="0" presId="urn:microsoft.com/office/officeart/2005/8/layout/process1"/>
    <dgm:cxn modelId="{A33C9772-1EC1-47BB-9C35-18DB076A3C13}" type="presParOf" srcId="{BF315171-E209-441A-BDD6-1CA63D1A6242}" destId="{22835E65-87F6-46D5-AA3A-27DD8F132AB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50DBA1-418B-4B8C-AAF1-DCB40B6B98D7}">
      <dsp:nvSpPr>
        <dsp:cNvPr id="0" name=""/>
        <dsp:cNvSpPr/>
      </dsp:nvSpPr>
      <dsp:spPr>
        <a:xfrm>
          <a:off x="0" y="0"/>
          <a:ext cx="6736080" cy="1394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Eliminate output gaps by changing the money supply</a:t>
          </a:r>
        </a:p>
      </dsp:txBody>
      <dsp:txXfrm>
        <a:off x="0" y="0"/>
        <a:ext cx="5313033" cy="1394460"/>
      </dsp:txXfrm>
    </dsp:sp>
    <dsp:sp modelId="{FB4F9E1F-802A-42F3-9AAE-0840646F5BA5}">
      <dsp:nvSpPr>
        <dsp:cNvPr id="0" name=""/>
        <dsp:cNvSpPr/>
      </dsp:nvSpPr>
      <dsp:spPr>
        <a:xfrm>
          <a:off x="594359" y="1626869"/>
          <a:ext cx="6736080" cy="1394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Changes in money supply cause changes in nominal interest rate</a:t>
          </a:r>
        </a:p>
      </dsp:txBody>
      <dsp:txXfrm>
        <a:off x="594359" y="1626869"/>
        <a:ext cx="5235321" cy="1394460"/>
      </dsp:txXfrm>
    </dsp:sp>
    <dsp:sp modelId="{975CEDBA-64AF-4EC7-9253-64515CF49F1C}">
      <dsp:nvSpPr>
        <dsp:cNvPr id="0" name=""/>
        <dsp:cNvSpPr/>
      </dsp:nvSpPr>
      <dsp:spPr>
        <a:xfrm>
          <a:off x="1188719" y="3253739"/>
          <a:ext cx="6736080" cy="1394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Interest rates affect planned aggregate expenditure, PAE</a:t>
          </a:r>
        </a:p>
      </dsp:txBody>
      <dsp:txXfrm>
        <a:off x="1188719" y="3253739"/>
        <a:ext cx="5235321" cy="1394460"/>
      </dsp:txXfrm>
    </dsp:sp>
    <dsp:sp modelId="{D2389CA9-7B4E-4C3A-894C-59AC425C8EF4}">
      <dsp:nvSpPr>
        <dsp:cNvPr id="0" name=""/>
        <dsp:cNvSpPr/>
      </dsp:nvSpPr>
      <dsp:spPr>
        <a:xfrm>
          <a:off x="5829681" y="1057465"/>
          <a:ext cx="906399" cy="9063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829681" y="1057465"/>
        <a:ext cx="906399" cy="906399"/>
      </dsp:txXfrm>
    </dsp:sp>
    <dsp:sp modelId="{8C3BB5F8-F184-45EA-A3BF-AEFE29C3337A}">
      <dsp:nvSpPr>
        <dsp:cNvPr id="0" name=""/>
        <dsp:cNvSpPr/>
      </dsp:nvSpPr>
      <dsp:spPr>
        <a:xfrm>
          <a:off x="6424041" y="2675039"/>
          <a:ext cx="906399" cy="9063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424041" y="2675039"/>
        <a:ext cx="906399" cy="906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02F95-1AD7-4244-AF62-045404F02640}">
      <dsp:nvSpPr>
        <dsp:cNvPr id="0" name=""/>
        <dsp:cNvSpPr/>
      </dsp:nvSpPr>
      <dsp:spPr>
        <a:xfrm>
          <a:off x="2686" y="27745"/>
          <a:ext cx="1149377" cy="11596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r </a:t>
          </a:r>
          <a:r>
            <a:rPr lang="en-US" sz="2800" b="1" kern="1200" dirty="0">
              <a:sym typeface="Symbol"/>
            </a:rPr>
            <a:t></a:t>
          </a:r>
          <a:r>
            <a:rPr lang="en-US" sz="2400" b="1" kern="1200" dirty="0"/>
            <a:t>  </a:t>
          </a:r>
        </a:p>
      </dsp:txBody>
      <dsp:txXfrm>
        <a:off x="2686" y="27745"/>
        <a:ext cx="1149377" cy="1159698"/>
      </dsp:txXfrm>
    </dsp:sp>
    <dsp:sp modelId="{EFB2F4FE-1724-43E4-8B56-8DFFEAF8C234}">
      <dsp:nvSpPr>
        <dsp:cNvPr id="0" name=""/>
        <dsp:cNvSpPr/>
      </dsp:nvSpPr>
      <dsp:spPr>
        <a:xfrm>
          <a:off x="1345347" y="367923"/>
          <a:ext cx="409760" cy="4793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</dsp:txBody>
      <dsp:txXfrm>
        <a:off x="1345347" y="367923"/>
        <a:ext cx="409760" cy="479342"/>
      </dsp:txXfrm>
    </dsp:sp>
    <dsp:sp modelId="{563EE3C3-B019-40A1-A39F-B7597F845D8E}">
      <dsp:nvSpPr>
        <dsp:cNvPr id="0" name=""/>
        <dsp:cNvSpPr/>
      </dsp:nvSpPr>
      <dsp:spPr>
        <a:xfrm>
          <a:off x="1925196" y="27745"/>
          <a:ext cx="1161496" cy="11596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C, I</a:t>
          </a:r>
          <a:r>
            <a:rPr lang="en-US" sz="2400" b="1" kern="1200" baseline="30000" dirty="0"/>
            <a:t>P</a:t>
          </a:r>
          <a:r>
            <a:rPr lang="en-US" sz="2800" b="1" kern="1200" baseline="30000" dirty="0"/>
            <a:t> </a:t>
          </a:r>
          <a:r>
            <a:rPr lang="en-US" sz="2800" b="1" kern="1200" baseline="0" dirty="0">
              <a:sym typeface="Symbol"/>
            </a:rPr>
            <a:t></a:t>
          </a:r>
          <a:r>
            <a:rPr lang="en-US" sz="2400" b="1" kern="1200" dirty="0"/>
            <a:t> </a:t>
          </a:r>
        </a:p>
      </dsp:txBody>
      <dsp:txXfrm>
        <a:off x="1925196" y="27745"/>
        <a:ext cx="1161496" cy="1159698"/>
      </dsp:txXfrm>
    </dsp:sp>
    <dsp:sp modelId="{B39EA355-8EFD-4E1E-8131-36C83F564235}">
      <dsp:nvSpPr>
        <dsp:cNvPr id="0" name=""/>
        <dsp:cNvSpPr/>
      </dsp:nvSpPr>
      <dsp:spPr>
        <a:xfrm>
          <a:off x="3279975" y="367923"/>
          <a:ext cx="409760" cy="4793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</dsp:txBody>
      <dsp:txXfrm>
        <a:off x="3279975" y="367923"/>
        <a:ext cx="409760" cy="479342"/>
      </dsp:txXfrm>
    </dsp:sp>
    <dsp:sp modelId="{D140FCDC-36ED-4651-B954-8DC899549259}">
      <dsp:nvSpPr>
        <dsp:cNvPr id="0" name=""/>
        <dsp:cNvSpPr/>
      </dsp:nvSpPr>
      <dsp:spPr>
        <a:xfrm>
          <a:off x="3859824" y="27745"/>
          <a:ext cx="1356325" cy="11596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PAE </a:t>
          </a:r>
          <a:r>
            <a:rPr lang="en-US" sz="2800" b="1" kern="1200" baseline="0" dirty="0">
              <a:sym typeface="Symbol"/>
            </a:rPr>
            <a:t></a:t>
          </a:r>
          <a:r>
            <a:rPr lang="en-US" sz="2400" b="1" kern="1200" dirty="0"/>
            <a:t> </a:t>
          </a:r>
        </a:p>
      </dsp:txBody>
      <dsp:txXfrm>
        <a:off x="3859824" y="27745"/>
        <a:ext cx="1356325" cy="1159698"/>
      </dsp:txXfrm>
    </dsp:sp>
    <dsp:sp modelId="{30CAA2C4-A72C-4392-8A55-4D9AA281059C}">
      <dsp:nvSpPr>
        <dsp:cNvPr id="0" name=""/>
        <dsp:cNvSpPr/>
      </dsp:nvSpPr>
      <dsp:spPr>
        <a:xfrm>
          <a:off x="5409433" y="367923"/>
          <a:ext cx="409760" cy="4793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</dsp:txBody>
      <dsp:txXfrm>
        <a:off x="5409433" y="367923"/>
        <a:ext cx="409760" cy="479342"/>
      </dsp:txXfrm>
    </dsp:sp>
    <dsp:sp modelId="{22835E65-87F6-46D5-AA3A-27DD8F132ABA}">
      <dsp:nvSpPr>
        <dsp:cNvPr id="0" name=""/>
        <dsp:cNvSpPr/>
      </dsp:nvSpPr>
      <dsp:spPr>
        <a:xfrm>
          <a:off x="5989282" y="27745"/>
          <a:ext cx="1932830" cy="11596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Y </a:t>
          </a:r>
          <a:r>
            <a:rPr lang="en-US" sz="2800" b="1" kern="1200" baseline="0" dirty="0">
              <a:sym typeface="Symbol"/>
            </a:rPr>
            <a:t> </a:t>
          </a:r>
          <a:r>
            <a:rPr lang="en-US" sz="2400" b="1" kern="1200" dirty="0"/>
            <a:t>via the multiplier</a:t>
          </a:r>
        </a:p>
      </dsp:txBody>
      <dsp:txXfrm>
        <a:off x="5989282" y="27745"/>
        <a:ext cx="1932830" cy="11596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02F95-1AD7-4244-AF62-045404F02640}">
      <dsp:nvSpPr>
        <dsp:cNvPr id="0" name=""/>
        <dsp:cNvSpPr/>
      </dsp:nvSpPr>
      <dsp:spPr>
        <a:xfrm>
          <a:off x="2686" y="27745"/>
          <a:ext cx="1149377" cy="11596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r </a:t>
          </a:r>
          <a:r>
            <a:rPr lang="en-US" sz="2400" b="1" kern="1200" baseline="0" dirty="0">
              <a:sym typeface="Symbol"/>
            </a:rPr>
            <a:t></a:t>
          </a:r>
          <a:r>
            <a:rPr lang="en-US" sz="2400" b="1" kern="1200" dirty="0"/>
            <a:t>  </a:t>
          </a:r>
        </a:p>
      </dsp:txBody>
      <dsp:txXfrm>
        <a:off x="2686" y="27745"/>
        <a:ext cx="1149377" cy="1159698"/>
      </dsp:txXfrm>
    </dsp:sp>
    <dsp:sp modelId="{EFB2F4FE-1724-43E4-8B56-8DFFEAF8C234}">
      <dsp:nvSpPr>
        <dsp:cNvPr id="0" name=""/>
        <dsp:cNvSpPr/>
      </dsp:nvSpPr>
      <dsp:spPr>
        <a:xfrm>
          <a:off x="1345347" y="367923"/>
          <a:ext cx="409760" cy="4793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</dsp:txBody>
      <dsp:txXfrm>
        <a:off x="1345347" y="367923"/>
        <a:ext cx="409760" cy="479342"/>
      </dsp:txXfrm>
    </dsp:sp>
    <dsp:sp modelId="{563EE3C3-B019-40A1-A39F-B7597F845D8E}">
      <dsp:nvSpPr>
        <dsp:cNvPr id="0" name=""/>
        <dsp:cNvSpPr/>
      </dsp:nvSpPr>
      <dsp:spPr>
        <a:xfrm>
          <a:off x="1925196" y="27745"/>
          <a:ext cx="1161496" cy="11596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C, I</a:t>
          </a:r>
          <a:r>
            <a:rPr lang="en-US" sz="2400" b="1" kern="1200" baseline="30000" dirty="0"/>
            <a:t>P</a:t>
          </a:r>
          <a:r>
            <a:rPr lang="en-US" sz="2400" b="1" kern="1200" dirty="0">
              <a:sym typeface="Symbol"/>
            </a:rPr>
            <a:t></a:t>
          </a:r>
          <a:r>
            <a:rPr lang="en-US" sz="2400" b="1" kern="1200" dirty="0"/>
            <a:t> </a:t>
          </a:r>
        </a:p>
      </dsp:txBody>
      <dsp:txXfrm>
        <a:off x="1925196" y="27745"/>
        <a:ext cx="1161496" cy="1159698"/>
      </dsp:txXfrm>
    </dsp:sp>
    <dsp:sp modelId="{B39EA355-8EFD-4E1E-8131-36C83F564235}">
      <dsp:nvSpPr>
        <dsp:cNvPr id="0" name=""/>
        <dsp:cNvSpPr/>
      </dsp:nvSpPr>
      <dsp:spPr>
        <a:xfrm>
          <a:off x="3279975" y="367923"/>
          <a:ext cx="409760" cy="4793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</dsp:txBody>
      <dsp:txXfrm>
        <a:off x="3279975" y="367923"/>
        <a:ext cx="409760" cy="479342"/>
      </dsp:txXfrm>
    </dsp:sp>
    <dsp:sp modelId="{D140FCDC-36ED-4651-B954-8DC899549259}">
      <dsp:nvSpPr>
        <dsp:cNvPr id="0" name=""/>
        <dsp:cNvSpPr/>
      </dsp:nvSpPr>
      <dsp:spPr>
        <a:xfrm>
          <a:off x="3859824" y="27745"/>
          <a:ext cx="1356325" cy="11596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PAE </a:t>
          </a:r>
          <a:r>
            <a:rPr lang="en-US" sz="2400" b="1" kern="1200" dirty="0">
              <a:sym typeface="Symbol"/>
            </a:rPr>
            <a:t></a:t>
          </a:r>
          <a:r>
            <a:rPr lang="en-US" sz="2400" b="1" kern="1200" dirty="0"/>
            <a:t> </a:t>
          </a:r>
        </a:p>
      </dsp:txBody>
      <dsp:txXfrm>
        <a:off x="3859824" y="27745"/>
        <a:ext cx="1356325" cy="1159698"/>
      </dsp:txXfrm>
    </dsp:sp>
    <dsp:sp modelId="{30CAA2C4-A72C-4392-8A55-4D9AA281059C}">
      <dsp:nvSpPr>
        <dsp:cNvPr id="0" name=""/>
        <dsp:cNvSpPr/>
      </dsp:nvSpPr>
      <dsp:spPr>
        <a:xfrm>
          <a:off x="5409433" y="367923"/>
          <a:ext cx="409760" cy="4793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</dsp:txBody>
      <dsp:txXfrm>
        <a:off x="5409433" y="367923"/>
        <a:ext cx="409760" cy="479342"/>
      </dsp:txXfrm>
    </dsp:sp>
    <dsp:sp modelId="{22835E65-87F6-46D5-AA3A-27DD8F132ABA}">
      <dsp:nvSpPr>
        <dsp:cNvPr id="0" name=""/>
        <dsp:cNvSpPr/>
      </dsp:nvSpPr>
      <dsp:spPr>
        <a:xfrm>
          <a:off x="5989282" y="27745"/>
          <a:ext cx="1932830" cy="11596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Y </a:t>
          </a:r>
          <a:r>
            <a:rPr lang="en-US" sz="2400" b="1" kern="1200" dirty="0">
              <a:sym typeface="Symbol"/>
            </a:rPr>
            <a:t></a:t>
          </a:r>
          <a:r>
            <a:rPr lang="en-US" sz="2800" b="1" kern="1200" baseline="0" dirty="0">
              <a:sym typeface="Symbol"/>
            </a:rPr>
            <a:t> </a:t>
          </a:r>
          <a:r>
            <a:rPr lang="en-US" sz="2400" b="1" kern="1200" dirty="0"/>
            <a:t>via the multiplier</a:t>
          </a:r>
        </a:p>
      </dsp:txBody>
      <dsp:txXfrm>
        <a:off x="5989282" y="27745"/>
        <a:ext cx="1932830" cy="1159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3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2F30890-E24B-4E0D-A976-A0E934AD3E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0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30400" y="231775"/>
            <a:ext cx="2994025" cy="224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6400" y="2705100"/>
            <a:ext cx="6032500" cy="595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effectLst/>
              </a:defRPr>
            </a:lvl1pPr>
          </a:lstStyle>
          <a:p>
            <a:pPr>
              <a:defRPr/>
            </a:pPr>
            <a:fld id="{77CA596C-6E61-41B8-83D6-76FC19BA50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Font typeface="Arial" charset="0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064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6350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800100" indent="-1651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FD67B6-548F-42F8-94DD-701AA2CC3A4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879260-2433-44A1-B17F-93ADE7B1013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22D752-CAAE-4D36-9ADF-7AA9E5C40F9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>
            <a:lvl1pPr algn="l">
              <a:defRPr sz="42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7467600" cy="1676400"/>
          </a:xfrm>
        </p:spPr>
        <p:txBody>
          <a:bodyPr/>
          <a:lstStyle>
            <a:lvl1pPr marL="0" indent="0" algn="ctr">
              <a:buFontTx/>
              <a:buNone/>
              <a:defRPr sz="48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46E13C4-7005-4115-B010-EAA29903E6C1}" type="datetime1">
              <a:rPr lang="en-US"/>
              <a:pPr>
                <a:defRPr/>
              </a:pPr>
              <a:t>8/7/2024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0E8318A-202A-4F66-B94C-9B952149A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Frank Brief 2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1-</a:t>
            </a:r>
            <a:fld id="{B9D74E89-6214-45AC-BC4B-D378039338D8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699"/>
            <a:ext cx="7515225" cy="3667125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10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Aggregate Expenditure and Stabilization Policy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1400175"/>
            <a:ext cx="7721600" cy="4676775"/>
          </a:xfrm>
        </p:spPr>
        <p:txBody>
          <a:bodyPr/>
          <a:lstStyle/>
          <a:p>
            <a:r>
              <a:rPr lang="en-US" dirty="0"/>
              <a:t>Recession and Expansion</a:t>
            </a:r>
          </a:p>
          <a:p>
            <a:r>
              <a:rPr lang="en-US" dirty="0"/>
              <a:t>Potential Output and Output Gap</a:t>
            </a:r>
          </a:p>
          <a:p>
            <a:r>
              <a:rPr lang="en-US" dirty="0"/>
              <a:t>The Keynesian Model</a:t>
            </a:r>
          </a:p>
          <a:p>
            <a:r>
              <a:rPr lang="en-US" dirty="0"/>
              <a:t>Aggregate Expenditure and Multiplier</a:t>
            </a:r>
          </a:p>
          <a:p>
            <a:r>
              <a:rPr lang="en-US" dirty="0"/>
              <a:t>Short Run Equilibrium Output</a:t>
            </a:r>
          </a:p>
          <a:p>
            <a:r>
              <a:rPr lang="en-US" dirty="0"/>
              <a:t>Fiscal Policy</a:t>
            </a:r>
          </a:p>
          <a:p>
            <a:r>
              <a:rPr lang="en-US" dirty="0"/>
              <a:t>Monetary Policy</a:t>
            </a:r>
          </a:p>
          <a:p>
            <a:r>
              <a:rPr lang="en-US" dirty="0"/>
              <a:t>Reference: FBAH </a:t>
            </a:r>
            <a:r>
              <a:rPr lang="en-US"/>
              <a:t>or FBL, </a:t>
            </a:r>
            <a:r>
              <a:rPr lang="en-US" dirty="0"/>
              <a:t>chapters 21, 22 &amp; 23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Recessions and Expansions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460500"/>
            <a:ext cx="8229600" cy="4525963"/>
          </a:xfrm>
        </p:spPr>
        <p:txBody>
          <a:bodyPr/>
          <a:lstStyle/>
          <a:p>
            <a:pPr eaLnBrk="1" hangingPunct="1"/>
            <a:r>
              <a:rPr lang="en-US" b="1"/>
              <a:t>Business Cycles </a:t>
            </a:r>
            <a:r>
              <a:rPr lang="en-US"/>
              <a:t>are short-term fluctuations in GDP and other variables</a:t>
            </a:r>
            <a:endParaRPr lang="en-US" b="1"/>
          </a:p>
          <a:p>
            <a:pPr eaLnBrk="1" hangingPunct="1"/>
            <a:r>
              <a:rPr lang="en-US"/>
              <a:t>A </a:t>
            </a:r>
            <a:r>
              <a:rPr lang="en-US" b="1"/>
              <a:t>recession (or contraction) </a:t>
            </a:r>
            <a:r>
              <a:rPr lang="en-US"/>
              <a:t>is a period in which the economy is growing at a rate significantly below normal</a:t>
            </a:r>
          </a:p>
          <a:p>
            <a:pPr lvl="1" eaLnBrk="1" hangingPunct="1"/>
            <a:r>
              <a:rPr lang="en-US"/>
              <a:t>A period during which real GDP falls for two or more consecutive quarters</a:t>
            </a:r>
          </a:p>
          <a:p>
            <a:pPr lvl="1" eaLnBrk="1" hangingPunct="1"/>
            <a:r>
              <a:rPr lang="en-US"/>
              <a:t>A period during which real GDP growth is well below normal, even if not negative</a:t>
            </a:r>
          </a:p>
          <a:p>
            <a:pPr lvl="1" eaLnBrk="1" hangingPunct="1"/>
            <a:r>
              <a:rPr lang="en-US"/>
              <a:t>A variety of economic data are examined</a:t>
            </a:r>
          </a:p>
          <a:p>
            <a:pPr eaLnBrk="1" hangingPunct="1"/>
            <a:r>
              <a:rPr lang="en-US"/>
              <a:t>A </a:t>
            </a:r>
            <a:r>
              <a:rPr lang="en-US" b="1"/>
              <a:t>depression</a:t>
            </a:r>
            <a:r>
              <a:rPr lang="en-US"/>
              <a:t> is a particularly severe recession</a:t>
            </a:r>
          </a:p>
          <a:p>
            <a:pPr lvl="1" eaLnBrk="1" hangingPunct="1">
              <a:buFontTx/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Recessions and Expansions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 </a:t>
            </a:r>
            <a:r>
              <a:rPr lang="en-US" b="1"/>
              <a:t>peak</a:t>
            </a:r>
            <a:r>
              <a:rPr lang="en-US"/>
              <a:t> is the beginning of a recession</a:t>
            </a:r>
          </a:p>
          <a:p>
            <a:pPr lvl="1" eaLnBrk="1" hangingPunct="1"/>
            <a:r>
              <a:rPr lang="en-US"/>
              <a:t>High point of the business cycle</a:t>
            </a:r>
          </a:p>
          <a:p>
            <a:pPr eaLnBrk="1" hangingPunct="1"/>
            <a:r>
              <a:rPr lang="en-US"/>
              <a:t>A </a:t>
            </a:r>
            <a:r>
              <a:rPr lang="en-US" b="1"/>
              <a:t>trough</a:t>
            </a:r>
            <a:r>
              <a:rPr lang="en-US"/>
              <a:t> is the end of a recession</a:t>
            </a:r>
          </a:p>
          <a:p>
            <a:pPr lvl="1" eaLnBrk="1" hangingPunct="1"/>
            <a:r>
              <a:rPr lang="en-US"/>
              <a:t>Low point of the business cycle</a:t>
            </a:r>
          </a:p>
          <a:p>
            <a:pPr eaLnBrk="1" hangingPunct="1"/>
            <a:r>
              <a:rPr lang="en-US"/>
              <a:t>An </a:t>
            </a:r>
            <a:r>
              <a:rPr lang="en-US" b="1"/>
              <a:t>expansion </a:t>
            </a:r>
            <a:r>
              <a:rPr lang="en-US"/>
              <a:t>is a period in which the economy is growing at a rate significantly above normal</a:t>
            </a:r>
          </a:p>
          <a:p>
            <a:pPr eaLnBrk="1" hangingPunct="1"/>
            <a:r>
              <a:rPr lang="en-US"/>
              <a:t>A </a:t>
            </a:r>
            <a:r>
              <a:rPr lang="en-US" b="1"/>
              <a:t>boom </a:t>
            </a:r>
            <a:r>
              <a:rPr lang="en-US"/>
              <a:t>is a strong and long lasting expansion</a:t>
            </a:r>
          </a:p>
          <a:p>
            <a:pPr lvl="1" eaLnBrk="1" hangingPunct="1">
              <a:buFontTx/>
              <a:buNone/>
            </a:pPr>
            <a:endParaRPr lang="en-US"/>
          </a:p>
          <a:p>
            <a:pPr lvl="1" eaLnBrk="1" hangingPunct="1">
              <a:buFontTx/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Business Cycle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1771650" y="5591177"/>
            <a:ext cx="6134100" cy="28573"/>
          </a:xfrm>
          <a:prstGeom prst="straightConnector1">
            <a:avLst/>
          </a:prstGeom>
          <a:ln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1743075" y="1762126"/>
            <a:ext cx="19050" cy="3867149"/>
          </a:xfrm>
          <a:prstGeom prst="straightConnector1">
            <a:avLst/>
          </a:prstGeom>
          <a:ln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9174" y="1219200"/>
            <a:ext cx="1800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 GDP</a:t>
            </a:r>
            <a:endParaRPr lang="en-SG" dirty="0"/>
          </a:p>
        </p:txBody>
      </p:sp>
      <p:sp>
        <p:nvSpPr>
          <p:cNvPr id="17" name="TextBox 16"/>
          <p:cNvSpPr txBox="1"/>
          <p:nvPr/>
        </p:nvSpPr>
        <p:spPr>
          <a:xfrm>
            <a:off x="7677149" y="5638800"/>
            <a:ext cx="1028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SG" dirty="0"/>
          </a:p>
        </p:txBody>
      </p:sp>
      <p:sp>
        <p:nvSpPr>
          <p:cNvPr id="18" name="Freeform 17"/>
          <p:cNvSpPr/>
          <p:nvPr/>
        </p:nvSpPr>
        <p:spPr>
          <a:xfrm>
            <a:off x="2133600" y="1793875"/>
            <a:ext cx="5095875" cy="3121025"/>
          </a:xfrm>
          <a:custGeom>
            <a:avLst/>
            <a:gdLst>
              <a:gd name="connsiteX0" fmla="*/ 0 w 5095875"/>
              <a:gd name="connsiteY0" fmla="*/ 3121025 h 3121025"/>
              <a:gd name="connsiteX1" fmla="*/ 942975 w 5095875"/>
              <a:gd name="connsiteY1" fmla="*/ 2625725 h 3121025"/>
              <a:gd name="connsiteX2" fmla="*/ 1419225 w 5095875"/>
              <a:gd name="connsiteY2" fmla="*/ 1349375 h 3121025"/>
              <a:gd name="connsiteX3" fmla="*/ 2628900 w 5095875"/>
              <a:gd name="connsiteY3" fmla="*/ 1901825 h 3121025"/>
              <a:gd name="connsiteX4" fmla="*/ 3581400 w 5095875"/>
              <a:gd name="connsiteY4" fmla="*/ 187325 h 3121025"/>
              <a:gd name="connsiteX5" fmla="*/ 5095875 w 5095875"/>
              <a:gd name="connsiteY5" fmla="*/ 777875 h 3121025"/>
              <a:gd name="connsiteX6" fmla="*/ 5095875 w 5095875"/>
              <a:gd name="connsiteY6" fmla="*/ 777875 h 312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95875" h="3121025">
                <a:moveTo>
                  <a:pt x="0" y="3121025"/>
                </a:moveTo>
                <a:cubicBezTo>
                  <a:pt x="353219" y="3021012"/>
                  <a:pt x="706438" y="2921000"/>
                  <a:pt x="942975" y="2625725"/>
                </a:cubicBezTo>
                <a:cubicBezTo>
                  <a:pt x="1179512" y="2330450"/>
                  <a:pt x="1138238" y="1470025"/>
                  <a:pt x="1419225" y="1349375"/>
                </a:cubicBezTo>
                <a:cubicBezTo>
                  <a:pt x="1700212" y="1228725"/>
                  <a:pt x="2268538" y="2095500"/>
                  <a:pt x="2628900" y="1901825"/>
                </a:cubicBezTo>
                <a:cubicBezTo>
                  <a:pt x="2989262" y="1708150"/>
                  <a:pt x="3170238" y="374650"/>
                  <a:pt x="3581400" y="187325"/>
                </a:cubicBezTo>
                <a:cubicBezTo>
                  <a:pt x="3992562" y="0"/>
                  <a:pt x="5095875" y="777875"/>
                  <a:pt x="5095875" y="777875"/>
                </a:cubicBezTo>
                <a:lnTo>
                  <a:pt x="5095875" y="777875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Connector 19"/>
          <p:cNvCxnSpPr>
            <a:stCxn id="18" idx="2"/>
          </p:cNvCxnSpPr>
          <p:nvPr/>
        </p:nvCxnSpPr>
        <p:spPr>
          <a:xfrm>
            <a:off x="3552826" y="3143251"/>
            <a:ext cx="28574" cy="24860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657725" y="3743325"/>
            <a:ext cx="28575" cy="18859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781676" y="1981201"/>
            <a:ext cx="57149" cy="36194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34124" y="2628900"/>
            <a:ext cx="2295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Business Cycle</a:t>
            </a:r>
            <a:endParaRPr lang="en-SG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3181350" y="2781299"/>
            <a:ext cx="895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Peak</a:t>
            </a:r>
            <a:endParaRPr lang="en-SG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4048124" y="3248024"/>
            <a:ext cx="1019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Trough</a:t>
            </a:r>
            <a:endParaRPr lang="en-SG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3495676" y="4743449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Recession</a:t>
            </a:r>
            <a:endParaRPr lang="en-SG" sz="1800" dirty="0"/>
          </a:p>
        </p:txBody>
      </p:sp>
      <p:sp>
        <p:nvSpPr>
          <p:cNvPr id="32" name="TextBox 31"/>
          <p:cNvSpPr txBox="1"/>
          <p:nvPr/>
        </p:nvSpPr>
        <p:spPr>
          <a:xfrm>
            <a:off x="4619626" y="4267199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Expansion</a:t>
            </a:r>
            <a:endParaRPr lang="en-SG" sz="18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Symptoms of Business Cycle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600200"/>
            <a:ext cx="8267700" cy="5048250"/>
          </a:xfrm>
        </p:spPr>
        <p:txBody>
          <a:bodyPr/>
          <a:lstStyle/>
          <a:p>
            <a:pPr eaLnBrk="1" hangingPunct="1"/>
            <a:r>
              <a:rPr lang="en-US" sz="2400" dirty="0"/>
              <a:t>Recessions and expansions are irregular in their length and severity and affect the entire economy and may have global impact</a:t>
            </a:r>
          </a:p>
          <a:p>
            <a:pPr eaLnBrk="1" hangingPunct="1"/>
            <a:r>
              <a:rPr lang="en-US" sz="2400" dirty="0"/>
              <a:t>Cyclical unemployment rises sharply during recessions</a:t>
            </a:r>
          </a:p>
          <a:p>
            <a:pPr lvl="1" eaLnBrk="1" hangingPunct="1"/>
            <a:r>
              <a:rPr lang="en-US" sz="2400" dirty="0"/>
              <a:t>Real wages grow slowly, promotions and bonuses are deferred</a:t>
            </a:r>
          </a:p>
          <a:p>
            <a:pPr lvl="1" eaLnBrk="1" hangingPunct="1"/>
            <a:r>
              <a:rPr lang="en-US" sz="2400" dirty="0"/>
              <a:t>New labor market entrants have difficulty finding work</a:t>
            </a:r>
          </a:p>
          <a:p>
            <a:pPr eaLnBrk="1" hangingPunct="1"/>
            <a:r>
              <a:rPr lang="en-US" sz="2400" dirty="0"/>
              <a:t>Production of durable goods is more volatile than services and non-durable goods such as food</a:t>
            </a:r>
          </a:p>
          <a:p>
            <a:pPr lvl="1" eaLnBrk="1" hangingPunct="1"/>
            <a:r>
              <a:rPr lang="en-US" sz="2400" dirty="0"/>
              <a:t>Cars, houses, capital equipment less stable</a:t>
            </a:r>
          </a:p>
          <a:p>
            <a:pPr eaLnBrk="1" hangingPunct="1"/>
            <a:r>
              <a:rPr lang="en-US" sz="2400" dirty="0"/>
              <a:t>Inflation generally decreases during recession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Potential Output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75948" y="1574800"/>
            <a:ext cx="8410902" cy="4826000"/>
          </a:xfrm>
        </p:spPr>
        <p:txBody>
          <a:bodyPr/>
          <a:lstStyle/>
          <a:p>
            <a:pPr eaLnBrk="1" hangingPunct="1"/>
            <a:r>
              <a:rPr lang="en-US" sz="2600" b="1" dirty="0"/>
              <a:t>Potential outpu</a:t>
            </a:r>
            <a:r>
              <a:rPr lang="en-US" sz="2600" dirty="0"/>
              <a:t>t, Y* , is the maximum sustainable amount of output that an economy can produce</a:t>
            </a:r>
          </a:p>
          <a:p>
            <a:pPr lvl="1" eaLnBrk="1" hangingPunct="1"/>
            <a:r>
              <a:rPr lang="en-US" sz="2300" dirty="0"/>
              <a:t>Also called </a:t>
            </a:r>
            <a:r>
              <a:rPr lang="en-US" sz="2300" b="1" dirty="0"/>
              <a:t>full-employment output</a:t>
            </a:r>
          </a:p>
          <a:p>
            <a:pPr eaLnBrk="1" hangingPunct="1"/>
            <a:r>
              <a:rPr lang="en-US" sz="2600" dirty="0"/>
              <a:t>Potential output grows over time due to changes in technology and resources available</a:t>
            </a:r>
          </a:p>
          <a:p>
            <a:pPr eaLnBrk="1" hangingPunct="1"/>
            <a:r>
              <a:rPr lang="en-US" sz="2600" dirty="0"/>
              <a:t>Actual output grows at a variable rate</a:t>
            </a:r>
          </a:p>
          <a:p>
            <a:pPr lvl="1" eaLnBrk="1" hangingPunct="1"/>
            <a:r>
              <a:rPr lang="en-US" sz="2300" dirty="0"/>
              <a:t>Depends on actual amount of resources used in production </a:t>
            </a:r>
          </a:p>
          <a:p>
            <a:pPr lvl="1" eaLnBrk="1" hangingPunct="1"/>
            <a:r>
              <a:rPr lang="en-US" sz="2300" dirty="0"/>
              <a:t>Actual output does not always equal potential output</a:t>
            </a:r>
          </a:p>
          <a:p>
            <a:pPr lvl="1" eaLnBrk="1" hangingPunct="1"/>
            <a:r>
              <a:rPr lang="en-US" sz="2300" dirty="0"/>
              <a:t>Use capital and labor at greater or less than normal rates and may exceed or less than Y* for a period of time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194438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Output Gaps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38175" y="1337438"/>
            <a:ext cx="8308757" cy="5130037"/>
          </a:xfrm>
        </p:spPr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b="1" dirty="0"/>
              <a:t>output gap</a:t>
            </a:r>
            <a:r>
              <a:rPr lang="en-US" dirty="0"/>
              <a:t> is the difference between the economy’s actual output and its potential output, relative to potential output, at a point in time</a:t>
            </a:r>
          </a:p>
          <a:p>
            <a:pPr algn="ctr" eaLnBrk="1" hangingPunct="1">
              <a:buFontTx/>
              <a:buNone/>
            </a:pPr>
            <a:r>
              <a:rPr lang="en-US" dirty="0"/>
              <a:t>Output gap = [(Y – Y*</a:t>
            </a:r>
            <a:r>
              <a:rPr lang="en-US" dirty="0">
                <a:cs typeface="Arial" charset="0"/>
              </a:rPr>
              <a:t>)/Y*]x100</a:t>
            </a:r>
            <a:endParaRPr lang="en-US" dirty="0"/>
          </a:p>
          <a:p>
            <a:pPr lvl="1" eaLnBrk="1" hangingPunct="1"/>
            <a:r>
              <a:rPr lang="en-US" b="1" dirty="0"/>
              <a:t>Recessionary gap</a:t>
            </a:r>
            <a:r>
              <a:rPr lang="en-US" dirty="0"/>
              <a:t> is a negative output gap; Y &lt; Y*</a:t>
            </a:r>
          </a:p>
          <a:p>
            <a:pPr lvl="1" eaLnBrk="1" hangingPunct="1"/>
            <a:r>
              <a:rPr lang="en-US" b="1" dirty="0"/>
              <a:t>Expansionary gap</a:t>
            </a:r>
            <a:r>
              <a:rPr lang="en-US" dirty="0"/>
              <a:t> is a positive output gap; Y &gt; Y*</a:t>
            </a:r>
          </a:p>
          <a:p>
            <a:pPr eaLnBrk="1" hangingPunct="1"/>
            <a:r>
              <a:rPr lang="en-US" dirty="0"/>
              <a:t>Policy makers consider stabilization policies when there are output gaps</a:t>
            </a:r>
          </a:p>
          <a:p>
            <a:pPr lvl="1" eaLnBrk="1" hangingPunct="1"/>
            <a:r>
              <a:rPr lang="en-US" dirty="0"/>
              <a:t>Recessionary gaps mean output and employment are less than sustainable level </a:t>
            </a:r>
            <a:r>
              <a:rPr lang="en-US" dirty="0">
                <a:sym typeface="Symbol"/>
              </a:rPr>
              <a:t></a:t>
            </a:r>
            <a:r>
              <a:rPr lang="en-US" dirty="0"/>
              <a:t> Unemployment</a:t>
            </a:r>
          </a:p>
          <a:p>
            <a:pPr lvl="1" eaLnBrk="1" hangingPunct="1"/>
            <a:r>
              <a:rPr lang="en-US" dirty="0"/>
              <a:t>Expansionary gaps lead to inflation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177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Natural Rate of Unemployment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7" y="1422400"/>
            <a:ext cx="8287077" cy="5092700"/>
          </a:xfrm>
        </p:spPr>
        <p:txBody>
          <a:bodyPr/>
          <a:lstStyle/>
          <a:p>
            <a:pPr eaLnBrk="1" hangingPunct="1"/>
            <a:r>
              <a:rPr lang="en-US" dirty="0"/>
              <a:t>Recessionary gaps - High unemployment rates</a:t>
            </a:r>
          </a:p>
          <a:p>
            <a:pPr eaLnBrk="1" hangingPunct="1"/>
            <a:r>
              <a:rPr lang="en-US" sz="2700" dirty="0"/>
              <a:t>Expansionary gaps - Low unemployment rates</a:t>
            </a:r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natural rate of unemployment</a:t>
            </a:r>
            <a:r>
              <a:rPr lang="en-US" dirty="0"/>
              <a:t>, u*, is the sum of frictional and structural unemployment</a:t>
            </a:r>
          </a:p>
          <a:p>
            <a:pPr lvl="1" eaLnBrk="1" hangingPunct="1"/>
            <a:r>
              <a:rPr lang="en-US" sz="2400" dirty="0"/>
              <a:t>Unemployment rate when cyclical unemployment is 0</a:t>
            </a:r>
          </a:p>
          <a:p>
            <a:pPr lvl="1" eaLnBrk="1" hangingPunct="1"/>
            <a:r>
              <a:rPr lang="en-US" sz="2400" dirty="0"/>
              <a:t>Occurs when Y is at Y*</a:t>
            </a:r>
          </a:p>
          <a:p>
            <a:pPr eaLnBrk="1" hangingPunct="1"/>
            <a:r>
              <a:rPr lang="en-US" dirty="0"/>
              <a:t>Cyclical unemployment is the difference between total unemployment, u, and u*</a:t>
            </a:r>
          </a:p>
          <a:p>
            <a:pPr lvl="1" eaLnBrk="1" hangingPunct="1"/>
            <a:r>
              <a:rPr lang="en-US" sz="2400" dirty="0"/>
              <a:t>Recessionary gaps have u &gt; u*</a:t>
            </a:r>
          </a:p>
          <a:p>
            <a:pPr lvl="1" eaLnBrk="1" hangingPunct="1"/>
            <a:r>
              <a:rPr lang="en-US" sz="2400" dirty="0"/>
              <a:t>Expansionary gaps have u &lt; u*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/>
              <a:t>Okun’s</a:t>
            </a:r>
            <a:r>
              <a:rPr lang="en-US" dirty="0"/>
              <a:t> Law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96162" y="1552902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 err="1"/>
              <a:t>Okun's</a:t>
            </a:r>
            <a:r>
              <a:rPr lang="en-US" b="1" dirty="0"/>
              <a:t> law</a:t>
            </a:r>
            <a:r>
              <a:rPr lang="en-US" dirty="0"/>
              <a:t> relates cyclical unemployment changes to changes in the output gap</a:t>
            </a:r>
          </a:p>
          <a:p>
            <a:pPr lvl="1" eaLnBrk="1" hangingPunct="1"/>
            <a:r>
              <a:rPr lang="en-US" dirty="0"/>
              <a:t>One percentage point increase in cyclical unemployment associated with a 2 percentage point increase in the output gap</a:t>
            </a:r>
          </a:p>
          <a:p>
            <a:pPr eaLnBrk="1" hangingPunct="1"/>
            <a:r>
              <a:rPr lang="en-US" dirty="0"/>
              <a:t>Suppose the economy begins with 1% cyclical unemployment and an recessionary gap of 2% of potential GDP</a:t>
            </a:r>
          </a:p>
          <a:p>
            <a:pPr lvl="1" eaLnBrk="1" hangingPunct="1"/>
            <a:r>
              <a:rPr lang="en-US" dirty="0"/>
              <a:t>If cyclical unemployment increases to 2%, the recessionary gap increases to 4% of Y*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304799"/>
            <a:ext cx="7843343" cy="1177159"/>
          </a:xfrm>
        </p:spPr>
        <p:txBody>
          <a:bodyPr/>
          <a:lstStyle/>
          <a:p>
            <a:pPr eaLnBrk="1" hangingPunct="1"/>
            <a:r>
              <a:rPr lang="en-US" dirty="0"/>
              <a:t>Short-Term Fluctuations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marL="228600" indent="-228600" eaLnBrk="1" hangingPunct="1"/>
            <a:r>
              <a:rPr lang="en-US" dirty="0"/>
              <a:t>Output gaps arise for two main reasons</a:t>
            </a:r>
          </a:p>
          <a:p>
            <a:pPr marL="228600" indent="-228600" eaLnBrk="1" hangingPunct="1"/>
            <a:r>
              <a:rPr lang="en-US" dirty="0"/>
              <a:t>(1)	Markets require time to reach equilibrium price and quantity</a:t>
            </a:r>
          </a:p>
          <a:p>
            <a:pPr marL="685800" lvl="2" indent="-215900" eaLnBrk="1" hangingPunct="1"/>
            <a:r>
              <a:rPr lang="en-US" dirty="0"/>
              <a:t>Firms change prices infrequently as cost are incurred when changing prices</a:t>
            </a:r>
          </a:p>
          <a:p>
            <a:pPr marL="685800" lvl="2" indent="-215900" eaLnBrk="1" hangingPunct="1"/>
            <a:r>
              <a:rPr lang="en-US" dirty="0"/>
              <a:t>Quantity produced is not at equilibrium during the adjustment period</a:t>
            </a:r>
          </a:p>
          <a:p>
            <a:pPr marL="685800" lvl="2" indent="-215900" eaLnBrk="1" hangingPunct="1"/>
            <a:r>
              <a:rPr lang="en-US" dirty="0"/>
              <a:t>Firms adjust production to meet the demand at current prices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463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Short-Term Fluctuations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4630" y="1600200"/>
            <a:ext cx="8229600" cy="4525963"/>
          </a:xfrm>
        </p:spPr>
        <p:txBody>
          <a:bodyPr/>
          <a:lstStyle/>
          <a:p>
            <a:pPr marL="285750" indent="-457200" eaLnBrk="1" hangingPunct="1"/>
            <a:r>
              <a:rPr lang="en-US" dirty="0"/>
              <a:t>(2) Changes in total spending at preset prices affects output levels</a:t>
            </a:r>
          </a:p>
          <a:p>
            <a:pPr marL="685800" lvl="2" eaLnBrk="1" hangingPunct="1"/>
            <a:r>
              <a:rPr lang="en-US" dirty="0"/>
              <a:t>When spending is low, output will be below potential output - Recessionary</a:t>
            </a:r>
          </a:p>
          <a:p>
            <a:pPr marL="685800" lvl="2" eaLnBrk="1" hangingPunct="1"/>
            <a:r>
              <a:rPr lang="en-US" dirty="0"/>
              <a:t>Excessive spending leads to actual output above potential output - Overheating</a:t>
            </a:r>
          </a:p>
          <a:p>
            <a:pPr marL="685800" lvl="2" eaLnBrk="1" hangingPunct="1"/>
            <a:r>
              <a:rPr lang="en-US" dirty="0"/>
              <a:t>Changes in economy-wide spending are the primary causes of output gaps</a:t>
            </a:r>
          </a:p>
          <a:p>
            <a:pPr marL="285750" lvl="1" eaLnBrk="1" hangingPunct="1">
              <a:buFont typeface="Arial" pitchFamily="34" charset="0"/>
              <a:buChar char="•"/>
            </a:pPr>
            <a:r>
              <a:rPr lang="en-US" dirty="0"/>
              <a:t>Use government policy to close the output gap to stabilize the economy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46246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Adjustment in Long Run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27694" y="1733550"/>
            <a:ext cx="8229600" cy="4818295"/>
          </a:xfrm>
        </p:spPr>
        <p:txBody>
          <a:bodyPr/>
          <a:lstStyle/>
          <a:p>
            <a:pPr marL="228600" indent="-228600" eaLnBrk="1" hangingPunct="1"/>
            <a:r>
              <a:rPr lang="en-US" dirty="0"/>
              <a:t>The economy has self-correcting mechanisms</a:t>
            </a:r>
          </a:p>
          <a:p>
            <a:pPr marL="457200" lvl="1" indent="-228600" eaLnBrk="1" hangingPunct="1"/>
            <a:r>
              <a:rPr lang="en-US" dirty="0"/>
              <a:t>Firms eventually adjust to output gaps in the long run</a:t>
            </a:r>
          </a:p>
          <a:p>
            <a:pPr marL="685800" lvl="2" eaLnBrk="1" hangingPunct="1"/>
            <a:r>
              <a:rPr lang="en-US" dirty="0"/>
              <a:t>If spending is less than potential output, firms will reduce  prices</a:t>
            </a:r>
          </a:p>
          <a:p>
            <a:pPr marL="685800" lvl="2" eaLnBrk="1" hangingPunct="1"/>
            <a:r>
              <a:rPr lang="en-US" dirty="0"/>
              <a:t>If spending is more than potential output, firms increase prices</a:t>
            </a:r>
          </a:p>
          <a:p>
            <a:pPr marL="635000" lvl="1" indent="-406400" eaLnBrk="1" hangingPunct="1"/>
            <a:r>
              <a:rPr lang="en-US" dirty="0"/>
              <a:t>Eventually, prices reach equilibrium and eliminate output gaps</a:t>
            </a:r>
          </a:p>
          <a:p>
            <a:pPr marL="635000" lvl="1" indent="-406400" eaLnBrk="1" hangingPunct="1"/>
            <a:r>
              <a:rPr lang="en-US" dirty="0"/>
              <a:t>In long run, production is at potential output levels</a:t>
            </a:r>
          </a:p>
          <a:p>
            <a:pPr marL="1028700" lvl="2" eaLnBrk="1" hangingPunct="1"/>
            <a:r>
              <a:rPr lang="en-US" dirty="0"/>
              <a:t>Output is determined by productive capacity </a:t>
            </a:r>
          </a:p>
          <a:p>
            <a:pPr marL="1028700" lvl="2" eaLnBrk="1" hangingPunct="1"/>
            <a:r>
              <a:rPr lang="en-US" dirty="0"/>
              <a:t>Spending influences only price levels and inflation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Keynes Theory</a:t>
            </a:r>
            <a:endParaRPr lang="en-US" sz="6600" dirty="0"/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600200"/>
            <a:ext cx="8553450" cy="4991100"/>
          </a:xfrm>
        </p:spPr>
        <p:txBody>
          <a:bodyPr/>
          <a:lstStyle/>
          <a:p>
            <a:pPr eaLnBrk="1" hangingPunct="1"/>
            <a:r>
              <a:rPr lang="en-US" sz="2400" dirty="0"/>
              <a:t>Great Depression in 1930s resulted in long term unemployment and decrease in aggregate spending.</a:t>
            </a:r>
          </a:p>
          <a:p>
            <a:pPr eaLnBrk="1" hangingPunct="1"/>
            <a:r>
              <a:rPr lang="en-US" sz="2400" dirty="0"/>
              <a:t>A decrease in spending leads to lower production</a:t>
            </a:r>
          </a:p>
          <a:p>
            <a:pPr lvl="1" eaLnBrk="1" hangingPunct="1"/>
            <a:r>
              <a:rPr lang="en-US" sz="2400" dirty="0"/>
              <a:t>Laid-off workers reduce their spending</a:t>
            </a:r>
          </a:p>
          <a:p>
            <a:pPr lvl="1" eaLnBrk="1" hangingPunct="1"/>
            <a:r>
              <a:rPr lang="en-US" sz="2400" dirty="0"/>
              <a:t>Insufficient spending cannot support the normal level of production</a:t>
            </a:r>
          </a:p>
          <a:p>
            <a:pPr eaLnBrk="1" hangingPunct="1"/>
            <a:r>
              <a:rPr lang="en-US" sz="2400" dirty="0"/>
              <a:t>John Maynard Keynes revolutionized economic thought and public policy</a:t>
            </a:r>
          </a:p>
          <a:p>
            <a:pPr lvl="1" eaLnBrk="1" hangingPunct="1"/>
            <a:r>
              <a:rPr lang="en-US" sz="2400" dirty="0"/>
              <a:t>Recessionary gap exist for long periods due to aggregate spending is too low for full employment</a:t>
            </a:r>
          </a:p>
          <a:p>
            <a:pPr lvl="2" eaLnBrk="1" hangingPunct="1"/>
            <a:r>
              <a:rPr lang="en-US" sz="2400" dirty="0"/>
              <a:t>Stabilization policies use government spending or taxes to substitute for spending in other sectors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1566" y="131374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Keynesian Model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01566" y="1172774"/>
            <a:ext cx="8229600" cy="5323276"/>
          </a:xfrm>
        </p:spPr>
        <p:txBody>
          <a:bodyPr/>
          <a:lstStyle/>
          <a:p>
            <a:pPr eaLnBrk="1" hangingPunct="1"/>
            <a:r>
              <a:rPr lang="en-US" dirty="0"/>
              <a:t>In the short run, firms meet demand at preset prices</a:t>
            </a:r>
          </a:p>
          <a:p>
            <a:pPr lvl="1" eaLnBrk="1" hangingPunct="1"/>
            <a:r>
              <a:rPr lang="en-US" dirty="0"/>
              <a:t>Firms typically set a price and meet the demand at that price in the short run</a:t>
            </a:r>
          </a:p>
          <a:p>
            <a:pPr lvl="2" eaLnBrk="1" hangingPunct="1"/>
            <a:r>
              <a:rPr lang="en-US" b="1" dirty="0"/>
              <a:t>Menu costs </a:t>
            </a:r>
            <a:r>
              <a:rPr lang="en-US" dirty="0"/>
              <a:t>are the costs of changing prices</a:t>
            </a:r>
          </a:p>
          <a:p>
            <a:pPr lvl="3" eaLnBrk="1" hangingPunct="1"/>
            <a:r>
              <a:rPr lang="en-US" dirty="0"/>
              <a:t>Determining the new price</a:t>
            </a:r>
          </a:p>
          <a:p>
            <a:pPr lvl="3" eaLnBrk="1" hangingPunct="1"/>
            <a:r>
              <a:rPr lang="en-US" dirty="0"/>
              <a:t>Incorporating prices into the business</a:t>
            </a:r>
          </a:p>
          <a:p>
            <a:pPr lvl="3" eaLnBrk="1" hangingPunct="1"/>
            <a:r>
              <a:rPr lang="en-US" dirty="0"/>
              <a:t>Informing consumers of new prices</a:t>
            </a:r>
          </a:p>
          <a:p>
            <a:pPr eaLnBrk="1" hangingPunct="1"/>
            <a:r>
              <a:rPr lang="en-US" dirty="0"/>
              <a:t>Price level is sticky in the short run</a:t>
            </a:r>
          </a:p>
          <a:p>
            <a:pPr eaLnBrk="1" hangingPunct="1"/>
            <a:r>
              <a:rPr lang="en-US" dirty="0"/>
              <a:t>Only in the long run price level is flexible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463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Planned Aggregate Expenditure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463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b="1"/>
              <a:t>Planned aggregate expenditure (PAE) </a:t>
            </a:r>
            <a:r>
              <a:rPr lang="en-US"/>
              <a:t>is total planned spending on final goods and services</a:t>
            </a:r>
          </a:p>
          <a:p>
            <a:pPr eaLnBrk="1" hangingPunct="1"/>
            <a:r>
              <a:rPr lang="en-US"/>
              <a:t>Four components of planned aggregate expenditure</a:t>
            </a:r>
          </a:p>
          <a:p>
            <a:pPr lvl="1" eaLnBrk="1" hangingPunct="1"/>
            <a:r>
              <a:rPr lang="en-US"/>
              <a:t>Consumption (C) by households</a:t>
            </a:r>
          </a:p>
          <a:p>
            <a:pPr lvl="1" eaLnBrk="1" hangingPunct="1"/>
            <a:r>
              <a:rPr lang="en-US"/>
              <a:t>Investment (I) is planned spending by domestic firms on new capital goods</a:t>
            </a:r>
          </a:p>
          <a:p>
            <a:pPr lvl="1" eaLnBrk="1" hangingPunct="1"/>
            <a:r>
              <a:rPr lang="en-US"/>
              <a:t>Government purchases (G) are made by federal, state, and local governments</a:t>
            </a:r>
          </a:p>
          <a:p>
            <a:pPr lvl="1" eaLnBrk="1" hangingPunct="1"/>
            <a:r>
              <a:rPr lang="en-US"/>
              <a:t>Net exports (NX) equals exports minus imports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9546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Planned Investment Example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76275" y="1162485"/>
            <a:ext cx="8305800" cy="5571689"/>
          </a:xfrm>
        </p:spPr>
        <p:txBody>
          <a:bodyPr/>
          <a:lstStyle/>
          <a:p>
            <a:pPr eaLnBrk="1" hangingPunct="1"/>
            <a:r>
              <a:rPr lang="en-US" dirty="0"/>
              <a:t>Fly-by-Night Kite produces $5 million of kites per year</a:t>
            </a:r>
          </a:p>
          <a:p>
            <a:pPr lvl="1" eaLnBrk="1" hangingPunct="1"/>
            <a:r>
              <a:rPr lang="en-US" sz="2400" dirty="0"/>
              <a:t>Expected sales are $4.8 million and planned inventory increase is $0.2 million</a:t>
            </a:r>
          </a:p>
          <a:p>
            <a:pPr lvl="1" eaLnBrk="1" hangingPunct="1"/>
            <a:r>
              <a:rPr lang="en-US" sz="2400" dirty="0"/>
              <a:t>Capital expenditure of $1 million is planned</a:t>
            </a:r>
          </a:p>
          <a:p>
            <a:pPr lvl="2" eaLnBrk="1" hangingPunct="1"/>
            <a:r>
              <a:rPr lang="en-US" dirty="0"/>
              <a:t>Total planned investment is $1.2 million</a:t>
            </a:r>
          </a:p>
          <a:p>
            <a:pPr eaLnBrk="1" hangingPunct="1"/>
            <a:r>
              <a:rPr lang="en-US" dirty="0"/>
              <a:t>If actual sales are only $4.6 million</a:t>
            </a:r>
          </a:p>
          <a:p>
            <a:pPr lvl="1" eaLnBrk="1" hangingPunct="1"/>
            <a:r>
              <a:rPr lang="en-US" sz="2400" dirty="0"/>
              <a:t>Unplanned inventory investment of $0.2 million</a:t>
            </a:r>
          </a:p>
          <a:p>
            <a:pPr lvl="1" eaLnBrk="1" hangingPunct="1"/>
            <a:r>
              <a:rPr lang="en-US" sz="2400" dirty="0"/>
              <a:t>Actual investment is $1.4 million, more than planned</a:t>
            </a:r>
          </a:p>
          <a:p>
            <a:pPr eaLnBrk="1" hangingPunct="1"/>
            <a:r>
              <a:rPr lang="en-US" dirty="0"/>
              <a:t>If actual sales are $5.0 million</a:t>
            </a:r>
          </a:p>
          <a:p>
            <a:pPr lvl="1" eaLnBrk="1" hangingPunct="1"/>
            <a:r>
              <a:rPr lang="en-US" sz="2400" dirty="0"/>
              <a:t>Unplanned inventory decrease of $0.2 million</a:t>
            </a:r>
          </a:p>
          <a:p>
            <a:pPr lvl="1" eaLnBrk="1" hangingPunct="1"/>
            <a:r>
              <a:rPr lang="en-US" sz="2400" dirty="0"/>
              <a:t>Actual investment is $1.0 million, less than planned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Planned Aggregate Expenditure (PAE)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700"/>
              <a:t>Actual spending equals planned spending for</a:t>
            </a:r>
          </a:p>
          <a:p>
            <a:pPr lvl="1" eaLnBrk="1" hangingPunct="1"/>
            <a:r>
              <a:rPr lang="en-US"/>
              <a:t>Consumption</a:t>
            </a:r>
          </a:p>
          <a:p>
            <a:pPr lvl="1" eaLnBrk="1" hangingPunct="1"/>
            <a:r>
              <a:rPr lang="en-US"/>
              <a:t>Government purchases of final goods and services</a:t>
            </a:r>
          </a:p>
          <a:p>
            <a:pPr lvl="1" eaLnBrk="1" hangingPunct="1"/>
            <a:r>
              <a:rPr lang="en-US"/>
              <a:t>Net exports</a:t>
            </a:r>
          </a:p>
          <a:p>
            <a:pPr eaLnBrk="1" hangingPunct="1"/>
            <a:r>
              <a:rPr lang="en-US" sz="2700"/>
              <a:t>Adjustments between actual and planned spending are accomplished with changes in inventories</a:t>
            </a:r>
          </a:p>
          <a:p>
            <a:pPr eaLnBrk="1" hangingPunct="1"/>
            <a:r>
              <a:rPr lang="en-US" sz="2700"/>
              <a:t>The general equation for planned aggregate expenditures is </a:t>
            </a:r>
          </a:p>
        </p:txBody>
      </p:sp>
      <p:sp>
        <p:nvSpPr>
          <p:cNvPr id="216069" name="Rectangle 1029"/>
          <p:cNvSpPr>
            <a:spLocks noChangeArrowheads="1"/>
          </p:cNvSpPr>
          <p:nvPr/>
        </p:nvSpPr>
        <p:spPr bwMode="auto">
          <a:xfrm>
            <a:off x="2873193" y="5645727"/>
            <a:ext cx="3477923" cy="88741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</a:rPr>
              <a:t>PAE = C + I</a:t>
            </a:r>
            <a:r>
              <a:rPr lang="en-US" sz="2400" b="1" baseline="30000" dirty="0">
                <a:solidFill>
                  <a:schemeClr val="bg1"/>
                </a:solidFill>
              </a:rPr>
              <a:t>P</a:t>
            </a:r>
            <a:r>
              <a:rPr lang="en-US" sz="2400" b="1" dirty="0">
                <a:solidFill>
                  <a:schemeClr val="bg1"/>
                </a:solidFill>
              </a:rPr>
              <a:t> + G + NX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96162" y="162906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Consumption Function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3775" y="1174144"/>
            <a:ext cx="8247825" cy="5445731"/>
          </a:xfrm>
        </p:spPr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b="1" dirty="0"/>
              <a:t>consumption function </a:t>
            </a:r>
            <a:r>
              <a:rPr lang="en-US" dirty="0"/>
              <a:t>is an equation relating planned consumption (C) to its determinants, notably disposable income (Y –T)</a:t>
            </a:r>
            <a:endParaRPr lang="en-US" sz="1000" dirty="0"/>
          </a:p>
          <a:p>
            <a:pPr eaLnBrk="1" hangingPunct="1">
              <a:buFontTx/>
              <a:buNone/>
            </a:pPr>
            <a:r>
              <a:rPr lang="en-US" sz="1000" dirty="0"/>
              <a:t>	</a:t>
            </a:r>
          </a:p>
          <a:p>
            <a:pPr eaLnBrk="1" hangingPunct="1">
              <a:buFontTx/>
              <a:buNone/>
            </a:pPr>
            <a:r>
              <a:rPr lang="en-US" sz="1000" dirty="0"/>
              <a:t>	</a:t>
            </a:r>
            <a:r>
              <a:rPr lang="en-US" dirty="0"/>
              <a:t>C = C + (</a:t>
            </a:r>
            <a:r>
              <a:rPr lang="en-US" dirty="0" err="1"/>
              <a:t>mpc</a:t>
            </a:r>
            <a:r>
              <a:rPr lang="en-US" dirty="0"/>
              <a:t>) (Y – T), where</a:t>
            </a:r>
            <a:endParaRPr lang="en-US" sz="1200" dirty="0"/>
          </a:p>
          <a:p>
            <a:pPr marL="1149350" lvl="1" indent="-692150" eaLnBrk="1" hangingPunct="1">
              <a:buFontTx/>
              <a:buNone/>
            </a:pPr>
            <a:endParaRPr lang="en-US" sz="1200" dirty="0"/>
          </a:p>
          <a:p>
            <a:pPr marL="1149350" lvl="1" indent="-692150" eaLnBrk="1" hangingPunct="1">
              <a:buFontTx/>
              <a:buNone/>
            </a:pPr>
            <a:r>
              <a:rPr lang="en-US" sz="1200" dirty="0"/>
              <a:t> 	</a:t>
            </a:r>
            <a:r>
              <a:rPr lang="en-US" dirty="0"/>
              <a:t> is autonomous consumption spending</a:t>
            </a:r>
          </a:p>
          <a:p>
            <a:pPr marL="1149350" lvl="1" indent="-692150" eaLnBrk="1" hangingPunct="1">
              <a:buFontTx/>
              <a:buNone/>
            </a:pPr>
            <a:r>
              <a:rPr lang="en-US" b="1" dirty="0" err="1"/>
              <a:t>mpc</a:t>
            </a:r>
            <a:r>
              <a:rPr lang="en-US" dirty="0"/>
              <a:t> is the change in consumption for a given change in disposable income,	0 &lt; </a:t>
            </a:r>
            <a:r>
              <a:rPr lang="en-US" dirty="0" err="1"/>
              <a:t>mpc</a:t>
            </a:r>
            <a:r>
              <a:rPr lang="en-US" dirty="0"/>
              <a:t> &lt; 1</a:t>
            </a:r>
          </a:p>
          <a:p>
            <a:pPr marL="1149350" lvl="1" indent="-692150" eaLnBrk="1" hangingPunct="1">
              <a:buFontTx/>
              <a:buNone/>
            </a:pPr>
            <a:endParaRPr lang="en-US" b="1" dirty="0"/>
          </a:p>
          <a:p>
            <a:pPr marL="1149350" lvl="1" indent="-692150" eaLnBrk="1" hangingPunct="1">
              <a:buFontTx/>
              <a:buNone/>
            </a:pPr>
            <a:r>
              <a:rPr lang="en-US" b="1" dirty="0"/>
              <a:t>Autonomous consumption      </a:t>
            </a:r>
            <a:r>
              <a:rPr lang="en-US" dirty="0"/>
              <a:t>is spending not related to the level of disposable income</a:t>
            </a:r>
          </a:p>
          <a:p>
            <a:pPr eaLnBrk="1" hangingPunct="1"/>
            <a:r>
              <a:rPr lang="en-US" dirty="0"/>
              <a:t>A change in       shifts the consumption function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1834387" y="2729894"/>
            <a:ext cx="290513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graphicFrame>
        <p:nvGraphicFramePr>
          <p:cNvPr id="1027" name="Object 4"/>
          <p:cNvGraphicFramePr>
            <a:graphicFrameLocks noChangeAspect="1"/>
          </p:cNvGraphicFramePr>
          <p:nvPr/>
        </p:nvGraphicFramePr>
        <p:xfrm>
          <a:off x="1624012" y="3419475"/>
          <a:ext cx="385664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203040" progId="Equation.3">
                  <p:embed/>
                </p:oleObj>
              </mc:Choice>
              <mc:Fallback>
                <p:oleObj name="Equation" r:id="rId3" imgW="1648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2" y="3419475"/>
                        <a:ext cx="385664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4"/>
          <p:cNvGraphicFramePr>
            <a:graphicFrameLocks noChangeAspect="1"/>
          </p:cNvGraphicFramePr>
          <p:nvPr/>
        </p:nvGraphicFramePr>
        <p:xfrm>
          <a:off x="5356225" y="5162550"/>
          <a:ext cx="37600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03040" progId="Equation.3">
                  <p:embed/>
                </p:oleObj>
              </mc:Choice>
              <mc:Fallback>
                <p:oleObj name="Equation" r:id="rId5" imgW="16488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225" y="5162550"/>
                        <a:ext cx="376007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4"/>
          <p:cNvGraphicFramePr>
            <a:graphicFrameLocks noChangeAspect="1"/>
          </p:cNvGraphicFramePr>
          <p:nvPr/>
        </p:nvGraphicFramePr>
        <p:xfrm>
          <a:off x="3203575" y="6065838"/>
          <a:ext cx="4159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03040" progId="Equation.3">
                  <p:embed/>
                </p:oleObj>
              </mc:Choice>
              <mc:Fallback>
                <p:oleObj name="Equation" r:id="rId6" imgW="16488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6065838"/>
                        <a:ext cx="415925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Consumption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600200"/>
            <a:ext cx="82296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C = C + (</a:t>
            </a:r>
            <a:r>
              <a:rPr lang="en-US" dirty="0" err="1"/>
              <a:t>mpc</a:t>
            </a:r>
            <a:r>
              <a:rPr lang="en-US" dirty="0"/>
              <a:t>) (Y – T)</a:t>
            </a:r>
          </a:p>
          <a:p>
            <a:pPr eaLnBrk="1" hangingPunct="1"/>
            <a:r>
              <a:rPr lang="en-US" dirty="0"/>
              <a:t>The</a:t>
            </a:r>
            <a:r>
              <a:rPr lang="en-US" b="1" dirty="0"/>
              <a:t> wealth effect</a:t>
            </a:r>
            <a:r>
              <a:rPr lang="en-US" dirty="0"/>
              <a:t> is the tendency of changes in asset prices to affect household's wealth and thus their consumption spending</a:t>
            </a:r>
          </a:p>
          <a:p>
            <a:pPr lvl="1" eaLnBrk="1" hangingPunct="1"/>
            <a:r>
              <a:rPr lang="en-US" dirty="0"/>
              <a:t>This effect is included in </a:t>
            </a:r>
          </a:p>
          <a:p>
            <a:pPr eaLnBrk="1" hangingPunct="1"/>
            <a:r>
              <a:rPr lang="en-US" dirty="0"/>
              <a:t>Autonomous consumption also captures the effects of interest rates on consumption</a:t>
            </a:r>
          </a:p>
          <a:p>
            <a:pPr lvl="1" eaLnBrk="1" hangingPunct="1"/>
            <a:r>
              <a:rPr lang="en-US" dirty="0"/>
              <a:t>Higher rates increase the cost of using credit to purchase consumer durables and other items</a:t>
            </a:r>
          </a:p>
        </p:txBody>
      </p:sp>
      <p:cxnSp>
        <p:nvCxnSpPr>
          <p:cNvPr id="18435" name="Straight Connector 6"/>
          <p:cNvCxnSpPr>
            <a:cxnSpLocks noChangeShapeType="1"/>
          </p:cNvCxnSpPr>
          <p:nvPr/>
        </p:nvCxnSpPr>
        <p:spPr bwMode="auto">
          <a:xfrm>
            <a:off x="3781207" y="1665288"/>
            <a:ext cx="220663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5014914" y="3470621"/>
          <a:ext cx="366712" cy="452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203040" progId="Equation.3">
                  <p:embed/>
                </p:oleObj>
              </mc:Choice>
              <mc:Fallback>
                <p:oleObj name="Equation" r:id="rId3" imgW="1648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4" y="3470621"/>
                        <a:ext cx="366712" cy="4520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 idx="4294967295"/>
          </p:nvPr>
        </p:nvSpPr>
        <p:spPr>
          <a:xfrm>
            <a:off x="780396" y="39939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Consumption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80396" y="1757860"/>
            <a:ext cx="82296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C = C + (mpc) (Y – T)</a:t>
            </a:r>
          </a:p>
          <a:p>
            <a:pPr eaLnBrk="1" hangingPunct="1"/>
            <a:r>
              <a:rPr lang="en-US" b="1"/>
              <a:t>Marginal propensity to consume</a:t>
            </a:r>
            <a:r>
              <a:rPr lang="en-US"/>
              <a:t> (mpc) is the increase in consumption spending when disposable income increases by $1</a:t>
            </a:r>
          </a:p>
          <a:p>
            <a:pPr lvl="1" eaLnBrk="1" hangingPunct="1"/>
            <a:r>
              <a:rPr lang="en-US"/>
              <a:t>mpc is between 0 and 1 for the economy</a:t>
            </a:r>
          </a:p>
          <a:p>
            <a:pPr lvl="1" eaLnBrk="1" hangingPunct="1"/>
            <a:r>
              <a:rPr lang="en-US"/>
              <a:t>If households receive an extra $1 in income, they spend part (mpc) and save part</a:t>
            </a:r>
          </a:p>
          <a:p>
            <a:pPr eaLnBrk="1" hangingPunct="1"/>
            <a:r>
              <a:rPr lang="en-US"/>
              <a:t>(Y – T) is disposable income</a:t>
            </a:r>
          </a:p>
          <a:p>
            <a:pPr lvl="1" eaLnBrk="1" hangingPunct="1"/>
            <a:r>
              <a:rPr lang="en-US"/>
              <a:t>Output plus government transfers minus taxes</a:t>
            </a:r>
          </a:p>
          <a:p>
            <a:pPr lvl="1" eaLnBrk="1" hangingPunct="1"/>
            <a:r>
              <a:rPr lang="en-US"/>
              <a:t>Main determinant of consumption spending</a:t>
            </a:r>
          </a:p>
        </p:txBody>
      </p:sp>
      <p:cxnSp>
        <p:nvCxnSpPr>
          <p:cNvPr id="21507" name="Straight Connector 3"/>
          <p:cNvCxnSpPr>
            <a:cxnSpLocks noChangeShapeType="1"/>
          </p:cNvCxnSpPr>
          <p:nvPr/>
        </p:nvCxnSpPr>
        <p:spPr bwMode="auto">
          <a:xfrm>
            <a:off x="3863321" y="1835648"/>
            <a:ext cx="220663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 bwMode="auto">
          <a:xfrm>
            <a:off x="1457643" y="1506381"/>
            <a:ext cx="6251219" cy="475587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1533198" y="1582738"/>
            <a:ext cx="6099175" cy="460375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53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4390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i="1" dirty="0"/>
              <a:t>Consumption Function</a:t>
            </a:r>
          </a:p>
        </p:txBody>
      </p:sp>
      <p:sp>
        <p:nvSpPr>
          <p:cNvPr id="22534" name="Text Box 74"/>
          <p:cNvSpPr txBox="1">
            <a:spLocks noChangeArrowheads="1"/>
          </p:cNvSpPr>
          <p:nvPr/>
        </p:nvSpPr>
        <p:spPr bwMode="auto">
          <a:xfrm>
            <a:off x="3388986" y="5627688"/>
            <a:ext cx="41544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/>
              <a:t>Disposable income (Y – T)</a:t>
            </a:r>
          </a:p>
        </p:txBody>
      </p:sp>
      <p:sp>
        <p:nvSpPr>
          <p:cNvPr id="22535" name="Line 81"/>
          <p:cNvSpPr>
            <a:spLocks noChangeShapeType="1"/>
          </p:cNvSpPr>
          <p:nvPr/>
        </p:nvSpPr>
        <p:spPr bwMode="auto">
          <a:xfrm>
            <a:off x="2436486" y="5554663"/>
            <a:ext cx="5106987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6" name="Text Box 83"/>
          <p:cNvSpPr txBox="1">
            <a:spLocks noChangeArrowheads="1"/>
          </p:cNvSpPr>
          <p:nvPr/>
        </p:nvSpPr>
        <p:spPr bwMode="auto">
          <a:xfrm rot="-5400000">
            <a:off x="-133677" y="3386138"/>
            <a:ext cx="38750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/>
              <a:t>Consumption spending (C)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2457123" y="2168525"/>
            <a:ext cx="4514850" cy="2214563"/>
            <a:chOff x="2409546" y="2168237"/>
            <a:chExt cx="4515128" cy="2214723"/>
          </a:xfrm>
        </p:grpSpPr>
        <p:sp>
          <p:nvSpPr>
            <p:cNvPr id="144469" name="Line 85"/>
            <p:cNvSpPr>
              <a:spLocks noChangeShapeType="1"/>
            </p:cNvSpPr>
            <p:nvPr/>
          </p:nvSpPr>
          <p:spPr bwMode="auto">
            <a:xfrm flipV="1">
              <a:off x="2409546" y="2342875"/>
              <a:ext cx="4156331" cy="2040085"/>
            </a:xfrm>
            <a:prstGeom prst="line">
              <a:avLst/>
            </a:prstGeom>
            <a:ln>
              <a:solidFill>
                <a:srgbClr val="D60093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/>
            </a:p>
          </p:txBody>
        </p:sp>
        <p:sp>
          <p:nvSpPr>
            <p:cNvPr id="22554" name="Text Box 87"/>
            <p:cNvSpPr txBox="1">
              <a:spLocks noChangeArrowheads="1"/>
            </p:cNvSpPr>
            <p:nvPr/>
          </p:nvSpPr>
          <p:spPr bwMode="auto">
            <a:xfrm>
              <a:off x="6551245" y="2168237"/>
              <a:ext cx="373429" cy="402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/>
                <a:t>C</a:t>
              </a:r>
            </a:p>
          </p:txBody>
        </p:sp>
      </p:grpSp>
      <p:sp>
        <p:nvSpPr>
          <p:cNvPr id="22538" name="Line 76"/>
          <p:cNvSpPr>
            <a:spLocks noChangeShapeType="1"/>
          </p:cNvSpPr>
          <p:nvPr/>
        </p:nvSpPr>
        <p:spPr bwMode="auto">
          <a:xfrm>
            <a:off x="2444423" y="1679575"/>
            <a:ext cx="1588" cy="3875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9" name="Rectangle 26"/>
          <p:cNvSpPr>
            <a:spLocks noChangeArrowheads="1"/>
          </p:cNvSpPr>
          <p:nvPr/>
        </p:nvSpPr>
        <p:spPr bwMode="auto">
          <a:xfrm>
            <a:off x="3015923" y="1952625"/>
            <a:ext cx="2911475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/>
              <a:t>C = C + (mpc) (Y – T)</a:t>
            </a:r>
          </a:p>
        </p:txBody>
      </p:sp>
      <p:cxnSp>
        <p:nvCxnSpPr>
          <p:cNvPr id="22540" name="Straight Connector 27"/>
          <p:cNvCxnSpPr>
            <a:cxnSpLocks noChangeShapeType="1"/>
          </p:cNvCxnSpPr>
          <p:nvPr/>
        </p:nvCxnSpPr>
        <p:spPr bwMode="auto">
          <a:xfrm>
            <a:off x="3576311" y="1992313"/>
            <a:ext cx="20637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3" name="Group 48"/>
          <p:cNvGrpSpPr/>
          <p:nvPr/>
        </p:nvGrpSpPr>
        <p:grpSpPr>
          <a:xfrm>
            <a:off x="2443550" y="4394035"/>
            <a:ext cx="1157891" cy="409489"/>
            <a:chOff x="2396252" y="4394035"/>
            <a:chExt cx="1157891" cy="409489"/>
          </a:xfrm>
          <a:noFill/>
        </p:grpSpPr>
        <p:sp>
          <p:nvSpPr>
            <p:cNvPr id="144472" name="Line 88"/>
            <p:cNvSpPr>
              <a:spLocks noChangeShapeType="1"/>
            </p:cNvSpPr>
            <p:nvPr/>
          </p:nvSpPr>
          <p:spPr bwMode="auto">
            <a:xfrm>
              <a:off x="2396252" y="4394035"/>
              <a:ext cx="1157891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latin typeface="+mn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51035" y="4454653"/>
              <a:ext cx="1103108" cy="348871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l-GR" sz="2000" dirty="0">
                  <a:latin typeface="Arial"/>
                  <a:cs typeface="Arial"/>
                </a:rPr>
                <a:t>Δ</a:t>
              </a:r>
              <a:r>
                <a:rPr lang="en-US" sz="2000" dirty="0">
                  <a:latin typeface="Arial"/>
                  <a:cs typeface="Arial"/>
                </a:rPr>
                <a:t> (Y – T)</a:t>
              </a:r>
              <a:endParaRPr lang="en-US" sz="2000" dirty="0">
                <a:latin typeface="+mn-lt"/>
              </a:endParaRPr>
            </a:p>
          </p:txBody>
        </p:sp>
      </p:grpSp>
      <p:grpSp>
        <p:nvGrpSpPr>
          <p:cNvPr id="4" name="Group 49"/>
          <p:cNvGrpSpPr/>
          <p:nvPr/>
        </p:nvGrpSpPr>
        <p:grpSpPr>
          <a:xfrm>
            <a:off x="3647232" y="3834628"/>
            <a:ext cx="605374" cy="559406"/>
            <a:chOff x="3595663" y="3834628"/>
            <a:chExt cx="605374" cy="559406"/>
          </a:xfrm>
          <a:noFill/>
        </p:grpSpPr>
        <p:cxnSp>
          <p:nvCxnSpPr>
            <p:cNvPr id="32" name="Straight Connector 31"/>
            <p:cNvCxnSpPr>
              <a:endCxn id="144472" idx="1"/>
            </p:cNvCxnSpPr>
            <p:nvPr/>
          </p:nvCxnSpPr>
          <p:spPr bwMode="auto">
            <a:xfrm rot="16200000" flipH="1">
              <a:off x="3318849" y="4111442"/>
              <a:ext cx="559406" cy="5778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TextBox 33"/>
            <p:cNvSpPr txBox="1"/>
            <p:nvPr/>
          </p:nvSpPr>
          <p:spPr>
            <a:xfrm>
              <a:off x="3644174" y="3877674"/>
              <a:ext cx="556863" cy="348871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l-GR" sz="2000" dirty="0">
                  <a:latin typeface="Arial"/>
                  <a:cs typeface="Arial"/>
                </a:rPr>
                <a:t>Δ</a:t>
              </a:r>
              <a:r>
                <a:rPr lang="en-US" sz="2000" dirty="0">
                  <a:latin typeface="Arial"/>
                  <a:cs typeface="Arial"/>
                </a:rPr>
                <a:t> C</a:t>
              </a:r>
              <a:endParaRPr lang="en-US" sz="2000" dirty="0">
                <a:latin typeface="+mn-lt"/>
              </a:endParaRPr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2034848" y="2343151"/>
            <a:ext cx="2030714" cy="2285999"/>
            <a:chOff x="1987241" y="2342650"/>
            <a:chExt cx="2031246" cy="2286440"/>
          </a:xfrm>
        </p:grpSpPr>
        <p:grpSp>
          <p:nvGrpSpPr>
            <p:cNvPr id="6" name="Group 35"/>
            <p:cNvGrpSpPr>
              <a:grpSpLocks/>
            </p:cNvGrpSpPr>
            <p:nvPr/>
          </p:nvGrpSpPr>
          <p:grpSpPr bwMode="auto">
            <a:xfrm>
              <a:off x="1987241" y="4226546"/>
              <a:ext cx="496295" cy="402544"/>
              <a:chOff x="1717675" y="4191000"/>
              <a:chExt cx="533400" cy="461665"/>
            </a:xfrm>
          </p:grpSpPr>
          <p:sp>
            <p:nvSpPr>
              <p:cNvPr id="22551" name="Text Box 86"/>
              <p:cNvSpPr txBox="1">
                <a:spLocks noChangeArrowheads="1"/>
              </p:cNvSpPr>
              <p:nvPr/>
            </p:nvSpPr>
            <p:spPr bwMode="auto">
              <a:xfrm>
                <a:off x="1717675" y="4191000"/>
                <a:ext cx="5334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/>
                  <a:t>C</a:t>
                </a:r>
              </a:p>
            </p:txBody>
          </p:sp>
          <p:sp>
            <p:nvSpPr>
              <p:cNvPr id="22552" name="Line 91"/>
              <p:cNvSpPr>
                <a:spLocks noChangeShapeType="1"/>
              </p:cNvSpPr>
              <p:nvPr/>
            </p:nvSpPr>
            <p:spPr bwMode="auto">
              <a:xfrm>
                <a:off x="1882775" y="4257965"/>
                <a:ext cx="203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49" name="TextBox 37"/>
            <p:cNvSpPr txBox="1">
              <a:spLocks noChangeArrowheads="1"/>
            </p:cNvSpPr>
            <p:nvPr/>
          </p:nvSpPr>
          <p:spPr bwMode="auto">
            <a:xfrm>
              <a:off x="2838047" y="2809256"/>
              <a:ext cx="1180440" cy="400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Intercept</a:t>
              </a:r>
            </a:p>
          </p:txBody>
        </p:sp>
        <p:cxnSp>
          <p:nvCxnSpPr>
            <p:cNvPr id="40" name="Straight Arrow Connector 39"/>
            <p:cNvCxnSpPr>
              <a:stCxn id="22549" idx="0"/>
            </p:cNvCxnSpPr>
            <p:nvPr/>
          </p:nvCxnSpPr>
          <p:spPr bwMode="auto">
            <a:xfrm flipV="1">
              <a:off x="3428267" y="2342650"/>
              <a:ext cx="215170" cy="466606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4033511" y="2355850"/>
            <a:ext cx="3509962" cy="2627313"/>
            <a:chOff x="3986901" y="2355666"/>
            <a:chExt cx="3509667" cy="2627868"/>
          </a:xfrm>
        </p:grpSpPr>
        <p:sp>
          <p:nvSpPr>
            <p:cNvPr id="22545" name="Text Box 90"/>
            <p:cNvSpPr txBox="1">
              <a:spLocks noChangeArrowheads="1"/>
            </p:cNvSpPr>
            <p:nvPr/>
          </p:nvSpPr>
          <p:spPr bwMode="auto">
            <a:xfrm>
              <a:off x="4201037" y="4521869"/>
              <a:ext cx="329553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/>
                <a:t>Slope = </a:t>
              </a:r>
              <a:r>
                <a:rPr lang="el-GR" sz="2400">
                  <a:cs typeface="Arial" charset="0"/>
                </a:rPr>
                <a:t>Δ</a:t>
              </a:r>
              <a:r>
                <a:rPr lang="en-US" sz="2400">
                  <a:cs typeface="Arial" charset="0"/>
                </a:rPr>
                <a:t> C / </a:t>
              </a:r>
              <a:r>
                <a:rPr lang="el-GR" sz="2400">
                  <a:cs typeface="Arial" charset="0"/>
                </a:rPr>
                <a:t>Δ</a:t>
              </a:r>
              <a:r>
                <a:rPr lang="en-US" sz="2400">
                  <a:cs typeface="Arial" charset="0"/>
                </a:rPr>
                <a:t> (Y – T) </a:t>
              </a:r>
              <a:endParaRPr lang="en-US" sz="2400"/>
            </a:p>
          </p:txBody>
        </p:sp>
        <p:sp>
          <p:nvSpPr>
            <p:cNvPr id="22546" name="TextBox 40"/>
            <p:cNvSpPr txBox="1">
              <a:spLocks noChangeArrowheads="1"/>
            </p:cNvSpPr>
            <p:nvPr/>
          </p:nvSpPr>
          <p:spPr bwMode="auto">
            <a:xfrm>
              <a:off x="3986901" y="2809256"/>
              <a:ext cx="798550" cy="400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slope</a:t>
              </a:r>
            </a:p>
          </p:txBody>
        </p:sp>
        <p:cxnSp>
          <p:nvCxnSpPr>
            <p:cNvPr id="43" name="Straight Arrow Connector 42"/>
            <p:cNvCxnSpPr>
              <a:endCxn id="22539" idx="2"/>
            </p:cNvCxnSpPr>
            <p:nvPr/>
          </p:nvCxnSpPr>
          <p:spPr bwMode="auto">
            <a:xfrm rot="5400000" flipH="1" flipV="1">
              <a:off x="4133338" y="2470817"/>
              <a:ext cx="454121" cy="223819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 idx="4294967295"/>
          </p:nvPr>
        </p:nvSpPr>
        <p:spPr>
          <a:xfrm>
            <a:off x="780396" y="39939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Saving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80396" y="1757860"/>
            <a:ext cx="82296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S = -C + (mps) (Y – T)</a:t>
            </a:r>
          </a:p>
          <a:p>
            <a:pPr eaLnBrk="1" hangingPunct="1"/>
            <a:r>
              <a:rPr lang="en-US" b="1" dirty="0"/>
              <a:t>Marginal propensity to save </a:t>
            </a:r>
            <a:r>
              <a:rPr lang="en-US" dirty="0"/>
              <a:t>(mps) is the increase in saving when disposable income increases by $1</a:t>
            </a:r>
          </a:p>
          <a:p>
            <a:pPr lvl="1" eaLnBrk="1" hangingPunct="1"/>
            <a:r>
              <a:rPr lang="en-US" dirty="0"/>
              <a:t>mps is between 0 and 1 for the economy</a:t>
            </a:r>
          </a:p>
          <a:p>
            <a:pPr lvl="1" eaLnBrk="1" hangingPunct="1"/>
            <a:r>
              <a:rPr lang="en-US" dirty="0"/>
              <a:t>If households receive an extra $1 in income, they spend part (</a:t>
            </a:r>
            <a:r>
              <a:rPr lang="en-US" dirty="0" err="1"/>
              <a:t>mpc</a:t>
            </a:r>
            <a:r>
              <a:rPr lang="en-US" dirty="0"/>
              <a:t>) and save part (mps)</a:t>
            </a:r>
          </a:p>
          <a:p>
            <a:pPr eaLnBrk="1" hangingPunct="1"/>
            <a:r>
              <a:rPr lang="en-US" dirty="0"/>
              <a:t>MPC + MPS = 1</a:t>
            </a:r>
          </a:p>
          <a:p>
            <a:pPr lvl="1" eaLnBrk="1" hangingPunct="1"/>
            <a:r>
              <a:rPr lang="en-US" dirty="0"/>
              <a:t>All increases in disposable income increase is either spent or saved</a:t>
            </a:r>
          </a:p>
        </p:txBody>
      </p:sp>
      <p:cxnSp>
        <p:nvCxnSpPr>
          <p:cNvPr id="21507" name="Straight Connector 3"/>
          <p:cNvCxnSpPr>
            <a:cxnSpLocks noChangeShapeType="1"/>
          </p:cNvCxnSpPr>
          <p:nvPr/>
        </p:nvCxnSpPr>
        <p:spPr bwMode="auto">
          <a:xfrm>
            <a:off x="3920471" y="1835648"/>
            <a:ext cx="220663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1566" y="667418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Planned Aggregate Expenditure (PAE)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53966" y="1962818"/>
            <a:ext cx="7924800" cy="4783138"/>
          </a:xfrm>
        </p:spPr>
        <p:txBody>
          <a:bodyPr/>
          <a:lstStyle/>
          <a:p>
            <a:pPr eaLnBrk="1" hangingPunct="1"/>
            <a:r>
              <a:rPr lang="en-US" dirty="0"/>
              <a:t>Dynamic patterns in the economy</a:t>
            </a:r>
          </a:p>
          <a:p>
            <a:pPr lvl="1" indent="-457200" eaLnBrk="1" hangingPunct="1">
              <a:buFont typeface="Times New Roman" pitchFamily="18" charset="0"/>
              <a:buAutoNum type="arabicPeriod"/>
            </a:pPr>
            <a:r>
              <a:rPr lang="en-US" dirty="0"/>
              <a:t>Declines in production lead to reduced spending</a:t>
            </a:r>
          </a:p>
          <a:p>
            <a:pPr lvl="1" indent="-457200" eaLnBrk="1" hangingPunct="1">
              <a:buFont typeface="Times New Roman" pitchFamily="18" charset="0"/>
              <a:buAutoNum type="arabicPeriod"/>
            </a:pPr>
            <a:r>
              <a:rPr lang="en-US" dirty="0"/>
              <a:t>Reductions in spending lead to declines in production and income</a:t>
            </a:r>
          </a:p>
          <a:p>
            <a:pPr eaLnBrk="1" hangingPunct="1"/>
            <a:r>
              <a:rPr lang="en-US" dirty="0"/>
              <a:t>Consumption is the largest component of PAE</a:t>
            </a:r>
          </a:p>
          <a:p>
            <a:pPr lvl="1" indent="-457200" eaLnBrk="1" hangingPunct="1"/>
            <a:r>
              <a:rPr lang="en-US" dirty="0"/>
              <a:t>Consumption depends on output, Y</a:t>
            </a:r>
          </a:p>
          <a:p>
            <a:pPr lvl="1" indent="-457200" eaLnBrk="1" hangingPunct="1"/>
            <a:r>
              <a:rPr lang="en-US" dirty="0"/>
              <a:t>PAE depends on Y</a:t>
            </a:r>
          </a:p>
          <a:p>
            <a:pPr eaLnBrk="1" hangingPunct="1">
              <a:buFontTx/>
              <a:buNone/>
            </a:pPr>
            <a:endParaRPr lang="en-US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5750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Planned Spending Example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552902"/>
            <a:ext cx="7924800" cy="478313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PAE = C + I</a:t>
            </a:r>
            <a:r>
              <a:rPr lang="en-US" baseline="30000" dirty="0"/>
              <a:t>P</a:t>
            </a:r>
            <a:r>
              <a:rPr lang="en-US" dirty="0"/>
              <a:t> + G + NX</a:t>
            </a:r>
          </a:p>
          <a:p>
            <a:pPr algn="ctr" eaLnBrk="1" hangingPunct="1">
              <a:buFontTx/>
              <a:buNone/>
            </a:pPr>
            <a:r>
              <a:rPr lang="en-US" dirty="0"/>
              <a:t>C = C + </a:t>
            </a:r>
            <a:r>
              <a:rPr lang="en-US" dirty="0" err="1"/>
              <a:t>mpc</a:t>
            </a:r>
            <a:r>
              <a:rPr lang="en-US" dirty="0"/>
              <a:t> (Y – T)</a:t>
            </a:r>
          </a:p>
          <a:p>
            <a:pPr algn="ctr" eaLnBrk="1" hangingPunct="1">
              <a:buFontTx/>
              <a:buNone/>
            </a:pPr>
            <a:r>
              <a:rPr lang="en-US" dirty="0"/>
              <a:t>PAE = C + </a:t>
            </a:r>
            <a:r>
              <a:rPr lang="en-US" dirty="0" err="1"/>
              <a:t>mpc</a:t>
            </a:r>
            <a:r>
              <a:rPr lang="en-US" dirty="0"/>
              <a:t> (Y – T) + I</a:t>
            </a:r>
            <a:r>
              <a:rPr lang="en-US" baseline="30000" dirty="0"/>
              <a:t>P</a:t>
            </a:r>
            <a:r>
              <a:rPr lang="en-US" dirty="0"/>
              <a:t> + G + NX</a:t>
            </a:r>
          </a:p>
          <a:p>
            <a:pPr eaLnBrk="1" hangingPunct="1"/>
            <a:r>
              <a:rPr lang="en-US" dirty="0"/>
              <a:t>Suppose that planned spending components have the following values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algn="ctr" eaLnBrk="1" hangingPunct="1">
              <a:spcBef>
                <a:spcPts val="600"/>
              </a:spcBef>
              <a:buFontTx/>
              <a:buNone/>
            </a:pPr>
            <a:br>
              <a:rPr lang="en-US" dirty="0"/>
            </a:br>
            <a:r>
              <a:rPr lang="en-US" dirty="0"/>
              <a:t>PAE = 620 + 0.8 (Y – 250) + 220 + 300 + 20</a:t>
            </a:r>
          </a:p>
          <a:p>
            <a:pPr algn="ctr" eaLnBrk="1" hangingPunct="1">
              <a:buFontTx/>
              <a:buNone/>
            </a:pPr>
            <a:r>
              <a:rPr lang="en-US" dirty="0"/>
              <a:t>PAE = 960 + 0.8 Y</a:t>
            </a:r>
          </a:p>
        </p:txBody>
      </p:sp>
      <p:sp>
        <p:nvSpPr>
          <p:cNvPr id="228356" name="Line 4"/>
          <p:cNvSpPr>
            <a:spLocks noChangeShapeType="1"/>
          </p:cNvSpPr>
          <p:nvPr/>
        </p:nvSpPr>
        <p:spPr bwMode="auto">
          <a:xfrm>
            <a:off x="1763486" y="418974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326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097703"/>
              </p:ext>
            </p:extLst>
          </p:nvPr>
        </p:nvGraphicFramePr>
        <p:xfrm>
          <a:off x="1163638" y="4071256"/>
          <a:ext cx="7283676" cy="1154804"/>
        </p:xfrm>
        <a:graphic>
          <a:graphicData uri="http://schemas.openxmlformats.org/drawingml/2006/table">
            <a:tbl>
              <a:tblPr/>
              <a:tblGrid>
                <a:gridCol w="2428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6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4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 = 620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mpc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0.8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250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4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220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 = 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NX = 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2990850" y="2689552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1763486" y="4189740"/>
            <a:ext cx="272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ine 4"/>
          <p:cNvSpPr>
            <a:spLocks noChangeShapeType="1"/>
          </p:cNvSpPr>
          <p:nvPr/>
        </p:nvSpPr>
        <p:spPr bwMode="auto">
          <a:xfrm>
            <a:off x="3998913" y="2302202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6" grpId="0" animBg="1"/>
      <p:bldP spid="9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25750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Planned Spending Example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85498" y="1400502"/>
            <a:ext cx="7945438" cy="468947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C = 620 + 0.8 (Y – 250)</a:t>
            </a:r>
          </a:p>
          <a:p>
            <a:pPr algn="ctr" eaLnBrk="1" hangingPunct="1">
              <a:buFontTx/>
              <a:buNone/>
            </a:pPr>
            <a:r>
              <a:rPr lang="en-US"/>
              <a:t>PAE = 960 + 0.8 Y</a:t>
            </a:r>
          </a:p>
          <a:p>
            <a:pPr eaLnBrk="1" hangingPunct="1"/>
            <a:r>
              <a:rPr lang="en-US"/>
              <a:t>If Y increases by $1, C will increase by $0.80</a:t>
            </a:r>
          </a:p>
          <a:p>
            <a:pPr lvl="1" eaLnBrk="1" hangingPunct="1"/>
            <a:r>
              <a:rPr lang="en-US"/>
              <a:t>PAE increases by 80 cents</a:t>
            </a:r>
          </a:p>
          <a:p>
            <a:pPr eaLnBrk="1" hangingPunct="1"/>
            <a:r>
              <a:rPr lang="en-US"/>
              <a:t>Planned aggregate expenditure has two parts</a:t>
            </a:r>
          </a:p>
          <a:p>
            <a:pPr lvl="1" eaLnBrk="1" hangingPunct="1"/>
            <a:r>
              <a:rPr lang="en-US" b="1"/>
              <a:t>Autonomous expenditure</a:t>
            </a:r>
            <a:r>
              <a:rPr lang="en-US"/>
              <a:t>, the part of spending that is independent of output</a:t>
            </a:r>
          </a:p>
          <a:p>
            <a:pPr lvl="2" eaLnBrk="1" hangingPunct="1"/>
            <a:r>
              <a:rPr lang="en-US"/>
              <a:t>$960 in our example</a:t>
            </a:r>
          </a:p>
          <a:p>
            <a:pPr lvl="1" eaLnBrk="1" hangingPunct="1"/>
            <a:r>
              <a:rPr lang="en-US" b="1"/>
              <a:t>Induced expenditure</a:t>
            </a:r>
            <a:r>
              <a:rPr lang="en-US"/>
              <a:t>, the part of spending that depends on output (Y)</a:t>
            </a:r>
          </a:p>
          <a:p>
            <a:pPr lvl="2" eaLnBrk="1" hangingPunct="1"/>
            <a:r>
              <a:rPr lang="en-US"/>
              <a:t>0.8 Y in our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 bwMode="auto">
          <a:xfrm>
            <a:off x="1233055" y="1496289"/>
            <a:ext cx="7218218" cy="490450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309688" y="1579563"/>
            <a:ext cx="7065962" cy="473868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653" name="Title 20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Planned Expenditure Graph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23988" y="1682750"/>
            <a:ext cx="6967537" cy="4530725"/>
            <a:chOff x="1199120" y="1013314"/>
            <a:chExt cx="8257088" cy="5949969"/>
          </a:xfrm>
        </p:grpSpPr>
        <p:sp>
          <p:nvSpPr>
            <p:cNvPr id="27655" name="Text Box 4"/>
            <p:cNvSpPr txBox="1">
              <a:spLocks noChangeArrowheads="1"/>
            </p:cNvSpPr>
            <p:nvPr/>
          </p:nvSpPr>
          <p:spPr bwMode="auto">
            <a:xfrm>
              <a:off x="3270249" y="6263440"/>
              <a:ext cx="3513139" cy="5254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Output (Y)</a:t>
              </a:r>
            </a:p>
          </p:txBody>
        </p:sp>
        <p:sp>
          <p:nvSpPr>
            <p:cNvPr id="27656" name="Text Box 7"/>
            <p:cNvSpPr txBox="1">
              <a:spLocks noChangeArrowheads="1"/>
            </p:cNvSpPr>
            <p:nvPr/>
          </p:nvSpPr>
          <p:spPr bwMode="auto">
            <a:xfrm rot="-5400000">
              <a:off x="-1538805" y="3751239"/>
              <a:ext cx="5949969" cy="474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Planned aggregate expenditure (PAE)</a:t>
              </a:r>
            </a:p>
          </p:txBody>
        </p:sp>
        <p:sp>
          <p:nvSpPr>
            <p:cNvPr id="27657" name="Text Box 8"/>
            <p:cNvSpPr txBox="1">
              <a:spLocks noChangeArrowheads="1"/>
            </p:cNvSpPr>
            <p:nvPr/>
          </p:nvSpPr>
          <p:spPr bwMode="auto">
            <a:xfrm>
              <a:off x="1583940" y="4190996"/>
              <a:ext cx="667134" cy="444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960</a:t>
              </a:r>
            </a:p>
          </p:txBody>
        </p:sp>
        <p:sp>
          <p:nvSpPr>
            <p:cNvPr id="27658" name="Text Box 9"/>
            <p:cNvSpPr txBox="1">
              <a:spLocks noChangeArrowheads="1"/>
            </p:cNvSpPr>
            <p:nvPr/>
          </p:nvSpPr>
          <p:spPr bwMode="auto">
            <a:xfrm>
              <a:off x="6719888" y="1830382"/>
              <a:ext cx="2736320" cy="52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PAE = 960 + 0.8Y</a:t>
              </a:r>
            </a:p>
          </p:txBody>
        </p:sp>
        <p:sp>
          <p:nvSpPr>
            <p:cNvPr id="27659" name="Line 10"/>
            <p:cNvSpPr>
              <a:spLocks noChangeShapeType="1"/>
            </p:cNvSpPr>
            <p:nvPr/>
          </p:nvSpPr>
          <p:spPr bwMode="auto">
            <a:xfrm>
              <a:off x="2254250" y="4383088"/>
              <a:ext cx="650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0" name="Text Box 12"/>
            <p:cNvSpPr txBox="1">
              <a:spLocks noChangeArrowheads="1"/>
            </p:cNvSpPr>
            <p:nvPr/>
          </p:nvSpPr>
          <p:spPr bwMode="auto">
            <a:xfrm>
              <a:off x="2961349" y="3947592"/>
              <a:ext cx="1792289" cy="52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Slope = 0.8</a:t>
              </a: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 flipV="1">
              <a:off x="2267707" y="2030688"/>
              <a:ext cx="4468121" cy="2339126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662" name="Line 20"/>
            <p:cNvSpPr>
              <a:spLocks noChangeShapeType="1"/>
            </p:cNvSpPr>
            <p:nvPr/>
          </p:nvSpPr>
          <p:spPr bwMode="auto">
            <a:xfrm flipV="1">
              <a:off x="4641850" y="3086100"/>
              <a:ext cx="0" cy="26146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Text Box 21"/>
            <p:cNvSpPr txBox="1">
              <a:spLocks noChangeArrowheads="1"/>
            </p:cNvSpPr>
            <p:nvPr/>
          </p:nvSpPr>
          <p:spPr bwMode="auto">
            <a:xfrm>
              <a:off x="4178300" y="5699123"/>
              <a:ext cx="1050276" cy="444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4,800</a:t>
              </a:r>
            </a:p>
          </p:txBody>
        </p:sp>
        <p:sp>
          <p:nvSpPr>
            <p:cNvPr id="27664" name="Line 6"/>
            <p:cNvSpPr>
              <a:spLocks noChangeShapeType="1"/>
            </p:cNvSpPr>
            <p:nvPr/>
          </p:nvSpPr>
          <p:spPr bwMode="auto">
            <a:xfrm>
              <a:off x="2246313" y="5715000"/>
              <a:ext cx="5489575" cy="1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Line 5"/>
            <p:cNvSpPr>
              <a:spLocks noChangeShapeType="1"/>
            </p:cNvSpPr>
            <p:nvPr/>
          </p:nvSpPr>
          <p:spPr bwMode="auto">
            <a:xfrm>
              <a:off x="2255838" y="1270000"/>
              <a:ext cx="1587" cy="4445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7666" name="Straight Connector 19"/>
            <p:cNvCxnSpPr>
              <a:cxnSpLocks noChangeShapeType="1"/>
            </p:cNvCxnSpPr>
            <p:nvPr/>
          </p:nvCxnSpPr>
          <p:spPr bwMode="auto">
            <a:xfrm rot="5400000">
              <a:off x="2742479" y="4197927"/>
              <a:ext cx="360218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Dot"/>
              <a:round/>
              <a:headEnd/>
              <a:tailEnd/>
            </a:ln>
          </p:spPr>
        </p:cxn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Short-Run Equilibrium</a:t>
            </a:r>
          </a:p>
        </p:txBody>
      </p:sp>
      <p:sp>
        <p:nvSpPr>
          <p:cNvPr id="233475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838199" y="1600200"/>
            <a:ext cx="8105775" cy="4783138"/>
          </a:xfrm>
        </p:spPr>
        <p:txBody>
          <a:bodyPr/>
          <a:lstStyle/>
          <a:p>
            <a:pPr eaLnBrk="1" hangingPunct="1"/>
            <a:r>
              <a:rPr lang="en-US" sz="2700" dirty="0"/>
              <a:t>Short-run equilibrium is the level of output at which planned spending is equal to output</a:t>
            </a:r>
          </a:p>
          <a:p>
            <a:pPr lvl="1" eaLnBrk="1" hangingPunct="1"/>
            <a:r>
              <a:rPr lang="en-US" dirty="0"/>
              <a:t>No change in output as long as prices are constant</a:t>
            </a:r>
          </a:p>
          <a:p>
            <a:pPr lvl="1" eaLnBrk="1" hangingPunct="1"/>
            <a:r>
              <a:rPr lang="en-US" dirty="0"/>
              <a:t>Our equilibrium condition can be written</a:t>
            </a:r>
          </a:p>
          <a:p>
            <a:pPr lvl="1" algn="ctr" eaLnBrk="1" hangingPunct="1">
              <a:buFontTx/>
              <a:buNone/>
            </a:pPr>
            <a:r>
              <a:rPr lang="en-US" dirty="0"/>
              <a:t>Y = PAE</a:t>
            </a:r>
          </a:p>
          <a:p>
            <a:pPr eaLnBrk="1" hangingPunct="1"/>
            <a:r>
              <a:rPr lang="en-US" sz="2700" dirty="0"/>
              <a:t>Using our previous example, PAE = 960 + 0.8 Y</a:t>
            </a:r>
          </a:p>
          <a:p>
            <a:pPr algn="ctr" eaLnBrk="1" hangingPunct="1">
              <a:buFontTx/>
              <a:buNone/>
            </a:pPr>
            <a:r>
              <a:rPr lang="en-US" dirty="0"/>
              <a:t>Y = 960 + 0.8 Y</a:t>
            </a:r>
          </a:p>
          <a:p>
            <a:pPr algn="ctr" eaLnBrk="1" hangingPunct="1">
              <a:buFontTx/>
              <a:buNone/>
            </a:pPr>
            <a:r>
              <a:rPr lang="en-US" dirty="0"/>
              <a:t>0.2 Y = 960</a:t>
            </a:r>
          </a:p>
          <a:p>
            <a:pPr algn="ctr" eaLnBrk="1" hangingPunct="1">
              <a:buFontTx/>
              <a:buNone/>
            </a:pPr>
            <a:r>
              <a:rPr lang="en-US" dirty="0"/>
              <a:t>Y = $4,800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Short-Run Equilibrium Search</a:t>
            </a:r>
          </a:p>
        </p:txBody>
      </p:sp>
      <p:graphicFrame>
        <p:nvGraphicFramePr>
          <p:cNvPr id="57397" name="Group 53"/>
          <p:cNvGraphicFramePr>
            <a:graphicFrameLocks noGrp="1"/>
          </p:cNvGraphicFramePr>
          <p:nvPr>
            <p:ph idx="4294967295"/>
          </p:nvPr>
        </p:nvGraphicFramePr>
        <p:xfrm>
          <a:off x="920750" y="1633538"/>
          <a:ext cx="7924800" cy="914400"/>
        </p:xfrm>
        <a:graphic>
          <a:graphicData uri="http://schemas.openxmlformats.org/drawingml/2006/table">
            <a:tbl>
              <a:tblPr/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7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Output (Y)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PAE = 960 + 0.8 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Y – PAE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Y = PAE?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4,160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–160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17563" y="5472113"/>
            <a:ext cx="74152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34950" indent="-234950">
              <a:buClr>
                <a:schemeClr val="tx1"/>
              </a:buClr>
              <a:buFontTx/>
              <a:buChar char="•"/>
            </a:pPr>
            <a:r>
              <a:rPr lang="en-US" sz="2400"/>
              <a:t>Only when Y = 4,800 does planned spending equal </a:t>
            </a:r>
            <a:br>
              <a:rPr lang="en-US" sz="2400"/>
            </a:br>
            <a:r>
              <a:rPr lang="en-US" sz="2400"/>
              <a:t>output</a:t>
            </a:r>
          </a:p>
        </p:txBody>
      </p:sp>
      <p:graphicFrame>
        <p:nvGraphicFramePr>
          <p:cNvPr id="57398" name="Group 54"/>
          <p:cNvGraphicFramePr>
            <a:graphicFrameLocks noGrp="1"/>
          </p:cNvGraphicFramePr>
          <p:nvPr>
            <p:ph idx="4294967295"/>
          </p:nvPr>
        </p:nvGraphicFramePr>
        <p:xfrm>
          <a:off x="920750" y="2559050"/>
          <a:ext cx="7924800" cy="2743200"/>
        </p:xfrm>
        <a:graphic>
          <a:graphicData uri="http://schemas.openxmlformats.org/drawingml/2006/table">
            <a:tbl>
              <a:tblPr/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7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4,320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r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–120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4,400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4,480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–80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4,600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4,640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–40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4,800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4,800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r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4,960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5,200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5,120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Short-Run Equilibrium Graph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1337736" y="1610241"/>
            <a:ext cx="6976533" cy="480749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1411288" y="1690688"/>
            <a:ext cx="6829425" cy="464661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6" name="Text Box 4"/>
          <p:cNvSpPr txBox="1">
            <a:spLocks noChangeArrowheads="1"/>
          </p:cNvSpPr>
          <p:nvPr/>
        </p:nvSpPr>
        <p:spPr bwMode="auto">
          <a:xfrm>
            <a:off x="3228975" y="5670550"/>
            <a:ext cx="2833688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Output (Y)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 rot="-5400000">
            <a:off x="-553244" y="3729832"/>
            <a:ext cx="45704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Planned aggregate expenditure (PAE)</a:t>
            </a:r>
          </a:p>
        </p:txBody>
      </p:sp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1868488" y="4160838"/>
            <a:ext cx="538162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960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2420938" y="2443163"/>
            <a:ext cx="5770562" cy="1849437"/>
            <a:chOff x="2335690" y="2378586"/>
            <a:chExt cx="6036870" cy="1934013"/>
          </a:xfrm>
        </p:grpSpPr>
        <p:sp>
          <p:nvSpPr>
            <p:cNvPr id="30743" name="Text Box 9"/>
            <p:cNvSpPr txBox="1">
              <a:spLocks noChangeArrowheads="1"/>
            </p:cNvSpPr>
            <p:nvPr/>
          </p:nvSpPr>
          <p:spPr bwMode="auto">
            <a:xfrm>
              <a:off x="6092184" y="2378586"/>
              <a:ext cx="2280376" cy="418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PAE = 960 +0.8Y</a:t>
              </a:r>
            </a:p>
          </p:txBody>
        </p:sp>
        <p:sp>
          <p:nvSpPr>
            <p:cNvPr id="190477" name="Line 13"/>
            <p:cNvSpPr>
              <a:spLocks noChangeShapeType="1"/>
            </p:cNvSpPr>
            <p:nvPr/>
          </p:nvSpPr>
          <p:spPr bwMode="auto">
            <a:xfrm flipV="1">
              <a:off x="2335690" y="2531315"/>
              <a:ext cx="3769930" cy="1781284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90466" name="Line 2"/>
          <p:cNvSpPr>
            <a:spLocks noChangeShapeType="1"/>
          </p:cNvSpPr>
          <p:nvPr/>
        </p:nvSpPr>
        <p:spPr bwMode="auto">
          <a:xfrm flipV="1">
            <a:off x="2411413" y="2105025"/>
            <a:ext cx="3228975" cy="3163888"/>
          </a:xfrm>
          <a:prstGeom prst="line">
            <a:avLst/>
          </a:prstGeom>
          <a:ln>
            <a:solidFill>
              <a:srgbClr val="D60093"/>
            </a:solidFill>
            <a:prstDash val="lgDash"/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31" name="Freeform 16"/>
          <p:cNvSpPr>
            <a:spLocks/>
          </p:cNvSpPr>
          <p:nvPr/>
        </p:nvSpPr>
        <p:spPr bwMode="auto">
          <a:xfrm>
            <a:off x="2736850" y="4965700"/>
            <a:ext cx="163513" cy="303213"/>
          </a:xfrm>
          <a:custGeom>
            <a:avLst/>
            <a:gdLst>
              <a:gd name="T0" fmla="*/ 0 w 127"/>
              <a:gd name="T1" fmla="*/ 0 h 262"/>
              <a:gd name="T2" fmla="*/ 2147483647 w 127"/>
              <a:gd name="T3" fmla="*/ 2147483647 h 262"/>
              <a:gd name="T4" fmla="*/ 2147483647 w 127"/>
              <a:gd name="T5" fmla="*/ 2147483647 h 262"/>
              <a:gd name="T6" fmla="*/ 2147483647 w 127"/>
              <a:gd name="T7" fmla="*/ 2147483647 h 262"/>
              <a:gd name="T8" fmla="*/ 2147483647 w 127"/>
              <a:gd name="T9" fmla="*/ 2147483647 h 2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7"/>
              <a:gd name="T16" fmla="*/ 0 h 262"/>
              <a:gd name="T17" fmla="*/ 127 w 127"/>
              <a:gd name="T18" fmla="*/ 262 h 2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7" h="262">
                <a:moveTo>
                  <a:pt x="0" y="0"/>
                </a:moveTo>
                <a:cubicBezTo>
                  <a:pt x="15" y="13"/>
                  <a:pt x="31" y="26"/>
                  <a:pt x="45" y="45"/>
                </a:cubicBezTo>
                <a:cubicBezTo>
                  <a:pt x="59" y="64"/>
                  <a:pt x="70" y="87"/>
                  <a:pt x="82" y="113"/>
                </a:cubicBezTo>
                <a:cubicBezTo>
                  <a:pt x="94" y="139"/>
                  <a:pt x="112" y="177"/>
                  <a:pt x="119" y="202"/>
                </a:cubicBezTo>
                <a:cubicBezTo>
                  <a:pt x="126" y="227"/>
                  <a:pt x="126" y="252"/>
                  <a:pt x="127" y="26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32" name="Text Box 17"/>
          <p:cNvSpPr txBox="1">
            <a:spLocks noChangeArrowheads="1"/>
          </p:cNvSpPr>
          <p:nvPr/>
        </p:nvSpPr>
        <p:spPr bwMode="auto">
          <a:xfrm>
            <a:off x="2862263" y="4937125"/>
            <a:ext cx="14462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45</a:t>
            </a:r>
            <a:r>
              <a:rPr lang="en-US" sz="2000" baseline="30000" dirty="0"/>
              <a:t>o</a:t>
            </a:r>
          </a:p>
        </p:txBody>
      </p:sp>
      <p:sp>
        <p:nvSpPr>
          <p:cNvPr id="30733" name="Text Box 19"/>
          <p:cNvSpPr txBox="1">
            <a:spLocks noChangeArrowheads="1"/>
          </p:cNvSpPr>
          <p:nvPr/>
        </p:nvSpPr>
        <p:spPr bwMode="auto">
          <a:xfrm>
            <a:off x="5610225" y="1954213"/>
            <a:ext cx="1285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Y = PAE</a:t>
            </a:r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3962400" y="3357563"/>
            <a:ext cx="846138" cy="2225675"/>
            <a:chOff x="3947339" y="3334716"/>
            <a:chExt cx="886328" cy="2328163"/>
          </a:xfrm>
        </p:grpSpPr>
        <p:sp>
          <p:nvSpPr>
            <p:cNvPr id="30741" name="Line 20"/>
            <p:cNvSpPr>
              <a:spLocks noChangeShapeType="1"/>
            </p:cNvSpPr>
            <p:nvPr/>
          </p:nvSpPr>
          <p:spPr bwMode="auto">
            <a:xfrm flipV="1">
              <a:off x="4338529" y="3334716"/>
              <a:ext cx="0" cy="1990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Text Box 21"/>
            <p:cNvSpPr txBox="1">
              <a:spLocks noChangeArrowheads="1"/>
            </p:cNvSpPr>
            <p:nvPr/>
          </p:nvSpPr>
          <p:spPr bwMode="auto">
            <a:xfrm>
              <a:off x="3947339" y="5324325"/>
              <a:ext cx="88632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4,800</a:t>
              </a:r>
            </a:p>
          </p:txBody>
        </p:sp>
      </p:grpSp>
      <p:sp>
        <p:nvSpPr>
          <p:cNvPr id="30735" name="Line 6"/>
          <p:cNvSpPr>
            <a:spLocks noChangeShapeType="1"/>
          </p:cNvSpPr>
          <p:nvPr/>
        </p:nvSpPr>
        <p:spPr bwMode="auto">
          <a:xfrm>
            <a:off x="2403475" y="5270500"/>
            <a:ext cx="4427538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36" name="Line 5"/>
          <p:cNvSpPr>
            <a:spLocks noChangeShapeType="1"/>
          </p:cNvSpPr>
          <p:nvPr/>
        </p:nvSpPr>
        <p:spPr bwMode="auto">
          <a:xfrm>
            <a:off x="2411413" y="2035175"/>
            <a:ext cx="1587" cy="3235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2409825" y="3930654"/>
            <a:ext cx="2095500" cy="400110"/>
            <a:chOff x="2323632" y="3934223"/>
            <a:chExt cx="2192732" cy="417958"/>
          </a:xfrm>
        </p:grpSpPr>
        <p:sp>
          <p:nvSpPr>
            <p:cNvPr id="30738" name="Line 10"/>
            <p:cNvSpPr>
              <a:spLocks noChangeShapeType="1"/>
            </p:cNvSpPr>
            <p:nvPr/>
          </p:nvSpPr>
          <p:spPr bwMode="auto">
            <a:xfrm>
              <a:off x="2323632" y="4322269"/>
              <a:ext cx="5492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Text Box 12"/>
            <p:cNvSpPr txBox="1">
              <a:spLocks noChangeArrowheads="1"/>
            </p:cNvSpPr>
            <p:nvPr/>
          </p:nvSpPr>
          <p:spPr bwMode="auto">
            <a:xfrm>
              <a:off x="2930760" y="3934223"/>
              <a:ext cx="1585604" cy="417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Slope = 0.8</a:t>
              </a:r>
            </a:p>
          </p:txBody>
        </p:sp>
        <p:cxnSp>
          <p:nvCxnSpPr>
            <p:cNvPr id="30740" name="Straight Connector 27"/>
            <p:cNvCxnSpPr>
              <a:cxnSpLocks noChangeShapeType="1"/>
            </p:cNvCxnSpPr>
            <p:nvPr/>
          </p:nvCxnSpPr>
          <p:spPr bwMode="auto">
            <a:xfrm rot="5400000">
              <a:off x="2750504" y="4181218"/>
              <a:ext cx="274277" cy="134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Dot"/>
              <a:round/>
              <a:headEnd/>
              <a:tailEnd/>
            </a:ln>
          </p:spPr>
        </p:cxn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Output Greater than Equilibrium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half" idx="4294967295"/>
          </p:nvPr>
        </p:nvSpPr>
        <p:spPr>
          <a:xfrm>
            <a:off x="748864" y="1719263"/>
            <a:ext cx="3806825" cy="4406900"/>
          </a:xfrm>
        </p:spPr>
        <p:txBody>
          <a:bodyPr/>
          <a:lstStyle/>
          <a:p>
            <a:pPr eaLnBrk="1" hangingPunct="1"/>
            <a:r>
              <a:rPr lang="en-US" dirty="0"/>
              <a:t>Suppose output reaches 5,000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 dirty="0"/>
              <a:t>Planned spending is less than total output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 dirty="0"/>
              <a:t>Unplanned inventory increases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 dirty="0"/>
              <a:t>Businesses slow down production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 dirty="0"/>
              <a:t>Output goes down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4639746" y="1926161"/>
            <a:ext cx="4317967" cy="4216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4713288" y="2001838"/>
            <a:ext cx="4170362" cy="406400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 rot="-5400000">
            <a:off x="3013075" y="3868738"/>
            <a:ext cx="3757613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PAE</a:t>
            </a:r>
          </a:p>
        </p:txBody>
      </p:sp>
      <p:sp>
        <p:nvSpPr>
          <p:cNvPr id="31752" name="Text Box 4"/>
          <p:cNvSpPr txBox="1">
            <a:spLocks noChangeArrowheads="1"/>
          </p:cNvSpPr>
          <p:nvPr/>
        </p:nvSpPr>
        <p:spPr bwMode="auto">
          <a:xfrm>
            <a:off x="7473950" y="5237163"/>
            <a:ext cx="13652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Output (Y)</a:t>
            </a:r>
          </a:p>
        </p:txBody>
      </p:sp>
      <p:sp>
        <p:nvSpPr>
          <p:cNvPr id="31753" name="Text Box 8"/>
          <p:cNvSpPr txBox="1">
            <a:spLocks noChangeArrowheads="1"/>
          </p:cNvSpPr>
          <p:nvPr/>
        </p:nvSpPr>
        <p:spPr bwMode="auto">
          <a:xfrm>
            <a:off x="4876800" y="4224338"/>
            <a:ext cx="6397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/>
              <a:t>960</a:t>
            </a:r>
          </a:p>
        </p:txBody>
      </p:sp>
      <p:sp>
        <p:nvSpPr>
          <p:cNvPr id="31754" name="Text Box 9"/>
          <p:cNvSpPr txBox="1">
            <a:spLocks noChangeArrowheads="1"/>
          </p:cNvSpPr>
          <p:nvPr/>
        </p:nvSpPr>
        <p:spPr bwMode="auto">
          <a:xfrm>
            <a:off x="7170738" y="2892425"/>
            <a:ext cx="17446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93738" indent="-693738">
              <a:spcBef>
                <a:spcPct val="50000"/>
              </a:spcBef>
            </a:pPr>
            <a:r>
              <a:rPr lang="en-US" sz="1600" dirty="0"/>
              <a:t>PAE = 960 +0.8Y</a:t>
            </a:r>
          </a:p>
        </p:txBody>
      </p:sp>
      <p:sp>
        <p:nvSpPr>
          <p:cNvPr id="190477" name="Line 13"/>
          <p:cNvSpPr>
            <a:spLocks noChangeShapeType="1"/>
          </p:cNvSpPr>
          <p:nvPr/>
        </p:nvSpPr>
        <p:spPr bwMode="auto">
          <a:xfrm flipV="1">
            <a:off x="5522913" y="2682875"/>
            <a:ext cx="2027237" cy="164941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0466" name="Line 2"/>
          <p:cNvSpPr>
            <a:spLocks noChangeShapeType="1"/>
          </p:cNvSpPr>
          <p:nvPr/>
        </p:nvSpPr>
        <p:spPr bwMode="auto">
          <a:xfrm flipV="1">
            <a:off x="5518150" y="2400300"/>
            <a:ext cx="1643063" cy="2735263"/>
          </a:xfrm>
          <a:prstGeom prst="line">
            <a:avLst/>
          </a:prstGeom>
          <a:ln>
            <a:solidFill>
              <a:srgbClr val="D60093"/>
            </a:solidFill>
            <a:prstDash val="lgDash"/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757" name="Freeform 16"/>
          <p:cNvSpPr>
            <a:spLocks/>
          </p:cNvSpPr>
          <p:nvPr/>
        </p:nvSpPr>
        <p:spPr bwMode="auto">
          <a:xfrm>
            <a:off x="5675313" y="4886325"/>
            <a:ext cx="79375" cy="249238"/>
          </a:xfrm>
          <a:custGeom>
            <a:avLst/>
            <a:gdLst>
              <a:gd name="T0" fmla="*/ 0 w 127"/>
              <a:gd name="T1" fmla="*/ 0 h 262"/>
              <a:gd name="T2" fmla="*/ 2147483647 w 127"/>
              <a:gd name="T3" fmla="*/ 2147483647 h 262"/>
              <a:gd name="T4" fmla="*/ 2147483647 w 127"/>
              <a:gd name="T5" fmla="*/ 2147483647 h 262"/>
              <a:gd name="T6" fmla="*/ 2147483647 w 127"/>
              <a:gd name="T7" fmla="*/ 2147483647 h 262"/>
              <a:gd name="T8" fmla="*/ 2147483647 w 127"/>
              <a:gd name="T9" fmla="*/ 2147483647 h 2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7"/>
              <a:gd name="T16" fmla="*/ 0 h 262"/>
              <a:gd name="T17" fmla="*/ 127 w 127"/>
              <a:gd name="T18" fmla="*/ 262 h 2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7" h="262">
                <a:moveTo>
                  <a:pt x="0" y="0"/>
                </a:moveTo>
                <a:cubicBezTo>
                  <a:pt x="15" y="13"/>
                  <a:pt x="31" y="26"/>
                  <a:pt x="45" y="45"/>
                </a:cubicBezTo>
                <a:cubicBezTo>
                  <a:pt x="59" y="64"/>
                  <a:pt x="70" y="87"/>
                  <a:pt x="82" y="113"/>
                </a:cubicBezTo>
                <a:cubicBezTo>
                  <a:pt x="94" y="139"/>
                  <a:pt x="112" y="177"/>
                  <a:pt x="119" y="202"/>
                </a:cubicBezTo>
                <a:cubicBezTo>
                  <a:pt x="126" y="227"/>
                  <a:pt x="126" y="252"/>
                  <a:pt x="127" y="26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58" name="Text Box 17"/>
          <p:cNvSpPr txBox="1">
            <a:spLocks noChangeArrowheads="1"/>
          </p:cNvSpPr>
          <p:nvPr/>
        </p:nvSpPr>
        <p:spPr bwMode="auto">
          <a:xfrm>
            <a:off x="5735638" y="4862513"/>
            <a:ext cx="8937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45</a:t>
            </a:r>
            <a:r>
              <a:rPr lang="en-US" sz="1600" baseline="30000" dirty="0"/>
              <a:t>o</a:t>
            </a:r>
          </a:p>
        </p:txBody>
      </p:sp>
      <p:sp>
        <p:nvSpPr>
          <p:cNvPr id="31759" name="Text Box 19"/>
          <p:cNvSpPr txBox="1">
            <a:spLocks noChangeArrowheads="1"/>
          </p:cNvSpPr>
          <p:nvPr/>
        </p:nvSpPr>
        <p:spPr bwMode="auto">
          <a:xfrm>
            <a:off x="6750050" y="2112963"/>
            <a:ext cx="10858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Y = PAE</a:t>
            </a:r>
          </a:p>
        </p:txBody>
      </p:sp>
      <p:sp>
        <p:nvSpPr>
          <p:cNvPr id="31760" name="Line 20"/>
          <p:cNvSpPr>
            <a:spLocks noChangeShapeType="1"/>
          </p:cNvSpPr>
          <p:nvPr/>
        </p:nvSpPr>
        <p:spPr bwMode="auto">
          <a:xfrm flipV="1">
            <a:off x="6445250" y="3563938"/>
            <a:ext cx="0" cy="15636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61" name="Text Box 21"/>
          <p:cNvSpPr txBox="1">
            <a:spLocks noChangeArrowheads="1"/>
          </p:cNvSpPr>
          <p:nvPr/>
        </p:nvSpPr>
        <p:spPr bwMode="auto">
          <a:xfrm>
            <a:off x="5991225" y="5127625"/>
            <a:ext cx="781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4,800</a:t>
            </a:r>
          </a:p>
        </p:txBody>
      </p:sp>
      <p:sp>
        <p:nvSpPr>
          <p:cNvPr id="31762" name="Line 5"/>
          <p:cNvSpPr>
            <a:spLocks noChangeShapeType="1"/>
          </p:cNvSpPr>
          <p:nvPr/>
        </p:nvSpPr>
        <p:spPr bwMode="auto">
          <a:xfrm>
            <a:off x="5518150" y="2476500"/>
            <a:ext cx="1588" cy="2660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31763" name="Straight Connector 30"/>
          <p:cNvCxnSpPr>
            <a:cxnSpLocks noChangeShapeType="1"/>
          </p:cNvCxnSpPr>
          <p:nvPr/>
        </p:nvCxnSpPr>
        <p:spPr bwMode="auto">
          <a:xfrm rot="10800000">
            <a:off x="5500688" y="5159375"/>
            <a:ext cx="30749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764" name="Text Box 21"/>
          <p:cNvSpPr txBox="1">
            <a:spLocks noChangeArrowheads="1"/>
          </p:cNvSpPr>
          <p:nvPr/>
        </p:nvSpPr>
        <p:spPr bwMode="auto">
          <a:xfrm>
            <a:off x="6686550" y="5127625"/>
            <a:ext cx="7794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5,000</a:t>
            </a:r>
          </a:p>
        </p:txBody>
      </p:sp>
      <p:cxnSp>
        <p:nvCxnSpPr>
          <p:cNvPr id="40" name="Straight Connector 39"/>
          <p:cNvCxnSpPr/>
          <p:nvPr/>
        </p:nvCxnSpPr>
        <p:spPr bwMode="auto">
          <a:xfrm rot="5400000">
            <a:off x="5779294" y="3933031"/>
            <a:ext cx="2387600" cy="1588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Left Arrow 42"/>
          <p:cNvSpPr/>
          <p:nvPr/>
        </p:nvSpPr>
        <p:spPr bwMode="auto">
          <a:xfrm>
            <a:off x="6485467" y="4707468"/>
            <a:ext cx="457200" cy="304794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Output Less than Equilibrium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half" idx="4294967295"/>
          </p:nvPr>
        </p:nvSpPr>
        <p:spPr>
          <a:xfrm>
            <a:off x="685800" y="1719263"/>
            <a:ext cx="3806825" cy="4406900"/>
          </a:xfrm>
        </p:spPr>
        <p:txBody>
          <a:bodyPr/>
          <a:lstStyle/>
          <a:p>
            <a:pPr eaLnBrk="1" hangingPunct="1"/>
            <a:r>
              <a:rPr lang="en-US"/>
              <a:t>Suppose output is only 4,500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/>
              <a:t>Planned spending is more than total output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/>
              <a:t>Unplanned inventory decreases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/>
              <a:t>Businesses speed up production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/>
              <a:t>Output goes up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4639746" y="1926161"/>
            <a:ext cx="4317967" cy="4216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4713288" y="2001838"/>
            <a:ext cx="4170362" cy="406400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 rot="-5400000">
            <a:off x="3013075" y="3868738"/>
            <a:ext cx="3757613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PAE</a:t>
            </a:r>
          </a:p>
        </p:txBody>
      </p:sp>
      <p:sp>
        <p:nvSpPr>
          <p:cNvPr id="32776" name="Text Box 4"/>
          <p:cNvSpPr txBox="1">
            <a:spLocks noChangeArrowheads="1"/>
          </p:cNvSpPr>
          <p:nvPr/>
        </p:nvSpPr>
        <p:spPr bwMode="auto">
          <a:xfrm>
            <a:off x="5911850" y="5465763"/>
            <a:ext cx="13652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Output (Y)</a:t>
            </a:r>
          </a:p>
        </p:txBody>
      </p:sp>
      <p:sp>
        <p:nvSpPr>
          <p:cNvPr id="32777" name="Text Box 8"/>
          <p:cNvSpPr txBox="1">
            <a:spLocks noChangeArrowheads="1"/>
          </p:cNvSpPr>
          <p:nvPr/>
        </p:nvSpPr>
        <p:spPr bwMode="auto">
          <a:xfrm>
            <a:off x="4857750" y="4224338"/>
            <a:ext cx="6588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/>
              <a:t>960</a:t>
            </a:r>
          </a:p>
        </p:txBody>
      </p:sp>
      <p:sp>
        <p:nvSpPr>
          <p:cNvPr id="32778" name="Text Box 9"/>
          <p:cNvSpPr txBox="1">
            <a:spLocks noChangeArrowheads="1"/>
          </p:cNvSpPr>
          <p:nvPr/>
        </p:nvSpPr>
        <p:spPr bwMode="auto">
          <a:xfrm>
            <a:off x="6810375" y="3225800"/>
            <a:ext cx="21907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93738" indent="-693738">
              <a:spcBef>
                <a:spcPct val="50000"/>
              </a:spcBef>
            </a:pPr>
            <a:r>
              <a:rPr lang="en-US" sz="2000" dirty="0"/>
              <a:t>PAE = 960+0.8Y</a:t>
            </a:r>
          </a:p>
        </p:txBody>
      </p:sp>
      <p:sp>
        <p:nvSpPr>
          <p:cNvPr id="190477" name="Line 13"/>
          <p:cNvSpPr>
            <a:spLocks noChangeShapeType="1"/>
          </p:cNvSpPr>
          <p:nvPr/>
        </p:nvSpPr>
        <p:spPr bwMode="auto">
          <a:xfrm flipV="1">
            <a:off x="5522913" y="2682875"/>
            <a:ext cx="2027237" cy="164941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0466" name="Line 2"/>
          <p:cNvSpPr>
            <a:spLocks noChangeShapeType="1"/>
          </p:cNvSpPr>
          <p:nvPr/>
        </p:nvSpPr>
        <p:spPr bwMode="auto">
          <a:xfrm flipV="1">
            <a:off x="5518150" y="2400300"/>
            <a:ext cx="1643063" cy="2735263"/>
          </a:xfrm>
          <a:prstGeom prst="line">
            <a:avLst/>
          </a:prstGeom>
          <a:ln>
            <a:solidFill>
              <a:srgbClr val="D60093"/>
            </a:solidFill>
            <a:prstDash val="lgDash"/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781" name="Text Box 19"/>
          <p:cNvSpPr txBox="1">
            <a:spLocks noChangeArrowheads="1"/>
          </p:cNvSpPr>
          <p:nvPr/>
        </p:nvSpPr>
        <p:spPr bwMode="auto">
          <a:xfrm>
            <a:off x="6550025" y="2046288"/>
            <a:ext cx="11842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Y = PAE</a:t>
            </a:r>
          </a:p>
        </p:txBody>
      </p:sp>
      <p:sp>
        <p:nvSpPr>
          <p:cNvPr id="32782" name="Line 20"/>
          <p:cNvSpPr>
            <a:spLocks noChangeShapeType="1"/>
          </p:cNvSpPr>
          <p:nvPr/>
        </p:nvSpPr>
        <p:spPr bwMode="auto">
          <a:xfrm flipV="1">
            <a:off x="6445250" y="3563938"/>
            <a:ext cx="0" cy="15636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83" name="Text Box 21"/>
          <p:cNvSpPr txBox="1">
            <a:spLocks noChangeArrowheads="1"/>
          </p:cNvSpPr>
          <p:nvPr/>
        </p:nvSpPr>
        <p:spPr bwMode="auto">
          <a:xfrm>
            <a:off x="6262688" y="5160963"/>
            <a:ext cx="7794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4,800</a:t>
            </a:r>
          </a:p>
        </p:txBody>
      </p:sp>
      <p:sp>
        <p:nvSpPr>
          <p:cNvPr id="32784" name="Line 5"/>
          <p:cNvSpPr>
            <a:spLocks noChangeShapeType="1"/>
          </p:cNvSpPr>
          <p:nvPr/>
        </p:nvSpPr>
        <p:spPr bwMode="auto">
          <a:xfrm>
            <a:off x="5518150" y="2476500"/>
            <a:ext cx="1588" cy="2660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32785" name="Straight Connector 30"/>
          <p:cNvCxnSpPr>
            <a:cxnSpLocks noChangeShapeType="1"/>
          </p:cNvCxnSpPr>
          <p:nvPr/>
        </p:nvCxnSpPr>
        <p:spPr bwMode="auto">
          <a:xfrm rot="10800000">
            <a:off x="5500688" y="5159375"/>
            <a:ext cx="30749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3" name="Left Arrow 42"/>
          <p:cNvSpPr/>
          <p:nvPr/>
        </p:nvSpPr>
        <p:spPr bwMode="auto">
          <a:xfrm flipH="1">
            <a:off x="6129866" y="4792133"/>
            <a:ext cx="321734" cy="304795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 rot="5400000">
            <a:off x="5444332" y="4529931"/>
            <a:ext cx="1270000" cy="1587"/>
          </a:xfrm>
          <a:prstGeom prst="line">
            <a:avLst/>
          </a:prstGeom>
          <a:ln w="1270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90" name="Text Box 21"/>
          <p:cNvSpPr txBox="1">
            <a:spLocks noChangeArrowheads="1"/>
          </p:cNvSpPr>
          <p:nvPr/>
        </p:nvSpPr>
        <p:spPr bwMode="auto">
          <a:xfrm>
            <a:off x="5568950" y="5160963"/>
            <a:ext cx="7794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4,500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 bwMode="auto">
          <a:xfrm>
            <a:off x="1439333" y="1544732"/>
            <a:ext cx="7332134" cy="49276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516063" y="1612464"/>
            <a:ext cx="7178675" cy="479266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79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41350" y="332939"/>
            <a:ext cx="8229600" cy="911225"/>
          </a:xfrm>
        </p:spPr>
        <p:txBody>
          <a:bodyPr/>
          <a:lstStyle/>
          <a:p>
            <a:pPr eaLnBrk="1" hangingPunct="1"/>
            <a:r>
              <a:rPr lang="en-US"/>
              <a:t>A Fall in Planned Spending Leads to a Recession</a:t>
            </a:r>
          </a:p>
        </p:txBody>
      </p:sp>
      <p:sp>
        <p:nvSpPr>
          <p:cNvPr id="33798" name="Text Box 5"/>
          <p:cNvSpPr txBox="1">
            <a:spLocks noChangeArrowheads="1"/>
          </p:cNvSpPr>
          <p:nvPr/>
        </p:nvSpPr>
        <p:spPr bwMode="auto">
          <a:xfrm>
            <a:off x="4105275" y="5930464"/>
            <a:ext cx="304323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Output Y</a:t>
            </a:r>
          </a:p>
        </p:txBody>
      </p:sp>
      <p:sp>
        <p:nvSpPr>
          <p:cNvPr id="33799" name="Text Box 8"/>
          <p:cNvSpPr txBox="1">
            <a:spLocks noChangeArrowheads="1"/>
          </p:cNvSpPr>
          <p:nvPr/>
        </p:nvSpPr>
        <p:spPr bwMode="auto">
          <a:xfrm rot="-5400000">
            <a:off x="-167481" y="3583346"/>
            <a:ext cx="40068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Planned aggregate expenditure (PAE)</a:t>
            </a:r>
          </a:p>
        </p:txBody>
      </p:sp>
      <p:sp>
        <p:nvSpPr>
          <p:cNvPr id="33800" name="Line 7"/>
          <p:cNvSpPr>
            <a:spLocks noChangeShapeType="1"/>
          </p:cNvSpPr>
          <p:nvPr/>
        </p:nvSpPr>
        <p:spPr bwMode="auto">
          <a:xfrm>
            <a:off x="2552700" y="5679639"/>
            <a:ext cx="475615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1" name="Line 6"/>
          <p:cNvSpPr>
            <a:spLocks noChangeShapeType="1"/>
          </p:cNvSpPr>
          <p:nvPr/>
        </p:nvSpPr>
        <p:spPr bwMode="auto">
          <a:xfrm>
            <a:off x="2560638" y="1828364"/>
            <a:ext cx="1587" cy="385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2" name="Text Box 9"/>
          <p:cNvSpPr txBox="1">
            <a:spLocks noChangeArrowheads="1"/>
          </p:cNvSpPr>
          <p:nvPr/>
        </p:nvSpPr>
        <p:spPr bwMode="auto">
          <a:xfrm>
            <a:off x="1882775" y="4358839"/>
            <a:ext cx="674688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960</a:t>
            </a:r>
          </a:p>
        </p:txBody>
      </p:sp>
      <p:sp>
        <p:nvSpPr>
          <p:cNvPr id="33803" name="Text Box 25"/>
          <p:cNvSpPr txBox="1">
            <a:spLocks noChangeArrowheads="1"/>
          </p:cNvSpPr>
          <p:nvPr/>
        </p:nvSpPr>
        <p:spPr bwMode="auto">
          <a:xfrm>
            <a:off x="4308475" y="3179327"/>
            <a:ext cx="32861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E</a:t>
            </a:r>
          </a:p>
        </p:txBody>
      </p:sp>
      <p:sp>
        <p:nvSpPr>
          <p:cNvPr id="191490" name="Line 2"/>
          <p:cNvSpPr>
            <a:spLocks noChangeShapeType="1"/>
          </p:cNvSpPr>
          <p:nvPr/>
        </p:nvSpPr>
        <p:spPr bwMode="auto">
          <a:xfrm flipV="1">
            <a:off x="4627563" y="2393514"/>
            <a:ext cx="0" cy="3273425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33805" name="Text Box 10"/>
          <p:cNvSpPr txBox="1">
            <a:spLocks noChangeArrowheads="1"/>
          </p:cNvSpPr>
          <p:nvPr/>
        </p:nvSpPr>
        <p:spPr bwMode="auto">
          <a:xfrm>
            <a:off x="6311900" y="2107764"/>
            <a:ext cx="22367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795338" indent="-795338">
              <a:spcBef>
                <a:spcPct val="50000"/>
              </a:spcBef>
            </a:pPr>
            <a:r>
              <a:rPr lang="en-US" sz="2000"/>
              <a:t>PAE = 960 + 0.8Y</a:t>
            </a:r>
          </a:p>
        </p:txBody>
      </p:sp>
      <p:sp>
        <p:nvSpPr>
          <p:cNvPr id="191502" name="Line 14"/>
          <p:cNvSpPr>
            <a:spLocks noChangeShapeType="1"/>
          </p:cNvSpPr>
          <p:nvPr/>
        </p:nvSpPr>
        <p:spPr bwMode="auto">
          <a:xfrm flipV="1">
            <a:off x="2571750" y="2487177"/>
            <a:ext cx="3870325" cy="2027237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33807" name="Freeform 15"/>
          <p:cNvSpPr>
            <a:spLocks/>
          </p:cNvSpPr>
          <p:nvPr/>
        </p:nvSpPr>
        <p:spPr bwMode="auto">
          <a:xfrm>
            <a:off x="2911475" y="5316102"/>
            <a:ext cx="174625" cy="360362"/>
          </a:xfrm>
          <a:custGeom>
            <a:avLst/>
            <a:gdLst>
              <a:gd name="T0" fmla="*/ 0 w 127"/>
              <a:gd name="T1" fmla="*/ 0 h 262"/>
              <a:gd name="T2" fmla="*/ 2147483647 w 127"/>
              <a:gd name="T3" fmla="*/ 2147483647 h 262"/>
              <a:gd name="T4" fmla="*/ 2147483647 w 127"/>
              <a:gd name="T5" fmla="*/ 2147483647 h 262"/>
              <a:gd name="T6" fmla="*/ 2147483647 w 127"/>
              <a:gd name="T7" fmla="*/ 2147483647 h 262"/>
              <a:gd name="T8" fmla="*/ 2147483647 w 127"/>
              <a:gd name="T9" fmla="*/ 2147483647 h 2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7"/>
              <a:gd name="T16" fmla="*/ 0 h 262"/>
              <a:gd name="T17" fmla="*/ 127 w 127"/>
              <a:gd name="T18" fmla="*/ 262 h 2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7" h="262">
                <a:moveTo>
                  <a:pt x="0" y="0"/>
                </a:moveTo>
                <a:cubicBezTo>
                  <a:pt x="15" y="13"/>
                  <a:pt x="31" y="26"/>
                  <a:pt x="45" y="45"/>
                </a:cubicBezTo>
                <a:cubicBezTo>
                  <a:pt x="59" y="64"/>
                  <a:pt x="70" y="87"/>
                  <a:pt x="82" y="113"/>
                </a:cubicBezTo>
                <a:cubicBezTo>
                  <a:pt x="94" y="139"/>
                  <a:pt x="112" y="177"/>
                  <a:pt x="119" y="202"/>
                </a:cubicBezTo>
                <a:cubicBezTo>
                  <a:pt x="126" y="227"/>
                  <a:pt x="126" y="252"/>
                  <a:pt x="127" y="26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3046413" y="5281177"/>
            <a:ext cx="622300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45</a:t>
            </a:r>
            <a:r>
              <a:rPr lang="en-US" sz="2000" baseline="30000"/>
              <a:t>o</a:t>
            </a:r>
          </a:p>
        </p:txBody>
      </p:sp>
      <p:sp>
        <p:nvSpPr>
          <p:cNvPr id="33809" name="Text Box 18"/>
          <p:cNvSpPr txBox="1">
            <a:spLocks noChangeArrowheads="1"/>
          </p:cNvSpPr>
          <p:nvPr/>
        </p:nvSpPr>
        <p:spPr bwMode="auto">
          <a:xfrm>
            <a:off x="5997575" y="1731527"/>
            <a:ext cx="1830388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Y = PAE</a:t>
            </a:r>
          </a:p>
        </p:txBody>
      </p:sp>
      <p:sp>
        <p:nvSpPr>
          <p:cNvPr id="33810" name="Text Box 19"/>
          <p:cNvSpPr txBox="1">
            <a:spLocks noChangeArrowheads="1"/>
          </p:cNvSpPr>
          <p:nvPr/>
        </p:nvSpPr>
        <p:spPr bwMode="auto">
          <a:xfrm>
            <a:off x="4225925" y="5657414"/>
            <a:ext cx="855663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4,800</a:t>
            </a:r>
          </a:p>
        </p:txBody>
      </p:sp>
      <p:sp>
        <p:nvSpPr>
          <p:cNvPr id="191491" name="Line 3"/>
          <p:cNvSpPr>
            <a:spLocks noChangeShapeType="1"/>
          </p:cNvSpPr>
          <p:nvPr/>
        </p:nvSpPr>
        <p:spPr bwMode="auto">
          <a:xfrm flipV="1">
            <a:off x="2560638" y="1910914"/>
            <a:ext cx="3468687" cy="3767138"/>
          </a:xfrm>
          <a:prstGeom prst="line">
            <a:avLst/>
          </a:prstGeom>
          <a:ln>
            <a:solidFill>
              <a:srgbClr val="D60093"/>
            </a:solidFill>
            <a:prstDash val="dash"/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33812" name="Text Box 34"/>
          <p:cNvSpPr txBox="1">
            <a:spLocks noChangeArrowheads="1"/>
          </p:cNvSpPr>
          <p:nvPr/>
        </p:nvSpPr>
        <p:spPr bwMode="auto">
          <a:xfrm>
            <a:off x="4435475" y="5886014"/>
            <a:ext cx="6413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Y*</a:t>
            </a:r>
          </a:p>
        </p:txBody>
      </p:sp>
      <p:sp>
        <p:nvSpPr>
          <p:cNvPr id="191512" name="Text Box 24"/>
          <p:cNvSpPr txBox="1">
            <a:spLocks noChangeArrowheads="1"/>
          </p:cNvSpPr>
          <p:nvPr/>
        </p:nvSpPr>
        <p:spPr bwMode="auto">
          <a:xfrm>
            <a:off x="4584700" y="5212914"/>
            <a:ext cx="2371725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Recessionary gap</a:t>
            </a:r>
          </a:p>
        </p:txBody>
      </p:sp>
      <p:grpSp>
        <p:nvGrpSpPr>
          <p:cNvPr id="2" name="Group 56"/>
          <p:cNvGrpSpPr>
            <a:grpSpLocks/>
          </p:cNvGrpSpPr>
          <p:nvPr/>
        </p:nvGrpSpPr>
        <p:grpSpPr bwMode="auto">
          <a:xfrm>
            <a:off x="1879600" y="2768164"/>
            <a:ext cx="6651625" cy="2268538"/>
            <a:chOff x="1879600" y="2705515"/>
            <a:chExt cx="6651701" cy="2268073"/>
          </a:xfrm>
        </p:grpSpPr>
        <p:sp>
          <p:nvSpPr>
            <p:cNvPr id="44" name="Down Arrow 43"/>
            <p:cNvSpPr/>
            <p:nvPr/>
          </p:nvSpPr>
          <p:spPr bwMode="auto">
            <a:xfrm>
              <a:off x="5788101" y="2756120"/>
              <a:ext cx="223232" cy="207213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1508" name="Line 20"/>
            <p:cNvSpPr>
              <a:spLocks noChangeShapeType="1"/>
            </p:cNvSpPr>
            <p:nvPr/>
          </p:nvSpPr>
          <p:spPr bwMode="auto">
            <a:xfrm flipV="1">
              <a:off x="2571758" y="2705515"/>
              <a:ext cx="3870369" cy="2026822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33827" name="Text Box 30"/>
            <p:cNvSpPr txBox="1">
              <a:spLocks noChangeArrowheads="1"/>
            </p:cNvSpPr>
            <p:nvPr/>
          </p:nvSpPr>
          <p:spPr bwMode="auto">
            <a:xfrm>
              <a:off x="6311410" y="2711015"/>
              <a:ext cx="221989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795338" indent="-795338">
                <a:spcBef>
                  <a:spcPct val="50000"/>
                </a:spcBef>
              </a:pPr>
              <a:r>
                <a:rPr lang="en-US" sz="2000"/>
                <a:t>PAE = 950 + 0.8Y</a:t>
              </a:r>
            </a:p>
          </p:txBody>
        </p:sp>
        <p:sp>
          <p:nvSpPr>
            <p:cNvPr id="33828" name="Text Box 32"/>
            <p:cNvSpPr txBox="1">
              <a:spLocks noChangeArrowheads="1"/>
            </p:cNvSpPr>
            <p:nvPr/>
          </p:nvSpPr>
          <p:spPr bwMode="auto">
            <a:xfrm>
              <a:off x="1879600" y="4573478"/>
              <a:ext cx="67708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950</a:t>
              </a:r>
            </a:p>
          </p:txBody>
        </p:sp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3535363" y="3950852"/>
            <a:ext cx="1049337" cy="2114550"/>
            <a:chOff x="3535967" y="3888468"/>
            <a:chExt cx="1048512" cy="2114014"/>
          </a:xfrm>
        </p:grpSpPr>
        <p:sp>
          <p:nvSpPr>
            <p:cNvPr id="33817" name="Line 21"/>
            <p:cNvSpPr>
              <a:spLocks noChangeShapeType="1"/>
            </p:cNvSpPr>
            <p:nvPr/>
          </p:nvSpPr>
          <p:spPr bwMode="auto">
            <a:xfrm flipV="1">
              <a:off x="4123404" y="3966873"/>
              <a:ext cx="0" cy="16368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Text Box 26"/>
            <p:cNvSpPr txBox="1">
              <a:spLocks noChangeArrowheads="1"/>
            </p:cNvSpPr>
            <p:nvPr/>
          </p:nvSpPr>
          <p:spPr bwMode="auto">
            <a:xfrm>
              <a:off x="4093143" y="3888468"/>
              <a:ext cx="328751" cy="3466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F</a:t>
              </a:r>
            </a:p>
          </p:txBody>
        </p:sp>
        <p:sp>
          <p:nvSpPr>
            <p:cNvPr id="33819" name="Text Box 33"/>
            <p:cNvSpPr txBox="1">
              <a:spLocks noChangeArrowheads="1"/>
            </p:cNvSpPr>
            <p:nvPr/>
          </p:nvSpPr>
          <p:spPr bwMode="auto">
            <a:xfrm>
              <a:off x="3535967" y="5602372"/>
              <a:ext cx="8501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4,750</a:t>
              </a:r>
            </a:p>
          </p:txBody>
        </p:sp>
        <p:sp>
          <p:nvSpPr>
            <p:cNvPr id="45" name="Left Arrow 44"/>
            <p:cNvSpPr/>
            <p:nvPr/>
          </p:nvSpPr>
          <p:spPr bwMode="auto">
            <a:xfrm>
              <a:off x="4145567" y="4609329"/>
              <a:ext cx="438912" cy="301350"/>
            </a:xfrm>
            <a:prstGeom prst="lef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51" name="Straight Arrow Connector 50"/>
          <p:cNvCxnSpPr/>
          <p:nvPr/>
        </p:nvCxnSpPr>
        <p:spPr bwMode="auto">
          <a:xfrm>
            <a:off x="4148138" y="5447864"/>
            <a:ext cx="4572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5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2"/>
          <p:cNvSpPr>
            <a:spLocks noGrp="1"/>
          </p:cNvSpPr>
          <p:nvPr>
            <p:ph type="title" idx="4294967295"/>
          </p:nvPr>
        </p:nvSpPr>
        <p:spPr>
          <a:xfrm>
            <a:off x="668338" y="7883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New Equilibrium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19125" y="1289050"/>
            <a:ext cx="8423275" cy="5016500"/>
          </a:xfrm>
        </p:spPr>
        <p:txBody>
          <a:bodyPr/>
          <a:lstStyle/>
          <a:p>
            <a:pPr eaLnBrk="1" hangingPunct="1"/>
            <a:r>
              <a:rPr lang="en-US" sz="2700" dirty="0"/>
              <a:t>Autonomous consumption       decreases by $10</a:t>
            </a:r>
          </a:p>
          <a:p>
            <a:pPr lvl="1" eaLnBrk="1" hangingPunct="1"/>
            <a:r>
              <a:rPr lang="en-US" dirty="0"/>
              <a:t>Causes a downward shift in the planned aggregate expenditure curve</a:t>
            </a:r>
          </a:p>
          <a:p>
            <a:pPr lvl="1" eaLnBrk="1" hangingPunct="1"/>
            <a:r>
              <a:rPr lang="en-US" dirty="0"/>
              <a:t>The economy eventually adjusts to a new lower level of equilibrium spending and output, $4,750</a:t>
            </a:r>
          </a:p>
          <a:p>
            <a:pPr eaLnBrk="1" hangingPunct="1"/>
            <a:r>
              <a:rPr lang="en-US" sz="2700" dirty="0"/>
              <a:t>Suppose that the original equilibrium level, $4,800, represented potential output, Y*</a:t>
            </a:r>
          </a:p>
          <a:p>
            <a:pPr lvl="1" eaLnBrk="1" hangingPunct="1"/>
            <a:r>
              <a:rPr lang="en-US" dirty="0"/>
              <a:t>A recessionary gap develops</a:t>
            </a:r>
          </a:p>
          <a:p>
            <a:pPr lvl="1" eaLnBrk="1" hangingPunct="1"/>
            <a:r>
              <a:rPr lang="en-US" dirty="0"/>
              <a:t>Size of the recessionary gap is 4,800 – 4,750 = $50</a:t>
            </a:r>
          </a:p>
          <a:p>
            <a:pPr lvl="1" eaLnBrk="1" hangingPunct="1"/>
            <a:r>
              <a:rPr lang="en-US" dirty="0"/>
              <a:t>5 times the decrease in initial consumption spending</a:t>
            </a:r>
          </a:p>
          <a:p>
            <a:pPr eaLnBrk="1" hangingPunct="1"/>
            <a:r>
              <a:rPr lang="en-US" sz="2700" dirty="0"/>
              <a:t>Same process applies to a decrease in I</a:t>
            </a:r>
            <a:r>
              <a:rPr lang="en-US" sz="2700" baseline="30000" dirty="0"/>
              <a:t>P</a:t>
            </a:r>
            <a:r>
              <a:rPr lang="en-US" sz="2700" dirty="0"/>
              <a:t>, G, or NX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5148264" y="1314450"/>
          <a:ext cx="377294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203040" progId="Equation.3">
                  <p:embed/>
                </p:oleObj>
              </mc:Choice>
              <mc:Fallback>
                <p:oleObj name="Equation" r:id="rId3" imgW="1648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4" y="1314450"/>
                        <a:ext cx="377294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1566" y="17867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Income-Expenditure Multiplier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01566" y="1178797"/>
            <a:ext cx="8229600" cy="5298203"/>
          </a:xfrm>
        </p:spPr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b="1" dirty="0"/>
              <a:t>income – expenditure multiplier </a:t>
            </a:r>
            <a:r>
              <a:rPr lang="en-US" dirty="0"/>
              <a:t>shows the effect of a one-unit increase in autonomous expenditure on short-run equilibrium output</a:t>
            </a:r>
          </a:p>
          <a:p>
            <a:pPr lvl="1" eaLnBrk="1" hangingPunct="1"/>
            <a:r>
              <a:rPr lang="en-US" dirty="0"/>
              <a:t>Initial planned expenditure = 960 + 0.8 Y</a:t>
            </a:r>
          </a:p>
          <a:p>
            <a:pPr lvl="1" eaLnBrk="1" hangingPunct="1"/>
            <a:r>
              <a:rPr lang="en-US" dirty="0"/>
              <a:t>New planned expenditure = 950 + 0.8 Y</a:t>
            </a:r>
          </a:p>
          <a:p>
            <a:pPr lvl="2" eaLnBrk="1" hangingPunct="1"/>
            <a:r>
              <a:rPr lang="en-US" dirty="0"/>
              <a:t>The 10-unit drop in C implied a 10 unit drop in autonomous expenditure</a:t>
            </a:r>
          </a:p>
          <a:p>
            <a:pPr lvl="2" eaLnBrk="1" hangingPunct="1"/>
            <a:r>
              <a:rPr lang="en-US" dirty="0"/>
              <a:t>Equilibrium changed from $4,800 to $4,750</a:t>
            </a:r>
          </a:p>
          <a:p>
            <a:pPr lvl="2" eaLnBrk="1" hangingPunct="1"/>
            <a:r>
              <a:rPr lang="en-US" dirty="0"/>
              <a:t>A $10 change in autonomous expenditures caused a $50 change in output.  Multiplier = 5</a:t>
            </a:r>
          </a:p>
          <a:p>
            <a:pPr lvl="2" eaLnBrk="1" hangingPunct="1"/>
            <a:r>
              <a:rPr lang="en-US" dirty="0"/>
              <a:t>Spending Multiplier = 1/(1 – MPC)</a:t>
            </a:r>
          </a:p>
          <a:p>
            <a:pPr lvl="1" eaLnBrk="1" hangingPunct="1"/>
            <a:r>
              <a:rPr lang="en-US" dirty="0"/>
              <a:t>The larger </a:t>
            </a:r>
            <a:r>
              <a:rPr lang="en-US"/>
              <a:t>the MPC, </a:t>
            </a:r>
            <a:r>
              <a:rPr lang="en-US" dirty="0"/>
              <a:t>the greater the multiplier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194438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Stabilization Policy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52425" y="1273938"/>
            <a:ext cx="8734426" cy="5060187"/>
          </a:xfrm>
        </p:spPr>
        <p:txBody>
          <a:bodyPr/>
          <a:lstStyle/>
          <a:p>
            <a:pPr eaLnBrk="1" hangingPunct="1"/>
            <a:r>
              <a:rPr lang="en-US" b="1" dirty="0"/>
              <a:t>Stabilization policies</a:t>
            </a:r>
            <a:r>
              <a:rPr lang="en-US" dirty="0"/>
              <a:t> are government policies that are used to affect planned aggregate expenditure, with the objective of eliminating output gaps</a:t>
            </a:r>
          </a:p>
          <a:p>
            <a:pPr lvl="1" eaLnBrk="1" hangingPunct="1"/>
            <a:r>
              <a:rPr lang="en-US" b="1" dirty="0"/>
              <a:t>Expansionary policies</a:t>
            </a:r>
            <a:r>
              <a:rPr lang="en-US" dirty="0"/>
              <a:t> increase planned expenditure</a:t>
            </a:r>
          </a:p>
          <a:p>
            <a:pPr lvl="1" eaLnBrk="1" hangingPunct="1"/>
            <a:r>
              <a:rPr lang="en-US" b="1" dirty="0" err="1"/>
              <a:t>Contractionary</a:t>
            </a:r>
            <a:r>
              <a:rPr lang="en-US" b="1" dirty="0"/>
              <a:t> policies</a:t>
            </a:r>
            <a:r>
              <a:rPr lang="en-US" dirty="0"/>
              <a:t> decrease planned expenditure</a:t>
            </a:r>
          </a:p>
          <a:p>
            <a:pPr lvl="1" eaLnBrk="1" hangingPunct="1"/>
            <a:r>
              <a:rPr lang="en-US" b="1" dirty="0"/>
              <a:t>Fiscal policy</a:t>
            </a:r>
            <a:r>
              <a:rPr lang="en-US" dirty="0"/>
              <a:t> uses changes in government spending, transfers, or taxes</a:t>
            </a:r>
          </a:p>
          <a:p>
            <a:pPr lvl="1" eaLnBrk="1" hangingPunct="1"/>
            <a:r>
              <a:rPr lang="en-US" b="1" dirty="0"/>
              <a:t>Monetary policy </a:t>
            </a:r>
            <a:r>
              <a:rPr lang="en-US" dirty="0"/>
              <a:t>uses changes in the money supply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17867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Government Spending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06232" y="1421685"/>
            <a:ext cx="8229600" cy="4525962"/>
          </a:xfrm>
        </p:spPr>
        <p:txBody>
          <a:bodyPr/>
          <a:lstStyle/>
          <a:p>
            <a:pPr eaLnBrk="1" hangingPunct="1"/>
            <a:r>
              <a:rPr lang="en-US" sz="2600" dirty="0"/>
              <a:t>Government spending is part of planned spending</a:t>
            </a:r>
          </a:p>
          <a:p>
            <a:pPr lvl="1" eaLnBrk="1" hangingPunct="1"/>
            <a:r>
              <a:rPr lang="en-US" dirty="0"/>
              <a:t>Changes in government spending will directly affect planned aggregate expenditures</a:t>
            </a:r>
          </a:p>
          <a:p>
            <a:pPr eaLnBrk="1" hangingPunct="1"/>
            <a:r>
              <a:rPr lang="en-US" sz="2600" dirty="0"/>
              <a:t>Suppose planned spending decreases $10 from</a:t>
            </a:r>
            <a:r>
              <a:rPr lang="en-US" dirty="0"/>
              <a:t> </a:t>
            </a:r>
          </a:p>
          <a:p>
            <a:pPr eaLnBrk="1" hangingPunct="1">
              <a:buFontTx/>
              <a:buNone/>
            </a:pPr>
            <a:r>
              <a:rPr lang="en-US" dirty="0"/>
              <a:t>		Y = 960 + 0.8Y	to  Y = 950 + 0.8Y</a:t>
            </a:r>
          </a:p>
          <a:p>
            <a:pPr lvl="1" eaLnBrk="1" hangingPunct="1"/>
            <a:r>
              <a:rPr lang="en-US" dirty="0"/>
              <a:t>Equilibrium Y decreases from $4,800 to $4,750</a:t>
            </a:r>
          </a:p>
          <a:p>
            <a:pPr lvl="2" eaLnBrk="1" hangingPunct="1"/>
            <a:r>
              <a:rPr lang="en-US" dirty="0"/>
              <a:t>Recessionary gap is $50</a:t>
            </a:r>
          </a:p>
          <a:p>
            <a:pPr eaLnBrk="1" hangingPunct="1"/>
            <a:r>
              <a:rPr lang="en-US" sz="2600" dirty="0"/>
              <a:t>Stabilization policy indicates a $10 increase in government spending will restore the economy to Y* at $4,800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 bwMode="auto">
          <a:xfrm>
            <a:off x="1439333" y="1481668"/>
            <a:ext cx="7332134" cy="49276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516063" y="1549400"/>
            <a:ext cx="7178675" cy="479266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03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$10 Fiscal Stimulus</a:t>
            </a:r>
          </a:p>
        </p:txBody>
      </p:sp>
      <p:sp>
        <p:nvSpPr>
          <p:cNvPr id="44038" name="Text Box 5"/>
          <p:cNvSpPr txBox="1">
            <a:spLocks noChangeArrowheads="1"/>
          </p:cNvSpPr>
          <p:nvPr/>
        </p:nvSpPr>
        <p:spPr bwMode="auto">
          <a:xfrm>
            <a:off x="4105275" y="5867400"/>
            <a:ext cx="304323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Output Y</a:t>
            </a:r>
          </a:p>
        </p:txBody>
      </p:sp>
      <p:sp>
        <p:nvSpPr>
          <p:cNvPr id="44039" name="Text Box 8"/>
          <p:cNvSpPr txBox="1">
            <a:spLocks noChangeArrowheads="1"/>
          </p:cNvSpPr>
          <p:nvPr/>
        </p:nvSpPr>
        <p:spPr bwMode="auto">
          <a:xfrm rot="-5400000">
            <a:off x="-167481" y="3520282"/>
            <a:ext cx="40068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Planned aggregate expenditure (PAE)</a:t>
            </a:r>
          </a:p>
        </p:txBody>
      </p:sp>
      <p:sp>
        <p:nvSpPr>
          <p:cNvPr id="44040" name="Line 7"/>
          <p:cNvSpPr>
            <a:spLocks noChangeShapeType="1"/>
          </p:cNvSpPr>
          <p:nvPr/>
        </p:nvSpPr>
        <p:spPr bwMode="auto">
          <a:xfrm>
            <a:off x="2552700" y="5616575"/>
            <a:ext cx="475615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1" name="Line 6"/>
          <p:cNvSpPr>
            <a:spLocks noChangeShapeType="1"/>
          </p:cNvSpPr>
          <p:nvPr/>
        </p:nvSpPr>
        <p:spPr bwMode="auto">
          <a:xfrm>
            <a:off x="2560638" y="1755775"/>
            <a:ext cx="1587" cy="385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1882775" y="2044700"/>
            <a:ext cx="6665913" cy="2597150"/>
            <a:chOff x="1882673" y="2044471"/>
            <a:chExt cx="6665561" cy="2597836"/>
          </a:xfrm>
        </p:grpSpPr>
        <p:sp>
          <p:nvSpPr>
            <p:cNvPr id="44" name="Down Arrow 43"/>
            <p:cNvSpPr/>
            <p:nvPr/>
          </p:nvSpPr>
          <p:spPr bwMode="auto">
            <a:xfrm flipV="1">
              <a:off x="5788101" y="2756120"/>
              <a:ext cx="223232" cy="207213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065" name="Text Box 9"/>
            <p:cNvSpPr txBox="1">
              <a:spLocks noChangeArrowheads="1"/>
            </p:cNvSpPr>
            <p:nvPr/>
          </p:nvSpPr>
          <p:spPr bwMode="auto">
            <a:xfrm>
              <a:off x="1882673" y="4295623"/>
              <a:ext cx="674008" cy="3466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960</a:t>
              </a:r>
            </a:p>
          </p:txBody>
        </p:sp>
        <p:sp>
          <p:nvSpPr>
            <p:cNvPr id="44066" name="Text Box 10"/>
            <p:cNvSpPr txBox="1">
              <a:spLocks noChangeArrowheads="1"/>
            </p:cNvSpPr>
            <p:nvPr/>
          </p:nvSpPr>
          <p:spPr bwMode="auto">
            <a:xfrm>
              <a:off x="6311410" y="2044471"/>
              <a:ext cx="223682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795338" indent="-795338">
                <a:spcBef>
                  <a:spcPct val="50000"/>
                </a:spcBef>
              </a:pPr>
              <a:r>
                <a:rPr lang="en-US" sz="2000"/>
                <a:t>PAE = 960 + 0.8Y</a:t>
              </a:r>
            </a:p>
          </p:txBody>
        </p:sp>
        <p:sp>
          <p:nvSpPr>
            <p:cNvPr id="191502" name="Line 14"/>
            <p:cNvSpPr>
              <a:spLocks noChangeShapeType="1"/>
            </p:cNvSpPr>
            <p:nvPr/>
          </p:nvSpPr>
          <p:spPr bwMode="auto">
            <a:xfrm flipV="1">
              <a:off x="2571612" y="2423984"/>
              <a:ext cx="3871709" cy="2027772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</p:grpSp>
      <p:sp>
        <p:nvSpPr>
          <p:cNvPr id="44043" name="Freeform 15"/>
          <p:cNvSpPr>
            <a:spLocks/>
          </p:cNvSpPr>
          <p:nvPr/>
        </p:nvSpPr>
        <p:spPr bwMode="auto">
          <a:xfrm>
            <a:off x="2911475" y="5253038"/>
            <a:ext cx="174625" cy="360362"/>
          </a:xfrm>
          <a:custGeom>
            <a:avLst/>
            <a:gdLst>
              <a:gd name="T0" fmla="*/ 0 w 127"/>
              <a:gd name="T1" fmla="*/ 0 h 262"/>
              <a:gd name="T2" fmla="*/ 2147483647 w 127"/>
              <a:gd name="T3" fmla="*/ 2147483647 h 262"/>
              <a:gd name="T4" fmla="*/ 2147483647 w 127"/>
              <a:gd name="T5" fmla="*/ 2147483647 h 262"/>
              <a:gd name="T6" fmla="*/ 2147483647 w 127"/>
              <a:gd name="T7" fmla="*/ 2147483647 h 262"/>
              <a:gd name="T8" fmla="*/ 2147483647 w 127"/>
              <a:gd name="T9" fmla="*/ 2147483647 h 2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7"/>
              <a:gd name="T16" fmla="*/ 0 h 262"/>
              <a:gd name="T17" fmla="*/ 127 w 127"/>
              <a:gd name="T18" fmla="*/ 262 h 2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7" h="262">
                <a:moveTo>
                  <a:pt x="0" y="0"/>
                </a:moveTo>
                <a:cubicBezTo>
                  <a:pt x="15" y="13"/>
                  <a:pt x="31" y="26"/>
                  <a:pt x="45" y="45"/>
                </a:cubicBezTo>
                <a:cubicBezTo>
                  <a:pt x="59" y="64"/>
                  <a:pt x="70" y="87"/>
                  <a:pt x="82" y="113"/>
                </a:cubicBezTo>
                <a:cubicBezTo>
                  <a:pt x="94" y="139"/>
                  <a:pt x="112" y="177"/>
                  <a:pt x="119" y="202"/>
                </a:cubicBezTo>
                <a:cubicBezTo>
                  <a:pt x="126" y="227"/>
                  <a:pt x="126" y="252"/>
                  <a:pt x="127" y="26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4" name="Text Box 16"/>
          <p:cNvSpPr txBox="1">
            <a:spLocks noChangeArrowheads="1"/>
          </p:cNvSpPr>
          <p:nvPr/>
        </p:nvSpPr>
        <p:spPr bwMode="auto">
          <a:xfrm>
            <a:off x="3046413" y="5218113"/>
            <a:ext cx="622300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45</a:t>
            </a:r>
            <a:r>
              <a:rPr lang="en-US" sz="2000" baseline="30000"/>
              <a:t>o</a:t>
            </a:r>
          </a:p>
        </p:txBody>
      </p:sp>
      <p:sp>
        <p:nvSpPr>
          <p:cNvPr id="44045" name="Text Box 18"/>
          <p:cNvSpPr txBox="1">
            <a:spLocks noChangeArrowheads="1"/>
          </p:cNvSpPr>
          <p:nvPr/>
        </p:nvSpPr>
        <p:spPr bwMode="auto">
          <a:xfrm>
            <a:off x="5997575" y="1668463"/>
            <a:ext cx="1830388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Y = PAE</a:t>
            </a:r>
          </a:p>
        </p:txBody>
      </p:sp>
      <p:sp>
        <p:nvSpPr>
          <p:cNvPr id="191491" name="Line 3"/>
          <p:cNvSpPr>
            <a:spLocks noChangeShapeType="1"/>
          </p:cNvSpPr>
          <p:nvPr/>
        </p:nvSpPr>
        <p:spPr bwMode="auto">
          <a:xfrm flipV="1">
            <a:off x="2560638" y="1847850"/>
            <a:ext cx="3468687" cy="3767138"/>
          </a:xfrm>
          <a:prstGeom prst="line">
            <a:avLst/>
          </a:prstGeom>
          <a:ln>
            <a:solidFill>
              <a:srgbClr val="D60093"/>
            </a:solidFill>
            <a:prstDash val="dash"/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191508" name="Line 20"/>
          <p:cNvSpPr>
            <a:spLocks noChangeShapeType="1"/>
          </p:cNvSpPr>
          <p:nvPr/>
        </p:nvSpPr>
        <p:spPr bwMode="auto">
          <a:xfrm flipV="1">
            <a:off x="2571750" y="2705100"/>
            <a:ext cx="3870325" cy="2027238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44048" name="Line 21"/>
          <p:cNvSpPr>
            <a:spLocks noChangeShapeType="1"/>
          </p:cNvSpPr>
          <p:nvPr/>
        </p:nvSpPr>
        <p:spPr bwMode="auto">
          <a:xfrm flipV="1">
            <a:off x="4122738" y="3967163"/>
            <a:ext cx="0" cy="16367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9" name="Text Box 26"/>
          <p:cNvSpPr txBox="1">
            <a:spLocks noChangeArrowheads="1"/>
          </p:cNvSpPr>
          <p:nvPr/>
        </p:nvSpPr>
        <p:spPr bwMode="auto">
          <a:xfrm>
            <a:off x="4092575" y="3887788"/>
            <a:ext cx="32861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F</a:t>
            </a:r>
          </a:p>
        </p:txBody>
      </p:sp>
      <p:sp>
        <p:nvSpPr>
          <p:cNvPr id="44050" name="Text Box 30"/>
          <p:cNvSpPr txBox="1">
            <a:spLocks noChangeArrowheads="1"/>
          </p:cNvSpPr>
          <p:nvPr/>
        </p:nvSpPr>
        <p:spPr bwMode="auto">
          <a:xfrm>
            <a:off x="6311900" y="2711450"/>
            <a:ext cx="2219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795338" indent="-795338">
              <a:spcBef>
                <a:spcPct val="50000"/>
              </a:spcBef>
            </a:pPr>
            <a:r>
              <a:rPr lang="en-US" sz="2000"/>
              <a:t>PAE = 950 + 0.8Y</a:t>
            </a:r>
          </a:p>
        </p:txBody>
      </p:sp>
      <p:sp>
        <p:nvSpPr>
          <p:cNvPr id="44051" name="Text Box 32"/>
          <p:cNvSpPr txBox="1">
            <a:spLocks noChangeArrowheads="1"/>
          </p:cNvSpPr>
          <p:nvPr/>
        </p:nvSpPr>
        <p:spPr bwMode="auto">
          <a:xfrm>
            <a:off x="1914525" y="4554538"/>
            <a:ext cx="7048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950</a:t>
            </a:r>
          </a:p>
        </p:txBody>
      </p:sp>
      <p:sp>
        <p:nvSpPr>
          <p:cNvPr id="44052" name="Text Box 33"/>
          <p:cNvSpPr txBox="1">
            <a:spLocks noChangeArrowheads="1"/>
          </p:cNvSpPr>
          <p:nvPr/>
        </p:nvSpPr>
        <p:spPr bwMode="auto">
          <a:xfrm>
            <a:off x="3535363" y="5602288"/>
            <a:ext cx="850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4,750</a:t>
            </a:r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4179888" y="2330450"/>
            <a:ext cx="901700" cy="3892550"/>
            <a:chOff x="4179433" y="2329997"/>
            <a:chExt cx="901795" cy="3892570"/>
          </a:xfrm>
        </p:grpSpPr>
        <p:grpSp>
          <p:nvGrpSpPr>
            <p:cNvPr id="4" name="Group 35"/>
            <p:cNvGrpSpPr>
              <a:grpSpLocks/>
            </p:cNvGrpSpPr>
            <p:nvPr/>
          </p:nvGrpSpPr>
          <p:grpSpPr bwMode="auto">
            <a:xfrm>
              <a:off x="4226568" y="2329997"/>
              <a:ext cx="854660" cy="3892570"/>
              <a:chOff x="4226568" y="2329997"/>
              <a:chExt cx="854660" cy="3892570"/>
            </a:xfrm>
          </p:grpSpPr>
          <p:sp>
            <p:nvSpPr>
              <p:cNvPr id="44058" name="Text Box 25"/>
              <p:cNvSpPr txBox="1">
                <a:spLocks noChangeArrowheads="1"/>
              </p:cNvSpPr>
              <p:nvPr/>
            </p:nvSpPr>
            <p:spPr bwMode="auto">
              <a:xfrm>
                <a:off x="4309100" y="3116798"/>
                <a:ext cx="328751" cy="3466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/>
                  <a:t>E</a:t>
                </a:r>
              </a:p>
            </p:txBody>
          </p:sp>
          <p:sp>
            <p:nvSpPr>
              <p:cNvPr id="191490" name="Line 2"/>
              <p:cNvSpPr>
                <a:spLocks noChangeShapeType="1"/>
              </p:cNvSpPr>
              <p:nvPr/>
            </p:nvSpPr>
            <p:spPr bwMode="auto">
              <a:xfrm flipV="1">
                <a:off x="4628742" y="2329997"/>
                <a:ext cx="0" cy="327344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/>
              </a:p>
            </p:txBody>
          </p:sp>
          <p:sp>
            <p:nvSpPr>
              <p:cNvPr id="44060" name="Text Box 19"/>
              <p:cNvSpPr txBox="1">
                <a:spLocks noChangeArrowheads="1"/>
              </p:cNvSpPr>
              <p:nvPr/>
            </p:nvSpPr>
            <p:spPr bwMode="auto">
              <a:xfrm>
                <a:off x="4226568" y="5594119"/>
                <a:ext cx="854660" cy="3466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000"/>
                  <a:t>4,800</a:t>
                </a:r>
              </a:p>
            </p:txBody>
          </p:sp>
          <p:sp>
            <p:nvSpPr>
              <p:cNvPr id="44061" name="Text Box 34"/>
              <p:cNvSpPr txBox="1">
                <a:spLocks noChangeArrowheads="1"/>
              </p:cNvSpPr>
              <p:nvPr/>
            </p:nvSpPr>
            <p:spPr bwMode="auto">
              <a:xfrm>
                <a:off x="4435875" y="5822457"/>
                <a:ext cx="64102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/>
                  <a:t>Y*</a:t>
                </a:r>
              </a:p>
            </p:txBody>
          </p:sp>
        </p:grpSp>
        <p:sp>
          <p:nvSpPr>
            <p:cNvPr id="45" name="Left Arrow 44"/>
            <p:cNvSpPr/>
            <p:nvPr/>
          </p:nvSpPr>
          <p:spPr bwMode="auto">
            <a:xfrm flipH="1">
              <a:off x="4179433" y="4490798"/>
              <a:ext cx="438912" cy="301350"/>
            </a:xfrm>
            <a:prstGeom prst="lef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Taxes and Transfers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600200"/>
            <a:ext cx="8534400" cy="5048250"/>
          </a:xfrm>
        </p:spPr>
        <p:txBody>
          <a:bodyPr/>
          <a:lstStyle/>
          <a:p>
            <a:pPr eaLnBrk="1" hangingPunct="1"/>
            <a:r>
              <a:rPr lang="en-US" dirty="0"/>
              <a:t>Net tax (T) = total taxes – transfer payments</a:t>
            </a:r>
          </a:p>
          <a:p>
            <a:pPr eaLnBrk="1" hangingPunct="1"/>
            <a:r>
              <a:rPr lang="en-US" dirty="0"/>
              <a:t>Planned aggregate expenditures are influenced by changing total taxes and/or transfer payments</a:t>
            </a:r>
          </a:p>
          <a:p>
            <a:pPr lvl="1" eaLnBrk="1" hangingPunct="1"/>
            <a:r>
              <a:rPr lang="en-US" dirty="0"/>
              <a:t>The effect is indirect, channeled through the effects on disposable income</a:t>
            </a:r>
          </a:p>
          <a:p>
            <a:pPr lvl="2" eaLnBrk="1" hangingPunct="1"/>
            <a:r>
              <a:rPr lang="en-US" dirty="0"/>
              <a:t>Lower taxes or higher transfers increase disposable income</a:t>
            </a:r>
          </a:p>
          <a:p>
            <a:pPr lvl="2" eaLnBrk="1" hangingPunct="1"/>
            <a:r>
              <a:rPr lang="en-US" dirty="0"/>
              <a:t>Increases in disposable income lead to higher C</a:t>
            </a:r>
          </a:p>
          <a:p>
            <a:pPr lvl="2" eaLnBrk="1" hangingPunct="1"/>
            <a:r>
              <a:rPr lang="en-US" dirty="0"/>
              <a:t>Lump sum tax multiplier is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3716338" y="5551488"/>
          <a:ext cx="147161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393480" progId="Equation.3">
                  <p:embed/>
                </p:oleObj>
              </mc:Choice>
              <mc:Fallback>
                <p:oleObj name="Equation" r:id="rId3" imgW="5839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5551488"/>
                        <a:ext cx="1471612" cy="992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200"/>
              <a:t>Using Tax Cuts to Close a Recessionary Gap – An Example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00200"/>
            <a:ext cx="8229600" cy="5019675"/>
          </a:xfrm>
        </p:spPr>
        <p:txBody>
          <a:bodyPr/>
          <a:lstStyle/>
          <a:p>
            <a:pPr eaLnBrk="1" hangingPunct="1"/>
            <a:r>
              <a:rPr lang="en-US" sz="2600" dirty="0"/>
              <a:t>Original planned spending  Y = 960 + 0.8 Y</a:t>
            </a:r>
          </a:p>
          <a:p>
            <a:pPr eaLnBrk="1" hangingPunct="1"/>
            <a:r>
              <a:rPr lang="en-US" sz="2600" dirty="0"/>
              <a:t>Autonomous spending decreases  Y = 950 + 0.8 Y</a:t>
            </a:r>
          </a:p>
          <a:p>
            <a:pPr eaLnBrk="1" hangingPunct="1"/>
            <a:r>
              <a:rPr lang="en-US" sz="2600" dirty="0"/>
              <a:t>Recessionary gap is $50.  </a:t>
            </a:r>
          </a:p>
          <a:p>
            <a:pPr eaLnBrk="1" hangingPunct="1"/>
            <a:r>
              <a:rPr lang="en-US" sz="2600" dirty="0"/>
              <a:t>MPC =0.8, Tax Multiplier [(-0.8/(1- 0.8)]= -4</a:t>
            </a:r>
          </a:p>
          <a:p>
            <a:pPr eaLnBrk="1" hangingPunct="1"/>
            <a:r>
              <a:rPr lang="en-US" sz="2600" dirty="0"/>
              <a:t>Tax cut to close the gap must be bigger than $10</a:t>
            </a:r>
          </a:p>
          <a:p>
            <a:pPr lvl="1" eaLnBrk="1" hangingPunct="1"/>
            <a:r>
              <a:rPr lang="en-US" dirty="0"/>
              <a:t>Increase disposable income to cause initial increase in spending to be $10</a:t>
            </a:r>
          </a:p>
          <a:p>
            <a:pPr lvl="2" eaLnBrk="1" hangingPunct="1"/>
            <a:r>
              <a:rPr lang="en-US" dirty="0"/>
              <a:t>Taxes will have to go down by 50/4 = $12.5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39939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Supply-Side Economics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94796"/>
            <a:ext cx="8229600" cy="4906029"/>
          </a:xfrm>
        </p:spPr>
        <p:txBody>
          <a:bodyPr/>
          <a:lstStyle/>
          <a:p>
            <a:pPr eaLnBrk="1" hangingPunct="1"/>
            <a:r>
              <a:rPr lang="en-US" dirty="0"/>
              <a:t>Fiscal policy may affect potential output as well as aggregate spending</a:t>
            </a:r>
          </a:p>
          <a:p>
            <a:pPr lvl="1" eaLnBrk="1" hangingPunct="1"/>
            <a:r>
              <a:rPr lang="en-US" dirty="0"/>
              <a:t>Investment in infrastructure increases Y*</a:t>
            </a:r>
          </a:p>
          <a:p>
            <a:pPr lvl="1" eaLnBrk="1" hangingPunct="1"/>
            <a:r>
              <a:rPr lang="en-US" dirty="0"/>
              <a:t>Taxes and transfers affect incentives and can change potential output, Y*</a:t>
            </a:r>
          </a:p>
          <a:p>
            <a:pPr eaLnBrk="1" hangingPunct="1"/>
            <a:r>
              <a:rPr lang="en-US" dirty="0"/>
              <a:t>Supply-side economists emphasize the supply-side effects of fiscal policy</a:t>
            </a:r>
          </a:p>
          <a:p>
            <a:pPr eaLnBrk="1" hangingPunct="1"/>
            <a:r>
              <a:rPr lang="en-US" dirty="0"/>
              <a:t>Decreases in income tax may increase amount of workers willing to work, resulting in aggregate supply increases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20566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Fiscal Policy and Deficit Spending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615966"/>
            <a:ext cx="8229600" cy="4918184"/>
          </a:xfrm>
        </p:spPr>
        <p:txBody>
          <a:bodyPr/>
          <a:lstStyle/>
          <a:p>
            <a:pPr eaLnBrk="1" hangingPunct="1"/>
            <a:r>
              <a:rPr lang="en-US" dirty="0"/>
              <a:t>Government deficit is the difference between government spending and net taxes, (G – T)</a:t>
            </a:r>
          </a:p>
          <a:p>
            <a:pPr lvl="1" eaLnBrk="1" hangingPunct="1"/>
            <a:r>
              <a:rPr lang="en-US" dirty="0"/>
              <a:t>Large and persistent budget deficits reduce national saving</a:t>
            </a:r>
          </a:p>
          <a:p>
            <a:pPr lvl="1" eaLnBrk="1" hangingPunct="1"/>
            <a:r>
              <a:rPr lang="en-US" dirty="0"/>
              <a:t>Less saving means less investment which means less growth</a:t>
            </a:r>
          </a:p>
          <a:p>
            <a:pPr eaLnBrk="1" hangingPunct="1"/>
            <a:r>
              <a:rPr lang="en-US" dirty="0"/>
              <a:t>Managing the impact of the deficit limits the government's ability to use fiscal policy as a stimulus</a:t>
            </a:r>
          </a:p>
          <a:p>
            <a:pPr lvl="1" eaLnBrk="1" hangingPunct="1"/>
            <a:r>
              <a:rPr lang="en-US" dirty="0"/>
              <a:t>Political considerations make it difficult to use </a:t>
            </a:r>
            <a:r>
              <a:rPr lang="en-US" dirty="0" err="1"/>
              <a:t>contractionary</a:t>
            </a:r>
            <a:r>
              <a:rPr lang="en-US" dirty="0"/>
              <a:t> fiscal policy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8363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Fiscal Policy Flexibility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7903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Two limits to fiscal policy flexibility</a:t>
            </a:r>
          </a:p>
          <a:p>
            <a:pPr lvl="1" eaLnBrk="1" hangingPunct="1"/>
            <a:r>
              <a:rPr lang="en-US" dirty="0"/>
              <a:t>The legislative process requires time</a:t>
            </a:r>
          </a:p>
          <a:p>
            <a:pPr lvl="2" eaLnBrk="1" hangingPunct="1"/>
            <a:r>
              <a:rPr lang="en-US" dirty="0"/>
              <a:t>Change in fiscal policy may be slow </a:t>
            </a:r>
          </a:p>
          <a:p>
            <a:pPr lvl="2" eaLnBrk="1" hangingPunct="1"/>
            <a:r>
              <a:rPr lang="en-US" dirty="0"/>
              <a:t>Long time lags in policy implementation</a:t>
            </a:r>
          </a:p>
          <a:p>
            <a:pPr lvl="1" eaLnBrk="1" hangingPunct="1"/>
            <a:r>
              <a:rPr lang="en-US" dirty="0"/>
              <a:t>Competing political objectives</a:t>
            </a:r>
          </a:p>
          <a:p>
            <a:pPr lvl="2" eaLnBrk="1" hangingPunct="1"/>
            <a:r>
              <a:rPr lang="en-US" dirty="0"/>
              <a:t>National defense</a:t>
            </a:r>
          </a:p>
          <a:p>
            <a:pPr lvl="2" eaLnBrk="1" hangingPunct="1"/>
            <a:r>
              <a:rPr lang="en-US" dirty="0"/>
              <a:t>Entitlements such as Medicare and income support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Automatic Stabilizers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352550"/>
            <a:ext cx="8229600" cy="5334000"/>
          </a:xfrm>
        </p:spPr>
        <p:txBody>
          <a:bodyPr/>
          <a:lstStyle/>
          <a:p>
            <a:pPr eaLnBrk="1" hangingPunct="1"/>
            <a:r>
              <a:rPr lang="en-US" b="1" dirty="0"/>
              <a:t>Automatic stabilizers</a:t>
            </a:r>
            <a:r>
              <a:rPr lang="en-US" dirty="0"/>
              <a:t> increase government spending or decrease taxes when real output declines</a:t>
            </a:r>
          </a:p>
          <a:p>
            <a:pPr lvl="1" eaLnBrk="1" hangingPunct="1"/>
            <a:r>
              <a:rPr lang="en-US" dirty="0"/>
              <a:t>Built into laws so no decision is required</a:t>
            </a:r>
          </a:p>
          <a:p>
            <a:pPr lvl="1" eaLnBrk="1" hangingPunct="1"/>
            <a:r>
              <a:rPr lang="en-US" dirty="0"/>
              <a:t>Unemployment compensation, progressive income tax</a:t>
            </a:r>
          </a:p>
          <a:p>
            <a:pPr eaLnBrk="1" hangingPunct="1"/>
            <a:r>
              <a:rPr lang="en-US" dirty="0"/>
              <a:t>Fiscal policy is useful to address prolonged periods of recession</a:t>
            </a:r>
          </a:p>
          <a:p>
            <a:pPr lvl="1" eaLnBrk="1" hangingPunct="1"/>
            <a:r>
              <a:rPr lang="en-US" dirty="0"/>
              <a:t>Monetary policy is more often used to stabilize the economy</a:t>
            </a:r>
          </a:p>
          <a:p>
            <a:pPr lvl="1" eaLnBrk="1" hangingPunct="1"/>
            <a:r>
              <a:rPr lang="en-US" dirty="0"/>
              <a:t>Quickly decided and implemented</a:t>
            </a:r>
          </a:p>
          <a:p>
            <a:pPr lvl="1" eaLnBrk="1" hangingPunct="1"/>
            <a:r>
              <a:rPr lang="en-US" dirty="0"/>
              <a:t>More flexible and responsive than fiscal policy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The Central Bank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69732" y="1600199"/>
            <a:ext cx="7924800" cy="5095875"/>
          </a:xfrm>
        </p:spPr>
        <p:txBody>
          <a:bodyPr/>
          <a:lstStyle/>
          <a:p>
            <a:pPr eaLnBrk="1" hangingPunct="1"/>
            <a:r>
              <a:rPr lang="en-US" dirty="0"/>
              <a:t>Responsibilities of the central bank:</a:t>
            </a:r>
          </a:p>
          <a:p>
            <a:pPr lvl="1" eaLnBrk="1" hangingPunct="1"/>
            <a:r>
              <a:rPr lang="en-US" dirty="0"/>
              <a:t>Conduct monetary policy</a:t>
            </a:r>
          </a:p>
          <a:p>
            <a:pPr lvl="1" eaLnBrk="1" hangingPunct="1"/>
            <a:r>
              <a:rPr lang="en-US" dirty="0"/>
              <a:t>Oversee and regulate financial markets</a:t>
            </a:r>
          </a:p>
          <a:p>
            <a:pPr lvl="2" eaLnBrk="1" hangingPunct="1"/>
            <a:r>
              <a:rPr lang="en-US" dirty="0"/>
              <a:t>Central to solving financial crises</a:t>
            </a:r>
          </a:p>
          <a:p>
            <a:pPr lvl="1" eaLnBrk="1" hangingPunct="1"/>
            <a:r>
              <a:rPr lang="en-US" dirty="0"/>
              <a:t>Promotes public goals such as economic growth, low inflation, and smoothly functioning financial markets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>
          <a:xfrm>
            <a:off x="685799" y="216665"/>
            <a:ext cx="8292947" cy="1143000"/>
          </a:xfrm>
        </p:spPr>
        <p:txBody>
          <a:bodyPr/>
          <a:lstStyle/>
          <a:p>
            <a:pPr eaLnBrk="1" hangingPunct="1"/>
            <a:r>
              <a:rPr lang="en-US" dirty="0"/>
              <a:t>Monetary Policy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38200" y="1600200"/>
          <a:ext cx="79248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 bwMode="auto">
          <a:xfrm>
            <a:off x="5303520" y="2616582"/>
            <a:ext cx="3444240" cy="355678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386388" y="2700338"/>
            <a:ext cx="3278187" cy="338931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085" name="Title 1"/>
          <p:cNvSpPr>
            <a:spLocks noGrp="1"/>
          </p:cNvSpPr>
          <p:nvPr>
            <p:ph type="title" idx="4294967295"/>
          </p:nvPr>
        </p:nvSpPr>
        <p:spPr>
          <a:xfrm>
            <a:off x="701566" y="38363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The Central Bank Controls the Nominal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43459" y="1679030"/>
            <a:ext cx="8348031" cy="4525963"/>
          </a:xfrm>
        </p:spPr>
        <p:txBody>
          <a:bodyPr/>
          <a:lstStyle/>
          <a:p>
            <a:pPr eaLnBrk="1" hangingPunct="1"/>
            <a:r>
              <a:rPr lang="en-US" sz="2400" dirty="0"/>
              <a:t>Central bank policy is stated in terms of interest rates</a:t>
            </a:r>
          </a:p>
          <a:p>
            <a:pPr lvl="1" eaLnBrk="1" hangingPunct="1"/>
            <a:r>
              <a:rPr lang="en-US" sz="2400" dirty="0"/>
              <a:t>The tool they use is the supply of money</a:t>
            </a:r>
          </a:p>
          <a:p>
            <a:pPr eaLnBrk="1" hangingPunct="1"/>
            <a:r>
              <a:rPr lang="en-US" sz="2400" dirty="0"/>
              <a:t>Initial equilibrium at E</a:t>
            </a:r>
          </a:p>
          <a:p>
            <a:pPr eaLnBrk="1" hangingPunct="1"/>
            <a:r>
              <a:rPr lang="en-US" sz="2400" dirty="0"/>
              <a:t>The central bank increases</a:t>
            </a:r>
            <a:br>
              <a:rPr lang="en-US" sz="2400" dirty="0"/>
            </a:br>
            <a:r>
              <a:rPr lang="en-US" sz="2400" dirty="0"/>
              <a:t>the money supply to MS'</a:t>
            </a:r>
          </a:p>
          <a:p>
            <a:pPr lvl="1" eaLnBrk="1" hangingPunct="1"/>
            <a:r>
              <a:rPr lang="en-US" sz="2400" dirty="0"/>
              <a:t>New equilibrium at F</a:t>
            </a:r>
          </a:p>
          <a:p>
            <a:pPr lvl="1" eaLnBrk="1" hangingPunct="1"/>
            <a:r>
              <a:rPr lang="en-US" sz="2400" dirty="0"/>
              <a:t>Interest rated decrease to </a:t>
            </a:r>
            <a:r>
              <a:rPr lang="en-US" sz="2400" dirty="0" err="1"/>
              <a:t>i</a:t>
            </a:r>
            <a:r>
              <a:rPr lang="en-US" sz="2400" dirty="0"/>
              <a:t>'</a:t>
            </a:r>
            <a:br>
              <a:rPr lang="en-US" sz="2400" dirty="0"/>
            </a:br>
            <a:r>
              <a:rPr lang="en-US" sz="2400" dirty="0"/>
              <a:t>to convince the market</a:t>
            </a:r>
            <a:br>
              <a:rPr lang="en-US" sz="2400" dirty="0"/>
            </a:br>
            <a:r>
              <a:rPr lang="en-US" sz="2400" dirty="0"/>
              <a:t>to hold the new, larger</a:t>
            </a:r>
            <a:br>
              <a:rPr lang="en-US" sz="2400" dirty="0"/>
            </a:br>
            <a:r>
              <a:rPr lang="en-US" sz="2400" dirty="0"/>
              <a:t>amount of money</a:t>
            </a:r>
          </a:p>
        </p:txBody>
      </p:sp>
      <p:sp>
        <p:nvSpPr>
          <p:cNvPr id="46087" name="Line 6"/>
          <p:cNvSpPr>
            <a:spLocks noChangeShapeType="1"/>
          </p:cNvSpPr>
          <p:nvPr/>
        </p:nvSpPr>
        <p:spPr bwMode="auto">
          <a:xfrm>
            <a:off x="6018213" y="2887663"/>
            <a:ext cx="1587" cy="2492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8" name="Text Box 17"/>
          <p:cNvSpPr txBox="1">
            <a:spLocks noChangeArrowheads="1"/>
          </p:cNvSpPr>
          <p:nvPr/>
        </p:nvSpPr>
        <p:spPr bwMode="auto">
          <a:xfrm>
            <a:off x="6440488" y="5678488"/>
            <a:ext cx="1420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Money (M)</a:t>
            </a:r>
          </a:p>
        </p:txBody>
      </p:sp>
      <p:sp>
        <p:nvSpPr>
          <p:cNvPr id="46089" name="Text Box 7"/>
          <p:cNvSpPr txBox="1">
            <a:spLocks noChangeArrowheads="1"/>
          </p:cNvSpPr>
          <p:nvPr/>
        </p:nvSpPr>
        <p:spPr bwMode="auto">
          <a:xfrm>
            <a:off x="7756525" y="4922838"/>
            <a:ext cx="666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MD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V="1">
            <a:off x="6907213" y="3262313"/>
            <a:ext cx="0" cy="2109787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46091" name="Text Box 15"/>
          <p:cNvSpPr txBox="1">
            <a:spLocks noChangeArrowheads="1"/>
          </p:cNvSpPr>
          <p:nvPr/>
        </p:nvSpPr>
        <p:spPr bwMode="auto">
          <a:xfrm>
            <a:off x="6381750" y="3086100"/>
            <a:ext cx="6064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MS</a:t>
            </a:r>
          </a:p>
        </p:txBody>
      </p:sp>
      <p:sp>
        <p:nvSpPr>
          <p:cNvPr id="46092" name="Text Box 16"/>
          <p:cNvSpPr txBox="1">
            <a:spLocks noChangeArrowheads="1"/>
          </p:cNvSpPr>
          <p:nvPr/>
        </p:nvSpPr>
        <p:spPr bwMode="auto">
          <a:xfrm>
            <a:off x="6665913" y="5392738"/>
            <a:ext cx="403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M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751513" y="3995738"/>
            <a:ext cx="1504950" cy="498475"/>
            <a:chOff x="5750803" y="4389506"/>
            <a:chExt cx="1505240" cy="498584"/>
          </a:xfrm>
        </p:grpSpPr>
        <p:sp>
          <p:nvSpPr>
            <p:cNvPr id="46111" name="Line 10"/>
            <p:cNvSpPr>
              <a:spLocks noChangeShapeType="1"/>
            </p:cNvSpPr>
            <p:nvPr/>
          </p:nvSpPr>
          <p:spPr bwMode="auto">
            <a:xfrm>
              <a:off x="6023592" y="4691247"/>
              <a:ext cx="873577" cy="19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12" name="Text Box 14"/>
            <p:cNvSpPr txBox="1">
              <a:spLocks noChangeArrowheads="1"/>
            </p:cNvSpPr>
            <p:nvPr/>
          </p:nvSpPr>
          <p:spPr bwMode="auto">
            <a:xfrm>
              <a:off x="6888505" y="4389506"/>
              <a:ext cx="36753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E</a:t>
              </a:r>
            </a:p>
          </p:txBody>
        </p:sp>
        <p:sp>
          <p:nvSpPr>
            <p:cNvPr id="46113" name="Text Box 18"/>
            <p:cNvSpPr txBox="1">
              <a:spLocks noChangeArrowheads="1"/>
            </p:cNvSpPr>
            <p:nvPr/>
          </p:nvSpPr>
          <p:spPr bwMode="auto">
            <a:xfrm>
              <a:off x="5750803" y="4487980"/>
              <a:ext cx="46248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i</a:t>
              </a:r>
            </a:p>
          </p:txBody>
        </p:sp>
      </p:grpSp>
      <p:sp>
        <p:nvSpPr>
          <p:cNvPr id="46094" name="Text Box 24"/>
          <p:cNvSpPr txBox="1">
            <a:spLocks noChangeArrowheads="1"/>
          </p:cNvSpPr>
          <p:nvPr/>
        </p:nvSpPr>
        <p:spPr bwMode="auto">
          <a:xfrm rot="-5400000">
            <a:off x="4133850" y="3951615"/>
            <a:ext cx="29400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Nominal interest rate 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</a:t>
            </a:r>
          </a:p>
        </p:txBody>
      </p:sp>
      <p:cxnSp>
        <p:nvCxnSpPr>
          <p:cNvPr id="46095" name="Straight Connector 18"/>
          <p:cNvCxnSpPr>
            <a:cxnSpLocks noChangeShapeType="1"/>
          </p:cNvCxnSpPr>
          <p:nvPr/>
        </p:nvCxnSpPr>
        <p:spPr bwMode="auto">
          <a:xfrm rot="10800000">
            <a:off x="6015038" y="5403850"/>
            <a:ext cx="23891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7477125" y="4330700"/>
            <a:ext cx="3667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F</a:t>
            </a: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748338" y="4305300"/>
            <a:ext cx="1749425" cy="509588"/>
            <a:chOff x="5748455" y="4698609"/>
            <a:chExt cx="1749625" cy="510697"/>
          </a:xfrm>
        </p:grpSpPr>
        <p:sp>
          <p:nvSpPr>
            <p:cNvPr id="46106" name="Text Box 18"/>
            <p:cNvSpPr txBox="1">
              <a:spLocks noChangeArrowheads="1"/>
            </p:cNvSpPr>
            <p:nvPr/>
          </p:nvSpPr>
          <p:spPr bwMode="auto">
            <a:xfrm>
              <a:off x="5748455" y="4809196"/>
              <a:ext cx="46248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i'</a:t>
              </a:r>
            </a:p>
          </p:txBody>
        </p:sp>
        <p:cxnSp>
          <p:nvCxnSpPr>
            <p:cNvPr id="46107" name="Straight Connector 26"/>
            <p:cNvCxnSpPr>
              <a:cxnSpLocks noChangeShapeType="1"/>
            </p:cNvCxnSpPr>
            <p:nvPr/>
          </p:nvCxnSpPr>
          <p:spPr bwMode="auto">
            <a:xfrm rot="10800000">
              <a:off x="6035040" y="5084763"/>
              <a:ext cx="1463040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8" name="Down Arrow 27"/>
            <p:cNvSpPr/>
            <p:nvPr/>
          </p:nvSpPr>
          <p:spPr bwMode="auto">
            <a:xfrm>
              <a:off x="6203848" y="4698609"/>
              <a:ext cx="253219" cy="379828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" name="Freeform 8"/>
          <p:cNvSpPr>
            <a:spLocks/>
          </p:cNvSpPr>
          <p:nvPr/>
        </p:nvSpPr>
        <p:spPr bwMode="auto">
          <a:xfrm>
            <a:off x="6134100" y="3094038"/>
            <a:ext cx="1984375" cy="1765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0" y="546"/>
              </a:cxn>
              <a:cxn ang="0">
                <a:pos x="464" y="935"/>
              </a:cxn>
              <a:cxn ang="0">
                <a:pos x="823" y="1309"/>
              </a:cxn>
              <a:cxn ang="0">
                <a:pos x="1265" y="1631"/>
              </a:cxn>
              <a:cxn ang="0">
                <a:pos x="1889" y="1904"/>
              </a:cxn>
              <a:cxn ang="0">
                <a:pos x="2230" y="1983"/>
              </a:cxn>
            </a:cxnLst>
            <a:rect l="0" t="0" r="r" b="b"/>
            <a:pathLst>
              <a:path w="2230" h="1983">
                <a:moveTo>
                  <a:pt x="0" y="0"/>
                </a:moveTo>
                <a:cubicBezTo>
                  <a:pt x="36" y="91"/>
                  <a:pt x="133" y="390"/>
                  <a:pt x="210" y="546"/>
                </a:cubicBezTo>
                <a:cubicBezTo>
                  <a:pt x="287" y="702"/>
                  <a:pt x="362" y="808"/>
                  <a:pt x="464" y="935"/>
                </a:cubicBezTo>
                <a:cubicBezTo>
                  <a:pt x="566" y="1062"/>
                  <a:pt x="689" y="1193"/>
                  <a:pt x="823" y="1309"/>
                </a:cubicBezTo>
                <a:cubicBezTo>
                  <a:pt x="957" y="1425"/>
                  <a:pt x="1087" y="1532"/>
                  <a:pt x="1265" y="1631"/>
                </a:cubicBezTo>
                <a:cubicBezTo>
                  <a:pt x="1443" y="1730"/>
                  <a:pt x="1728" y="1845"/>
                  <a:pt x="1889" y="1904"/>
                </a:cubicBezTo>
                <a:cubicBezTo>
                  <a:pt x="2050" y="1963"/>
                  <a:pt x="2159" y="1967"/>
                  <a:pt x="2230" y="1983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6935788" y="3086100"/>
            <a:ext cx="1250950" cy="2706688"/>
            <a:chOff x="6935373" y="3479949"/>
            <a:chExt cx="1252024" cy="2707105"/>
          </a:xfrm>
        </p:grpSpPr>
        <p:sp>
          <p:nvSpPr>
            <p:cNvPr id="46100" name="Text Box 16"/>
            <p:cNvSpPr txBox="1">
              <a:spLocks noChangeArrowheads="1"/>
            </p:cNvSpPr>
            <p:nvPr/>
          </p:nvSpPr>
          <p:spPr bwMode="auto">
            <a:xfrm>
              <a:off x="7239633" y="5786944"/>
              <a:ext cx="5257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M'</a:t>
              </a:r>
            </a:p>
          </p:txBody>
        </p:sp>
        <p:sp>
          <p:nvSpPr>
            <p:cNvPr id="33" name="Line 11"/>
            <p:cNvSpPr>
              <a:spLocks noChangeShapeType="1"/>
            </p:cNvSpPr>
            <p:nvPr/>
          </p:nvSpPr>
          <p:spPr bwMode="auto">
            <a:xfrm flipV="1">
              <a:off x="7481942" y="3695882"/>
              <a:ext cx="0" cy="2110113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46102" name="Text Box 15"/>
            <p:cNvSpPr txBox="1">
              <a:spLocks noChangeArrowheads="1"/>
            </p:cNvSpPr>
            <p:nvPr/>
          </p:nvSpPr>
          <p:spPr bwMode="auto">
            <a:xfrm>
              <a:off x="7462761" y="3479949"/>
              <a:ext cx="72463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MS'</a:t>
              </a:r>
            </a:p>
          </p:txBody>
        </p:sp>
        <p:sp>
          <p:nvSpPr>
            <p:cNvPr id="35" name="Right Arrow 34"/>
            <p:cNvSpPr/>
            <p:nvPr/>
          </p:nvSpPr>
          <p:spPr bwMode="auto">
            <a:xfrm>
              <a:off x="6935373" y="5486400"/>
              <a:ext cx="534572" cy="211015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 idx="4294967295"/>
          </p:nvPr>
        </p:nvSpPr>
        <p:spPr>
          <a:xfrm>
            <a:off x="733098" y="32056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Central Bank and R</a:t>
            </a:r>
            <a:r>
              <a:rPr lang="en-US" dirty="0"/>
              <a:t>eal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647498"/>
            <a:ext cx="8229600" cy="4991427"/>
          </a:xfrm>
        </p:spPr>
        <p:txBody>
          <a:bodyPr/>
          <a:lstStyle/>
          <a:p>
            <a:pPr eaLnBrk="1" hangingPunct="1"/>
            <a:r>
              <a:rPr lang="en-US" dirty="0"/>
              <a:t>The central bank controls the money supply to control the nominal interest rate, </a:t>
            </a:r>
            <a:r>
              <a:rPr lang="en-US" dirty="0" err="1"/>
              <a:t>i</a:t>
            </a:r>
            <a:endParaRPr lang="en-US" dirty="0"/>
          </a:p>
          <a:p>
            <a:pPr lvl="1" eaLnBrk="1" hangingPunct="1"/>
            <a:r>
              <a:rPr lang="en-US" dirty="0"/>
              <a:t>Investment and saving decisions are based on the real interest rate, r</a:t>
            </a:r>
          </a:p>
          <a:p>
            <a:pPr lvl="2" eaLnBrk="1" hangingPunct="1"/>
            <a:r>
              <a:rPr lang="en-US" dirty="0"/>
              <a:t>The central bank has some control over r</a:t>
            </a:r>
          </a:p>
          <a:p>
            <a:pPr lvl="2" algn="ctr" eaLnBrk="1" hangingPunct="1">
              <a:buFontTx/>
              <a:buNone/>
            </a:pPr>
            <a:r>
              <a:rPr lang="en-US" dirty="0"/>
              <a:t>r = </a:t>
            </a:r>
            <a:r>
              <a:rPr lang="en-US" dirty="0" err="1"/>
              <a:t>i</a:t>
            </a:r>
            <a:r>
              <a:rPr lang="en-US" dirty="0"/>
              <a:t> - </a:t>
            </a:r>
            <a:r>
              <a:rPr lang="en-US" dirty="0">
                <a:sym typeface="Symbol" pitchFamily="18" charset="2"/>
              </a:rPr>
              <a:t></a:t>
            </a:r>
          </a:p>
          <a:p>
            <a:pPr lvl="3" eaLnBrk="1" hangingPunct="1">
              <a:buFontTx/>
              <a:buNone/>
            </a:pPr>
            <a:r>
              <a:rPr lang="en-US" dirty="0">
                <a:sym typeface="Symbol" pitchFamily="18" charset="2"/>
              </a:rPr>
              <a:t>where  is the rate of inflation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The </a:t>
            </a:r>
            <a:r>
              <a:rPr lang="en-US" dirty="0"/>
              <a:t>central bank </a:t>
            </a:r>
            <a:r>
              <a:rPr lang="en-US" dirty="0">
                <a:sym typeface="Symbol" pitchFamily="18" charset="2"/>
              </a:rPr>
              <a:t>has good control over </a:t>
            </a:r>
            <a:r>
              <a:rPr lang="en-US" dirty="0" err="1">
                <a:sym typeface="Symbol" pitchFamily="18" charset="2"/>
              </a:rPr>
              <a:t>i</a:t>
            </a:r>
            <a:endParaRPr lang="en-US" dirty="0">
              <a:sym typeface="Symbol" pitchFamily="18" charset="2"/>
            </a:endParaRPr>
          </a:p>
          <a:p>
            <a:pPr eaLnBrk="1" hangingPunct="1"/>
            <a:r>
              <a:rPr lang="en-US" dirty="0">
                <a:sym typeface="Symbol" pitchFamily="18" charset="2"/>
              </a:rPr>
              <a:t>Inflation changes relatively slowly in short run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Changes in nominal rates become changes in real rates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 idx="4294967295"/>
          </p:nvPr>
        </p:nvSpPr>
        <p:spPr>
          <a:xfrm>
            <a:off x="717332" y="33633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Planned Spending and Real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631732"/>
            <a:ext cx="8229600" cy="4988143"/>
          </a:xfrm>
        </p:spPr>
        <p:txBody>
          <a:bodyPr/>
          <a:lstStyle/>
          <a:p>
            <a:pPr eaLnBrk="1" hangingPunct="1"/>
            <a:r>
              <a:rPr lang="en-US" dirty="0"/>
              <a:t>Planned aggregate expenditure has components that are affected by r</a:t>
            </a:r>
          </a:p>
          <a:p>
            <a:pPr lvl="1" eaLnBrk="1" hangingPunct="1"/>
            <a:r>
              <a:rPr lang="en-US" dirty="0"/>
              <a:t>Saving decisions of households</a:t>
            </a:r>
          </a:p>
          <a:p>
            <a:pPr lvl="2" eaLnBrk="1" hangingPunct="1"/>
            <a:r>
              <a:rPr lang="en-US" dirty="0"/>
              <a:t>More saving at higher real interest rates</a:t>
            </a:r>
          </a:p>
          <a:p>
            <a:pPr lvl="2" eaLnBrk="1" hangingPunct="1"/>
            <a:r>
              <a:rPr lang="en-US" dirty="0"/>
              <a:t>Higher saving means less consumption</a:t>
            </a:r>
          </a:p>
          <a:p>
            <a:pPr lvl="1" eaLnBrk="1" hangingPunct="1"/>
            <a:r>
              <a:rPr lang="en-US" dirty="0"/>
              <a:t>Investment by firms</a:t>
            </a:r>
          </a:p>
          <a:p>
            <a:pPr lvl="2" eaLnBrk="1" hangingPunct="1"/>
            <a:r>
              <a:rPr lang="en-US" dirty="0"/>
              <a:t>Higher interest rates mean less investment</a:t>
            </a:r>
          </a:p>
          <a:p>
            <a:pPr lvl="3" eaLnBrk="1" hangingPunct="1"/>
            <a:r>
              <a:rPr lang="en-US" dirty="0"/>
              <a:t>Investments are made if the cost of borrowing is less than the return on the investment</a:t>
            </a:r>
          </a:p>
          <a:p>
            <a:pPr eaLnBrk="1" hangingPunct="1"/>
            <a:r>
              <a:rPr lang="en-US" dirty="0"/>
              <a:t>Both consumption and planned investment decrease when the interest rate increases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 idx="4294967295"/>
          </p:nvPr>
        </p:nvSpPr>
        <p:spPr>
          <a:xfrm>
            <a:off x="717332" y="383630"/>
            <a:ext cx="8229600" cy="1143000"/>
          </a:xfrm>
        </p:spPr>
        <p:txBody>
          <a:bodyPr/>
          <a:lstStyle/>
          <a:p>
            <a:pPr eaLnBrk="1" hangingPunct="1"/>
            <a:r>
              <a:rPr lang="en-US" sz="4200"/>
              <a:t>Interest in the Keynesian Model –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679030"/>
            <a:ext cx="8229600" cy="4525963"/>
          </a:xfrm>
        </p:spPr>
        <p:txBody>
          <a:bodyPr/>
          <a:lstStyle/>
          <a:p>
            <a:pPr eaLnBrk="1" hangingPunct="1"/>
            <a:r>
              <a:rPr lang="en-US" sz="2400"/>
              <a:t>Components of aggregate spending are</a:t>
            </a:r>
          </a:p>
          <a:p>
            <a:pPr lvl="3" eaLnBrk="1" hangingPunct="1">
              <a:buFontTx/>
              <a:buNone/>
            </a:pPr>
            <a:r>
              <a:rPr lang="en-US" sz="2400"/>
              <a:t>C = 640 + 0.8 (Y – T) – 400 r</a:t>
            </a:r>
          </a:p>
          <a:p>
            <a:pPr lvl="3" eaLnBrk="1" hangingPunct="1">
              <a:buFontTx/>
              <a:buNone/>
            </a:pPr>
            <a:r>
              <a:rPr lang="en-US" sz="2400"/>
              <a:t>I</a:t>
            </a:r>
            <a:r>
              <a:rPr lang="en-US" sz="2400" baseline="30000"/>
              <a:t>P</a:t>
            </a:r>
            <a:r>
              <a:rPr lang="en-US" sz="2400"/>
              <a:t>  = 250 – 600 r</a:t>
            </a:r>
          </a:p>
          <a:p>
            <a:pPr lvl="3" eaLnBrk="1" hangingPunct="1">
              <a:buFontTx/>
              <a:buNone/>
            </a:pPr>
            <a:r>
              <a:rPr lang="en-US" sz="2400"/>
              <a:t>G = 300</a:t>
            </a:r>
          </a:p>
          <a:p>
            <a:pPr lvl="3" eaLnBrk="1" hangingPunct="1">
              <a:buFontTx/>
              <a:buNone/>
            </a:pPr>
            <a:r>
              <a:rPr lang="en-US" sz="2400"/>
              <a:t>NX = 20</a:t>
            </a:r>
          </a:p>
          <a:p>
            <a:pPr lvl="3" eaLnBrk="1" hangingPunct="1">
              <a:buFontTx/>
              <a:buNone/>
            </a:pPr>
            <a:r>
              <a:rPr lang="en-US" sz="2400"/>
              <a:t>T = 250</a:t>
            </a:r>
          </a:p>
          <a:p>
            <a:pPr eaLnBrk="1" hangingPunct="1"/>
            <a:r>
              <a:rPr lang="en-US" sz="2400"/>
              <a:t>If r increases from 0.04 to 0.05 (that is, from 4% to 5%)</a:t>
            </a:r>
          </a:p>
          <a:p>
            <a:pPr lvl="1" eaLnBrk="1" hangingPunct="1"/>
            <a:r>
              <a:rPr lang="en-US" sz="2400"/>
              <a:t>Consumption decreases by 400 (0.01) = 4</a:t>
            </a:r>
          </a:p>
          <a:p>
            <a:pPr lvl="1" eaLnBrk="1" hangingPunct="1"/>
            <a:r>
              <a:rPr lang="en-US" sz="2400"/>
              <a:t>Planned investment decreases by 600 (0.01) = 6</a:t>
            </a:r>
          </a:p>
          <a:p>
            <a:pPr eaLnBrk="1" hangingPunct="1"/>
            <a:r>
              <a:rPr lang="en-US" sz="2400"/>
              <a:t>A one percentage point increase in r reduces planned spending by 10 – before the multiplier is considered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Planned Aggregate Expenditure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/>
              <a:t>PAE = C + I</a:t>
            </a:r>
            <a:r>
              <a:rPr lang="en-US" sz="2400" baseline="30000"/>
              <a:t>P</a:t>
            </a:r>
            <a:r>
              <a:rPr lang="en-US" sz="2400"/>
              <a:t> + G + NX</a:t>
            </a:r>
          </a:p>
          <a:p>
            <a:pPr eaLnBrk="1" hangingPunct="1">
              <a:buFontTx/>
              <a:buNone/>
            </a:pPr>
            <a:r>
              <a:rPr lang="en-US" sz="2400"/>
              <a:t>PAE	=  640 + 0.8 (Y – 250) – 400 r + 250 – 600 r + 300 </a:t>
            </a:r>
            <a:br>
              <a:rPr lang="en-US" sz="2400"/>
            </a:br>
            <a:r>
              <a:rPr lang="en-US" sz="2400"/>
              <a:t>	+ 20</a:t>
            </a:r>
          </a:p>
          <a:p>
            <a:pPr eaLnBrk="1" hangingPunct="1">
              <a:buFontTx/>
              <a:buNone/>
            </a:pPr>
            <a:r>
              <a:rPr lang="en-US" sz="2400"/>
              <a:t>PAE = 1,010 – 1,000 r + 0.8 Y</a:t>
            </a:r>
          </a:p>
          <a:p>
            <a:pPr eaLnBrk="1" hangingPunct="1">
              <a:buFontTx/>
              <a:buNone/>
            </a:pPr>
            <a:endParaRPr lang="en-US" sz="2400"/>
          </a:p>
          <a:p>
            <a:pPr eaLnBrk="1" hangingPunct="1"/>
            <a:r>
              <a:rPr lang="en-US" sz="2500"/>
              <a:t>In this example, planned aggregate expenditure depends on both the real interest rate and the level of output</a:t>
            </a:r>
          </a:p>
          <a:p>
            <a:pPr marL="514350" lvl="1" indent="-228600" eaLnBrk="1" hangingPunct="1"/>
            <a:r>
              <a:rPr lang="en-US"/>
              <a:t>Equilibrium output can only be found once we know the value of 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Planned Aggregate Expenditure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524000"/>
            <a:ext cx="8229600" cy="5172075"/>
          </a:xfrm>
        </p:spPr>
        <p:txBody>
          <a:bodyPr/>
          <a:lstStyle/>
          <a:p>
            <a:pPr marL="685800" indent="-685800" algn="ctr" eaLnBrk="1" hangingPunct="1">
              <a:buFontTx/>
              <a:buNone/>
              <a:tabLst>
                <a:tab pos="1371600" algn="l"/>
              </a:tabLst>
            </a:pPr>
            <a:r>
              <a:rPr lang="en-US" sz="2700" dirty="0"/>
              <a:t>PAE = 1,010 – 1,000 r + 0.8 Y</a:t>
            </a:r>
          </a:p>
          <a:p>
            <a:pPr marL="685800" eaLnBrk="1" hangingPunct="1">
              <a:tabLst>
                <a:tab pos="1371600" algn="l"/>
              </a:tabLst>
            </a:pPr>
            <a:r>
              <a:rPr lang="en-US" sz="2700" dirty="0"/>
              <a:t>Suppose the real interest rate is 5%, or 0.05</a:t>
            </a:r>
          </a:p>
          <a:p>
            <a:pPr marL="685800" eaLnBrk="1" hangingPunct="1">
              <a:tabLst>
                <a:tab pos="1371600" algn="l"/>
              </a:tabLst>
            </a:pPr>
            <a:r>
              <a:rPr lang="en-US" sz="2700" dirty="0"/>
              <a:t>Planned aggregate expenditure becomes</a:t>
            </a:r>
          </a:p>
          <a:p>
            <a:pPr marL="685800" indent="-685800" algn="ctr" eaLnBrk="1" hangingPunct="1">
              <a:buFontTx/>
              <a:buNone/>
              <a:tabLst>
                <a:tab pos="1371600" algn="l"/>
              </a:tabLst>
            </a:pPr>
            <a:r>
              <a:rPr lang="en-US" sz="2700" dirty="0"/>
              <a:t>PAE = 1,010 – 1,000 (0.05) + 0.8 Y</a:t>
            </a:r>
          </a:p>
          <a:p>
            <a:pPr marL="685800" indent="-685800" eaLnBrk="1" hangingPunct="1">
              <a:buFontTx/>
              <a:buNone/>
              <a:tabLst>
                <a:tab pos="1371600" algn="l"/>
              </a:tabLst>
            </a:pPr>
            <a:r>
              <a:rPr lang="en-US" sz="2700" dirty="0"/>
              <a:t>				PAE = 960 + 0.8 Y</a:t>
            </a:r>
          </a:p>
          <a:p>
            <a:pPr marL="685800" eaLnBrk="1" hangingPunct="1">
              <a:tabLst>
                <a:tab pos="1371600" algn="l"/>
              </a:tabLst>
            </a:pPr>
            <a:r>
              <a:rPr lang="en-US" sz="2700" dirty="0"/>
              <a:t>Short-run equilibrium output is PAE = Y</a:t>
            </a:r>
          </a:p>
          <a:p>
            <a:pPr marL="685800" indent="-685800" algn="ctr" eaLnBrk="1" hangingPunct="1">
              <a:buFontTx/>
              <a:buNone/>
              <a:tabLst>
                <a:tab pos="1371600" algn="l"/>
              </a:tabLst>
            </a:pPr>
            <a:r>
              <a:rPr lang="en-US" sz="2700" dirty="0"/>
              <a:t>Y = 960 + 0.8 Y</a:t>
            </a:r>
          </a:p>
          <a:p>
            <a:pPr marL="685800" indent="-685800" algn="ctr" eaLnBrk="1" hangingPunct="1">
              <a:buFontTx/>
              <a:buNone/>
              <a:tabLst>
                <a:tab pos="1371600" algn="l"/>
              </a:tabLst>
            </a:pPr>
            <a:r>
              <a:rPr lang="en-US" sz="2700" dirty="0"/>
              <a:t>0.2 Y = 960</a:t>
            </a:r>
          </a:p>
          <a:p>
            <a:pPr marL="685800" indent="-685800" algn="ctr" eaLnBrk="1" hangingPunct="1">
              <a:buFontTx/>
              <a:buNone/>
              <a:tabLst>
                <a:tab pos="1371600" algn="l"/>
              </a:tabLst>
            </a:pPr>
            <a:r>
              <a:rPr lang="en-US" sz="2700" dirty="0"/>
              <a:t>Y = $4,800</a:t>
            </a:r>
          </a:p>
          <a:p>
            <a:pPr marL="685800" eaLnBrk="1" hangingPunct="1">
              <a:tabLst>
                <a:tab pos="1371600" algn="l"/>
              </a:tabLst>
            </a:pPr>
            <a:r>
              <a:rPr lang="en-US" sz="2700" dirty="0"/>
              <a:t>The graphical solution is the same as before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Monetary Policy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866336" y="2500533"/>
          <a:ext cx="7924800" cy="1215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866336" y="4891700"/>
          <a:ext cx="7924800" cy="1215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3556" name="TextBox 6"/>
          <p:cNvSpPr txBox="1">
            <a:spLocks noChangeArrowheads="1"/>
          </p:cNvSpPr>
          <p:nvPr/>
        </p:nvSpPr>
        <p:spPr bwMode="auto">
          <a:xfrm>
            <a:off x="866775" y="1912938"/>
            <a:ext cx="271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u="sng"/>
              <a:t>Recessionary Gap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66775" y="4316413"/>
            <a:ext cx="271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u="sng"/>
              <a:t>Expansionary Gap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 idx="4294967295"/>
          </p:nvPr>
        </p:nvSpPr>
        <p:spPr>
          <a:xfrm>
            <a:off x="733098" y="110170"/>
            <a:ext cx="8229600" cy="1244906"/>
          </a:xfrm>
        </p:spPr>
        <p:txBody>
          <a:bodyPr/>
          <a:lstStyle/>
          <a:p>
            <a:pPr eaLnBrk="1" hangingPunct="1"/>
            <a:r>
              <a:rPr lang="en-US" sz="4200" dirty="0"/>
              <a:t>Monetary Policy for a Recessionary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465244"/>
            <a:ext cx="8229600" cy="531013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2400" dirty="0"/>
              <a:t>PAE = 1,010 – 1,000 r + 0.8 Y</a:t>
            </a:r>
          </a:p>
          <a:p>
            <a:pPr eaLnBrk="1" hangingPunct="1"/>
            <a:r>
              <a:rPr lang="en-US" sz="2400" dirty="0"/>
              <a:t>The real interest rate, r, is 5%</a:t>
            </a:r>
          </a:p>
          <a:p>
            <a:pPr lvl="1" eaLnBrk="1" hangingPunct="1"/>
            <a:r>
              <a:rPr lang="en-US" sz="2400" dirty="0"/>
              <a:t>Short-run equilibrium output is $4,800</a:t>
            </a:r>
          </a:p>
          <a:p>
            <a:pPr eaLnBrk="1" hangingPunct="1"/>
            <a:r>
              <a:rPr lang="en-US" sz="2400" dirty="0"/>
              <a:t>Potential output is $5,000</a:t>
            </a:r>
          </a:p>
          <a:p>
            <a:pPr lvl="1" eaLnBrk="1" hangingPunct="1"/>
            <a:r>
              <a:rPr lang="en-US" sz="2400" dirty="0"/>
              <a:t>Recessionary gap is $200</a:t>
            </a:r>
          </a:p>
          <a:p>
            <a:pPr eaLnBrk="1" hangingPunct="1"/>
            <a:r>
              <a:rPr lang="en-US" sz="2400" dirty="0"/>
              <a:t>Multiplier is 5</a:t>
            </a:r>
          </a:p>
          <a:p>
            <a:pPr eaLnBrk="1" hangingPunct="1"/>
            <a:r>
              <a:rPr lang="en-US" sz="2400" dirty="0"/>
              <a:t>Monetary policy can be used to increase PAE</a:t>
            </a:r>
          </a:p>
          <a:p>
            <a:pPr lvl="1" eaLnBrk="1" hangingPunct="1"/>
            <a:r>
              <a:rPr lang="en-US" sz="2400" dirty="0"/>
              <a:t>The first change in spending required is 200 / 5 = 40</a:t>
            </a:r>
          </a:p>
          <a:p>
            <a:pPr lvl="1" algn="ctr" eaLnBrk="1" hangingPunct="1">
              <a:buFontTx/>
              <a:buNone/>
            </a:pPr>
            <a:r>
              <a:rPr lang="en-US" sz="2400" dirty="0"/>
              <a:t>1,000 (change in r) = 40</a:t>
            </a:r>
          </a:p>
          <a:p>
            <a:pPr lvl="1" algn="ctr" eaLnBrk="1" hangingPunct="1">
              <a:buFontTx/>
              <a:buNone/>
            </a:pPr>
            <a:r>
              <a:rPr lang="en-US" sz="2400" dirty="0"/>
              <a:t>Change in r = 40 / 1,000 = 0.04</a:t>
            </a:r>
          </a:p>
          <a:p>
            <a:pPr eaLnBrk="1" hangingPunct="1"/>
            <a:r>
              <a:rPr lang="en-US" sz="2400" dirty="0"/>
              <a:t>The central bank should decrease the real interest rate to 1%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 bwMode="auto">
          <a:xfrm>
            <a:off x="1002239" y="1583091"/>
            <a:ext cx="7708232" cy="49329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1069974" y="1665310"/>
            <a:ext cx="7572375" cy="477043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5" name="Title 3"/>
          <p:cNvSpPr>
            <a:spLocks noGrp="1"/>
          </p:cNvSpPr>
          <p:nvPr>
            <p:ph type="title" idx="4294967295"/>
          </p:nvPr>
        </p:nvSpPr>
        <p:spPr>
          <a:xfrm>
            <a:off x="685800" y="253388"/>
            <a:ext cx="8229600" cy="1112704"/>
          </a:xfrm>
        </p:spPr>
        <p:txBody>
          <a:bodyPr/>
          <a:lstStyle/>
          <a:p>
            <a:pPr eaLnBrk="1" hangingPunct="1"/>
            <a:r>
              <a:rPr lang="en-US" dirty="0"/>
              <a:t>The Central Bank Fights a Recession</a:t>
            </a:r>
          </a:p>
        </p:txBody>
      </p:sp>
      <p:sp>
        <p:nvSpPr>
          <p:cNvPr id="25606" name="Text Box 13"/>
          <p:cNvSpPr txBox="1">
            <a:spLocks noChangeArrowheads="1"/>
          </p:cNvSpPr>
          <p:nvPr/>
        </p:nvSpPr>
        <p:spPr bwMode="auto">
          <a:xfrm>
            <a:off x="4622800" y="5556250"/>
            <a:ext cx="163036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Output (Y)</a:t>
            </a:r>
          </a:p>
        </p:txBody>
      </p:sp>
      <p:sp>
        <p:nvSpPr>
          <p:cNvPr id="25607" name="Text Box 14"/>
          <p:cNvSpPr txBox="1">
            <a:spLocks noChangeArrowheads="1"/>
          </p:cNvSpPr>
          <p:nvPr/>
        </p:nvSpPr>
        <p:spPr bwMode="auto">
          <a:xfrm rot="-5400000">
            <a:off x="-922337" y="3748088"/>
            <a:ext cx="457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Planned aggregate expenditure (PAE)</a:t>
            </a:r>
          </a:p>
        </p:txBody>
      </p:sp>
      <p:sp>
        <p:nvSpPr>
          <p:cNvPr id="25608" name="Line 24"/>
          <p:cNvSpPr>
            <a:spLocks noChangeShapeType="1"/>
          </p:cNvSpPr>
          <p:nvPr/>
        </p:nvSpPr>
        <p:spPr bwMode="auto">
          <a:xfrm>
            <a:off x="1871663" y="5546725"/>
            <a:ext cx="4381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9" name="Line 25"/>
          <p:cNvSpPr>
            <a:spLocks noChangeShapeType="1"/>
          </p:cNvSpPr>
          <p:nvPr/>
        </p:nvSpPr>
        <p:spPr bwMode="auto">
          <a:xfrm>
            <a:off x="1879600" y="2038350"/>
            <a:ext cx="1588" cy="3508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0" name="Text Box 20"/>
          <p:cNvSpPr txBox="1">
            <a:spLocks noChangeArrowheads="1"/>
          </p:cNvSpPr>
          <p:nvPr/>
        </p:nvSpPr>
        <p:spPr bwMode="auto">
          <a:xfrm>
            <a:off x="4954588" y="1892300"/>
            <a:ext cx="1325562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Y = PAE</a:t>
            </a:r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 flipV="1">
            <a:off x="1879600" y="2114550"/>
            <a:ext cx="3195638" cy="3430588"/>
          </a:xfrm>
          <a:prstGeom prst="line">
            <a:avLst/>
          </a:prstGeom>
          <a:ln>
            <a:solidFill>
              <a:srgbClr val="D60093"/>
            </a:solidFill>
            <a:prstDash val="lgDash"/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1889125" y="2840038"/>
            <a:ext cx="6638925" cy="3089275"/>
            <a:chOff x="1889463" y="2840621"/>
            <a:chExt cx="6638686" cy="3089459"/>
          </a:xfrm>
        </p:grpSpPr>
        <p:sp>
          <p:nvSpPr>
            <p:cNvPr id="13" name="Line 22"/>
            <p:cNvSpPr>
              <a:spLocks noChangeShapeType="1"/>
            </p:cNvSpPr>
            <p:nvPr/>
          </p:nvSpPr>
          <p:spPr bwMode="auto">
            <a:xfrm flipV="1">
              <a:off x="1889463" y="2896186"/>
              <a:ext cx="3565397" cy="1846373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25628" name="Line 26"/>
            <p:cNvSpPr>
              <a:spLocks noChangeShapeType="1"/>
            </p:cNvSpPr>
            <p:nvPr/>
          </p:nvSpPr>
          <p:spPr bwMode="auto">
            <a:xfrm flipV="1">
              <a:off x="3310010" y="4044710"/>
              <a:ext cx="0" cy="1491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29" name="Text Box 31"/>
            <p:cNvSpPr txBox="1">
              <a:spLocks noChangeArrowheads="1"/>
            </p:cNvSpPr>
            <p:nvPr/>
          </p:nvSpPr>
          <p:spPr bwMode="auto">
            <a:xfrm>
              <a:off x="3254908" y="3949498"/>
              <a:ext cx="302864" cy="395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E</a:t>
              </a:r>
            </a:p>
          </p:txBody>
        </p:sp>
        <p:sp>
          <p:nvSpPr>
            <p:cNvPr id="25630" name="Text Box 35"/>
            <p:cNvSpPr txBox="1">
              <a:spLocks noChangeArrowheads="1"/>
            </p:cNvSpPr>
            <p:nvPr/>
          </p:nvSpPr>
          <p:spPr bwMode="auto">
            <a:xfrm>
              <a:off x="5406639" y="2840621"/>
              <a:ext cx="3121510" cy="395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Expenditure line (r = 5%)</a:t>
              </a:r>
            </a:p>
          </p:txBody>
        </p:sp>
        <p:sp>
          <p:nvSpPr>
            <p:cNvPr id="25631" name="Text Box 38"/>
            <p:cNvSpPr txBox="1">
              <a:spLocks noChangeArrowheads="1"/>
            </p:cNvSpPr>
            <p:nvPr/>
          </p:nvSpPr>
          <p:spPr bwMode="auto">
            <a:xfrm>
              <a:off x="2709918" y="5534473"/>
              <a:ext cx="948488" cy="395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4,800</a:t>
              </a:r>
            </a:p>
          </p:txBody>
        </p:sp>
      </p:grp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4976813" y="3816350"/>
            <a:ext cx="34067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A reduction in r shifts the expenditure line upward and closes the recessionary gap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3449638" y="2554288"/>
            <a:ext cx="1016000" cy="3679825"/>
            <a:chOff x="3450125" y="2553694"/>
            <a:chExt cx="1016306" cy="3680699"/>
          </a:xfrm>
        </p:grpSpPr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V="1">
              <a:off x="3785188" y="2553694"/>
              <a:ext cx="0" cy="2982033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25626" name="Text Box 21"/>
            <p:cNvSpPr txBox="1">
              <a:spLocks noChangeArrowheads="1"/>
            </p:cNvSpPr>
            <p:nvPr/>
          </p:nvSpPr>
          <p:spPr bwMode="auto">
            <a:xfrm>
              <a:off x="3450125" y="5534473"/>
              <a:ext cx="1016306" cy="699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5,000</a:t>
              </a:r>
            </a:p>
            <a:p>
              <a:pPr algn="ctr"/>
              <a:r>
                <a:rPr lang="en-US" sz="2000"/>
                <a:t>Y*</a:t>
              </a: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1889125" y="2368550"/>
            <a:ext cx="6659563" cy="2944813"/>
            <a:chOff x="1889463" y="2368825"/>
            <a:chExt cx="6658961" cy="2944599"/>
          </a:xfrm>
        </p:grpSpPr>
        <p:sp>
          <p:nvSpPr>
            <p:cNvPr id="25616" name="Text Box 16"/>
            <p:cNvSpPr txBox="1">
              <a:spLocks noChangeArrowheads="1"/>
            </p:cNvSpPr>
            <p:nvPr/>
          </p:nvSpPr>
          <p:spPr bwMode="auto">
            <a:xfrm>
              <a:off x="5406639" y="2368825"/>
              <a:ext cx="3141785" cy="395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Expenditure line (r = 1%)</a:t>
              </a: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 flipV="1">
              <a:off x="1889463" y="2638680"/>
              <a:ext cx="3565203" cy="1847716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23" name="Up Arrow 22"/>
            <p:cNvSpPr/>
            <p:nvPr/>
          </p:nvSpPr>
          <p:spPr bwMode="auto">
            <a:xfrm>
              <a:off x="4466431" y="3139522"/>
              <a:ext cx="156415" cy="222927"/>
            </a:xfrm>
            <a:prstGeom prst="up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621" name="Text Box 30"/>
            <p:cNvSpPr txBox="1">
              <a:spLocks noChangeArrowheads="1"/>
            </p:cNvSpPr>
            <p:nvPr/>
          </p:nvSpPr>
          <p:spPr bwMode="auto">
            <a:xfrm>
              <a:off x="3465892" y="3175212"/>
              <a:ext cx="302865" cy="395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F</a:t>
              </a:r>
            </a:p>
          </p:txBody>
        </p:sp>
        <p:sp>
          <p:nvSpPr>
            <p:cNvPr id="24" name="Right Arrow 23"/>
            <p:cNvSpPr/>
            <p:nvPr/>
          </p:nvSpPr>
          <p:spPr bwMode="auto">
            <a:xfrm>
              <a:off x="3310010" y="5087396"/>
              <a:ext cx="458747" cy="226028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 idx="4294967295"/>
          </p:nvPr>
        </p:nvSpPr>
        <p:spPr>
          <a:xfrm>
            <a:off x="685800" y="304800"/>
            <a:ext cx="8381082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The Central Bank Fights 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487278"/>
            <a:ext cx="8229600" cy="5155894"/>
          </a:xfrm>
        </p:spPr>
        <p:txBody>
          <a:bodyPr/>
          <a:lstStyle/>
          <a:p>
            <a:pPr eaLnBrk="1" hangingPunct="1"/>
            <a:r>
              <a:rPr lang="en-US" dirty="0"/>
              <a:t>Expansionary gap can lead to inflation</a:t>
            </a:r>
          </a:p>
          <a:p>
            <a:pPr lvl="1" eaLnBrk="1" hangingPunct="1"/>
            <a:r>
              <a:rPr lang="en-US" dirty="0"/>
              <a:t>Planned spending is greater than normal output levels at the established prices</a:t>
            </a:r>
          </a:p>
          <a:p>
            <a:pPr lvl="1" eaLnBrk="1" hangingPunct="1"/>
            <a:r>
              <a:rPr lang="en-US" dirty="0"/>
              <a:t>Short-run unplanned decreases in inventories</a:t>
            </a:r>
          </a:p>
          <a:p>
            <a:pPr lvl="1" eaLnBrk="1" hangingPunct="1"/>
            <a:r>
              <a:rPr lang="en-US" dirty="0"/>
              <a:t>If gap persists, prices will increase</a:t>
            </a:r>
          </a:p>
          <a:p>
            <a:pPr eaLnBrk="1" hangingPunct="1"/>
            <a:r>
              <a:rPr lang="en-US" dirty="0"/>
              <a:t>The central bank attempts to close expansionary gaps</a:t>
            </a:r>
          </a:p>
          <a:p>
            <a:pPr lvl="1" eaLnBrk="1" hangingPunct="1"/>
            <a:r>
              <a:rPr lang="en-US" dirty="0"/>
              <a:t>Raise interest rates</a:t>
            </a:r>
          </a:p>
          <a:p>
            <a:pPr lvl="1" eaLnBrk="1" hangingPunct="1"/>
            <a:r>
              <a:rPr lang="en-US" dirty="0"/>
              <a:t>Decrease consumption and planned investment</a:t>
            </a:r>
          </a:p>
          <a:p>
            <a:pPr lvl="1" eaLnBrk="1" hangingPunct="1"/>
            <a:r>
              <a:rPr lang="en-US" dirty="0"/>
              <a:t>Decrease planned aggregate expenditure</a:t>
            </a:r>
          </a:p>
          <a:p>
            <a:pPr lvl="1" eaLnBrk="1" hangingPunct="1"/>
            <a:r>
              <a:rPr lang="en-US" dirty="0"/>
              <a:t>Decrease equilibrium 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 idx="4294967295"/>
          </p:nvPr>
        </p:nvSpPr>
        <p:spPr>
          <a:xfrm>
            <a:off x="79616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Monetary Policy for an Expansionary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48864" y="1600200"/>
            <a:ext cx="8229600" cy="5109072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2400" dirty="0"/>
              <a:t>PAE = 1,010 – 1,000 r + 0.8 Y</a:t>
            </a:r>
          </a:p>
          <a:p>
            <a:pPr eaLnBrk="1" hangingPunct="1"/>
            <a:r>
              <a:rPr lang="en-US" sz="2400" dirty="0"/>
              <a:t>The real interest rate, r, is 5%</a:t>
            </a:r>
          </a:p>
          <a:p>
            <a:pPr lvl="1" eaLnBrk="1" hangingPunct="1"/>
            <a:r>
              <a:rPr lang="en-US" sz="2400" dirty="0"/>
              <a:t>Short-run equilibrium output is $4,800</a:t>
            </a:r>
          </a:p>
          <a:p>
            <a:pPr eaLnBrk="1" hangingPunct="1"/>
            <a:r>
              <a:rPr lang="en-US" sz="2400" dirty="0"/>
              <a:t>Potential output is $4,600</a:t>
            </a:r>
          </a:p>
          <a:p>
            <a:pPr lvl="1" eaLnBrk="1" hangingPunct="1"/>
            <a:r>
              <a:rPr lang="en-US" sz="2400" dirty="0"/>
              <a:t>Expansionary gap is $200</a:t>
            </a:r>
          </a:p>
          <a:p>
            <a:pPr eaLnBrk="1" hangingPunct="1"/>
            <a:r>
              <a:rPr lang="en-US" sz="2400" dirty="0"/>
              <a:t>Multiplier is 5</a:t>
            </a:r>
          </a:p>
          <a:p>
            <a:pPr eaLnBrk="1" hangingPunct="1"/>
            <a:r>
              <a:rPr lang="en-US" sz="2400" dirty="0"/>
              <a:t>Monetary policy can be used to decrease PAE</a:t>
            </a:r>
          </a:p>
          <a:p>
            <a:pPr lvl="1" eaLnBrk="1" hangingPunct="1"/>
            <a:r>
              <a:rPr lang="en-US" sz="2400" dirty="0"/>
              <a:t>The first change in spending required is 200 / 5 = 40</a:t>
            </a:r>
          </a:p>
          <a:p>
            <a:pPr lvl="1" algn="ctr" eaLnBrk="1" hangingPunct="1">
              <a:buFontTx/>
              <a:buNone/>
            </a:pPr>
            <a:r>
              <a:rPr lang="en-US" sz="2400" dirty="0"/>
              <a:t>1,000 (change in r) = 40</a:t>
            </a:r>
          </a:p>
          <a:p>
            <a:pPr lvl="1" algn="ctr" eaLnBrk="1" hangingPunct="1">
              <a:buFontTx/>
              <a:buNone/>
            </a:pPr>
            <a:r>
              <a:rPr lang="en-US" sz="2400" dirty="0"/>
              <a:t>Change in r = 40 / 1,000 = 0.04</a:t>
            </a:r>
          </a:p>
          <a:p>
            <a:pPr eaLnBrk="1" hangingPunct="1"/>
            <a:r>
              <a:rPr lang="en-US" sz="2400" dirty="0"/>
              <a:t>The central bank should increase the real interest rate to 9%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 bwMode="auto">
          <a:xfrm>
            <a:off x="1002240" y="1479881"/>
            <a:ext cx="7708232" cy="49329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1069975" y="1562100"/>
            <a:ext cx="7572375" cy="477043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5" name="Title 3"/>
          <p:cNvSpPr>
            <a:spLocks noGrp="1"/>
          </p:cNvSpPr>
          <p:nvPr>
            <p:ph type="title" idx="4294967295"/>
          </p:nvPr>
        </p:nvSpPr>
        <p:spPr>
          <a:xfrm>
            <a:off x="6858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dirty="0">
                <a:solidFill>
                  <a:schemeClr val="tx1"/>
                </a:solidFill>
              </a:rPr>
              <a:t>Central Bank </a:t>
            </a:r>
            <a:r>
              <a:rPr lang="en-US" dirty="0"/>
              <a:t>Fights Inflation</a:t>
            </a:r>
          </a:p>
        </p:txBody>
      </p:sp>
      <p:sp>
        <p:nvSpPr>
          <p:cNvPr id="30726" name="Text Box 13"/>
          <p:cNvSpPr txBox="1">
            <a:spLocks noChangeArrowheads="1"/>
          </p:cNvSpPr>
          <p:nvPr/>
        </p:nvSpPr>
        <p:spPr bwMode="auto">
          <a:xfrm>
            <a:off x="4622800" y="5556250"/>
            <a:ext cx="163036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Output (Y)</a:t>
            </a:r>
          </a:p>
        </p:txBody>
      </p:sp>
      <p:sp>
        <p:nvSpPr>
          <p:cNvPr id="30727" name="Text Box 14"/>
          <p:cNvSpPr txBox="1">
            <a:spLocks noChangeArrowheads="1"/>
          </p:cNvSpPr>
          <p:nvPr/>
        </p:nvSpPr>
        <p:spPr bwMode="auto">
          <a:xfrm rot="-5400000">
            <a:off x="-922337" y="3748088"/>
            <a:ext cx="457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Planned aggregate expenditure (PAE)</a:t>
            </a:r>
          </a:p>
        </p:txBody>
      </p:sp>
      <p:sp>
        <p:nvSpPr>
          <p:cNvPr id="30728" name="Line 24"/>
          <p:cNvSpPr>
            <a:spLocks noChangeShapeType="1"/>
          </p:cNvSpPr>
          <p:nvPr/>
        </p:nvSpPr>
        <p:spPr bwMode="auto">
          <a:xfrm>
            <a:off x="1871663" y="5546725"/>
            <a:ext cx="4381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9" name="Line 25"/>
          <p:cNvSpPr>
            <a:spLocks noChangeShapeType="1"/>
          </p:cNvSpPr>
          <p:nvPr/>
        </p:nvSpPr>
        <p:spPr bwMode="auto">
          <a:xfrm>
            <a:off x="1879600" y="2038350"/>
            <a:ext cx="1588" cy="3508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30" name="Text Box 20"/>
          <p:cNvSpPr txBox="1">
            <a:spLocks noChangeArrowheads="1"/>
          </p:cNvSpPr>
          <p:nvPr/>
        </p:nvSpPr>
        <p:spPr bwMode="auto">
          <a:xfrm>
            <a:off x="4954588" y="1892300"/>
            <a:ext cx="1325562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Y = PAE</a:t>
            </a:r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 flipV="1">
            <a:off x="1879600" y="2114550"/>
            <a:ext cx="3195638" cy="3430588"/>
          </a:xfrm>
          <a:prstGeom prst="line">
            <a:avLst/>
          </a:prstGeom>
          <a:ln>
            <a:solidFill>
              <a:srgbClr val="D60093"/>
            </a:solidFill>
            <a:prstDash val="lgDash"/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889125" y="2587625"/>
            <a:ext cx="6624638" cy="3341688"/>
            <a:chOff x="1889463" y="2587403"/>
            <a:chExt cx="6624620" cy="3342677"/>
          </a:xfrm>
        </p:grpSpPr>
        <p:sp>
          <p:nvSpPr>
            <p:cNvPr id="13" name="Line 22"/>
            <p:cNvSpPr>
              <a:spLocks noChangeShapeType="1"/>
            </p:cNvSpPr>
            <p:nvPr/>
          </p:nvSpPr>
          <p:spPr bwMode="auto">
            <a:xfrm flipV="1">
              <a:off x="1889463" y="2895469"/>
              <a:ext cx="3565515" cy="1846809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30748" name="Line 26"/>
            <p:cNvSpPr>
              <a:spLocks noChangeShapeType="1"/>
            </p:cNvSpPr>
            <p:nvPr/>
          </p:nvSpPr>
          <p:spPr bwMode="auto">
            <a:xfrm flipV="1">
              <a:off x="3310010" y="4044710"/>
              <a:ext cx="0" cy="1491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Text Box 31"/>
            <p:cNvSpPr txBox="1">
              <a:spLocks noChangeArrowheads="1"/>
            </p:cNvSpPr>
            <p:nvPr/>
          </p:nvSpPr>
          <p:spPr bwMode="auto">
            <a:xfrm>
              <a:off x="3086095" y="3597807"/>
              <a:ext cx="302864" cy="395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E</a:t>
              </a:r>
            </a:p>
          </p:txBody>
        </p:sp>
        <p:sp>
          <p:nvSpPr>
            <p:cNvPr id="30750" name="Text Box 35"/>
            <p:cNvSpPr txBox="1">
              <a:spLocks noChangeArrowheads="1"/>
            </p:cNvSpPr>
            <p:nvPr/>
          </p:nvSpPr>
          <p:spPr bwMode="auto">
            <a:xfrm>
              <a:off x="5392573" y="2587403"/>
              <a:ext cx="3121510" cy="395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Expenditure line (r = 5%)</a:t>
              </a:r>
            </a:p>
          </p:txBody>
        </p:sp>
        <p:sp>
          <p:nvSpPr>
            <p:cNvPr id="30751" name="Text Box 38"/>
            <p:cNvSpPr txBox="1">
              <a:spLocks noChangeArrowheads="1"/>
            </p:cNvSpPr>
            <p:nvPr/>
          </p:nvSpPr>
          <p:spPr bwMode="auto">
            <a:xfrm>
              <a:off x="3019414" y="5534473"/>
              <a:ext cx="948488" cy="395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4,800</a:t>
              </a:r>
            </a:p>
          </p:txBody>
        </p:sp>
      </p:grp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4754563" y="4056063"/>
            <a:ext cx="372903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An increase in r shifts the expenditure line down and closes the expansionary gap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2225675" y="2554288"/>
            <a:ext cx="1017588" cy="3687762"/>
            <a:chOff x="2226230" y="2553694"/>
            <a:chExt cx="1016306" cy="3688665"/>
          </a:xfrm>
        </p:grpSpPr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V="1">
              <a:off x="2842990" y="2553694"/>
              <a:ext cx="0" cy="2982055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30746" name="Text Box 21"/>
            <p:cNvSpPr txBox="1">
              <a:spLocks noChangeArrowheads="1"/>
            </p:cNvSpPr>
            <p:nvPr/>
          </p:nvSpPr>
          <p:spPr bwMode="auto">
            <a:xfrm>
              <a:off x="2226230" y="5534473"/>
              <a:ext cx="1016306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4,600</a:t>
              </a:r>
            </a:p>
            <a:p>
              <a:pPr algn="ctr"/>
              <a:r>
                <a:rPr lang="en-US" sz="2000"/>
                <a:t>Y*</a:t>
              </a: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1903413" y="3001963"/>
            <a:ext cx="6630987" cy="2366962"/>
            <a:chOff x="1903531" y="3001870"/>
            <a:chExt cx="6630827" cy="2367825"/>
          </a:xfrm>
        </p:grpSpPr>
        <p:sp>
          <p:nvSpPr>
            <p:cNvPr id="30736" name="Text Box 16"/>
            <p:cNvSpPr txBox="1">
              <a:spLocks noChangeArrowheads="1"/>
            </p:cNvSpPr>
            <p:nvPr/>
          </p:nvSpPr>
          <p:spPr bwMode="auto">
            <a:xfrm>
              <a:off x="5392573" y="3001870"/>
              <a:ext cx="314178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Expenditure line (r = 9%)</a:t>
              </a: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 flipV="1">
              <a:off x="1903531" y="3173383"/>
              <a:ext cx="3565439" cy="1846935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23" name="Up Arrow 22"/>
            <p:cNvSpPr/>
            <p:nvPr/>
          </p:nvSpPr>
          <p:spPr bwMode="auto">
            <a:xfrm flipV="1">
              <a:off x="4466431" y="3434950"/>
              <a:ext cx="156415" cy="222927"/>
            </a:xfrm>
            <a:prstGeom prst="up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741" name="Text Box 30"/>
            <p:cNvSpPr txBox="1">
              <a:spLocks noChangeArrowheads="1"/>
            </p:cNvSpPr>
            <p:nvPr/>
          </p:nvSpPr>
          <p:spPr bwMode="auto">
            <a:xfrm>
              <a:off x="2832844" y="4455372"/>
              <a:ext cx="30286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G</a:t>
              </a:r>
            </a:p>
          </p:txBody>
        </p:sp>
        <p:sp>
          <p:nvSpPr>
            <p:cNvPr id="24" name="Right Arrow 23"/>
            <p:cNvSpPr/>
            <p:nvPr/>
          </p:nvSpPr>
          <p:spPr bwMode="auto">
            <a:xfrm flipH="1">
              <a:off x="2845776" y="5143667"/>
              <a:ext cx="458747" cy="226028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Inflation and the Stock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Bad news about inflation causes stock prices to decrease</a:t>
            </a:r>
          </a:p>
          <a:p>
            <a:pPr eaLnBrk="1" hangingPunct="1"/>
            <a:r>
              <a:rPr lang="en-US" dirty="0"/>
              <a:t>Investors anticipate the central bank will increase interest rates</a:t>
            </a:r>
          </a:p>
          <a:p>
            <a:pPr lvl="1" eaLnBrk="1" hangingPunct="1"/>
            <a:r>
              <a:rPr lang="en-US" dirty="0"/>
              <a:t>Slows down economic activity, lowering firms' sales and perhaps profits</a:t>
            </a:r>
          </a:p>
          <a:p>
            <a:pPr lvl="2" eaLnBrk="1" hangingPunct="1"/>
            <a:r>
              <a:rPr lang="en-US" dirty="0"/>
              <a:t>Lower profits mean lower dividends which mean lower stock prices</a:t>
            </a:r>
          </a:p>
          <a:p>
            <a:pPr lvl="1" eaLnBrk="1" hangingPunct="1"/>
            <a:r>
              <a:rPr lang="en-US" dirty="0"/>
              <a:t>Higher interest rates make non-stock financial instruments more attractive</a:t>
            </a:r>
          </a:p>
          <a:p>
            <a:pPr lvl="2" eaLnBrk="1" hangingPunct="1"/>
            <a:r>
              <a:rPr lang="en-US" dirty="0"/>
              <a:t>Reduces the demand for stocks and the stock prices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 idx="4294967295"/>
          </p:nvPr>
        </p:nvSpPr>
        <p:spPr>
          <a:xfrm>
            <a:off x="685800" y="194631"/>
            <a:ext cx="8458200" cy="829937"/>
          </a:xfrm>
        </p:spPr>
        <p:txBody>
          <a:bodyPr/>
          <a:lstStyle/>
          <a:p>
            <a:pPr eaLnBrk="1" hangingPunct="1"/>
            <a:r>
              <a:rPr lang="en-US" sz="3600" dirty="0"/>
              <a:t>Monetary Policy and the Stock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27961" y="1068636"/>
            <a:ext cx="8427904" cy="5684703"/>
          </a:xfrm>
        </p:spPr>
        <p:txBody>
          <a:bodyPr/>
          <a:lstStyle/>
          <a:p>
            <a:pPr eaLnBrk="1" hangingPunct="1"/>
            <a:r>
              <a:rPr lang="en-US" sz="2400" dirty="0"/>
              <a:t>The central bank has limited ability to manage the stock market</a:t>
            </a:r>
          </a:p>
          <a:p>
            <a:pPr lvl="1" eaLnBrk="1" hangingPunct="1"/>
            <a:r>
              <a:rPr lang="en-US" sz="2400" dirty="0"/>
              <a:t>The central bank does not know the "right" prices</a:t>
            </a:r>
          </a:p>
          <a:p>
            <a:pPr lvl="2" eaLnBrk="1" hangingPunct="1"/>
            <a:r>
              <a:rPr lang="en-US" sz="2400" dirty="0"/>
              <a:t>Information available to the central bank is publicly available</a:t>
            </a:r>
          </a:p>
          <a:p>
            <a:pPr lvl="1" eaLnBrk="1" hangingPunct="1"/>
            <a:r>
              <a:rPr lang="en-US" sz="2400" dirty="0"/>
              <a:t>Monetary policy is not well suited to addressing an asset bubble (a speculative increase in asset prices over their underlying market value)</a:t>
            </a:r>
          </a:p>
          <a:p>
            <a:pPr lvl="2" eaLnBrk="1" hangingPunct="1"/>
            <a:r>
              <a:rPr lang="en-US" sz="2400" dirty="0"/>
              <a:t>The central bank can raise interest rates and slow the economy</a:t>
            </a:r>
          </a:p>
          <a:p>
            <a:pPr lvl="2" eaLnBrk="1" hangingPunct="1"/>
            <a:r>
              <a:rPr lang="en-US" sz="2400" dirty="0"/>
              <a:t>Could result in a recession and rising unemployment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</a:t>
            </a:r>
            <a:r>
              <a:rPr lang="en-US"/>
              <a:t>Lecture 10.  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1890</TotalTime>
  <Words>3851</Words>
  <Application>Microsoft Office PowerPoint</Application>
  <PresentationFormat>On-screen Show (4:3)</PresentationFormat>
  <Paragraphs>567</Paragraphs>
  <Slides>61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Arial Black</vt:lpstr>
      <vt:lpstr>Symbol</vt:lpstr>
      <vt:lpstr>Times New Roman</vt:lpstr>
      <vt:lpstr>Default Design</vt:lpstr>
      <vt:lpstr>Equation</vt:lpstr>
      <vt:lpstr>HE5091 Principles of Economics Lecture 10 Aggregate Expenditure and Stabilization Policy</vt:lpstr>
      <vt:lpstr>Topics</vt:lpstr>
      <vt:lpstr>Recessions and Expansions</vt:lpstr>
      <vt:lpstr>Recessions and Expansions</vt:lpstr>
      <vt:lpstr>Business Cycle</vt:lpstr>
      <vt:lpstr>Symptoms of Business Cycle</vt:lpstr>
      <vt:lpstr>Potential Output</vt:lpstr>
      <vt:lpstr>Output Gaps</vt:lpstr>
      <vt:lpstr>Natural Rate of Unemployment</vt:lpstr>
      <vt:lpstr>Okun’s Law</vt:lpstr>
      <vt:lpstr>Short-Term Fluctuations</vt:lpstr>
      <vt:lpstr>Short-Term Fluctuations</vt:lpstr>
      <vt:lpstr>Adjustment in Long Run</vt:lpstr>
      <vt:lpstr>Keynes Theory</vt:lpstr>
      <vt:lpstr>Keynesian Model</vt:lpstr>
      <vt:lpstr>Planned Aggregate Expenditure</vt:lpstr>
      <vt:lpstr>Planned Investment Example</vt:lpstr>
      <vt:lpstr>Planned Aggregate Expenditure (PAE)</vt:lpstr>
      <vt:lpstr>Consumption Function</vt:lpstr>
      <vt:lpstr>Consumption Function</vt:lpstr>
      <vt:lpstr>Consumption Function</vt:lpstr>
      <vt:lpstr>Consumption Function</vt:lpstr>
      <vt:lpstr>Saving Function</vt:lpstr>
      <vt:lpstr>Planned Aggregate Expenditure (PAE)</vt:lpstr>
      <vt:lpstr>Planned Spending Example</vt:lpstr>
      <vt:lpstr>Planned Spending Example</vt:lpstr>
      <vt:lpstr>Planned Expenditure Graph</vt:lpstr>
      <vt:lpstr>Short-Run Equilibrium</vt:lpstr>
      <vt:lpstr>Short-Run Equilibrium Search</vt:lpstr>
      <vt:lpstr>Short-Run Equilibrium Graph</vt:lpstr>
      <vt:lpstr>Output Greater than Equilibrium</vt:lpstr>
      <vt:lpstr>Output Less than Equilibrium</vt:lpstr>
      <vt:lpstr>A Fall in Planned Spending Leads to a Recession</vt:lpstr>
      <vt:lpstr>New Equilibrium</vt:lpstr>
      <vt:lpstr>Income-Expenditure Multiplier</vt:lpstr>
      <vt:lpstr>Stabilization Policy</vt:lpstr>
      <vt:lpstr>Government Spending</vt:lpstr>
      <vt:lpstr>$10 Fiscal Stimulus</vt:lpstr>
      <vt:lpstr>Taxes and Transfers</vt:lpstr>
      <vt:lpstr>Using Tax Cuts to Close a Recessionary Gap – An Example</vt:lpstr>
      <vt:lpstr>Supply-Side Economics</vt:lpstr>
      <vt:lpstr>Fiscal Policy and Deficit Spending</vt:lpstr>
      <vt:lpstr>Fiscal Policy Flexibility</vt:lpstr>
      <vt:lpstr>Automatic Stabilizers</vt:lpstr>
      <vt:lpstr>The Central Bank</vt:lpstr>
      <vt:lpstr>Monetary Policy</vt:lpstr>
      <vt:lpstr>The Central Bank Controls the Nominal Interest Rate</vt:lpstr>
      <vt:lpstr>Central Bank and Real Interest Rate</vt:lpstr>
      <vt:lpstr>Planned Spending and Real Interest Rate</vt:lpstr>
      <vt:lpstr>Interest in the Keynesian Model – An Example</vt:lpstr>
      <vt:lpstr>Planned Aggregate Expenditure</vt:lpstr>
      <vt:lpstr>Planned Aggregate Expenditure</vt:lpstr>
      <vt:lpstr>Monetary Policy</vt:lpstr>
      <vt:lpstr>Monetary Policy for a Recessionary Gap</vt:lpstr>
      <vt:lpstr>The Central Bank Fights a Recession</vt:lpstr>
      <vt:lpstr>The Central Bank Fights Inflation</vt:lpstr>
      <vt:lpstr>Monetary Policy for an Expansionary Gap</vt:lpstr>
      <vt:lpstr>The Central Bank Fights Inflation</vt:lpstr>
      <vt:lpstr>Inflation and the Stock Market</vt:lpstr>
      <vt:lpstr>Monetary Policy and the Stock Market</vt:lpstr>
      <vt:lpstr>Thank You</vt:lpstr>
    </vt:vector>
  </TitlesOfParts>
  <Company>UNC Charlotte</Company>
  <LinksUpToDate>false</LinksUpToDate>
  <SharedDoc>false</SharedDoc>
  <HyperlinkBase>assets/\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Carol Swartz</dc:creator>
  <cp:lastModifiedBy>Dr Tan Khay Boon</cp:lastModifiedBy>
  <cp:revision>160</cp:revision>
  <dcterms:created xsi:type="dcterms:W3CDTF">2010-08-19T13:36:39Z</dcterms:created>
  <dcterms:modified xsi:type="dcterms:W3CDTF">2024-08-07T02:48:01Z</dcterms:modified>
</cp:coreProperties>
</file>