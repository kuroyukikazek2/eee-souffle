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4" r:id="rId1"/>
  </p:sldMasterIdLst>
  <p:notesMasterIdLst>
    <p:notesMasterId r:id="rId63"/>
  </p:notesMasterIdLst>
  <p:handoutMasterIdLst>
    <p:handoutMasterId r:id="rId64"/>
  </p:handoutMasterIdLst>
  <p:sldIdLst>
    <p:sldId id="375" r:id="rId2"/>
    <p:sldId id="376" r:id="rId3"/>
    <p:sldId id="264" r:id="rId4"/>
    <p:sldId id="265" r:id="rId5"/>
    <p:sldId id="266" r:id="rId6"/>
    <p:sldId id="292" r:id="rId7"/>
    <p:sldId id="268" r:id="rId8"/>
    <p:sldId id="295" r:id="rId9"/>
    <p:sldId id="269" r:id="rId10"/>
    <p:sldId id="293" r:id="rId11"/>
    <p:sldId id="294" r:id="rId12"/>
    <p:sldId id="270" r:id="rId13"/>
    <p:sldId id="271" r:id="rId14"/>
    <p:sldId id="272" r:id="rId15"/>
    <p:sldId id="273" r:id="rId16"/>
    <p:sldId id="320" r:id="rId17"/>
    <p:sldId id="321" r:id="rId18"/>
    <p:sldId id="322" r:id="rId19"/>
    <p:sldId id="323" r:id="rId20"/>
    <p:sldId id="324" r:id="rId21"/>
    <p:sldId id="325" r:id="rId22"/>
    <p:sldId id="326" r:id="rId23"/>
    <p:sldId id="327" r:id="rId24"/>
    <p:sldId id="334" r:id="rId25"/>
    <p:sldId id="335" r:id="rId26"/>
    <p:sldId id="336" r:id="rId27"/>
    <p:sldId id="337" r:id="rId28"/>
    <p:sldId id="338" r:id="rId29"/>
    <p:sldId id="339" r:id="rId30"/>
    <p:sldId id="377" r:id="rId31"/>
    <p:sldId id="340" r:id="rId32"/>
    <p:sldId id="341" r:id="rId33"/>
    <p:sldId id="342" r:id="rId34"/>
    <p:sldId id="343" r:id="rId35"/>
    <p:sldId id="344" r:id="rId36"/>
    <p:sldId id="345" r:id="rId37"/>
    <p:sldId id="346" r:id="rId38"/>
    <p:sldId id="380" r:id="rId39"/>
    <p:sldId id="349" r:id="rId40"/>
    <p:sldId id="350" r:id="rId41"/>
    <p:sldId id="351" r:id="rId42"/>
    <p:sldId id="355" r:id="rId43"/>
    <p:sldId id="357" r:id="rId44"/>
    <p:sldId id="359" r:id="rId45"/>
    <p:sldId id="360" r:id="rId46"/>
    <p:sldId id="361" r:id="rId47"/>
    <p:sldId id="362" r:id="rId48"/>
    <p:sldId id="364" r:id="rId49"/>
    <p:sldId id="365" r:id="rId50"/>
    <p:sldId id="366" r:id="rId51"/>
    <p:sldId id="367" r:id="rId52"/>
    <p:sldId id="368" r:id="rId53"/>
    <p:sldId id="369" r:id="rId54"/>
    <p:sldId id="370" r:id="rId55"/>
    <p:sldId id="371" r:id="rId56"/>
    <p:sldId id="372" r:id="rId57"/>
    <p:sldId id="373" r:id="rId58"/>
    <p:sldId id="381" r:id="rId59"/>
    <p:sldId id="378" r:id="rId60"/>
    <p:sldId id="379" r:id="rId61"/>
    <p:sldId id="460" r:id="rId62"/>
  </p:sldIdLst>
  <p:sldSz cx="9144000" cy="6858000" type="screen4x3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6235" userDrawn="1">
          <p15:clr>
            <a:srgbClr val="A4A3A4"/>
          </p15:clr>
        </p15:guide>
        <p15:guide id="2" pos="428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E8F0F1"/>
    <a:srgbClr val="DFE1DC"/>
    <a:srgbClr val="31A5A9"/>
    <a:srgbClr val="6A5218"/>
    <a:srgbClr val="F1FFFF"/>
    <a:srgbClr val="F6FFEC"/>
    <a:srgbClr val="EAFAFF"/>
    <a:srgbClr val="298B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08" autoAdjust="0"/>
    <p:restoredTop sz="95930" autoAdjust="0"/>
  </p:normalViewPr>
  <p:slideViewPr>
    <p:cSldViewPr snapToGrid="0">
      <p:cViewPr varScale="1">
        <p:scale>
          <a:sx n="62" d="100"/>
          <a:sy n="62" d="100"/>
        </p:scale>
        <p:origin x="1264" y="56"/>
      </p:cViewPr>
      <p:guideLst>
        <p:guide orient="horz" pos="95"/>
        <p:guide pos="5759"/>
      </p:guideLst>
    </p:cSldViewPr>
  </p:slideViewPr>
  <p:outlineViewPr>
    <p:cViewPr>
      <p:scale>
        <a:sx n="33" d="100"/>
        <a:sy n="33" d="100"/>
      </p:scale>
      <p:origin x="0" y="13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-17768"/>
    </p:cViewPr>
  </p:sorterViewPr>
  <p:notesViewPr>
    <p:cSldViewPr snapToGrid="0">
      <p:cViewPr>
        <p:scale>
          <a:sx n="66" d="100"/>
          <a:sy n="66" d="100"/>
        </p:scale>
        <p:origin x="-2424" y="-510"/>
      </p:cViewPr>
      <p:guideLst>
        <p:guide orient="horz" pos="6235"/>
        <p:guide pos="428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C5A31C-8E46-425F-A1B5-A5AE719D53E3}" type="doc">
      <dgm:prSet loTypeId="urn:microsoft.com/office/officeart/2005/8/layout/matrix1" loCatId="matrix" qsTypeId="urn:microsoft.com/office/officeart/2005/8/quickstyle/3d2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8C10854-3B90-4402-9746-4E0802F0CC91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2800" dirty="0"/>
            <a:t>Perfectly Competitive Firms</a:t>
          </a:r>
        </a:p>
      </dgm:t>
    </dgm:pt>
    <dgm:pt modelId="{83DED090-BC3E-4215-BFF2-5A216FB5CE54}" type="parTrans" cxnId="{AC747064-5BDF-49C7-8DDE-0BF0C4E38D82}">
      <dgm:prSet/>
      <dgm:spPr/>
      <dgm:t>
        <a:bodyPr/>
        <a:lstStyle/>
        <a:p>
          <a:endParaRPr lang="en-US"/>
        </a:p>
      </dgm:t>
    </dgm:pt>
    <dgm:pt modelId="{A13C82F3-8370-4DF6-BF90-9F9AB17F2F0A}" type="sibTrans" cxnId="{AC747064-5BDF-49C7-8DDE-0BF0C4E38D82}">
      <dgm:prSet/>
      <dgm:spPr/>
      <dgm:t>
        <a:bodyPr/>
        <a:lstStyle/>
        <a:p>
          <a:endParaRPr lang="en-US"/>
        </a:p>
      </dgm:t>
    </dgm:pt>
    <dgm:pt modelId="{3AFEB433-B941-4B42-A7B5-EBE4CD7DDF0B}">
      <dgm:prSet phldrT="[Text]" custT="1"/>
      <dgm:spPr/>
      <dgm:t>
        <a:bodyPr/>
        <a:lstStyle/>
        <a:p>
          <a:r>
            <a:rPr lang="en-US" sz="2000" b="1" u="sng" dirty="0"/>
            <a:t>Standardized Products</a:t>
          </a:r>
        </a:p>
      </dgm:t>
    </dgm:pt>
    <dgm:pt modelId="{2EEB43F0-1257-4F56-8CBA-E06B23B9ABD7}" type="parTrans" cxnId="{F6048F1A-25CD-4558-9E39-148EF2762774}">
      <dgm:prSet/>
      <dgm:spPr/>
      <dgm:t>
        <a:bodyPr/>
        <a:lstStyle/>
        <a:p>
          <a:endParaRPr lang="en-US"/>
        </a:p>
      </dgm:t>
    </dgm:pt>
    <dgm:pt modelId="{631069CB-1CFA-409C-8CD8-67492D1E5A3C}" type="sibTrans" cxnId="{F6048F1A-25CD-4558-9E39-148EF2762774}">
      <dgm:prSet/>
      <dgm:spPr/>
      <dgm:t>
        <a:bodyPr/>
        <a:lstStyle/>
        <a:p>
          <a:endParaRPr lang="en-US"/>
        </a:p>
      </dgm:t>
    </dgm:pt>
    <dgm:pt modelId="{75DBFAD7-8A46-4F5A-AFE4-05F87B24285B}">
      <dgm:prSet phldrT="[Text]" custT="1"/>
      <dgm:spPr/>
      <dgm:t>
        <a:bodyPr/>
        <a:lstStyle/>
        <a:p>
          <a:r>
            <a:rPr lang="en-US" sz="2000" b="1" u="sng" dirty="0"/>
            <a:t>Many Buyers, Many Sellers</a:t>
          </a:r>
        </a:p>
      </dgm:t>
    </dgm:pt>
    <dgm:pt modelId="{BD4D599E-F6F9-47A2-A330-41DA95C46274}" type="parTrans" cxnId="{E9D1D6B3-0D8D-444B-9879-C15542395809}">
      <dgm:prSet/>
      <dgm:spPr/>
      <dgm:t>
        <a:bodyPr/>
        <a:lstStyle/>
        <a:p>
          <a:endParaRPr lang="en-US"/>
        </a:p>
      </dgm:t>
    </dgm:pt>
    <dgm:pt modelId="{8509564A-3BFD-4CEB-BEDA-903DC223574F}" type="sibTrans" cxnId="{E9D1D6B3-0D8D-444B-9879-C15542395809}">
      <dgm:prSet/>
      <dgm:spPr/>
      <dgm:t>
        <a:bodyPr/>
        <a:lstStyle/>
        <a:p>
          <a:endParaRPr lang="en-US"/>
        </a:p>
      </dgm:t>
    </dgm:pt>
    <dgm:pt modelId="{E9994EDB-BA4E-4088-BE10-F1F12DEE1FE8}">
      <dgm:prSet phldrT="[Text]" custT="1"/>
      <dgm:spPr/>
      <dgm:t>
        <a:bodyPr/>
        <a:lstStyle/>
        <a:p>
          <a:r>
            <a:rPr lang="en-US" sz="2000" b="1" u="sng" dirty="0"/>
            <a:t>Mobile Resources</a:t>
          </a:r>
        </a:p>
      </dgm:t>
    </dgm:pt>
    <dgm:pt modelId="{5E69F728-A5D3-411C-978E-AB7281D83431}" type="parTrans" cxnId="{9ED561A0-04E0-4D1F-8DD5-1644EABE8836}">
      <dgm:prSet/>
      <dgm:spPr/>
      <dgm:t>
        <a:bodyPr/>
        <a:lstStyle/>
        <a:p>
          <a:endParaRPr lang="en-US"/>
        </a:p>
      </dgm:t>
    </dgm:pt>
    <dgm:pt modelId="{54093713-9C35-45CA-B1E2-959359D8803F}" type="sibTrans" cxnId="{9ED561A0-04E0-4D1F-8DD5-1644EABE8836}">
      <dgm:prSet/>
      <dgm:spPr/>
      <dgm:t>
        <a:bodyPr/>
        <a:lstStyle/>
        <a:p>
          <a:endParaRPr lang="en-US"/>
        </a:p>
      </dgm:t>
    </dgm:pt>
    <dgm:pt modelId="{FE710224-F680-4312-92F5-257DA726B97C}">
      <dgm:prSet phldrT="[Text]" custT="1"/>
      <dgm:spPr/>
      <dgm:t>
        <a:bodyPr/>
        <a:lstStyle/>
        <a:p>
          <a:r>
            <a:rPr lang="en-US" sz="2000" b="1" u="sng" dirty="0"/>
            <a:t>Informed Buyers and Sellers</a:t>
          </a:r>
        </a:p>
      </dgm:t>
    </dgm:pt>
    <dgm:pt modelId="{029DBF1B-C696-4A27-BAC6-7E0D15E89B96}" type="parTrans" cxnId="{7A11E5FF-6CB4-4CDE-9CA0-3DFF0B9FDE64}">
      <dgm:prSet/>
      <dgm:spPr/>
      <dgm:t>
        <a:bodyPr/>
        <a:lstStyle/>
        <a:p>
          <a:endParaRPr lang="en-US"/>
        </a:p>
      </dgm:t>
    </dgm:pt>
    <dgm:pt modelId="{CACDB062-71C5-49C4-89AC-72C5766155FA}" type="sibTrans" cxnId="{7A11E5FF-6CB4-4CDE-9CA0-3DFF0B9FDE64}">
      <dgm:prSet/>
      <dgm:spPr/>
      <dgm:t>
        <a:bodyPr/>
        <a:lstStyle/>
        <a:p>
          <a:endParaRPr lang="en-US"/>
        </a:p>
      </dgm:t>
    </dgm:pt>
    <dgm:pt modelId="{EB8F7276-1934-4752-831F-3969E9F34168}">
      <dgm:prSet custT="1"/>
      <dgm:spPr/>
      <dgm:t>
        <a:bodyPr/>
        <a:lstStyle/>
        <a:p>
          <a:r>
            <a:rPr lang="en-US" sz="2000" dirty="0"/>
            <a:t>Each has small market share</a:t>
          </a:r>
        </a:p>
      </dgm:t>
    </dgm:pt>
    <dgm:pt modelId="{A1A980B8-BF00-4085-8C57-967101791608}" type="parTrans" cxnId="{931947F8-5585-4390-AD52-C8AAEF64A2F8}">
      <dgm:prSet/>
      <dgm:spPr/>
      <dgm:t>
        <a:bodyPr/>
        <a:lstStyle/>
        <a:p>
          <a:endParaRPr lang="en-US"/>
        </a:p>
      </dgm:t>
    </dgm:pt>
    <dgm:pt modelId="{9AC308C4-BBAE-409D-9DAA-BEA9E15F1BE0}" type="sibTrans" cxnId="{931947F8-5585-4390-AD52-C8AAEF64A2F8}">
      <dgm:prSet/>
      <dgm:spPr/>
      <dgm:t>
        <a:bodyPr/>
        <a:lstStyle/>
        <a:p>
          <a:endParaRPr lang="en-US"/>
        </a:p>
      </dgm:t>
    </dgm:pt>
    <dgm:pt modelId="{8EAB77CB-9979-4CE5-80CE-77E707EC23C3}">
      <dgm:prSet custT="1"/>
      <dgm:spPr/>
      <dgm:t>
        <a:bodyPr/>
        <a:lstStyle/>
        <a:p>
          <a:r>
            <a:rPr lang="en-US" sz="2000" dirty="0"/>
            <a:t>Identical goods offered by many sellers</a:t>
          </a:r>
        </a:p>
      </dgm:t>
    </dgm:pt>
    <dgm:pt modelId="{1D14F806-BE88-4F13-8FE2-2EB81EE5E966}" type="parTrans" cxnId="{DCF559B3-8E3B-4558-9516-9624CA745350}">
      <dgm:prSet/>
      <dgm:spPr/>
      <dgm:t>
        <a:bodyPr/>
        <a:lstStyle/>
        <a:p>
          <a:endParaRPr lang="en-US"/>
        </a:p>
      </dgm:t>
    </dgm:pt>
    <dgm:pt modelId="{AB787983-2E77-4759-B04F-04C77659CD58}" type="sibTrans" cxnId="{DCF559B3-8E3B-4558-9516-9624CA745350}">
      <dgm:prSet/>
      <dgm:spPr/>
      <dgm:t>
        <a:bodyPr/>
        <a:lstStyle/>
        <a:p>
          <a:endParaRPr lang="en-US"/>
        </a:p>
      </dgm:t>
    </dgm:pt>
    <dgm:pt modelId="{CD6386A9-DF38-4BFD-A73D-DD9BDC8A67FD}">
      <dgm:prSet custT="1"/>
      <dgm:spPr/>
      <dgm:t>
        <a:bodyPr/>
        <a:lstStyle/>
        <a:p>
          <a:r>
            <a:rPr lang="en-US" sz="2000" dirty="0"/>
            <a:t>No loyalty to </a:t>
          </a:r>
          <a:br>
            <a:rPr lang="en-US" sz="2000" dirty="0"/>
          </a:br>
          <a:r>
            <a:rPr lang="en-US" sz="2000" dirty="0"/>
            <a:t>your supplier</a:t>
          </a:r>
        </a:p>
      </dgm:t>
    </dgm:pt>
    <dgm:pt modelId="{88A641EB-80E9-4E84-AC34-9E761911FEE4}" type="parTrans" cxnId="{864B3741-4AFC-4AEE-A7CF-9BCB8AA81373}">
      <dgm:prSet/>
      <dgm:spPr/>
      <dgm:t>
        <a:bodyPr/>
        <a:lstStyle/>
        <a:p>
          <a:endParaRPr lang="en-US"/>
        </a:p>
      </dgm:t>
    </dgm:pt>
    <dgm:pt modelId="{F1F0A629-BFDB-4D0F-BB97-490D9B2091EB}" type="sibTrans" cxnId="{864B3741-4AFC-4AEE-A7CF-9BCB8AA81373}">
      <dgm:prSet/>
      <dgm:spPr/>
      <dgm:t>
        <a:bodyPr/>
        <a:lstStyle/>
        <a:p>
          <a:endParaRPr lang="en-US"/>
        </a:p>
      </dgm:t>
    </dgm:pt>
    <dgm:pt modelId="{9AAABE94-562A-44F3-94CE-9542620DA853}">
      <dgm:prSet custT="1"/>
      <dgm:spPr/>
      <dgm:t>
        <a:bodyPr/>
        <a:lstStyle/>
        <a:p>
          <a:r>
            <a:rPr lang="en-US" sz="2000" dirty="0"/>
            <a:t>No buyer or seller can influence price</a:t>
          </a:r>
        </a:p>
      </dgm:t>
    </dgm:pt>
    <dgm:pt modelId="{A83FE03C-B3F2-4C1B-9C20-43C3693DDEB2}" type="parTrans" cxnId="{5828E012-0CEE-4FB5-BFFC-E01C61DDC367}">
      <dgm:prSet/>
      <dgm:spPr/>
      <dgm:t>
        <a:bodyPr/>
        <a:lstStyle/>
        <a:p>
          <a:endParaRPr lang="en-US"/>
        </a:p>
      </dgm:t>
    </dgm:pt>
    <dgm:pt modelId="{9CB47F48-4AE9-49F4-8088-D2605F31C990}" type="sibTrans" cxnId="{5828E012-0CEE-4FB5-BFFC-E01C61DDC367}">
      <dgm:prSet/>
      <dgm:spPr/>
      <dgm:t>
        <a:bodyPr/>
        <a:lstStyle/>
        <a:p>
          <a:endParaRPr lang="en-US"/>
        </a:p>
      </dgm:t>
    </dgm:pt>
    <dgm:pt modelId="{C3C7D99A-9B1D-445D-B3EF-366120A52C81}">
      <dgm:prSet custT="1"/>
      <dgm:spPr/>
      <dgm:t>
        <a:bodyPr/>
        <a:lstStyle/>
        <a:p>
          <a:r>
            <a:rPr lang="en-US" sz="2000" dirty="0"/>
            <a:t>Inputs move to their highest value use</a:t>
          </a:r>
        </a:p>
      </dgm:t>
    </dgm:pt>
    <dgm:pt modelId="{1E546286-5E70-453D-BFD0-4DAE14CBD174}" type="parTrans" cxnId="{6BE994C5-1F2E-4B4D-BC07-13B88B852559}">
      <dgm:prSet/>
      <dgm:spPr/>
      <dgm:t>
        <a:bodyPr/>
        <a:lstStyle/>
        <a:p>
          <a:endParaRPr lang="en-US"/>
        </a:p>
      </dgm:t>
    </dgm:pt>
    <dgm:pt modelId="{B270ECCF-9FE4-4CDA-AE8E-340913C92010}" type="sibTrans" cxnId="{6BE994C5-1F2E-4B4D-BC07-13B88B852559}">
      <dgm:prSet/>
      <dgm:spPr/>
      <dgm:t>
        <a:bodyPr/>
        <a:lstStyle/>
        <a:p>
          <a:endParaRPr lang="en-US"/>
        </a:p>
      </dgm:t>
    </dgm:pt>
    <dgm:pt modelId="{C2610BA6-874B-4AC5-A855-491D79480B31}">
      <dgm:prSet custT="1"/>
      <dgm:spPr/>
      <dgm:t>
        <a:bodyPr/>
        <a:lstStyle/>
        <a:p>
          <a:r>
            <a:rPr lang="en-US" sz="2000" dirty="0"/>
            <a:t>Firms enter and leave industries</a:t>
          </a:r>
        </a:p>
      </dgm:t>
    </dgm:pt>
    <dgm:pt modelId="{B87E2C6B-2732-40B1-8906-BDDCDCF7D781}" type="parTrans" cxnId="{A1BA521D-D358-4A78-A026-5745E940CD04}">
      <dgm:prSet/>
      <dgm:spPr/>
      <dgm:t>
        <a:bodyPr/>
        <a:lstStyle/>
        <a:p>
          <a:endParaRPr lang="en-US"/>
        </a:p>
      </dgm:t>
    </dgm:pt>
    <dgm:pt modelId="{5D944792-2B35-43B1-B326-3A849D86C1BF}" type="sibTrans" cxnId="{A1BA521D-D358-4A78-A026-5745E940CD04}">
      <dgm:prSet/>
      <dgm:spPr/>
      <dgm:t>
        <a:bodyPr/>
        <a:lstStyle/>
        <a:p>
          <a:endParaRPr lang="en-US"/>
        </a:p>
      </dgm:t>
    </dgm:pt>
    <dgm:pt modelId="{0A2039FB-4AAF-4B53-A0AD-0843B088E8DE}">
      <dgm:prSet/>
      <dgm:spPr/>
      <dgm:t>
        <a:bodyPr/>
        <a:lstStyle/>
        <a:p>
          <a:endParaRPr lang="en-US" sz="1700" dirty="0"/>
        </a:p>
      </dgm:t>
    </dgm:pt>
    <dgm:pt modelId="{28E8A80B-9793-4079-A537-690DF7F21A17}" type="parTrans" cxnId="{9AAF4F4F-B842-4D15-A509-4179697904DF}">
      <dgm:prSet/>
      <dgm:spPr/>
      <dgm:t>
        <a:bodyPr/>
        <a:lstStyle/>
        <a:p>
          <a:endParaRPr lang="en-US"/>
        </a:p>
      </dgm:t>
    </dgm:pt>
    <dgm:pt modelId="{A170F66A-9BF0-4E18-BB3F-84C2354271A8}" type="sibTrans" cxnId="{9AAF4F4F-B842-4D15-A509-4179697904DF}">
      <dgm:prSet/>
      <dgm:spPr/>
      <dgm:t>
        <a:bodyPr/>
        <a:lstStyle/>
        <a:p>
          <a:endParaRPr lang="en-US"/>
        </a:p>
      </dgm:t>
    </dgm:pt>
    <dgm:pt modelId="{0BABDD9A-6FDE-40C5-8749-82BE4F6D91F6}">
      <dgm:prSet custT="1"/>
      <dgm:spPr/>
      <dgm:t>
        <a:bodyPr/>
        <a:lstStyle/>
        <a:p>
          <a:r>
            <a:rPr lang="en-US" sz="2000" dirty="0"/>
            <a:t>Buyers know market prices</a:t>
          </a:r>
        </a:p>
      </dgm:t>
    </dgm:pt>
    <dgm:pt modelId="{CE2C5445-8652-4A08-8579-48A06A0722FD}" type="parTrans" cxnId="{2F4ED0D6-6CC4-4283-9871-DFF11C8A7921}">
      <dgm:prSet/>
      <dgm:spPr/>
      <dgm:t>
        <a:bodyPr/>
        <a:lstStyle/>
        <a:p>
          <a:endParaRPr lang="en-US"/>
        </a:p>
      </dgm:t>
    </dgm:pt>
    <dgm:pt modelId="{C57DD61B-B1D6-4FA4-AB16-642970B22C5A}" type="sibTrans" cxnId="{2F4ED0D6-6CC4-4283-9871-DFF11C8A7921}">
      <dgm:prSet/>
      <dgm:spPr/>
      <dgm:t>
        <a:bodyPr/>
        <a:lstStyle/>
        <a:p>
          <a:endParaRPr lang="en-US"/>
        </a:p>
      </dgm:t>
    </dgm:pt>
    <dgm:pt modelId="{7B27CC10-CAFD-44A7-8787-1267C94894C0}">
      <dgm:prSet custT="1"/>
      <dgm:spPr/>
      <dgm:t>
        <a:bodyPr/>
        <a:lstStyle/>
        <a:p>
          <a:r>
            <a:rPr lang="en-US" sz="2000" dirty="0"/>
            <a:t>Sellers know all opportunities and technologies</a:t>
          </a:r>
        </a:p>
      </dgm:t>
    </dgm:pt>
    <dgm:pt modelId="{10101AFE-43AB-43EA-A37E-4ED458445447}" type="parTrans" cxnId="{A14BB2CA-56D0-4D69-94FF-7E68573986AB}">
      <dgm:prSet/>
      <dgm:spPr/>
      <dgm:t>
        <a:bodyPr/>
        <a:lstStyle/>
        <a:p>
          <a:endParaRPr lang="en-US"/>
        </a:p>
      </dgm:t>
    </dgm:pt>
    <dgm:pt modelId="{BBDFE609-1554-451C-A076-6DA7C953F8E0}" type="sibTrans" cxnId="{A14BB2CA-56D0-4D69-94FF-7E68573986AB}">
      <dgm:prSet/>
      <dgm:spPr/>
      <dgm:t>
        <a:bodyPr/>
        <a:lstStyle/>
        <a:p>
          <a:endParaRPr lang="en-US"/>
        </a:p>
      </dgm:t>
    </dgm:pt>
    <dgm:pt modelId="{0F290F33-B10C-4026-A4D6-12D165332660}">
      <dgm:prSet custT="1"/>
      <dgm:spPr/>
      <dgm:t>
        <a:bodyPr/>
        <a:lstStyle/>
        <a:p>
          <a:r>
            <a:rPr lang="en-US" sz="2000" dirty="0"/>
            <a:t>Price takers</a:t>
          </a:r>
        </a:p>
      </dgm:t>
    </dgm:pt>
    <dgm:pt modelId="{A1670E81-8609-4C57-A2C1-620804F68E1E}" type="parTrans" cxnId="{BB351429-F81B-4064-BBF8-B22FB40F9DD5}">
      <dgm:prSet/>
      <dgm:spPr/>
      <dgm:t>
        <a:bodyPr/>
        <a:lstStyle/>
        <a:p>
          <a:endParaRPr lang="en-US"/>
        </a:p>
      </dgm:t>
    </dgm:pt>
    <dgm:pt modelId="{7C7208E7-42BE-423A-81AF-4B86840E7FB6}" type="sibTrans" cxnId="{BB351429-F81B-4064-BBF8-B22FB40F9DD5}">
      <dgm:prSet/>
      <dgm:spPr/>
      <dgm:t>
        <a:bodyPr/>
        <a:lstStyle/>
        <a:p>
          <a:endParaRPr lang="en-US"/>
        </a:p>
      </dgm:t>
    </dgm:pt>
    <dgm:pt modelId="{413975ED-AD68-4561-9C7B-2430E382294B}" type="pres">
      <dgm:prSet presAssocID="{3EC5A31C-8E46-425F-A1B5-A5AE719D53E3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1B6A2DA-B873-4453-89B4-01CBE3649400}" type="pres">
      <dgm:prSet presAssocID="{3EC5A31C-8E46-425F-A1B5-A5AE719D53E3}" presName="matrix" presStyleCnt="0"/>
      <dgm:spPr/>
    </dgm:pt>
    <dgm:pt modelId="{56802F7B-E4C9-41A0-B40C-909A0CC9D88F}" type="pres">
      <dgm:prSet presAssocID="{3EC5A31C-8E46-425F-A1B5-A5AE719D53E3}" presName="tile1" presStyleLbl="node1" presStyleIdx="0" presStyleCnt="4"/>
      <dgm:spPr/>
    </dgm:pt>
    <dgm:pt modelId="{CA99A9AC-8D9E-4498-B427-78C7C1F881A9}" type="pres">
      <dgm:prSet presAssocID="{3EC5A31C-8E46-425F-A1B5-A5AE719D53E3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3FDA256-EEFB-41C4-8B1B-53235AA92E4E}" type="pres">
      <dgm:prSet presAssocID="{3EC5A31C-8E46-425F-A1B5-A5AE719D53E3}" presName="tile2" presStyleLbl="node1" presStyleIdx="1" presStyleCnt="4"/>
      <dgm:spPr/>
    </dgm:pt>
    <dgm:pt modelId="{B8BA0241-B887-4673-928D-8D380814C7E4}" type="pres">
      <dgm:prSet presAssocID="{3EC5A31C-8E46-425F-A1B5-A5AE719D53E3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DB952C9-9F67-456F-B50E-F8C5C360F3EE}" type="pres">
      <dgm:prSet presAssocID="{3EC5A31C-8E46-425F-A1B5-A5AE719D53E3}" presName="tile3" presStyleLbl="node1" presStyleIdx="2" presStyleCnt="4"/>
      <dgm:spPr/>
    </dgm:pt>
    <dgm:pt modelId="{FD913C21-CA6A-47AA-9BD2-C08A24AC1614}" type="pres">
      <dgm:prSet presAssocID="{3EC5A31C-8E46-425F-A1B5-A5AE719D53E3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2385354-4259-4BB5-894C-F367CCB4A6AD}" type="pres">
      <dgm:prSet presAssocID="{3EC5A31C-8E46-425F-A1B5-A5AE719D53E3}" presName="tile4" presStyleLbl="node1" presStyleIdx="3" presStyleCnt="4"/>
      <dgm:spPr/>
    </dgm:pt>
    <dgm:pt modelId="{E2C325CE-3334-4290-BB22-3C664153F7BC}" type="pres">
      <dgm:prSet presAssocID="{3EC5A31C-8E46-425F-A1B5-A5AE719D53E3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9D0CA746-A888-4E2E-9CC6-3666BF2E0252}" type="pres">
      <dgm:prSet presAssocID="{3EC5A31C-8E46-425F-A1B5-A5AE719D53E3}" presName="centerTile" presStyleLbl="fgShp" presStyleIdx="0" presStyleCnt="1" custScaleX="147818" custScaleY="84384">
        <dgm:presLayoutVars>
          <dgm:chMax val="0"/>
          <dgm:chPref val="0"/>
        </dgm:presLayoutVars>
      </dgm:prSet>
      <dgm:spPr/>
    </dgm:pt>
  </dgm:ptLst>
  <dgm:cxnLst>
    <dgm:cxn modelId="{230DC40A-CE1F-4768-BC90-16CBA6694DA5}" type="presOf" srcId="{0F290F33-B10C-4026-A4D6-12D165332660}" destId="{B8BA0241-B887-4673-928D-8D380814C7E4}" srcOrd="1" destOrd="3" presId="urn:microsoft.com/office/officeart/2005/8/layout/matrix1"/>
    <dgm:cxn modelId="{BF36C80E-B5F9-4D2B-8FE2-2576B2468FDD}" type="presOf" srcId="{9AAABE94-562A-44F3-94CE-9542620DA853}" destId="{83FDA256-EEFB-41C4-8B1B-53235AA92E4E}" srcOrd="0" destOrd="2" presId="urn:microsoft.com/office/officeart/2005/8/layout/matrix1"/>
    <dgm:cxn modelId="{15E23A12-3643-44F0-9B7B-76ABEAC7094F}" type="presOf" srcId="{8EAB77CB-9979-4CE5-80CE-77E707EC23C3}" destId="{56802F7B-E4C9-41A0-B40C-909A0CC9D88F}" srcOrd="0" destOrd="1" presId="urn:microsoft.com/office/officeart/2005/8/layout/matrix1"/>
    <dgm:cxn modelId="{5828E012-0CEE-4FB5-BFFC-E01C61DDC367}" srcId="{75DBFAD7-8A46-4F5A-AFE4-05F87B24285B}" destId="{9AAABE94-562A-44F3-94CE-9542620DA853}" srcOrd="1" destOrd="0" parTransId="{A83FE03C-B3F2-4C1B-9C20-43C3693DDEB2}" sibTransId="{9CB47F48-4AE9-49F4-8088-D2605F31C990}"/>
    <dgm:cxn modelId="{F6048F1A-25CD-4558-9E39-148EF2762774}" srcId="{F8C10854-3B90-4402-9746-4E0802F0CC91}" destId="{3AFEB433-B941-4B42-A7B5-EBE4CD7DDF0B}" srcOrd="0" destOrd="0" parTransId="{2EEB43F0-1257-4F56-8CBA-E06B23B9ABD7}" sibTransId="{631069CB-1CFA-409C-8CD8-67492D1E5A3C}"/>
    <dgm:cxn modelId="{A1BA521D-D358-4A78-A026-5745E940CD04}" srcId="{E9994EDB-BA4E-4088-BE10-F1F12DEE1FE8}" destId="{C2610BA6-874B-4AC5-A855-491D79480B31}" srcOrd="1" destOrd="0" parTransId="{B87E2C6B-2732-40B1-8906-BDDCDCF7D781}" sibTransId="{5D944792-2B35-43B1-B326-3A849D86C1BF}"/>
    <dgm:cxn modelId="{48548F20-3892-4BE1-B5A5-CB1D83853C3B}" type="presOf" srcId="{7B27CC10-CAFD-44A7-8787-1267C94894C0}" destId="{E2C325CE-3334-4290-BB22-3C664153F7BC}" srcOrd="1" destOrd="2" presId="urn:microsoft.com/office/officeart/2005/8/layout/matrix1"/>
    <dgm:cxn modelId="{F7659920-9826-4352-AC41-BB7214FA9510}" type="presOf" srcId="{0A2039FB-4AAF-4B53-A0AD-0843B088E8DE}" destId="{F2385354-4259-4BB5-894C-F367CCB4A6AD}" srcOrd="0" destOrd="3" presId="urn:microsoft.com/office/officeart/2005/8/layout/matrix1"/>
    <dgm:cxn modelId="{BB351429-F81B-4064-BBF8-B22FB40F9DD5}" srcId="{9AAABE94-562A-44F3-94CE-9542620DA853}" destId="{0F290F33-B10C-4026-A4D6-12D165332660}" srcOrd="0" destOrd="0" parTransId="{A1670E81-8609-4C57-A2C1-620804F68E1E}" sibTransId="{7C7208E7-42BE-423A-81AF-4B86840E7FB6}"/>
    <dgm:cxn modelId="{8A6CC137-0E73-490D-92AB-B0B6A2C3A970}" type="presOf" srcId="{7B27CC10-CAFD-44A7-8787-1267C94894C0}" destId="{F2385354-4259-4BB5-894C-F367CCB4A6AD}" srcOrd="0" destOrd="2" presId="urn:microsoft.com/office/officeart/2005/8/layout/matrix1"/>
    <dgm:cxn modelId="{5636BA40-C967-41ED-9C8A-FA44B7503787}" type="presOf" srcId="{0F290F33-B10C-4026-A4D6-12D165332660}" destId="{83FDA256-EEFB-41C4-8B1B-53235AA92E4E}" srcOrd="0" destOrd="3" presId="urn:microsoft.com/office/officeart/2005/8/layout/matrix1"/>
    <dgm:cxn modelId="{6B8EE15F-A9B1-495D-8EF9-E93B947B893A}" type="presOf" srcId="{C2610BA6-874B-4AC5-A855-491D79480B31}" destId="{1DB952C9-9F67-456F-B50E-F8C5C360F3EE}" srcOrd="0" destOrd="2" presId="urn:microsoft.com/office/officeart/2005/8/layout/matrix1"/>
    <dgm:cxn modelId="{864B3741-4AFC-4AEE-A7CF-9BCB8AA81373}" srcId="{3AFEB433-B941-4B42-A7B5-EBE4CD7DDF0B}" destId="{CD6386A9-DF38-4BFD-A73D-DD9BDC8A67FD}" srcOrd="1" destOrd="0" parTransId="{88A641EB-80E9-4E84-AC34-9E761911FEE4}" sibTransId="{F1F0A629-BFDB-4D0F-BB97-490D9B2091EB}"/>
    <dgm:cxn modelId="{8F825642-61D5-4197-9E36-A539218AE153}" type="presOf" srcId="{3EC5A31C-8E46-425F-A1B5-A5AE719D53E3}" destId="{413975ED-AD68-4561-9C7B-2430E382294B}" srcOrd="0" destOrd="0" presId="urn:microsoft.com/office/officeart/2005/8/layout/matrix1"/>
    <dgm:cxn modelId="{AC747064-5BDF-49C7-8DDE-0BF0C4E38D82}" srcId="{3EC5A31C-8E46-425F-A1B5-A5AE719D53E3}" destId="{F8C10854-3B90-4402-9746-4E0802F0CC91}" srcOrd="0" destOrd="0" parTransId="{83DED090-BC3E-4215-BFF2-5A216FB5CE54}" sibTransId="{A13C82F3-8370-4DF6-BF90-9F9AB17F2F0A}"/>
    <dgm:cxn modelId="{38C97D65-B005-4393-A5EC-618C3F59D484}" type="presOf" srcId="{F8C10854-3B90-4402-9746-4E0802F0CC91}" destId="{9D0CA746-A888-4E2E-9CC6-3666BF2E0252}" srcOrd="0" destOrd="0" presId="urn:microsoft.com/office/officeart/2005/8/layout/matrix1"/>
    <dgm:cxn modelId="{9AAF4F4F-B842-4D15-A509-4179697904DF}" srcId="{FE710224-F680-4312-92F5-257DA726B97C}" destId="{0A2039FB-4AAF-4B53-A0AD-0843B088E8DE}" srcOrd="2" destOrd="0" parTransId="{28E8A80B-9793-4079-A537-690DF7F21A17}" sibTransId="{A170F66A-9BF0-4E18-BB3F-84C2354271A8}"/>
    <dgm:cxn modelId="{E0F8D04F-9191-4938-9AC5-4B85A116A2BF}" type="presOf" srcId="{3AFEB433-B941-4B42-A7B5-EBE4CD7DDF0B}" destId="{56802F7B-E4C9-41A0-B40C-909A0CC9D88F}" srcOrd="0" destOrd="0" presId="urn:microsoft.com/office/officeart/2005/8/layout/matrix1"/>
    <dgm:cxn modelId="{97DD4874-BF86-4FCF-9C05-0660321307B7}" type="presOf" srcId="{C3C7D99A-9B1D-445D-B3EF-366120A52C81}" destId="{1DB952C9-9F67-456F-B50E-F8C5C360F3EE}" srcOrd="0" destOrd="1" presId="urn:microsoft.com/office/officeart/2005/8/layout/matrix1"/>
    <dgm:cxn modelId="{81767675-42D4-4FC6-844C-B4D45F137959}" type="presOf" srcId="{C2610BA6-874B-4AC5-A855-491D79480B31}" destId="{FD913C21-CA6A-47AA-9BD2-C08A24AC1614}" srcOrd="1" destOrd="2" presId="urn:microsoft.com/office/officeart/2005/8/layout/matrix1"/>
    <dgm:cxn modelId="{483B8E80-8DDF-43E1-8CBB-BE1D3543CF7F}" type="presOf" srcId="{9AAABE94-562A-44F3-94CE-9542620DA853}" destId="{B8BA0241-B887-4673-928D-8D380814C7E4}" srcOrd="1" destOrd="2" presId="urn:microsoft.com/office/officeart/2005/8/layout/matrix1"/>
    <dgm:cxn modelId="{E169D19D-3E51-4DC9-8A4F-3C7D71DDEE68}" type="presOf" srcId="{E9994EDB-BA4E-4088-BE10-F1F12DEE1FE8}" destId="{1DB952C9-9F67-456F-B50E-F8C5C360F3EE}" srcOrd="0" destOrd="0" presId="urn:microsoft.com/office/officeart/2005/8/layout/matrix1"/>
    <dgm:cxn modelId="{B6A1D89E-F987-4A29-A8D8-7F9EDD8C892E}" type="presOf" srcId="{3AFEB433-B941-4B42-A7B5-EBE4CD7DDF0B}" destId="{CA99A9AC-8D9E-4498-B427-78C7C1F881A9}" srcOrd="1" destOrd="0" presId="urn:microsoft.com/office/officeart/2005/8/layout/matrix1"/>
    <dgm:cxn modelId="{9ED561A0-04E0-4D1F-8DD5-1644EABE8836}" srcId="{F8C10854-3B90-4402-9746-4E0802F0CC91}" destId="{E9994EDB-BA4E-4088-BE10-F1F12DEE1FE8}" srcOrd="2" destOrd="0" parTransId="{5E69F728-A5D3-411C-978E-AB7281D83431}" sibTransId="{54093713-9C35-45CA-B1E2-959359D8803F}"/>
    <dgm:cxn modelId="{6FBE5DA3-B2CC-4F9B-8C40-A61122AADB22}" type="presOf" srcId="{0BABDD9A-6FDE-40C5-8749-82BE4F6D91F6}" destId="{E2C325CE-3334-4290-BB22-3C664153F7BC}" srcOrd="1" destOrd="1" presId="urn:microsoft.com/office/officeart/2005/8/layout/matrix1"/>
    <dgm:cxn modelId="{05364BA6-EA16-49EF-8AB2-6B2914A90904}" type="presOf" srcId="{0BABDD9A-6FDE-40C5-8749-82BE4F6D91F6}" destId="{F2385354-4259-4BB5-894C-F367CCB4A6AD}" srcOrd="0" destOrd="1" presId="urn:microsoft.com/office/officeart/2005/8/layout/matrix1"/>
    <dgm:cxn modelId="{DCF559B3-8E3B-4558-9516-9624CA745350}" srcId="{3AFEB433-B941-4B42-A7B5-EBE4CD7DDF0B}" destId="{8EAB77CB-9979-4CE5-80CE-77E707EC23C3}" srcOrd="0" destOrd="0" parTransId="{1D14F806-BE88-4F13-8FE2-2EB81EE5E966}" sibTransId="{AB787983-2E77-4759-B04F-04C77659CD58}"/>
    <dgm:cxn modelId="{E9D1D6B3-0D8D-444B-9879-C15542395809}" srcId="{F8C10854-3B90-4402-9746-4E0802F0CC91}" destId="{75DBFAD7-8A46-4F5A-AFE4-05F87B24285B}" srcOrd="1" destOrd="0" parTransId="{BD4D599E-F6F9-47A2-A330-41DA95C46274}" sibTransId="{8509564A-3BFD-4CEB-BEDA-903DC223574F}"/>
    <dgm:cxn modelId="{3F0119C0-DC24-44A2-8935-7924685F4510}" type="presOf" srcId="{75DBFAD7-8A46-4F5A-AFE4-05F87B24285B}" destId="{83FDA256-EEFB-41C4-8B1B-53235AA92E4E}" srcOrd="0" destOrd="0" presId="urn:microsoft.com/office/officeart/2005/8/layout/matrix1"/>
    <dgm:cxn modelId="{6BE994C5-1F2E-4B4D-BC07-13B88B852559}" srcId="{E9994EDB-BA4E-4088-BE10-F1F12DEE1FE8}" destId="{C3C7D99A-9B1D-445D-B3EF-366120A52C81}" srcOrd="0" destOrd="0" parTransId="{1E546286-5E70-453D-BFD0-4DAE14CBD174}" sibTransId="{B270ECCF-9FE4-4CDA-AE8E-340913C92010}"/>
    <dgm:cxn modelId="{A14BB2CA-56D0-4D69-94FF-7E68573986AB}" srcId="{FE710224-F680-4312-92F5-257DA726B97C}" destId="{7B27CC10-CAFD-44A7-8787-1267C94894C0}" srcOrd="1" destOrd="0" parTransId="{10101AFE-43AB-43EA-A37E-4ED458445447}" sibTransId="{BBDFE609-1554-451C-A076-6DA7C953F8E0}"/>
    <dgm:cxn modelId="{94A646CD-036C-4594-B154-288C3A18392F}" type="presOf" srcId="{CD6386A9-DF38-4BFD-A73D-DD9BDC8A67FD}" destId="{56802F7B-E4C9-41A0-B40C-909A0CC9D88F}" srcOrd="0" destOrd="2" presId="urn:microsoft.com/office/officeart/2005/8/layout/matrix1"/>
    <dgm:cxn modelId="{2F4ED0D6-6CC4-4283-9871-DFF11C8A7921}" srcId="{FE710224-F680-4312-92F5-257DA726B97C}" destId="{0BABDD9A-6FDE-40C5-8749-82BE4F6D91F6}" srcOrd="0" destOrd="0" parTransId="{CE2C5445-8652-4A08-8579-48A06A0722FD}" sibTransId="{C57DD61B-B1D6-4FA4-AB16-642970B22C5A}"/>
    <dgm:cxn modelId="{506B29D9-FEDC-445A-9FDD-00505BC4A6BF}" type="presOf" srcId="{0A2039FB-4AAF-4B53-A0AD-0843B088E8DE}" destId="{E2C325CE-3334-4290-BB22-3C664153F7BC}" srcOrd="1" destOrd="3" presId="urn:microsoft.com/office/officeart/2005/8/layout/matrix1"/>
    <dgm:cxn modelId="{3BF644DE-235E-49BD-A5DD-06C3E1CBF660}" type="presOf" srcId="{EB8F7276-1934-4752-831F-3969E9F34168}" destId="{B8BA0241-B887-4673-928D-8D380814C7E4}" srcOrd="1" destOrd="1" presId="urn:microsoft.com/office/officeart/2005/8/layout/matrix1"/>
    <dgm:cxn modelId="{296B78E1-6515-4B3F-BCC4-0666BED2A893}" type="presOf" srcId="{FE710224-F680-4312-92F5-257DA726B97C}" destId="{F2385354-4259-4BB5-894C-F367CCB4A6AD}" srcOrd="0" destOrd="0" presId="urn:microsoft.com/office/officeart/2005/8/layout/matrix1"/>
    <dgm:cxn modelId="{8B30F7E6-5DA4-42EE-A77F-F4C5104689B0}" type="presOf" srcId="{EB8F7276-1934-4752-831F-3969E9F34168}" destId="{83FDA256-EEFB-41C4-8B1B-53235AA92E4E}" srcOrd="0" destOrd="1" presId="urn:microsoft.com/office/officeart/2005/8/layout/matrix1"/>
    <dgm:cxn modelId="{C2EAFBF6-6C75-4F8F-9336-D20929CDCB00}" type="presOf" srcId="{CD6386A9-DF38-4BFD-A73D-DD9BDC8A67FD}" destId="{CA99A9AC-8D9E-4498-B427-78C7C1F881A9}" srcOrd="1" destOrd="2" presId="urn:microsoft.com/office/officeart/2005/8/layout/matrix1"/>
    <dgm:cxn modelId="{931947F8-5585-4390-AD52-C8AAEF64A2F8}" srcId="{75DBFAD7-8A46-4F5A-AFE4-05F87B24285B}" destId="{EB8F7276-1934-4752-831F-3969E9F34168}" srcOrd="0" destOrd="0" parTransId="{A1A980B8-BF00-4085-8C57-967101791608}" sibTransId="{9AC308C4-BBAE-409D-9DAA-BEA9E15F1BE0}"/>
    <dgm:cxn modelId="{AD4D44F9-B480-41A6-8DD9-3F2E6475A436}" type="presOf" srcId="{75DBFAD7-8A46-4F5A-AFE4-05F87B24285B}" destId="{B8BA0241-B887-4673-928D-8D380814C7E4}" srcOrd="1" destOrd="0" presId="urn:microsoft.com/office/officeart/2005/8/layout/matrix1"/>
    <dgm:cxn modelId="{789BCAF9-C13B-4BC6-8CA1-8EBA25114682}" type="presOf" srcId="{C3C7D99A-9B1D-445D-B3EF-366120A52C81}" destId="{FD913C21-CA6A-47AA-9BD2-C08A24AC1614}" srcOrd="1" destOrd="1" presId="urn:microsoft.com/office/officeart/2005/8/layout/matrix1"/>
    <dgm:cxn modelId="{64113FFB-9A0A-450C-9083-3F642874EAEA}" type="presOf" srcId="{E9994EDB-BA4E-4088-BE10-F1F12DEE1FE8}" destId="{FD913C21-CA6A-47AA-9BD2-C08A24AC1614}" srcOrd="1" destOrd="0" presId="urn:microsoft.com/office/officeart/2005/8/layout/matrix1"/>
    <dgm:cxn modelId="{5D8138FC-1D5E-425C-9654-246E01C45645}" type="presOf" srcId="{8EAB77CB-9979-4CE5-80CE-77E707EC23C3}" destId="{CA99A9AC-8D9E-4498-B427-78C7C1F881A9}" srcOrd="1" destOrd="1" presId="urn:microsoft.com/office/officeart/2005/8/layout/matrix1"/>
    <dgm:cxn modelId="{5E9840FE-20C2-4FA5-BB42-76FCDD6ED5A9}" type="presOf" srcId="{FE710224-F680-4312-92F5-257DA726B97C}" destId="{E2C325CE-3334-4290-BB22-3C664153F7BC}" srcOrd="1" destOrd="0" presId="urn:microsoft.com/office/officeart/2005/8/layout/matrix1"/>
    <dgm:cxn modelId="{7A11E5FF-6CB4-4CDE-9CA0-3DFF0B9FDE64}" srcId="{F8C10854-3B90-4402-9746-4E0802F0CC91}" destId="{FE710224-F680-4312-92F5-257DA726B97C}" srcOrd="3" destOrd="0" parTransId="{029DBF1B-C696-4A27-BAC6-7E0D15E89B96}" sibTransId="{CACDB062-71C5-49C4-89AC-72C5766155FA}"/>
    <dgm:cxn modelId="{B4F014ED-EA56-4F55-BC78-D6DC20FE7B22}" type="presParOf" srcId="{413975ED-AD68-4561-9C7B-2430E382294B}" destId="{B1B6A2DA-B873-4453-89B4-01CBE3649400}" srcOrd="0" destOrd="0" presId="urn:microsoft.com/office/officeart/2005/8/layout/matrix1"/>
    <dgm:cxn modelId="{F4899D1D-D340-4D78-9675-FD09A79AD6FA}" type="presParOf" srcId="{B1B6A2DA-B873-4453-89B4-01CBE3649400}" destId="{56802F7B-E4C9-41A0-B40C-909A0CC9D88F}" srcOrd="0" destOrd="0" presId="urn:microsoft.com/office/officeart/2005/8/layout/matrix1"/>
    <dgm:cxn modelId="{A6F2BB64-8562-4734-8AD8-4CBC2D1E78B2}" type="presParOf" srcId="{B1B6A2DA-B873-4453-89B4-01CBE3649400}" destId="{CA99A9AC-8D9E-4498-B427-78C7C1F881A9}" srcOrd="1" destOrd="0" presId="urn:microsoft.com/office/officeart/2005/8/layout/matrix1"/>
    <dgm:cxn modelId="{65E53432-D24A-476A-B2BC-C506EF33FDE2}" type="presParOf" srcId="{B1B6A2DA-B873-4453-89B4-01CBE3649400}" destId="{83FDA256-EEFB-41C4-8B1B-53235AA92E4E}" srcOrd="2" destOrd="0" presId="urn:microsoft.com/office/officeart/2005/8/layout/matrix1"/>
    <dgm:cxn modelId="{8665B1FB-8DAD-4592-BEEB-6AF41ED56538}" type="presParOf" srcId="{B1B6A2DA-B873-4453-89B4-01CBE3649400}" destId="{B8BA0241-B887-4673-928D-8D380814C7E4}" srcOrd="3" destOrd="0" presId="urn:microsoft.com/office/officeart/2005/8/layout/matrix1"/>
    <dgm:cxn modelId="{557F972F-A5D4-4C7F-A3CF-BCF5B362B3CB}" type="presParOf" srcId="{B1B6A2DA-B873-4453-89B4-01CBE3649400}" destId="{1DB952C9-9F67-456F-B50E-F8C5C360F3EE}" srcOrd="4" destOrd="0" presId="urn:microsoft.com/office/officeart/2005/8/layout/matrix1"/>
    <dgm:cxn modelId="{CF99D2B8-D4E0-4525-9156-021C041E53FA}" type="presParOf" srcId="{B1B6A2DA-B873-4453-89B4-01CBE3649400}" destId="{FD913C21-CA6A-47AA-9BD2-C08A24AC1614}" srcOrd="5" destOrd="0" presId="urn:microsoft.com/office/officeart/2005/8/layout/matrix1"/>
    <dgm:cxn modelId="{FBAE404B-E0EA-4604-9214-4C6A51C9B0BB}" type="presParOf" srcId="{B1B6A2DA-B873-4453-89B4-01CBE3649400}" destId="{F2385354-4259-4BB5-894C-F367CCB4A6AD}" srcOrd="6" destOrd="0" presId="urn:microsoft.com/office/officeart/2005/8/layout/matrix1"/>
    <dgm:cxn modelId="{62257E99-6D43-4237-BD05-69DAA768CE80}" type="presParOf" srcId="{B1B6A2DA-B873-4453-89B4-01CBE3649400}" destId="{E2C325CE-3334-4290-BB22-3C664153F7BC}" srcOrd="7" destOrd="0" presId="urn:microsoft.com/office/officeart/2005/8/layout/matrix1"/>
    <dgm:cxn modelId="{14164C4B-3AB0-4443-9D70-9C65E1BC1F27}" type="presParOf" srcId="{413975ED-AD68-4561-9C7B-2430E382294B}" destId="{9D0CA746-A888-4E2E-9CC6-3666BF2E0252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955FCD-69F2-4403-8C1F-82FCC26278C1}" type="doc">
      <dgm:prSet loTypeId="urn:microsoft.com/office/officeart/2005/8/layout/balance1" loCatId="relationship" qsTypeId="urn:microsoft.com/office/officeart/2005/8/quickstyle/3d2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1DA375E-8D0E-4DE2-A8B2-9487CE6685BB}">
      <dgm:prSet phldrT="[Text]"/>
      <dgm:spPr/>
      <dgm:t>
        <a:bodyPr/>
        <a:lstStyle/>
        <a:p>
          <a:r>
            <a:rPr lang="en-US" dirty="0"/>
            <a:t>Efficiency</a:t>
          </a:r>
        </a:p>
      </dgm:t>
    </dgm:pt>
    <dgm:pt modelId="{C78DB512-A3EC-40E2-B808-B315B71657D0}" type="parTrans" cxnId="{29526B5A-D911-46F9-86FB-DDFAD79EA32D}">
      <dgm:prSet/>
      <dgm:spPr/>
      <dgm:t>
        <a:bodyPr/>
        <a:lstStyle/>
        <a:p>
          <a:endParaRPr lang="en-US"/>
        </a:p>
      </dgm:t>
    </dgm:pt>
    <dgm:pt modelId="{AFC5E84B-8126-46D4-AF6E-3BB39C3C5702}" type="sibTrans" cxnId="{29526B5A-D911-46F9-86FB-DDFAD79EA32D}">
      <dgm:prSet/>
      <dgm:spPr/>
      <dgm:t>
        <a:bodyPr/>
        <a:lstStyle/>
        <a:p>
          <a:endParaRPr lang="en-US"/>
        </a:p>
      </dgm:t>
    </dgm:pt>
    <dgm:pt modelId="{5DF1E64E-9464-4765-9B33-775B2ACDE6DB}">
      <dgm:prSet phldrT="[Text]"/>
      <dgm:spPr/>
      <dgm:t>
        <a:bodyPr/>
        <a:lstStyle/>
        <a:p>
          <a:r>
            <a:rPr lang="en-US" dirty="0"/>
            <a:t>Maximum Total Surplus</a:t>
          </a:r>
        </a:p>
      </dgm:t>
    </dgm:pt>
    <dgm:pt modelId="{AA24F636-A59C-4895-AFAE-115A42B5D945}" type="parTrans" cxnId="{F560D6AB-DA08-4660-B5D2-27DE7799C110}">
      <dgm:prSet/>
      <dgm:spPr/>
      <dgm:t>
        <a:bodyPr/>
        <a:lstStyle/>
        <a:p>
          <a:endParaRPr lang="en-US"/>
        </a:p>
      </dgm:t>
    </dgm:pt>
    <dgm:pt modelId="{AE486FD2-87F4-4B55-A54B-85546215D935}" type="sibTrans" cxnId="{F560D6AB-DA08-4660-B5D2-27DE7799C110}">
      <dgm:prSet/>
      <dgm:spPr/>
      <dgm:t>
        <a:bodyPr/>
        <a:lstStyle/>
        <a:p>
          <a:endParaRPr lang="en-US"/>
        </a:p>
      </dgm:t>
    </dgm:pt>
    <dgm:pt modelId="{E2DADC15-F600-4781-96ED-4835676B5711}">
      <dgm:prSet phldrT="[Text]"/>
      <dgm:spPr/>
      <dgm:t>
        <a:bodyPr/>
        <a:lstStyle/>
        <a:p>
          <a:r>
            <a:rPr lang="en-US" dirty="0"/>
            <a:t>Equity</a:t>
          </a:r>
        </a:p>
      </dgm:t>
    </dgm:pt>
    <dgm:pt modelId="{6A5BB636-F9AA-4F5D-8044-9EA0B21B9278}" type="parTrans" cxnId="{FBF2839A-7B7F-4221-90C1-0133830AE8AF}">
      <dgm:prSet/>
      <dgm:spPr/>
      <dgm:t>
        <a:bodyPr/>
        <a:lstStyle/>
        <a:p>
          <a:endParaRPr lang="en-US"/>
        </a:p>
      </dgm:t>
    </dgm:pt>
    <dgm:pt modelId="{E785326D-EDB5-4A2B-AAF7-13D73E8DE337}" type="sibTrans" cxnId="{FBF2839A-7B7F-4221-90C1-0133830AE8AF}">
      <dgm:prSet/>
      <dgm:spPr/>
      <dgm:t>
        <a:bodyPr/>
        <a:lstStyle/>
        <a:p>
          <a:endParaRPr lang="en-US"/>
        </a:p>
      </dgm:t>
    </dgm:pt>
    <dgm:pt modelId="{CD6F5E85-47AC-4866-879B-E9E1ECD2B98A}">
      <dgm:prSet phldrT="[Text]"/>
      <dgm:spPr/>
      <dgm:t>
        <a:bodyPr/>
        <a:lstStyle/>
        <a:p>
          <a:r>
            <a:rPr lang="en-US" dirty="0"/>
            <a:t>Fairness</a:t>
          </a:r>
        </a:p>
      </dgm:t>
    </dgm:pt>
    <dgm:pt modelId="{498D32B9-64E6-4D63-94C1-A08C84B954E0}" type="parTrans" cxnId="{9C691FE6-892B-4E88-952C-9F9A68D922CF}">
      <dgm:prSet/>
      <dgm:spPr/>
      <dgm:t>
        <a:bodyPr/>
        <a:lstStyle/>
        <a:p>
          <a:endParaRPr lang="en-US"/>
        </a:p>
      </dgm:t>
    </dgm:pt>
    <dgm:pt modelId="{24419212-A1A8-492E-B631-0AA7D7327C86}" type="sibTrans" cxnId="{9C691FE6-892B-4E88-952C-9F9A68D922CF}">
      <dgm:prSet/>
      <dgm:spPr/>
      <dgm:t>
        <a:bodyPr/>
        <a:lstStyle/>
        <a:p>
          <a:endParaRPr lang="en-US"/>
        </a:p>
      </dgm:t>
    </dgm:pt>
    <dgm:pt modelId="{7917884F-5069-44B0-AE08-17E2709982AA}">
      <dgm:prSet phldrT="[Text]"/>
      <dgm:spPr/>
      <dgm:t>
        <a:bodyPr/>
        <a:lstStyle/>
        <a:p>
          <a:r>
            <a:rPr lang="en-US" dirty="0"/>
            <a:t>Basic Needs</a:t>
          </a:r>
        </a:p>
      </dgm:t>
    </dgm:pt>
    <dgm:pt modelId="{54BB35E0-D20A-4AB3-8E03-E92C9A8FD31D}" type="parTrans" cxnId="{8C0DE963-AD72-4E41-BE6D-DF22EACC5AD4}">
      <dgm:prSet/>
      <dgm:spPr/>
      <dgm:t>
        <a:bodyPr/>
        <a:lstStyle/>
        <a:p>
          <a:endParaRPr lang="en-US"/>
        </a:p>
      </dgm:t>
    </dgm:pt>
    <dgm:pt modelId="{DB1DCC98-CC54-4E62-8B10-E0FF825EE75B}" type="sibTrans" cxnId="{8C0DE963-AD72-4E41-BE6D-DF22EACC5AD4}">
      <dgm:prSet/>
      <dgm:spPr/>
      <dgm:t>
        <a:bodyPr/>
        <a:lstStyle/>
        <a:p>
          <a:endParaRPr lang="en-US"/>
        </a:p>
      </dgm:t>
    </dgm:pt>
    <dgm:pt modelId="{5AAF089D-6666-4108-958A-06660099B0CC}" type="pres">
      <dgm:prSet presAssocID="{E4955FCD-69F2-4403-8C1F-82FCC26278C1}" presName="outerComposite" presStyleCnt="0">
        <dgm:presLayoutVars>
          <dgm:chMax val="2"/>
          <dgm:animLvl val="lvl"/>
          <dgm:resizeHandles val="exact"/>
        </dgm:presLayoutVars>
      </dgm:prSet>
      <dgm:spPr/>
    </dgm:pt>
    <dgm:pt modelId="{91083F65-FDC8-4B03-986B-E0566C82EE9C}" type="pres">
      <dgm:prSet presAssocID="{E4955FCD-69F2-4403-8C1F-82FCC26278C1}" presName="dummyMaxCanvas" presStyleCnt="0"/>
      <dgm:spPr/>
    </dgm:pt>
    <dgm:pt modelId="{2BD2153E-0547-4F70-AF89-B2C401D3D544}" type="pres">
      <dgm:prSet presAssocID="{E4955FCD-69F2-4403-8C1F-82FCC26278C1}" presName="parentComposite" presStyleCnt="0"/>
      <dgm:spPr/>
    </dgm:pt>
    <dgm:pt modelId="{ADC7F123-B647-48A8-A22B-BADC2FF432CA}" type="pres">
      <dgm:prSet presAssocID="{E4955FCD-69F2-4403-8C1F-82FCC26278C1}" presName="parent1" presStyleLbl="alignAccFollowNode1" presStyleIdx="0" presStyleCnt="4">
        <dgm:presLayoutVars>
          <dgm:chMax val="4"/>
        </dgm:presLayoutVars>
      </dgm:prSet>
      <dgm:spPr/>
    </dgm:pt>
    <dgm:pt modelId="{EE6CFB31-2BDC-4EA2-9475-8FBFFCD234A2}" type="pres">
      <dgm:prSet presAssocID="{E4955FCD-69F2-4403-8C1F-82FCC26278C1}" presName="parent2" presStyleLbl="alignAccFollowNode1" presStyleIdx="1" presStyleCnt="4">
        <dgm:presLayoutVars>
          <dgm:chMax val="4"/>
        </dgm:presLayoutVars>
      </dgm:prSet>
      <dgm:spPr/>
    </dgm:pt>
    <dgm:pt modelId="{ADCEC22C-5C1D-4070-9705-1072C1DDD014}" type="pres">
      <dgm:prSet presAssocID="{E4955FCD-69F2-4403-8C1F-82FCC26278C1}" presName="childrenComposite" presStyleCnt="0"/>
      <dgm:spPr/>
    </dgm:pt>
    <dgm:pt modelId="{35E91157-4E94-401D-8A01-BAF01B948115}" type="pres">
      <dgm:prSet presAssocID="{E4955FCD-69F2-4403-8C1F-82FCC26278C1}" presName="dummyMaxCanvas_ChildArea" presStyleCnt="0"/>
      <dgm:spPr/>
    </dgm:pt>
    <dgm:pt modelId="{A582524F-0966-4C01-B17F-ED55067A6074}" type="pres">
      <dgm:prSet presAssocID="{E4955FCD-69F2-4403-8C1F-82FCC26278C1}" presName="fulcrum" presStyleLbl="alignAccFollowNode1" presStyleIdx="2" presStyleCnt="4"/>
      <dgm:spPr/>
    </dgm:pt>
    <dgm:pt modelId="{50F19C69-56AC-4EAB-8D1F-00BA2566CEB1}" type="pres">
      <dgm:prSet presAssocID="{E4955FCD-69F2-4403-8C1F-82FCC26278C1}" presName="balance_12" presStyleLbl="alignAccFollowNode1" presStyleIdx="3" presStyleCnt="4">
        <dgm:presLayoutVars>
          <dgm:bulletEnabled val="1"/>
        </dgm:presLayoutVars>
      </dgm:prSet>
      <dgm:spPr/>
    </dgm:pt>
    <dgm:pt modelId="{A9EEB06A-4363-4EB7-A486-7C9E1269C736}" type="pres">
      <dgm:prSet presAssocID="{E4955FCD-69F2-4403-8C1F-82FCC26278C1}" presName="right_12_1" presStyleLbl="node1" presStyleIdx="0" presStyleCnt="3">
        <dgm:presLayoutVars>
          <dgm:bulletEnabled val="1"/>
        </dgm:presLayoutVars>
      </dgm:prSet>
      <dgm:spPr/>
    </dgm:pt>
    <dgm:pt modelId="{1159AEE8-F8AE-47BB-8FB3-CB9CA2CD4394}" type="pres">
      <dgm:prSet presAssocID="{E4955FCD-69F2-4403-8C1F-82FCC26278C1}" presName="right_12_2" presStyleLbl="node1" presStyleIdx="1" presStyleCnt="3">
        <dgm:presLayoutVars>
          <dgm:bulletEnabled val="1"/>
        </dgm:presLayoutVars>
      </dgm:prSet>
      <dgm:spPr/>
    </dgm:pt>
    <dgm:pt modelId="{B20D875D-2772-4F00-9063-07CEA0F734AB}" type="pres">
      <dgm:prSet presAssocID="{E4955FCD-69F2-4403-8C1F-82FCC26278C1}" presName="left_12_1" presStyleLbl="node1" presStyleIdx="2" presStyleCnt="3">
        <dgm:presLayoutVars>
          <dgm:bulletEnabled val="1"/>
        </dgm:presLayoutVars>
      </dgm:prSet>
      <dgm:spPr/>
    </dgm:pt>
  </dgm:ptLst>
  <dgm:cxnLst>
    <dgm:cxn modelId="{9A38D312-427C-4CC2-9002-2D577417B83D}" type="presOf" srcId="{E2DADC15-F600-4781-96ED-4835676B5711}" destId="{EE6CFB31-2BDC-4EA2-9475-8FBFFCD234A2}" srcOrd="0" destOrd="0" presId="urn:microsoft.com/office/officeart/2005/8/layout/balance1"/>
    <dgm:cxn modelId="{5A47C817-AA85-4FA5-BCCC-69D6A63B7715}" type="presOf" srcId="{7917884F-5069-44B0-AE08-17E2709982AA}" destId="{1159AEE8-F8AE-47BB-8FB3-CB9CA2CD4394}" srcOrd="0" destOrd="0" presId="urn:microsoft.com/office/officeart/2005/8/layout/balance1"/>
    <dgm:cxn modelId="{C45ACB3B-E6B3-4FBD-A464-BC62A6D6957C}" type="presOf" srcId="{CD6F5E85-47AC-4866-879B-E9E1ECD2B98A}" destId="{A9EEB06A-4363-4EB7-A486-7C9E1269C736}" srcOrd="0" destOrd="0" presId="urn:microsoft.com/office/officeart/2005/8/layout/balance1"/>
    <dgm:cxn modelId="{3A27665E-4F7A-4BB2-BF29-89EBFB8E1535}" type="presOf" srcId="{A1DA375E-8D0E-4DE2-A8B2-9487CE6685BB}" destId="{ADC7F123-B647-48A8-A22B-BADC2FF432CA}" srcOrd="0" destOrd="0" presId="urn:microsoft.com/office/officeart/2005/8/layout/balance1"/>
    <dgm:cxn modelId="{8C0DE963-AD72-4E41-BE6D-DF22EACC5AD4}" srcId="{E2DADC15-F600-4781-96ED-4835676B5711}" destId="{7917884F-5069-44B0-AE08-17E2709982AA}" srcOrd="1" destOrd="0" parTransId="{54BB35E0-D20A-4AB3-8E03-E92C9A8FD31D}" sibTransId="{DB1DCC98-CC54-4E62-8B10-E0FF825EE75B}"/>
    <dgm:cxn modelId="{29526B5A-D911-46F9-86FB-DDFAD79EA32D}" srcId="{E4955FCD-69F2-4403-8C1F-82FCC26278C1}" destId="{A1DA375E-8D0E-4DE2-A8B2-9487CE6685BB}" srcOrd="0" destOrd="0" parTransId="{C78DB512-A3EC-40E2-B808-B315B71657D0}" sibTransId="{AFC5E84B-8126-46D4-AF6E-3BB39C3C5702}"/>
    <dgm:cxn modelId="{FBF2839A-7B7F-4221-90C1-0133830AE8AF}" srcId="{E4955FCD-69F2-4403-8C1F-82FCC26278C1}" destId="{E2DADC15-F600-4781-96ED-4835676B5711}" srcOrd="1" destOrd="0" parTransId="{6A5BB636-F9AA-4F5D-8044-9EA0B21B9278}" sibTransId="{E785326D-EDB5-4A2B-AAF7-13D73E8DE337}"/>
    <dgm:cxn modelId="{E187AEA4-AA19-4041-9A8D-464D66AF1AFE}" type="presOf" srcId="{E4955FCD-69F2-4403-8C1F-82FCC26278C1}" destId="{5AAF089D-6666-4108-958A-06660099B0CC}" srcOrd="0" destOrd="0" presId="urn:microsoft.com/office/officeart/2005/8/layout/balance1"/>
    <dgm:cxn modelId="{F560D6AB-DA08-4660-B5D2-27DE7799C110}" srcId="{A1DA375E-8D0E-4DE2-A8B2-9487CE6685BB}" destId="{5DF1E64E-9464-4765-9B33-775B2ACDE6DB}" srcOrd="0" destOrd="0" parTransId="{AA24F636-A59C-4895-AFAE-115A42B5D945}" sibTransId="{AE486FD2-87F4-4B55-A54B-85546215D935}"/>
    <dgm:cxn modelId="{9C691FE6-892B-4E88-952C-9F9A68D922CF}" srcId="{E2DADC15-F600-4781-96ED-4835676B5711}" destId="{CD6F5E85-47AC-4866-879B-E9E1ECD2B98A}" srcOrd="0" destOrd="0" parTransId="{498D32B9-64E6-4D63-94C1-A08C84B954E0}" sibTransId="{24419212-A1A8-492E-B631-0AA7D7327C86}"/>
    <dgm:cxn modelId="{2DDC45EE-2605-4753-B2E1-9E40E25A27B0}" type="presOf" srcId="{5DF1E64E-9464-4765-9B33-775B2ACDE6DB}" destId="{B20D875D-2772-4F00-9063-07CEA0F734AB}" srcOrd="0" destOrd="0" presId="urn:microsoft.com/office/officeart/2005/8/layout/balance1"/>
    <dgm:cxn modelId="{53FEAD2D-D5AF-4FD6-9C67-8A0DE068A533}" type="presParOf" srcId="{5AAF089D-6666-4108-958A-06660099B0CC}" destId="{91083F65-FDC8-4B03-986B-E0566C82EE9C}" srcOrd="0" destOrd="0" presId="urn:microsoft.com/office/officeart/2005/8/layout/balance1"/>
    <dgm:cxn modelId="{9EB23DA2-8B70-4D33-BFAE-43CAFD78B9A1}" type="presParOf" srcId="{5AAF089D-6666-4108-958A-06660099B0CC}" destId="{2BD2153E-0547-4F70-AF89-B2C401D3D544}" srcOrd="1" destOrd="0" presId="urn:microsoft.com/office/officeart/2005/8/layout/balance1"/>
    <dgm:cxn modelId="{4232D48A-80A7-4A34-A034-2266EFEF88F0}" type="presParOf" srcId="{2BD2153E-0547-4F70-AF89-B2C401D3D544}" destId="{ADC7F123-B647-48A8-A22B-BADC2FF432CA}" srcOrd="0" destOrd="0" presId="urn:microsoft.com/office/officeart/2005/8/layout/balance1"/>
    <dgm:cxn modelId="{8E70570E-4E1E-4B39-8421-0CD91130E959}" type="presParOf" srcId="{2BD2153E-0547-4F70-AF89-B2C401D3D544}" destId="{EE6CFB31-2BDC-4EA2-9475-8FBFFCD234A2}" srcOrd="1" destOrd="0" presId="urn:microsoft.com/office/officeart/2005/8/layout/balance1"/>
    <dgm:cxn modelId="{C454B0FC-F75E-476C-BD36-924DE4DE5AF0}" type="presParOf" srcId="{5AAF089D-6666-4108-958A-06660099B0CC}" destId="{ADCEC22C-5C1D-4070-9705-1072C1DDD014}" srcOrd="2" destOrd="0" presId="urn:microsoft.com/office/officeart/2005/8/layout/balance1"/>
    <dgm:cxn modelId="{528B0861-755B-42EC-9419-B470E2E13A09}" type="presParOf" srcId="{ADCEC22C-5C1D-4070-9705-1072C1DDD014}" destId="{35E91157-4E94-401D-8A01-BAF01B948115}" srcOrd="0" destOrd="0" presId="urn:microsoft.com/office/officeart/2005/8/layout/balance1"/>
    <dgm:cxn modelId="{6D59B504-0D01-4B8D-AA11-251BCE27B2B2}" type="presParOf" srcId="{ADCEC22C-5C1D-4070-9705-1072C1DDD014}" destId="{A582524F-0966-4C01-B17F-ED55067A6074}" srcOrd="1" destOrd="0" presId="urn:microsoft.com/office/officeart/2005/8/layout/balance1"/>
    <dgm:cxn modelId="{527557BA-55C0-4B49-8CCE-04AD81E0E606}" type="presParOf" srcId="{ADCEC22C-5C1D-4070-9705-1072C1DDD014}" destId="{50F19C69-56AC-4EAB-8D1F-00BA2566CEB1}" srcOrd="2" destOrd="0" presId="urn:microsoft.com/office/officeart/2005/8/layout/balance1"/>
    <dgm:cxn modelId="{9445865D-1D44-42C3-9C2E-4F5E8AFD8A9F}" type="presParOf" srcId="{ADCEC22C-5C1D-4070-9705-1072C1DDD014}" destId="{A9EEB06A-4363-4EB7-A486-7C9E1269C736}" srcOrd="3" destOrd="0" presId="urn:microsoft.com/office/officeart/2005/8/layout/balance1"/>
    <dgm:cxn modelId="{DCF12A2B-AAC8-4404-B5FA-D953DF594E57}" type="presParOf" srcId="{ADCEC22C-5C1D-4070-9705-1072C1DDD014}" destId="{1159AEE8-F8AE-47BB-8FB3-CB9CA2CD4394}" srcOrd="4" destOrd="0" presId="urn:microsoft.com/office/officeart/2005/8/layout/balance1"/>
    <dgm:cxn modelId="{7887804E-BDB0-4385-B1E8-78D956AC808E}" type="presParOf" srcId="{ADCEC22C-5C1D-4070-9705-1072C1DDD014}" destId="{B20D875D-2772-4F00-9063-07CEA0F734AB}" srcOrd="5" destOrd="0" presId="urn:microsoft.com/office/officeart/2005/8/layout/balanc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802F7B-E4C9-41A0-B40C-909A0CC9D88F}">
      <dsp:nvSpPr>
        <dsp:cNvPr id="0" name=""/>
        <dsp:cNvSpPr/>
      </dsp:nvSpPr>
      <dsp:spPr>
        <a:xfrm rot="16200000">
          <a:off x="849709" y="-849709"/>
          <a:ext cx="2262981" cy="3962400"/>
        </a:xfrm>
        <a:prstGeom prst="round1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/>
            <a:t>Standardized Products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Identical goods offered by many sellers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No loyalty to </a:t>
          </a:r>
          <a:br>
            <a:rPr lang="en-US" sz="2000" kern="1200" dirty="0"/>
          </a:br>
          <a:r>
            <a:rPr lang="en-US" sz="2000" kern="1200" dirty="0"/>
            <a:t>your supplier</a:t>
          </a:r>
        </a:p>
      </dsp:txBody>
      <dsp:txXfrm rot="5400000">
        <a:off x="0" y="0"/>
        <a:ext cx="3962400" cy="1697235"/>
      </dsp:txXfrm>
    </dsp:sp>
    <dsp:sp modelId="{83FDA256-EEFB-41C4-8B1B-53235AA92E4E}">
      <dsp:nvSpPr>
        <dsp:cNvPr id="0" name=""/>
        <dsp:cNvSpPr/>
      </dsp:nvSpPr>
      <dsp:spPr>
        <a:xfrm>
          <a:off x="3962400" y="0"/>
          <a:ext cx="3962400" cy="2262981"/>
        </a:xfrm>
        <a:prstGeom prst="round1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/>
            <a:t>Many Buyers, Many Sellers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Each has small market share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No buyer or seller can influence price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Price takers</a:t>
          </a:r>
        </a:p>
      </dsp:txBody>
      <dsp:txXfrm>
        <a:off x="3962400" y="0"/>
        <a:ext cx="3962400" cy="1697235"/>
      </dsp:txXfrm>
    </dsp:sp>
    <dsp:sp modelId="{1DB952C9-9F67-456F-B50E-F8C5C360F3EE}">
      <dsp:nvSpPr>
        <dsp:cNvPr id="0" name=""/>
        <dsp:cNvSpPr/>
      </dsp:nvSpPr>
      <dsp:spPr>
        <a:xfrm rot="10800000">
          <a:off x="0" y="2262981"/>
          <a:ext cx="3962400" cy="2262981"/>
        </a:xfrm>
        <a:prstGeom prst="round1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/>
            <a:t>Mobile Resources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Inputs move to their highest value use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Firms enter and leave industries</a:t>
          </a:r>
        </a:p>
      </dsp:txBody>
      <dsp:txXfrm rot="10800000">
        <a:off x="0" y="2828726"/>
        <a:ext cx="3962400" cy="1697235"/>
      </dsp:txXfrm>
    </dsp:sp>
    <dsp:sp modelId="{F2385354-4259-4BB5-894C-F367CCB4A6AD}">
      <dsp:nvSpPr>
        <dsp:cNvPr id="0" name=""/>
        <dsp:cNvSpPr/>
      </dsp:nvSpPr>
      <dsp:spPr>
        <a:xfrm rot="5400000">
          <a:off x="4812109" y="1413271"/>
          <a:ext cx="2262981" cy="3962400"/>
        </a:xfrm>
        <a:prstGeom prst="round1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/>
            <a:t>Informed Buyers and Sellers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Buyers know market prices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Sellers know all opportunities and technologies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700" kern="1200" dirty="0"/>
        </a:p>
      </dsp:txBody>
      <dsp:txXfrm rot="-5400000">
        <a:off x="3962400" y="2828726"/>
        <a:ext cx="3962400" cy="1697235"/>
      </dsp:txXfrm>
    </dsp:sp>
    <dsp:sp modelId="{9D0CA746-A888-4E2E-9CC6-3666BF2E0252}">
      <dsp:nvSpPr>
        <dsp:cNvPr id="0" name=""/>
        <dsp:cNvSpPr/>
      </dsp:nvSpPr>
      <dsp:spPr>
        <a:xfrm>
          <a:off x="2205257" y="1785582"/>
          <a:ext cx="3514284" cy="954796"/>
        </a:xfrm>
        <a:prstGeom prst="roundRect">
          <a:avLst/>
        </a:prstGeom>
        <a:solidFill>
          <a:schemeClr val="bg1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Perfectly Competitive Firms</a:t>
          </a:r>
        </a:p>
      </dsp:txBody>
      <dsp:txXfrm>
        <a:off x="2251866" y="1832191"/>
        <a:ext cx="3421066" cy="8615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C7F123-B647-48A8-A22B-BADC2FF432CA}">
      <dsp:nvSpPr>
        <dsp:cNvPr id="0" name=""/>
        <dsp:cNvSpPr/>
      </dsp:nvSpPr>
      <dsp:spPr>
        <a:xfrm>
          <a:off x="1970976" y="0"/>
          <a:ext cx="1629346" cy="905192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Efficiency</a:t>
          </a:r>
        </a:p>
      </dsp:txBody>
      <dsp:txXfrm>
        <a:off x="1997488" y="26512"/>
        <a:ext cx="1576322" cy="852168"/>
      </dsp:txXfrm>
    </dsp:sp>
    <dsp:sp modelId="{EE6CFB31-2BDC-4EA2-9475-8FBFFCD234A2}">
      <dsp:nvSpPr>
        <dsp:cNvPr id="0" name=""/>
        <dsp:cNvSpPr/>
      </dsp:nvSpPr>
      <dsp:spPr>
        <a:xfrm>
          <a:off x="4324476" y="0"/>
          <a:ext cx="1629346" cy="905192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Equity</a:t>
          </a:r>
        </a:p>
      </dsp:txBody>
      <dsp:txXfrm>
        <a:off x="4350988" y="26512"/>
        <a:ext cx="1576322" cy="852168"/>
      </dsp:txXfrm>
    </dsp:sp>
    <dsp:sp modelId="{A582524F-0966-4C01-B17F-ED55067A6074}">
      <dsp:nvSpPr>
        <dsp:cNvPr id="0" name=""/>
        <dsp:cNvSpPr/>
      </dsp:nvSpPr>
      <dsp:spPr>
        <a:xfrm>
          <a:off x="3622952" y="3847067"/>
          <a:ext cx="678894" cy="678894"/>
        </a:xfrm>
        <a:prstGeom prst="triangle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0F19C69-56AC-4EAB-8D1F-00BA2566CEB1}">
      <dsp:nvSpPr>
        <dsp:cNvPr id="0" name=""/>
        <dsp:cNvSpPr/>
      </dsp:nvSpPr>
      <dsp:spPr>
        <a:xfrm rot="240000">
          <a:off x="1925095" y="3556153"/>
          <a:ext cx="4074609" cy="284924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9EEB06A-4363-4EB7-A486-7C9E1269C736}">
      <dsp:nvSpPr>
        <dsp:cNvPr id="0" name=""/>
        <dsp:cNvSpPr/>
      </dsp:nvSpPr>
      <dsp:spPr>
        <a:xfrm rot="240000">
          <a:off x="4345813" y="2410549"/>
          <a:ext cx="1677191" cy="118937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Fairness</a:t>
          </a:r>
        </a:p>
      </dsp:txBody>
      <dsp:txXfrm>
        <a:off x="4403874" y="2468610"/>
        <a:ext cx="1561069" cy="1073257"/>
      </dsp:txXfrm>
    </dsp:sp>
    <dsp:sp modelId="{1159AEE8-F8AE-47BB-8FB3-CB9CA2CD4394}">
      <dsp:nvSpPr>
        <dsp:cNvPr id="0" name=""/>
        <dsp:cNvSpPr/>
      </dsp:nvSpPr>
      <dsp:spPr>
        <a:xfrm rot="240000">
          <a:off x="4436333" y="1179487"/>
          <a:ext cx="1677191" cy="118937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Basic Needs</a:t>
          </a:r>
        </a:p>
      </dsp:txBody>
      <dsp:txXfrm>
        <a:off x="4494394" y="1237548"/>
        <a:ext cx="1561069" cy="1073257"/>
      </dsp:txXfrm>
    </dsp:sp>
    <dsp:sp modelId="{B20D875D-2772-4F00-9063-07CEA0F734AB}">
      <dsp:nvSpPr>
        <dsp:cNvPr id="0" name=""/>
        <dsp:cNvSpPr/>
      </dsp:nvSpPr>
      <dsp:spPr>
        <a:xfrm rot="240000">
          <a:off x="2014943" y="2247614"/>
          <a:ext cx="1677191" cy="118937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Maximum Total Surplus</a:t>
          </a:r>
        </a:p>
      </dsp:txBody>
      <dsp:txXfrm>
        <a:off x="2073004" y="2305675"/>
        <a:ext cx="1561069" cy="10732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2"/>
            <a:ext cx="2945659" cy="496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2017" y="2"/>
            <a:ext cx="2945659" cy="496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4" y="9430345"/>
            <a:ext cx="2945659" cy="4961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>
              <a:defRPr/>
            </a:pPr>
            <a:fld id="{CEF21CA2-3E0A-4B2E-8C28-30813AF076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97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662113" y="315913"/>
            <a:ext cx="3448050" cy="2587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40590" y="3111755"/>
            <a:ext cx="5891318" cy="6334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50444" y="9430345"/>
            <a:ext cx="2945659" cy="4961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ffectLst/>
              </a:defRPr>
            </a:lvl1pPr>
          </a:lstStyle>
          <a:p>
            <a:pPr>
              <a:defRPr/>
            </a:pPr>
            <a:fld id="{1CF56596-6303-40BB-A91A-12ABB9CBB0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355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28600" indent="-228600" algn="l" rtl="0" eaLnBrk="0" fontAlgn="base" hangingPunct="0">
      <a:spcBef>
        <a:spcPct val="30000"/>
      </a:spcBef>
      <a:spcAft>
        <a:spcPct val="0"/>
      </a:spcAft>
      <a:buClr>
        <a:srgbClr val="298B1B"/>
      </a:buClr>
      <a:buFont typeface="Wingdings" pitchFamily="2" charset="2"/>
      <a:buChar char="§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indent="-228600" algn="l" rtl="0" eaLnBrk="0" fontAlgn="base" hangingPunct="0">
      <a:spcBef>
        <a:spcPct val="30000"/>
      </a:spcBef>
      <a:spcAft>
        <a:spcPct val="0"/>
      </a:spcAft>
      <a:buClr>
        <a:srgbClr val="298B1B"/>
      </a:buClr>
      <a:buFont typeface="Wingdings" pitchFamily="2" charset="2"/>
      <a:buChar char="§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685800" indent="-228600" algn="l" rtl="0" eaLnBrk="0" fontAlgn="base" hangingPunct="0">
      <a:spcBef>
        <a:spcPct val="30000"/>
      </a:spcBef>
      <a:spcAft>
        <a:spcPct val="0"/>
      </a:spcAft>
      <a:buClr>
        <a:srgbClr val="298B1B"/>
      </a:buClr>
      <a:buFont typeface="Wingdings" pitchFamily="2" charset="2"/>
      <a:buChar char="§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914400" indent="-228600" algn="l" rtl="0" eaLnBrk="0" fontAlgn="base" hangingPunct="0">
      <a:spcBef>
        <a:spcPct val="30000"/>
      </a:spcBef>
      <a:spcAft>
        <a:spcPct val="0"/>
      </a:spcAft>
      <a:buClr>
        <a:srgbClr val="298B1B"/>
      </a:buClr>
      <a:buFont typeface="Wingdings" pitchFamily="2" charset="2"/>
      <a:buChar char="§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143000" indent="-228600" algn="l" rtl="0" eaLnBrk="0" fontAlgn="base" hangingPunct="0">
      <a:spcBef>
        <a:spcPct val="30000"/>
      </a:spcBef>
      <a:spcAft>
        <a:spcPct val="0"/>
      </a:spcAft>
      <a:buClr>
        <a:srgbClr val="298B1B"/>
      </a:buClr>
      <a:buFont typeface="Wingdings" pitchFamily="2" charset="2"/>
      <a:buChar char="§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843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675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843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390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096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B3378F3-D70C-4E06-BB4D-D0692C4DB18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0963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2405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301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2F312C9-37B2-46E8-B05C-88A7DDAEF23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3011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1404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505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87FCFD4-7DDE-4B3C-9D66-3B738A27E06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5059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475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710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9D051FC-6FA1-4E44-B90A-77C4023F723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7107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814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915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1062052-6E17-496D-A93F-E91B986CB89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9155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742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120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D16A04F-EA71-4F22-9D37-DE13E4EE5424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1203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7844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325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8499506-0C0E-49CB-A64A-F6B5C10AB55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3251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1942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529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0313540-8E9F-475C-BAF1-E3F739BF850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5299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0163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734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92F1566-0005-44F8-A051-35E2EB6990D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7347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7632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939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4F82720-DEFF-4692-BF97-67F44541A577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9395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12321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144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6A3B4FC-49F7-4032-A638-C56B8CF7A3CE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1443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5908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349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4BDEB3C-EC2B-4C91-AB0B-343E7A62F35C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3491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3805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553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5EE530E-BC6C-42F1-B87C-3D68D6384191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5539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7884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6" name="Slide Number Placeholder 3"/>
          <p:cNvSpPr txBox="1">
            <a:spLocks noGrp="1"/>
          </p:cNvSpPr>
          <p:nvPr/>
        </p:nvSpPr>
        <p:spPr bwMode="auto">
          <a:xfrm>
            <a:off x="3850444" y="9430345"/>
            <a:ext cx="2945659" cy="496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E82962B-3699-4272-A74D-4651A45B4D00}" type="slidenum">
              <a:rPr lang="en-US" sz="1200"/>
              <a:pPr algn="r"/>
              <a:t>16</a:t>
            </a:fld>
            <a:endParaRPr lang="en-US" sz="1200"/>
          </a:p>
        </p:txBody>
      </p:sp>
      <p:sp>
        <p:nvSpPr>
          <p:cNvPr id="67587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0747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4" name="Slide Number Placeholder 3"/>
          <p:cNvSpPr txBox="1">
            <a:spLocks noGrp="1"/>
          </p:cNvSpPr>
          <p:nvPr/>
        </p:nvSpPr>
        <p:spPr bwMode="auto">
          <a:xfrm>
            <a:off x="3850444" y="9430345"/>
            <a:ext cx="2945659" cy="496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B8539C2A-6CE0-471F-AB25-FA005CF4DC74}" type="slidenum">
              <a:rPr lang="en-US" sz="1200"/>
              <a:pPr algn="r"/>
              <a:t>17</a:t>
            </a:fld>
            <a:endParaRPr lang="en-US" sz="1200"/>
          </a:p>
        </p:txBody>
      </p:sp>
      <p:sp>
        <p:nvSpPr>
          <p:cNvPr id="69635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7795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2" name="Slide Number Placeholder 3"/>
          <p:cNvSpPr txBox="1">
            <a:spLocks noGrp="1"/>
          </p:cNvSpPr>
          <p:nvPr/>
        </p:nvSpPr>
        <p:spPr bwMode="auto">
          <a:xfrm>
            <a:off x="3850444" y="9430345"/>
            <a:ext cx="2945659" cy="496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D07511DB-C093-4E6F-B75B-EDA4626AC0F4}" type="slidenum">
              <a:rPr lang="en-US" sz="1200"/>
              <a:pPr algn="r"/>
              <a:t>18</a:t>
            </a:fld>
            <a:endParaRPr lang="en-US" sz="1200"/>
          </a:p>
        </p:txBody>
      </p:sp>
      <p:sp>
        <p:nvSpPr>
          <p:cNvPr id="71683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2278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0" name="Slide Number Placeholder 3"/>
          <p:cNvSpPr txBox="1">
            <a:spLocks noGrp="1"/>
          </p:cNvSpPr>
          <p:nvPr/>
        </p:nvSpPr>
        <p:spPr bwMode="auto">
          <a:xfrm>
            <a:off x="3850444" y="9430345"/>
            <a:ext cx="2945659" cy="496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976B2B66-2697-4965-ADEB-0C36D246BF93}" type="slidenum">
              <a:rPr lang="en-US" sz="1200"/>
              <a:pPr algn="r"/>
              <a:t>19</a:t>
            </a:fld>
            <a:endParaRPr lang="en-US" sz="1200"/>
          </a:p>
        </p:txBody>
      </p:sp>
      <p:sp>
        <p:nvSpPr>
          <p:cNvPr id="73731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4003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8" name="Slide Number Placeholder 3"/>
          <p:cNvSpPr txBox="1">
            <a:spLocks noGrp="1"/>
          </p:cNvSpPr>
          <p:nvPr/>
        </p:nvSpPr>
        <p:spPr bwMode="auto">
          <a:xfrm>
            <a:off x="3850444" y="9430345"/>
            <a:ext cx="2945659" cy="496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24DB18CF-BF40-4281-A522-E556113E0273}" type="slidenum">
              <a:rPr lang="en-US" sz="1200"/>
              <a:pPr algn="r"/>
              <a:t>20</a:t>
            </a:fld>
            <a:endParaRPr lang="en-US" sz="1200"/>
          </a:p>
        </p:txBody>
      </p:sp>
      <p:sp>
        <p:nvSpPr>
          <p:cNvPr id="75779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0850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6" name="Slide Number Placeholder 3"/>
          <p:cNvSpPr txBox="1">
            <a:spLocks noGrp="1"/>
          </p:cNvSpPr>
          <p:nvPr/>
        </p:nvSpPr>
        <p:spPr bwMode="auto">
          <a:xfrm>
            <a:off x="3850444" y="9430345"/>
            <a:ext cx="2945659" cy="496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FD9313ED-03F3-495C-9B7C-42A43CFD00F8}" type="slidenum">
              <a:rPr lang="en-US" sz="1200"/>
              <a:pPr algn="r"/>
              <a:t>21</a:t>
            </a:fld>
            <a:endParaRPr lang="en-US" sz="1200"/>
          </a:p>
        </p:txBody>
      </p:sp>
      <p:sp>
        <p:nvSpPr>
          <p:cNvPr id="77827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7185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4" name="Slide Number Placeholder 3"/>
          <p:cNvSpPr txBox="1">
            <a:spLocks noGrp="1"/>
          </p:cNvSpPr>
          <p:nvPr/>
        </p:nvSpPr>
        <p:spPr bwMode="auto">
          <a:xfrm>
            <a:off x="3850444" y="9430345"/>
            <a:ext cx="2945659" cy="496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B24BF90-6541-402A-B54D-BD86DDDE254A}" type="slidenum">
              <a:rPr lang="en-US" sz="1200"/>
              <a:pPr algn="r"/>
              <a:t>22</a:t>
            </a:fld>
            <a:endParaRPr lang="en-US" sz="1200"/>
          </a:p>
        </p:txBody>
      </p:sp>
      <p:sp>
        <p:nvSpPr>
          <p:cNvPr id="79875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3242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2" name="Slide Number Placeholder 3"/>
          <p:cNvSpPr txBox="1">
            <a:spLocks noGrp="1"/>
          </p:cNvSpPr>
          <p:nvPr/>
        </p:nvSpPr>
        <p:spPr bwMode="auto">
          <a:xfrm>
            <a:off x="3850444" y="9430345"/>
            <a:ext cx="2945659" cy="496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8B4D3FB2-BF05-4696-8E92-CE7351808F8D}" type="slidenum">
              <a:rPr lang="en-US" sz="1200"/>
              <a:pPr algn="r"/>
              <a:t>23</a:t>
            </a:fld>
            <a:endParaRPr lang="en-US" sz="1200"/>
          </a:p>
        </p:txBody>
      </p:sp>
      <p:sp>
        <p:nvSpPr>
          <p:cNvPr id="81923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1142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457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2914D66-B3BB-4A95-AF64-735D0C9702B0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24579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6521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662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C7621F3-0626-43EC-A50E-92B1BA9E6BAD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26627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1180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867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25D37BF-5C74-4692-980E-9C79E8EA41F5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28675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2774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072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039A513-0690-4CA5-9823-C4251748DC9C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30723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1308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277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94ED127-C61D-460E-8C8A-609B14BFF40E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32771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4475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481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6732B33-4692-48D3-9AEF-B2F99BA99EAD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34819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9064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253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3862998-4D6B-49E8-8A10-22776A34A756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22531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1648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686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C934172-8722-49CD-9B98-411B9C73E9B4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36867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5857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8" name="Slide Number Placeholder 3"/>
          <p:cNvSpPr txBox="1">
            <a:spLocks noGrp="1"/>
          </p:cNvSpPr>
          <p:nvPr/>
        </p:nvSpPr>
        <p:spPr bwMode="auto">
          <a:xfrm>
            <a:off x="3850444" y="9430345"/>
            <a:ext cx="2945659" cy="496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603A4D06-C47E-48B4-8084-9999EF9307C1}" type="slidenum">
              <a:rPr lang="en-US" sz="1200"/>
              <a:pPr algn="r"/>
              <a:t>33</a:t>
            </a:fld>
            <a:endParaRPr lang="en-US" sz="1200"/>
          </a:p>
        </p:txBody>
      </p:sp>
      <p:sp>
        <p:nvSpPr>
          <p:cNvPr id="39939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2973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6" name="Slide Number Placeholder 3"/>
          <p:cNvSpPr txBox="1">
            <a:spLocks noGrp="1"/>
          </p:cNvSpPr>
          <p:nvPr/>
        </p:nvSpPr>
        <p:spPr bwMode="auto">
          <a:xfrm>
            <a:off x="3850444" y="9430345"/>
            <a:ext cx="2945659" cy="496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A40D40D8-3D78-44FA-B199-07C246FDAE18}" type="slidenum">
              <a:rPr lang="en-US" sz="1200"/>
              <a:pPr algn="r"/>
              <a:t>34</a:t>
            </a:fld>
            <a:endParaRPr lang="en-US" sz="1200"/>
          </a:p>
        </p:txBody>
      </p:sp>
      <p:sp>
        <p:nvSpPr>
          <p:cNvPr id="41987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5545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4" name="Slide Number Placeholder 3"/>
          <p:cNvSpPr txBox="1">
            <a:spLocks noGrp="1"/>
          </p:cNvSpPr>
          <p:nvPr/>
        </p:nvSpPr>
        <p:spPr bwMode="auto">
          <a:xfrm>
            <a:off x="3850444" y="9430345"/>
            <a:ext cx="2945659" cy="496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BA5C6692-0DBA-4E45-8E8A-85427BB806D5}" type="slidenum">
              <a:rPr lang="en-US" sz="1200"/>
              <a:pPr algn="r"/>
              <a:t>35</a:t>
            </a:fld>
            <a:endParaRPr lang="en-US" sz="1200"/>
          </a:p>
        </p:txBody>
      </p:sp>
      <p:sp>
        <p:nvSpPr>
          <p:cNvPr id="44035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51936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2" name="Slide Number Placeholder 3"/>
          <p:cNvSpPr txBox="1">
            <a:spLocks noGrp="1"/>
          </p:cNvSpPr>
          <p:nvPr/>
        </p:nvSpPr>
        <p:spPr bwMode="auto">
          <a:xfrm>
            <a:off x="3850444" y="9430345"/>
            <a:ext cx="2945659" cy="496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C092646E-CFB5-40C6-BBF2-98203D703C8D}" type="slidenum">
              <a:rPr lang="en-US" sz="1200"/>
              <a:pPr algn="r"/>
              <a:t>36</a:t>
            </a:fld>
            <a:endParaRPr lang="en-US" sz="1200"/>
          </a:p>
        </p:txBody>
      </p:sp>
      <p:sp>
        <p:nvSpPr>
          <p:cNvPr id="46083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2107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0" name="Slide Number Placeholder 3"/>
          <p:cNvSpPr txBox="1">
            <a:spLocks noGrp="1"/>
          </p:cNvSpPr>
          <p:nvPr/>
        </p:nvSpPr>
        <p:spPr bwMode="auto">
          <a:xfrm>
            <a:off x="3850444" y="9430345"/>
            <a:ext cx="2945659" cy="496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B9F39611-C61D-4DE3-A949-062B3593ACF5}" type="slidenum">
              <a:rPr lang="en-US" sz="1200"/>
              <a:pPr algn="r"/>
              <a:t>37</a:t>
            </a:fld>
            <a:endParaRPr lang="en-US" sz="1200"/>
          </a:p>
        </p:txBody>
      </p:sp>
      <p:sp>
        <p:nvSpPr>
          <p:cNvPr id="48131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4762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041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F7E777F-E4AB-4B26-91D0-0759462D89EB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0419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89297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4" name="Slide Number Placeholder 3"/>
          <p:cNvSpPr txBox="1">
            <a:spLocks noGrp="1"/>
          </p:cNvSpPr>
          <p:nvPr/>
        </p:nvSpPr>
        <p:spPr bwMode="auto">
          <a:xfrm>
            <a:off x="3850444" y="9430345"/>
            <a:ext cx="2945659" cy="496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3053EA2-B20F-499E-9DAA-95AE7E424C75}" type="slidenum">
              <a:rPr lang="en-US" sz="1200"/>
              <a:pPr algn="r"/>
              <a:t>39</a:t>
            </a:fld>
            <a:endParaRPr lang="en-US" sz="1200"/>
          </a:p>
        </p:txBody>
      </p:sp>
      <p:sp>
        <p:nvSpPr>
          <p:cNvPr id="54275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88787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2" name="Slide Number Placeholder 3"/>
          <p:cNvSpPr txBox="1">
            <a:spLocks noGrp="1"/>
          </p:cNvSpPr>
          <p:nvPr/>
        </p:nvSpPr>
        <p:spPr bwMode="auto">
          <a:xfrm>
            <a:off x="3850444" y="9430345"/>
            <a:ext cx="2945659" cy="496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84137EAF-1E70-4D6E-B097-A2BEA01D5339}" type="slidenum">
              <a:rPr lang="en-US" sz="1200"/>
              <a:pPr algn="r"/>
              <a:t>40</a:t>
            </a:fld>
            <a:endParaRPr lang="en-US" sz="1200"/>
          </a:p>
        </p:txBody>
      </p:sp>
      <p:sp>
        <p:nvSpPr>
          <p:cNvPr id="56323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7672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0" name="Slide Number Placeholder 3"/>
          <p:cNvSpPr txBox="1">
            <a:spLocks noGrp="1"/>
          </p:cNvSpPr>
          <p:nvPr/>
        </p:nvSpPr>
        <p:spPr bwMode="auto">
          <a:xfrm>
            <a:off x="3850444" y="9430345"/>
            <a:ext cx="2945659" cy="496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1021AED-383B-4ACE-825A-C1E3A4DABF3F}" type="slidenum">
              <a:rPr lang="en-US" sz="1200"/>
              <a:pPr algn="r"/>
              <a:t>41</a:t>
            </a:fld>
            <a:endParaRPr lang="en-US" sz="1200"/>
          </a:p>
        </p:txBody>
      </p:sp>
      <p:sp>
        <p:nvSpPr>
          <p:cNvPr id="58371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14553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656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ADA684A-3BB2-4077-B1DF-DF6E7AE76B9F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66563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58017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065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C465717-4DDE-4AC9-9F62-386E6889F81D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70659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259429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475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4CBCDEF-0EF1-4DDE-9B16-01E827ED2B7F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74755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08400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680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AC36FBF-5918-40E4-84C6-D88F75D3D648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76803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72153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885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58B9A52-3CCF-41E9-801B-04B6BF42CDAF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78851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73258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8089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5208930-E07B-4690-8DAD-FE9C5C9BF0B4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80899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35520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8499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DA55032-C2D7-4AFB-B8CF-298D70242477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84995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62736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8806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B3CDA2D-8A49-4AC8-BEAD-92E90612C458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88067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24869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9011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195E1BB-7B8D-4E93-9A88-5C8243D36763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90115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11121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9216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ACF879-F5BB-42A7-A2C0-66DE2FA487E0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92163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73588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9421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3CBA109-F86A-4FD5-8DDF-0F306D52952F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94211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67122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9625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E978492-C583-4D43-A030-B0028C82798C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96259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59074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9830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1D6C4E6-86CA-446A-9072-E7E3BBBDECB3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98307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00769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0035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0A32984-934D-4C01-819C-BD3D47D0D7A4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100355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69740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0240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5EEDAED-3B6A-4E4B-9A0D-899A0BD72E27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102403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91183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0035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0A32984-934D-4C01-819C-BD3D47D0D7A4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100355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6932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710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9D051FC-6FA1-4E44-B90A-77C4023F723C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47107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92197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710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9D051FC-6FA1-4E44-B90A-77C4023F723C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47107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7074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4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029200"/>
            <a:ext cx="91440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0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30375"/>
            <a:ext cx="7772400" cy="1470025"/>
          </a:xfrm>
        </p:spPr>
        <p:txBody>
          <a:bodyPr/>
          <a:lstStyle>
            <a:lvl1pPr algn="l">
              <a:defRPr sz="4200">
                <a:latin typeface="Arial Black" pitchFamily="34" charset="0"/>
              </a:defRPr>
            </a:lvl1pPr>
          </a:lstStyle>
          <a:p>
            <a:endParaRPr lang="en-US"/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200400"/>
            <a:ext cx="7467600" cy="1676400"/>
          </a:xfrm>
        </p:spPr>
        <p:txBody>
          <a:bodyPr/>
          <a:lstStyle>
            <a:lvl1pPr marL="0" indent="0" algn="ctr">
              <a:buFontTx/>
              <a:buNone/>
              <a:defRPr sz="4800">
                <a:latin typeface="Arial Black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42B75BAB-852E-4AC7-BD6E-63C43EF8480B}" type="datetime1">
              <a:rPr lang="en-US"/>
              <a:pPr>
                <a:defRPr/>
              </a:pPr>
              <a:t>8/7/2024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788F796-34F9-49CE-85CC-9F18C1B91C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304800"/>
            <a:ext cx="2057400" cy="58213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4800"/>
            <a:ext cx="6019800" cy="58213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 descr="Frank Brief 2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685800" cy="693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4533" name="Rectangle 21"/>
          <p:cNvSpPr>
            <a:spLocks noChangeArrowheads="1"/>
          </p:cNvSpPr>
          <p:nvPr userDrawn="1"/>
        </p:nvSpPr>
        <p:spPr bwMode="auto">
          <a:xfrm>
            <a:off x="6934200" y="64008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r>
              <a:rPr lang="en-US" sz="1000">
                <a:latin typeface="Times New Roman" pitchFamily="18" charset="0"/>
              </a:rPr>
              <a:t>6-</a:t>
            </a:r>
            <a:fld id="{89AC8436-8EE5-42C9-B4A8-253E581F2F1C}" type="slidenum">
              <a:rPr lang="en-US" sz="1000">
                <a:latin typeface="Times New Roman" pitchFamily="18" charset="0"/>
              </a:rPr>
              <a:pPr algn="r">
                <a:defRPr/>
              </a:pPr>
              <a:t>‹#›</a:t>
            </a:fld>
            <a:endParaRPr lang="en-US" sz="1000"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khayboon@ntu.edu.s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6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4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1171574" y="266700"/>
            <a:ext cx="7515225" cy="3390900"/>
          </a:xfrm>
        </p:spPr>
        <p:txBody>
          <a:bodyPr/>
          <a:lstStyle/>
          <a:p>
            <a:r>
              <a:rPr lang="en-US">
                <a:latin typeface="Arial" charset="0"/>
              </a:rPr>
              <a:t>HE5091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Principles of Economics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Lecture 3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Perfect Competition, Production and Efficiency</a:t>
            </a:r>
            <a:endParaRPr lang="en-US" dirty="0"/>
          </a:p>
        </p:txBody>
      </p:sp>
      <p:sp>
        <p:nvSpPr>
          <p:cNvPr id="450565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1155700" y="4229100"/>
            <a:ext cx="7721600" cy="1819275"/>
          </a:xfrm>
        </p:spPr>
        <p:txBody>
          <a:bodyPr/>
          <a:lstStyle/>
          <a:p>
            <a:pPr algn="ctr">
              <a:buClr>
                <a:schemeClr val="hlink"/>
              </a:buClr>
              <a:buSzPct val="60000"/>
              <a:buNone/>
            </a:pPr>
            <a:r>
              <a:rPr lang="en-US" dirty="0"/>
              <a:t>Tan Khay Boon</a:t>
            </a:r>
          </a:p>
          <a:p>
            <a:pPr algn="ctr">
              <a:buClr>
                <a:schemeClr val="hlink"/>
              </a:buClr>
              <a:buSzPct val="60000"/>
              <a:buNone/>
            </a:pPr>
            <a:r>
              <a:rPr lang="en-US" dirty="0"/>
              <a:t>Email</a:t>
            </a:r>
            <a:r>
              <a:rPr lang="en-US"/>
              <a:t>: </a:t>
            </a:r>
            <a:r>
              <a:rPr lang="en-US">
                <a:hlinkClick r:id="rId3"/>
              </a:rPr>
              <a:t>khayboon@ntu.edu.sg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16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Topics</a:t>
            </a:r>
          </a:p>
        </p:txBody>
      </p:sp>
      <p:sp>
        <p:nvSpPr>
          <p:cNvPr id="450565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1155700" y="1752600"/>
            <a:ext cx="7721600" cy="4324350"/>
          </a:xfrm>
        </p:spPr>
        <p:txBody>
          <a:bodyPr/>
          <a:lstStyle/>
          <a:p>
            <a:r>
              <a:rPr lang="en-US" dirty="0"/>
              <a:t>Perfectly Competitive Markets</a:t>
            </a:r>
          </a:p>
          <a:p>
            <a:r>
              <a:rPr lang="en-US" dirty="0"/>
              <a:t>Production and Cost</a:t>
            </a:r>
          </a:p>
          <a:p>
            <a:r>
              <a:rPr lang="en-US" dirty="0"/>
              <a:t>Profit and Loss in the Short Run</a:t>
            </a:r>
          </a:p>
          <a:p>
            <a:r>
              <a:rPr lang="en-US" dirty="0"/>
              <a:t>Market Equilibrium and Efficiency</a:t>
            </a:r>
          </a:p>
          <a:p>
            <a:r>
              <a:rPr lang="en-US" dirty="0"/>
              <a:t>Long Run Adjustment in Perfect Competition</a:t>
            </a:r>
          </a:p>
          <a:p>
            <a:r>
              <a:rPr lang="en-US" dirty="0"/>
              <a:t>Price control, subsidy and Efficiency</a:t>
            </a:r>
          </a:p>
          <a:p>
            <a:r>
              <a:rPr lang="en-US" dirty="0"/>
              <a:t>Reference: </a:t>
            </a:r>
            <a:r>
              <a:rPr lang="en-GB"/>
              <a:t>FBAH or FBL</a:t>
            </a:r>
            <a:r>
              <a:rPr lang="en-US"/>
              <a:t>, </a:t>
            </a:r>
            <a:r>
              <a:rPr lang="en-US" dirty="0"/>
              <a:t>chapters 6 &amp; 7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16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/>
          <p:cNvSpPr>
            <a:spLocks noGrp="1"/>
          </p:cNvSpPr>
          <p:nvPr>
            <p:ph type="title" idx="4294967295"/>
          </p:nvPr>
        </p:nvSpPr>
        <p:spPr>
          <a:xfrm>
            <a:off x="800100" y="20955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Profit Maximization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65200" y="1282700"/>
            <a:ext cx="7933267" cy="5194300"/>
          </a:xfrm>
        </p:spPr>
        <p:txBody>
          <a:bodyPr/>
          <a:lstStyle/>
          <a:p>
            <a:pPr eaLnBrk="1" hangingPunct="1"/>
            <a:r>
              <a:rPr lang="en-US" dirty="0"/>
              <a:t>Goods and services are produced by different organizations with different motives:</a:t>
            </a:r>
          </a:p>
          <a:p>
            <a:pPr lvl="1" eaLnBrk="1" hangingPunct="1"/>
            <a:r>
              <a:rPr lang="en-US" dirty="0"/>
              <a:t>Profit maximizing firms</a:t>
            </a:r>
          </a:p>
          <a:p>
            <a:pPr lvl="1" eaLnBrk="1" hangingPunct="1"/>
            <a:r>
              <a:rPr lang="en-US" dirty="0"/>
              <a:t>Nonprofit organizations</a:t>
            </a:r>
          </a:p>
          <a:p>
            <a:pPr lvl="1" eaLnBrk="1" hangingPunct="1"/>
            <a:r>
              <a:rPr lang="en-US" dirty="0"/>
              <a:t>Governments </a:t>
            </a:r>
          </a:p>
          <a:p>
            <a:pPr eaLnBrk="1" hangingPunct="1"/>
            <a:r>
              <a:rPr lang="en-US" dirty="0"/>
              <a:t>Most goods and services are sold by </a:t>
            </a:r>
            <a:r>
              <a:rPr lang="en-US" b="1" dirty="0"/>
              <a:t>profit maximizing firms</a:t>
            </a:r>
          </a:p>
          <a:p>
            <a:pPr eaLnBrk="1" hangingPunct="1"/>
            <a:r>
              <a:rPr lang="en-US" dirty="0"/>
              <a:t>Economists assume the goal of the firm is to maximize profit </a:t>
            </a:r>
          </a:p>
          <a:p>
            <a:pPr eaLnBrk="1" hangingPunct="1"/>
            <a:r>
              <a:rPr lang="en-US" b="1" dirty="0"/>
              <a:t>Profit</a:t>
            </a:r>
            <a:r>
              <a:rPr lang="en-US" dirty="0"/>
              <a:t> is total revenue minus total cost</a:t>
            </a:r>
          </a:p>
          <a:p>
            <a:pPr lvl="1" eaLnBrk="1" hangingPunct="1"/>
            <a:r>
              <a:rPr lang="en-US" dirty="0"/>
              <a:t>Total cost includes explicit and implicit costs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Perfectly Competitive Firms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838200" y="1722438"/>
          <a:ext cx="7924800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/>
          <p:cNvSpPr>
            <a:spLocks noGrp="1"/>
          </p:cNvSpPr>
          <p:nvPr>
            <p:ph type="title" idx="4294967295"/>
          </p:nvPr>
        </p:nvSpPr>
        <p:spPr>
          <a:xfrm>
            <a:off x="685800" y="3810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Perfectly Competitive Firm’s Demand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81050" y="1733550"/>
            <a:ext cx="8229600" cy="5038186"/>
          </a:xfrm>
        </p:spPr>
        <p:txBody>
          <a:bodyPr/>
          <a:lstStyle/>
          <a:p>
            <a:pPr eaLnBrk="1" hangingPunct="1"/>
            <a:r>
              <a:rPr lang="en-US" dirty="0"/>
              <a:t>Market supply and market demand set the price</a:t>
            </a:r>
          </a:p>
          <a:p>
            <a:pPr lvl="1" eaLnBrk="1" hangingPunct="1"/>
            <a:r>
              <a:rPr lang="en-US" dirty="0"/>
              <a:t>Buyers and sellers take price (P) as given</a:t>
            </a:r>
          </a:p>
          <a:p>
            <a:pPr eaLnBrk="1" hangingPunct="1"/>
            <a:r>
              <a:rPr lang="en-US" dirty="0"/>
              <a:t>Perfectly competitive firm can sell all it wants at the market price</a:t>
            </a:r>
          </a:p>
          <a:p>
            <a:pPr lvl="1" eaLnBrk="1" hangingPunct="1"/>
            <a:r>
              <a:rPr lang="en-US" dirty="0"/>
              <a:t>Since the firm is small, its output decision will not change market price</a:t>
            </a:r>
          </a:p>
          <a:p>
            <a:pPr lvl="1" eaLnBrk="1" hangingPunct="1"/>
            <a:r>
              <a:rPr lang="en-US" dirty="0"/>
              <a:t>Each firm must decide how much to supply (Q)</a:t>
            </a:r>
          </a:p>
          <a:p>
            <a:pPr eaLnBrk="1" hangingPunct="1"/>
            <a:r>
              <a:rPr lang="en-US" b="1" dirty="0"/>
              <a:t>Imperfectly competitive firms </a:t>
            </a:r>
            <a:r>
              <a:rPr lang="en-US" dirty="0"/>
              <a:t>have some control over price</a:t>
            </a:r>
          </a:p>
          <a:p>
            <a:pPr lvl="1" eaLnBrk="1" hangingPunct="1"/>
            <a:r>
              <a:rPr lang="en-US" dirty="0"/>
              <a:t>Example is monopoly where there is only one producer in the market with large control over price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Perfectly Competitive Firm's Demand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897146" y="1829062"/>
            <a:ext cx="8022567" cy="3998407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1058863" y="1958975"/>
            <a:ext cx="7699375" cy="3738563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3" descr="I:\Digital Art Library\Microeconomics\Chapter 6\fra25679_060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49363" y="2203450"/>
            <a:ext cx="7318375" cy="324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4" name="Group 23"/>
          <p:cNvGrpSpPr>
            <a:grpSpLocks/>
          </p:cNvGrpSpPr>
          <p:nvPr/>
        </p:nvGrpSpPr>
        <p:grpSpPr bwMode="auto">
          <a:xfrm>
            <a:off x="896938" y="1828800"/>
            <a:ext cx="4251325" cy="3998913"/>
            <a:chOff x="897146" y="1829062"/>
            <a:chExt cx="8022567" cy="3998407"/>
          </a:xfrm>
        </p:grpSpPr>
        <p:sp>
          <p:nvSpPr>
            <p:cNvPr id="25" name="Rectangle 24"/>
            <p:cNvSpPr/>
            <p:nvPr/>
          </p:nvSpPr>
          <p:spPr bwMode="auto">
            <a:xfrm>
              <a:off x="897146" y="1829062"/>
              <a:ext cx="8022567" cy="3998407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6" name="Rectangle 25"/>
            <p:cNvSpPr/>
            <p:nvPr/>
          </p:nvSpPr>
          <p:spPr bwMode="auto">
            <a:xfrm>
              <a:off x="1058915" y="1957634"/>
              <a:ext cx="7699028" cy="3741264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46102" name="Picture 2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03313" y="2174875"/>
            <a:ext cx="3927475" cy="3243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/>
          <p:cNvSpPr>
            <a:spLocks noGrp="1"/>
          </p:cNvSpPr>
          <p:nvPr>
            <p:ph type="title" idx="4294967295"/>
          </p:nvPr>
        </p:nvSpPr>
        <p:spPr>
          <a:xfrm>
            <a:off x="768350" y="2413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Production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10602" y="1365250"/>
            <a:ext cx="8724780" cy="5216705"/>
          </a:xfrm>
        </p:spPr>
        <p:txBody>
          <a:bodyPr/>
          <a:lstStyle/>
          <a:p>
            <a:pPr eaLnBrk="1" hangingPunct="1"/>
            <a:r>
              <a:rPr lang="en-US" b="1" dirty="0"/>
              <a:t>Production </a:t>
            </a:r>
            <a:r>
              <a:rPr lang="en-US" dirty="0"/>
              <a:t>converts inputs into outputs</a:t>
            </a:r>
          </a:p>
          <a:p>
            <a:pPr lvl="1" eaLnBrk="1" hangingPunct="1"/>
            <a:r>
              <a:rPr lang="en-US" dirty="0"/>
              <a:t>Many different ways to produce the same product</a:t>
            </a:r>
          </a:p>
          <a:p>
            <a:pPr lvl="1" eaLnBrk="1" hangingPunct="1"/>
            <a:r>
              <a:rPr lang="en-US" b="1" dirty="0"/>
              <a:t>Technology</a:t>
            </a:r>
            <a:r>
              <a:rPr lang="en-US" dirty="0"/>
              <a:t> is a recipe for production</a:t>
            </a:r>
          </a:p>
          <a:p>
            <a:pPr eaLnBrk="1" hangingPunct="1"/>
            <a:r>
              <a:rPr lang="en-US" dirty="0"/>
              <a:t>A </a:t>
            </a:r>
            <a:r>
              <a:rPr lang="en-US" b="1" dirty="0"/>
              <a:t>factor of production</a:t>
            </a:r>
            <a:r>
              <a:rPr lang="en-US" dirty="0"/>
              <a:t> is an input used in the production of a good or a service</a:t>
            </a:r>
          </a:p>
          <a:p>
            <a:pPr lvl="1" eaLnBrk="1" hangingPunct="1"/>
            <a:r>
              <a:rPr lang="en-US" dirty="0"/>
              <a:t>Examples are land, labor, capital, and entrepreneurship</a:t>
            </a:r>
          </a:p>
          <a:p>
            <a:pPr eaLnBrk="1" hangingPunct="1"/>
            <a:r>
              <a:rPr lang="en-US" dirty="0"/>
              <a:t>The </a:t>
            </a:r>
            <a:r>
              <a:rPr lang="en-US" b="1" dirty="0"/>
              <a:t>short run</a:t>
            </a:r>
            <a:r>
              <a:rPr lang="en-US" dirty="0"/>
              <a:t> is the period of time when at least one of the firm's factors of production is fixed</a:t>
            </a:r>
          </a:p>
          <a:p>
            <a:pPr eaLnBrk="1" hangingPunct="1"/>
            <a:r>
              <a:rPr lang="en-US" dirty="0"/>
              <a:t>The </a:t>
            </a:r>
            <a:r>
              <a:rPr lang="en-US" b="1" dirty="0"/>
              <a:t>long run</a:t>
            </a:r>
            <a:r>
              <a:rPr lang="en-US" dirty="0"/>
              <a:t> is the period of time in which all inputs are variable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Production Data</a:t>
            </a:r>
          </a:p>
        </p:txBody>
      </p:sp>
      <p:graphicFrame>
        <p:nvGraphicFramePr>
          <p:cNvPr id="52262" name="Group 38"/>
          <p:cNvGraphicFramePr>
            <a:graphicFrameLocks noGrp="1"/>
          </p:cNvGraphicFramePr>
          <p:nvPr>
            <p:ph idx="4294967295"/>
          </p:nvPr>
        </p:nvGraphicFramePr>
        <p:xfrm>
          <a:off x="838200" y="1574800"/>
          <a:ext cx="7924800" cy="4759325"/>
        </p:xfrm>
        <a:graphic>
          <a:graphicData uri="http://schemas.openxmlformats.org/drawingml/2006/table">
            <a:tbl>
              <a:tblPr/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01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Number of employees 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per day</a:t>
                      </a:r>
                    </a:p>
                  </a:txBody>
                  <a:tcPr marL="119307" marR="119307"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Total number of bottles per day</a:t>
                      </a:r>
                    </a:p>
                  </a:txBody>
                  <a:tcPr marL="119307" marR="11930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119307" marR="119307"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119307" marR="11930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119307" marR="119307"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80</a:t>
                      </a:r>
                    </a:p>
                  </a:txBody>
                  <a:tcPr marL="119307" marR="11930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119307" marR="119307"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200</a:t>
                      </a:r>
                    </a:p>
                  </a:txBody>
                  <a:tcPr marL="119307" marR="11930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119307" marR="119307"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260</a:t>
                      </a:r>
                    </a:p>
                  </a:txBody>
                  <a:tcPr marL="119307" marR="11930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119307" marR="119307"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300</a:t>
                      </a:r>
                    </a:p>
                  </a:txBody>
                  <a:tcPr marL="119307" marR="11930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119307" marR="119307"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330</a:t>
                      </a:r>
                    </a:p>
                  </a:txBody>
                  <a:tcPr marL="119307" marR="11930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119307" marR="119307"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350</a:t>
                      </a:r>
                    </a:p>
                  </a:txBody>
                  <a:tcPr marL="119307" marR="11930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119307" marR="119307"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362</a:t>
                      </a:r>
                    </a:p>
                  </a:txBody>
                  <a:tcPr marL="119307" marR="11930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Production in the Short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00100" y="14732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A perfectly competitive firm has to decide how much to produce</a:t>
            </a:r>
          </a:p>
          <a:p>
            <a:pPr lvl="1" eaLnBrk="1" hangingPunct="1"/>
            <a:r>
              <a:rPr lang="en-US" dirty="0"/>
              <a:t>Start by evaluating the short run</a:t>
            </a:r>
          </a:p>
          <a:p>
            <a:pPr eaLnBrk="1" hangingPunct="1"/>
            <a:r>
              <a:rPr lang="en-US" dirty="0"/>
              <a:t>The firm produces a single product (glass bottles) using two inputs (workers and a bottle-making machine)</a:t>
            </a:r>
          </a:p>
          <a:p>
            <a:pPr lvl="1" eaLnBrk="1" hangingPunct="1"/>
            <a:r>
              <a:rPr lang="en-US" dirty="0"/>
              <a:t>Labor is a </a:t>
            </a:r>
            <a:r>
              <a:rPr lang="en-US" b="1" dirty="0"/>
              <a:t>variable factor – </a:t>
            </a:r>
            <a:r>
              <a:rPr lang="en-US" dirty="0"/>
              <a:t>it can be changed in the short run</a:t>
            </a:r>
            <a:endParaRPr lang="en-US" b="1" dirty="0"/>
          </a:p>
          <a:p>
            <a:pPr lvl="1" eaLnBrk="1" hangingPunct="1"/>
            <a:r>
              <a:rPr lang="en-US" dirty="0"/>
              <a:t>Bottle-making machine (capital) is a </a:t>
            </a:r>
            <a:r>
              <a:rPr lang="en-US" b="1" dirty="0"/>
              <a:t>fixed factor – </a:t>
            </a:r>
            <a:r>
              <a:rPr lang="en-US" dirty="0"/>
              <a:t>it cannot be changed in the short run</a:t>
            </a:r>
            <a:endParaRPr lang="en-US" b="1" dirty="0"/>
          </a:p>
          <a:p>
            <a:pPr eaLnBrk="1" hangingPunct="1"/>
            <a:r>
              <a:rPr lang="en-US" dirty="0"/>
              <a:t>Determine the profit maximizing level of output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Law of Diminishing Returns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838201" y="2265307"/>
            <a:ext cx="7924800" cy="29718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225425" indent="-225425" algn="ctr">
              <a:lnSpc>
                <a:spcPct val="150000"/>
              </a:lnSpc>
              <a:spcBef>
                <a:spcPct val="20000"/>
              </a:spcBef>
              <a:buClr>
                <a:srgbClr val="298B1B"/>
              </a:buClr>
              <a:buFont typeface="Wingdings" pitchFamily="2" charset="2"/>
              <a:buNone/>
              <a:defRPr/>
            </a:pPr>
            <a:r>
              <a:rPr lang="en-US" sz="2400" b="1" kern="0" dirty="0">
                <a:solidFill>
                  <a:schemeClr val="bg1"/>
                </a:solidFill>
              </a:rPr>
              <a:t>When some factors of production are </a:t>
            </a:r>
          </a:p>
          <a:p>
            <a:pPr marL="225425" indent="-225425" algn="ctr">
              <a:lnSpc>
                <a:spcPct val="150000"/>
              </a:lnSpc>
              <a:spcBef>
                <a:spcPct val="20000"/>
              </a:spcBef>
              <a:buClr>
                <a:srgbClr val="298B1B"/>
              </a:buClr>
              <a:buFont typeface="Wingdings" pitchFamily="2" charset="2"/>
              <a:buNone/>
              <a:defRPr/>
            </a:pPr>
            <a:r>
              <a:rPr lang="en-US" sz="2400" b="1" kern="0" dirty="0">
                <a:solidFill>
                  <a:schemeClr val="bg1"/>
                </a:solidFill>
              </a:rPr>
              <a:t>fixed, the marginal product of the variable factor will eventually decline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Law of Diminishing Returns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8763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At low levels of production, the law of diminishing returns may not hold</a:t>
            </a:r>
          </a:p>
          <a:p>
            <a:pPr lvl="1" eaLnBrk="1" hangingPunct="1"/>
            <a:r>
              <a:rPr lang="en-US" dirty="0"/>
              <a:t>Gains from specialization</a:t>
            </a:r>
          </a:p>
          <a:p>
            <a:pPr lvl="1" eaLnBrk="1" hangingPunct="1"/>
            <a:r>
              <a:rPr lang="en-US" dirty="0"/>
              <a:t>Similar to the increase in a buyer’s marginal utility from a second unit</a:t>
            </a:r>
          </a:p>
          <a:p>
            <a:pPr eaLnBrk="1" hangingPunct="1"/>
            <a:r>
              <a:rPr lang="en-US" dirty="0"/>
              <a:t>Diminishing returns eventually sets in and is often caused by congestion</a:t>
            </a:r>
          </a:p>
          <a:p>
            <a:pPr lvl="2" eaLnBrk="1" hangingPunct="1"/>
            <a:r>
              <a:rPr lang="en-US" dirty="0"/>
              <a:t>Only so many people can fit into the office</a:t>
            </a:r>
          </a:p>
          <a:p>
            <a:pPr lvl="2" eaLnBrk="1" hangingPunct="1"/>
            <a:r>
              <a:rPr lang="en-US" dirty="0"/>
              <a:t>Only one worker can use the machine at a time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/>
          <p:cNvSpPr>
            <a:spLocks noGrp="1"/>
          </p:cNvSpPr>
          <p:nvPr>
            <p:ph type="title" idx="4294967295"/>
          </p:nvPr>
        </p:nvSpPr>
        <p:spPr>
          <a:xfrm>
            <a:off x="736600" y="-2286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Cost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19150" y="990600"/>
            <a:ext cx="8229600" cy="5486400"/>
          </a:xfrm>
        </p:spPr>
        <p:txBody>
          <a:bodyPr/>
          <a:lstStyle/>
          <a:p>
            <a:pPr eaLnBrk="1" hangingPunct="1"/>
            <a:r>
              <a:rPr lang="en-US" sz="2700" b="1" dirty="0"/>
              <a:t>Fixed cost (FC) </a:t>
            </a:r>
            <a:r>
              <a:rPr lang="en-US" sz="2700" dirty="0"/>
              <a:t>is the sum of all payments for fixed inputs</a:t>
            </a:r>
          </a:p>
          <a:p>
            <a:pPr lvl="1" eaLnBrk="1" hangingPunct="1"/>
            <a:r>
              <a:rPr lang="en-US" dirty="0"/>
              <a:t>The $40 per day for the bottle machine</a:t>
            </a:r>
          </a:p>
          <a:p>
            <a:pPr lvl="1" eaLnBrk="1" hangingPunct="1"/>
            <a:r>
              <a:rPr lang="en-US" dirty="0"/>
              <a:t>Often referred to as the capital cost</a:t>
            </a:r>
          </a:p>
          <a:p>
            <a:pPr eaLnBrk="1" hangingPunct="1"/>
            <a:r>
              <a:rPr lang="en-US" sz="2700" b="1" dirty="0"/>
              <a:t>Variable cost</a:t>
            </a:r>
            <a:r>
              <a:rPr lang="en-US" sz="2700" dirty="0"/>
              <a:t> </a:t>
            </a:r>
            <a:r>
              <a:rPr lang="en-US" sz="2700" b="1" dirty="0"/>
              <a:t>(VC)</a:t>
            </a:r>
            <a:r>
              <a:rPr lang="en-US" sz="2700" dirty="0"/>
              <a:t> is the sum of all payments for variable inputs</a:t>
            </a:r>
          </a:p>
          <a:p>
            <a:pPr lvl="1" eaLnBrk="1" hangingPunct="1"/>
            <a:r>
              <a:rPr lang="en-US" dirty="0"/>
              <a:t>The total labor cost</a:t>
            </a:r>
          </a:p>
          <a:p>
            <a:pPr eaLnBrk="1" hangingPunct="1"/>
            <a:r>
              <a:rPr lang="en-US" sz="2700" b="1" dirty="0"/>
              <a:t>Total cost (TC)</a:t>
            </a:r>
            <a:r>
              <a:rPr lang="en-US" sz="2700" dirty="0"/>
              <a:t> is the sum of all payments for all inputs</a:t>
            </a:r>
          </a:p>
          <a:p>
            <a:pPr lvl="1" eaLnBrk="1" hangingPunct="1"/>
            <a:r>
              <a:rPr lang="en-US" dirty="0"/>
              <a:t>Fixed cost plus variable cost</a:t>
            </a:r>
          </a:p>
          <a:p>
            <a:pPr eaLnBrk="1" hangingPunct="1"/>
            <a:r>
              <a:rPr lang="en-US" sz="2700" b="1" dirty="0"/>
              <a:t>Marginal cost (MC)</a:t>
            </a:r>
            <a:r>
              <a:rPr lang="en-US" sz="2700" dirty="0"/>
              <a:t> is the change in total cost divided by the change in output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itle 1"/>
          <p:cNvSpPr>
            <a:spLocks noGrp="1"/>
          </p:cNvSpPr>
          <p:nvPr>
            <p:ph type="title" idx="4294967295"/>
          </p:nvPr>
        </p:nvSpPr>
        <p:spPr>
          <a:xfrm>
            <a:off x="698500" y="165100"/>
            <a:ext cx="8445500" cy="1092200"/>
          </a:xfrm>
        </p:spPr>
        <p:txBody>
          <a:bodyPr/>
          <a:lstStyle/>
          <a:p>
            <a:pPr eaLnBrk="1" hangingPunct="1"/>
            <a:r>
              <a:rPr lang="en-US"/>
              <a:t>Find the Output Level that Maximizes Profit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98500" y="1481138"/>
            <a:ext cx="8445500" cy="537686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dirty="0"/>
              <a:t>		</a:t>
            </a:r>
            <a:r>
              <a:rPr lang="en-US" sz="3000" dirty="0"/>
              <a:t>Profit = total revenue – total cost</a:t>
            </a:r>
          </a:p>
          <a:p>
            <a:pPr eaLnBrk="1" hangingPunct="1">
              <a:buFontTx/>
              <a:buNone/>
            </a:pPr>
            <a:endParaRPr lang="en-US" sz="1000" dirty="0"/>
          </a:p>
          <a:p>
            <a:pPr eaLnBrk="1" hangingPunct="1"/>
            <a:r>
              <a:rPr lang="en-US" dirty="0"/>
              <a:t>Total revenue comes from selling the bottles</a:t>
            </a:r>
          </a:p>
          <a:p>
            <a:pPr eaLnBrk="1" hangingPunct="1"/>
            <a:r>
              <a:rPr lang="en-US" dirty="0"/>
              <a:t>Total cost = labor (variable) cost + capital (fixed) cost</a:t>
            </a:r>
          </a:p>
          <a:p>
            <a:pPr eaLnBrk="1" hangingPunct="1"/>
            <a:r>
              <a:rPr lang="en-US" dirty="0"/>
              <a:t>The firm must know about both revenues and costs in order to maximize profits</a:t>
            </a:r>
          </a:p>
          <a:p>
            <a:pPr lvl="1" eaLnBrk="1" hangingPunct="1"/>
            <a:r>
              <a:rPr lang="en-US" sz="2400" dirty="0"/>
              <a:t>Increase output if marginal benefit is </a:t>
            </a:r>
            <a:r>
              <a:rPr lang="en-US" sz="2400" b="1" u="sng" dirty="0"/>
              <a:t>greater</a:t>
            </a:r>
            <a:r>
              <a:rPr lang="en-US" sz="2400" dirty="0"/>
              <a:t> than the marginal cost</a:t>
            </a:r>
          </a:p>
          <a:p>
            <a:pPr lvl="1" eaLnBrk="1" hangingPunct="1"/>
            <a:r>
              <a:rPr lang="en-US" sz="2400" dirty="0"/>
              <a:t>Decrease output if marginal benefit is </a:t>
            </a:r>
            <a:r>
              <a:rPr lang="en-US" sz="2400" b="1" u="sng" dirty="0"/>
              <a:t>smaller</a:t>
            </a:r>
            <a:r>
              <a:rPr lang="en-US" sz="2400" dirty="0"/>
              <a:t> than marginal cost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/>
          <p:cNvSpPr>
            <a:spLocks noGrp="1"/>
          </p:cNvSpPr>
          <p:nvPr>
            <p:ph type="title" idx="4294967295"/>
          </p:nvPr>
        </p:nvSpPr>
        <p:spPr>
          <a:xfrm>
            <a:off x="7493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Maximizing Profit</a:t>
            </a:r>
          </a:p>
        </p:txBody>
      </p:sp>
      <p:graphicFrame>
        <p:nvGraphicFramePr>
          <p:cNvPr id="62727" name="Group 26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637879163"/>
              </p:ext>
            </p:extLst>
          </p:nvPr>
        </p:nvGraphicFramePr>
        <p:xfrm>
          <a:off x="4746590" y="1170985"/>
          <a:ext cx="1283970" cy="5156588"/>
        </p:xfrm>
        <a:graphic>
          <a:graphicData uri="http://schemas.openxmlformats.org/drawingml/2006/table">
            <a:tbl>
              <a:tblPr/>
              <a:tblGrid>
                <a:gridCol w="1283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540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Variable Cost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($/day)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8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8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8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8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36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8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48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8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60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28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72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28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84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2717" name="Group 2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321629"/>
              </p:ext>
            </p:extLst>
          </p:nvPr>
        </p:nvGraphicFramePr>
        <p:xfrm>
          <a:off x="2171621" y="1170983"/>
          <a:ext cx="1308100" cy="5153655"/>
        </p:xfrm>
        <a:graphic>
          <a:graphicData uri="http://schemas.openxmlformats.org/drawingml/2006/table">
            <a:tbl>
              <a:tblPr/>
              <a:tblGrid>
                <a:gridCol w="130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592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Bottles per day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80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260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300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0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330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0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350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8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362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2728" name="Group 2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718876"/>
              </p:ext>
            </p:extLst>
          </p:nvPr>
        </p:nvGraphicFramePr>
        <p:xfrm>
          <a:off x="3482740" y="1170988"/>
          <a:ext cx="1262380" cy="5153055"/>
        </p:xfrm>
        <a:graphic>
          <a:graphicData uri="http://schemas.openxmlformats.org/drawingml/2006/table">
            <a:tbl>
              <a:tblPr/>
              <a:tblGrid>
                <a:gridCol w="1262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585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Fixed Cost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 ($/day)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8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40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8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40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8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40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8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40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8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40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8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40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18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40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18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40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2718" name="Group 2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372517"/>
              </p:ext>
            </p:extLst>
          </p:nvPr>
        </p:nvGraphicFramePr>
        <p:xfrm>
          <a:off x="787400" y="1170988"/>
          <a:ext cx="1384300" cy="5153055"/>
        </p:xfrm>
        <a:graphic>
          <a:graphicData uri="http://schemas.openxmlformats.org/drawingml/2006/table">
            <a:tbl>
              <a:tblPr/>
              <a:tblGrid>
                <a:gridCol w="13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585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Workers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per day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8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8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8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8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8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8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18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18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2731" name="Group 2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572058"/>
              </p:ext>
            </p:extLst>
          </p:nvPr>
        </p:nvGraphicFramePr>
        <p:xfrm>
          <a:off x="6020879" y="1170985"/>
          <a:ext cx="1305560" cy="5156588"/>
        </p:xfrm>
        <a:graphic>
          <a:graphicData uri="http://schemas.openxmlformats.org/drawingml/2006/table">
            <a:tbl>
              <a:tblPr/>
              <a:tblGrid>
                <a:gridCol w="1305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540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Total Cost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($/day)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8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40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8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52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8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64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8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76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8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88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8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28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112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28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124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2778" name="Group 3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54579"/>
              </p:ext>
            </p:extLst>
          </p:nvPr>
        </p:nvGraphicFramePr>
        <p:xfrm>
          <a:off x="7305606" y="1170984"/>
          <a:ext cx="1515009" cy="5153619"/>
        </p:xfrm>
        <a:graphic>
          <a:graphicData uri="http://schemas.openxmlformats.org/drawingml/2006/table">
            <a:tbl>
              <a:tblPr/>
              <a:tblGrid>
                <a:gridCol w="1515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813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Marginal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Cost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($/bottle)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6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0.15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6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0.10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6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0.20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6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0.30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6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0.40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6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0.60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46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1.00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/>
          <p:cNvSpPr>
            <a:spLocks noGrp="1"/>
          </p:cNvSpPr>
          <p:nvPr>
            <p:ph type="title" idx="4294967295"/>
          </p:nvPr>
        </p:nvSpPr>
        <p:spPr>
          <a:xfrm>
            <a:off x="6858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/>
              <a:t>Fixed Cost and Profit Maximization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98500" y="1219200"/>
            <a:ext cx="8229600" cy="4525963"/>
          </a:xfrm>
        </p:spPr>
        <p:txBody>
          <a:bodyPr/>
          <a:lstStyle/>
          <a:p>
            <a:pPr eaLnBrk="1" hangingPunct="1"/>
            <a:r>
              <a:rPr lang="en-US" sz="2600"/>
              <a:t>The profit maximizing quantity does not depend on fixed cost</a:t>
            </a:r>
          </a:p>
          <a:p>
            <a:pPr eaLnBrk="1" hangingPunct="1"/>
            <a:r>
              <a:rPr lang="en-US" sz="2600"/>
              <a:t>A firm should increase output only if the extra benefit exceeds the extra cost (cost-benefit principle)</a:t>
            </a:r>
          </a:p>
          <a:p>
            <a:pPr eaLnBrk="1" hangingPunct="1"/>
            <a:r>
              <a:rPr lang="en-US" sz="2600"/>
              <a:t>The extra benefit is the price</a:t>
            </a:r>
          </a:p>
          <a:p>
            <a:pPr eaLnBrk="1" hangingPunct="1"/>
            <a:r>
              <a:rPr lang="en-US" sz="2600"/>
              <a:t>The extra cost is the </a:t>
            </a:r>
            <a:r>
              <a:rPr lang="en-US" sz="2600" b="1"/>
              <a:t>marginal cost </a:t>
            </a:r>
            <a:r>
              <a:rPr lang="en-US" sz="2600"/>
              <a:t>– the amount by which total cost increases when production rises</a:t>
            </a:r>
          </a:p>
          <a:p>
            <a:pPr eaLnBrk="1" hangingPunct="1"/>
            <a:r>
              <a:rPr lang="en-US" sz="2600"/>
              <a:t>The competitive firm produces where price equals marginal cost</a:t>
            </a:r>
          </a:p>
          <a:p>
            <a:pPr eaLnBrk="1" hangingPunct="1"/>
            <a:r>
              <a:rPr lang="en-US" sz="2600"/>
              <a:t>When diminishing returns apply, marginal cost rises as production increases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Shut-Down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5800" y="1600200"/>
            <a:ext cx="8229600" cy="4938623"/>
          </a:xfrm>
        </p:spPr>
        <p:txBody>
          <a:bodyPr/>
          <a:lstStyle/>
          <a:p>
            <a:pPr marL="225425" indent="-225425" eaLnBrk="1" hangingPunct="1"/>
            <a:r>
              <a:rPr lang="en-US" dirty="0"/>
              <a:t>Firms can make losses in the short run</a:t>
            </a:r>
          </a:p>
          <a:p>
            <a:pPr marL="511175" lvl="1" indent="-290513" eaLnBrk="1" hangingPunct="1"/>
            <a:r>
              <a:rPr lang="en-US" dirty="0"/>
              <a:t>Some firms continue to operate</a:t>
            </a:r>
          </a:p>
          <a:p>
            <a:pPr marL="511175" lvl="1" indent="-290513" eaLnBrk="1" hangingPunct="1"/>
            <a:r>
              <a:rPr lang="en-US" dirty="0"/>
              <a:t>Some firms shut down</a:t>
            </a:r>
          </a:p>
          <a:p>
            <a:pPr marL="225425" indent="-225425" eaLnBrk="1" hangingPunct="1"/>
            <a:r>
              <a:rPr lang="en-US" dirty="0"/>
              <a:t>The Cost – Benefit Principle applies even to losses</a:t>
            </a:r>
          </a:p>
          <a:p>
            <a:pPr marL="511175" lvl="1" indent="-290513" eaLnBrk="1" hangingPunct="1"/>
            <a:r>
              <a:rPr lang="en-US" dirty="0"/>
              <a:t>Continue to operate if your losses are less than if you shut down</a:t>
            </a:r>
          </a:p>
          <a:p>
            <a:pPr marL="511175" lvl="1" indent="-290513" eaLnBrk="1" hangingPunct="1"/>
            <a:r>
              <a:rPr lang="en-US" dirty="0"/>
              <a:t>Shut down if your losses are less than if you continued operating</a:t>
            </a:r>
          </a:p>
          <a:p>
            <a:pPr marL="511175" lvl="1" indent="-290513" eaLnBrk="1" hangingPunct="1"/>
            <a:r>
              <a:rPr lang="en-US" dirty="0"/>
              <a:t>If shut down, Q = 0, VC = 0, TR = 0</a:t>
            </a:r>
          </a:p>
          <a:p>
            <a:pPr marL="511175" lvl="1" indent="-290513" eaLnBrk="1" hangingPunct="1"/>
            <a:r>
              <a:rPr lang="en-US" dirty="0"/>
              <a:t>Loss when shut down = FC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Shut-Down Condition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5800" y="1600200"/>
            <a:ext cx="8229600" cy="5119777"/>
          </a:xfrm>
        </p:spPr>
        <p:txBody>
          <a:bodyPr/>
          <a:lstStyle/>
          <a:p>
            <a:pPr marL="225425" indent="-225425" eaLnBrk="1" hangingPunct="1"/>
            <a:r>
              <a:rPr lang="en-US" dirty="0"/>
              <a:t>If the firm shuts down in the short run, it loses all of its fixed costs</a:t>
            </a:r>
          </a:p>
          <a:p>
            <a:pPr marL="511175" lvl="1" indent="-290513" eaLnBrk="1" hangingPunct="1"/>
            <a:r>
              <a:rPr lang="en-US" dirty="0"/>
              <a:t>So, fixed costs are the most a firm can lose</a:t>
            </a:r>
          </a:p>
          <a:p>
            <a:pPr marL="225425" indent="-225425" eaLnBrk="1" hangingPunct="1"/>
            <a:r>
              <a:rPr lang="en-US" dirty="0"/>
              <a:t>The firm should shut down if revenue is less than variable cost:  P </a:t>
            </a:r>
            <a:r>
              <a:rPr lang="en-US" baseline="10000" dirty="0"/>
              <a:t>x</a:t>
            </a:r>
            <a:r>
              <a:rPr lang="en-US" dirty="0"/>
              <a:t> Q &lt; VC for all levels of Q</a:t>
            </a:r>
          </a:p>
          <a:p>
            <a:pPr marL="511175" lvl="1" indent="-290513" eaLnBrk="1" hangingPunct="1"/>
            <a:r>
              <a:rPr lang="en-US" dirty="0"/>
              <a:t>The firm is losing money on every unit it makes</a:t>
            </a:r>
          </a:p>
          <a:p>
            <a:pPr marL="225425" indent="-225425" eaLnBrk="1" hangingPunct="1"/>
            <a:r>
              <a:rPr lang="en-US" dirty="0"/>
              <a:t>If the firm's revenue is larger than the total variable cost, the firm should continue to produce</a:t>
            </a:r>
          </a:p>
          <a:p>
            <a:pPr marL="511175" lvl="1" indent="-290513" eaLnBrk="1" hangingPunct="1"/>
            <a:r>
              <a:rPr lang="en-US" dirty="0"/>
              <a:t>Each unit pays its variable costs and contributes to fixed costs, P x Q &gt; VC</a:t>
            </a:r>
          </a:p>
          <a:p>
            <a:pPr marL="692150" lvl="2" eaLnBrk="1" hangingPunct="1"/>
            <a:r>
              <a:rPr lang="en-US" dirty="0"/>
              <a:t>Losses will be less than fixed costs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itle 1"/>
          <p:cNvSpPr>
            <a:spLocks noGrp="1"/>
          </p:cNvSpPr>
          <p:nvPr>
            <p:ph type="title" idx="4294967295"/>
          </p:nvPr>
        </p:nvSpPr>
        <p:spPr>
          <a:xfrm>
            <a:off x="685800" y="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AVC and ATC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5799" y="1600200"/>
            <a:ext cx="8397815" cy="5071533"/>
          </a:xfrm>
        </p:spPr>
        <p:txBody>
          <a:bodyPr/>
          <a:lstStyle/>
          <a:p>
            <a:pPr marL="225425" indent="-225425" eaLnBrk="1" hangingPunct="1"/>
            <a:r>
              <a:rPr lang="en-US" dirty="0"/>
              <a:t>Average values are the total value divided by total quantity</a:t>
            </a:r>
          </a:p>
          <a:p>
            <a:pPr marL="511175" lvl="1" indent="-290513" eaLnBrk="1" hangingPunct="1"/>
            <a:r>
              <a:rPr lang="en-US" b="1" dirty="0"/>
              <a:t>Average variable cost</a:t>
            </a:r>
            <a:r>
              <a:rPr lang="en-US" dirty="0"/>
              <a:t> (AVC) is</a:t>
            </a:r>
          </a:p>
          <a:p>
            <a:pPr marL="1143000" lvl="4" eaLnBrk="1" hangingPunct="1">
              <a:buFontTx/>
              <a:buNone/>
            </a:pPr>
            <a:r>
              <a:rPr lang="en-US" dirty="0"/>
              <a:t>AVC = VC / Q</a:t>
            </a:r>
          </a:p>
          <a:p>
            <a:pPr marL="511175" lvl="1" indent="-290513" eaLnBrk="1" hangingPunct="1"/>
            <a:r>
              <a:rPr lang="en-US" b="1" dirty="0"/>
              <a:t>Average total cost</a:t>
            </a:r>
            <a:r>
              <a:rPr lang="en-US" dirty="0"/>
              <a:t> (ATC) is</a:t>
            </a:r>
          </a:p>
          <a:p>
            <a:pPr marL="1143000" lvl="4" eaLnBrk="1" hangingPunct="1">
              <a:buFontTx/>
              <a:buNone/>
            </a:pPr>
            <a:r>
              <a:rPr lang="en-US" dirty="0"/>
              <a:t>ATC = TC / Q</a:t>
            </a:r>
          </a:p>
          <a:p>
            <a:pPr marL="225425" indent="-225425" eaLnBrk="1" hangingPunct="1"/>
            <a:r>
              <a:rPr lang="en-US" dirty="0"/>
              <a:t>Shut-down if         P </a:t>
            </a:r>
            <a:r>
              <a:rPr lang="en-US" baseline="10000" dirty="0"/>
              <a:t>x</a:t>
            </a:r>
            <a:r>
              <a:rPr lang="en-US" dirty="0"/>
              <a:t> Q &lt; VC</a:t>
            </a:r>
          </a:p>
          <a:p>
            <a:pPr marL="225425" indent="-225425" algn="ctr" eaLnBrk="1" hangingPunct="1">
              <a:buFontTx/>
              <a:buNone/>
            </a:pPr>
            <a:r>
              <a:rPr lang="en-US" dirty="0"/>
              <a:t>Or P &lt; VC / Q</a:t>
            </a:r>
          </a:p>
          <a:p>
            <a:pPr marL="225425" indent="-225425" algn="ctr" eaLnBrk="1" hangingPunct="1">
              <a:buFontTx/>
              <a:buNone/>
            </a:pPr>
            <a:r>
              <a:rPr lang="en-US" dirty="0"/>
              <a:t>Or P &lt; AVC</a:t>
            </a:r>
          </a:p>
          <a:p>
            <a:pPr marL="225425" indent="-225425" eaLnBrk="1" hangingPunct="1"/>
            <a:r>
              <a:rPr lang="en-US" dirty="0"/>
              <a:t>Shut down if price is less than average variable cost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Profitable Firms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marL="225425" indent="-225425" eaLnBrk="1" hangingPunct="1"/>
            <a:r>
              <a:rPr lang="en-US" dirty="0"/>
              <a:t>A firm is profitable if its total revenue is greater than its total cost</a:t>
            </a:r>
          </a:p>
          <a:p>
            <a:pPr marL="1143000" lvl="4" eaLnBrk="1" hangingPunct="1">
              <a:buFontTx/>
              <a:buNone/>
            </a:pPr>
            <a:r>
              <a:rPr lang="en-US" sz="2400" dirty="0"/>
              <a:t>TR &gt; TC	OR</a:t>
            </a:r>
          </a:p>
          <a:p>
            <a:pPr marL="1143000" lvl="4" eaLnBrk="1" hangingPunct="1">
              <a:buFontTx/>
              <a:buNone/>
            </a:pPr>
            <a:r>
              <a:rPr lang="en-US" sz="2400" dirty="0"/>
              <a:t>P </a:t>
            </a:r>
            <a:r>
              <a:rPr lang="en-US" sz="2400" baseline="10000" dirty="0"/>
              <a:t>x</a:t>
            </a:r>
            <a:r>
              <a:rPr lang="en-US" sz="2400" dirty="0"/>
              <a:t> Q &gt; ATC </a:t>
            </a:r>
            <a:r>
              <a:rPr lang="en-US" sz="2400" baseline="10000" dirty="0"/>
              <a:t>x</a:t>
            </a:r>
            <a:r>
              <a:rPr lang="en-US" sz="2400" dirty="0"/>
              <a:t> Q 	since ATC = TC / Q</a:t>
            </a:r>
          </a:p>
          <a:p>
            <a:pPr marL="511175" lvl="1" indent="-290513" eaLnBrk="1" hangingPunct="1"/>
            <a:r>
              <a:rPr lang="en-US" sz="2800" dirty="0"/>
              <a:t>Another way to state this is to divide both sides of the inequality by Q to get</a:t>
            </a:r>
          </a:p>
          <a:p>
            <a:pPr marL="1143000" lvl="4" eaLnBrk="1" hangingPunct="1">
              <a:buFontTx/>
              <a:buNone/>
            </a:pPr>
            <a:r>
              <a:rPr lang="en-US" sz="2800" dirty="0"/>
              <a:t>P &gt; ATC</a:t>
            </a:r>
          </a:p>
          <a:p>
            <a:pPr marL="692150" lvl="2" eaLnBrk="1" hangingPunct="1"/>
            <a:r>
              <a:rPr lang="en-US" sz="2400" dirty="0"/>
              <a:t>As long as the firm's price is greater than its average total costs, the firm is profitable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/>
          <p:cNvSpPr>
            <a:spLocks noGrp="1"/>
          </p:cNvSpPr>
          <p:nvPr>
            <p:ph type="title" idx="4294967295"/>
          </p:nvPr>
        </p:nvSpPr>
        <p:spPr>
          <a:xfrm>
            <a:off x="685800" y="-2413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Cost Curves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294407"/>
              </p:ext>
            </p:extLst>
          </p:nvPr>
        </p:nvGraphicFramePr>
        <p:xfrm>
          <a:off x="906463" y="1003300"/>
          <a:ext cx="6792912" cy="2592705"/>
        </p:xfrm>
        <a:graphic>
          <a:graphicData uri="http://schemas.openxmlformats.org/drawingml/2006/table">
            <a:tbl>
              <a:tblPr/>
              <a:tblGrid>
                <a:gridCol w="1131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1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1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1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18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06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Workers per day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Bottles per day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Variable Cost ($/day)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AVC ($ per unit)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Total Cost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ATC ($ per unit)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6A5218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40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6A5218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80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0.15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52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0.65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0.12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64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0.32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260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36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0.135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76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0.292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58474"/>
              </p:ext>
            </p:extLst>
          </p:nvPr>
        </p:nvGraphicFramePr>
        <p:xfrm>
          <a:off x="7699374" y="1003299"/>
          <a:ext cx="1344265" cy="2583268"/>
        </p:xfrm>
        <a:graphic>
          <a:graphicData uri="http://schemas.openxmlformats.org/drawingml/2006/table">
            <a:tbl>
              <a:tblPr/>
              <a:tblGrid>
                <a:gridCol w="1344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150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Marginal Cost ($/unit)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0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0.15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17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0.10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0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0.20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74805" name="Rectangle 10"/>
          <p:cNvGrpSpPr>
            <a:grpSpLocks/>
          </p:cNvGrpSpPr>
          <p:nvPr/>
        </p:nvGrpSpPr>
        <p:grpSpPr bwMode="auto">
          <a:xfrm>
            <a:off x="2954338" y="3884613"/>
            <a:ext cx="3952875" cy="2817812"/>
            <a:chOff x="2980944" y="3846576"/>
            <a:chExt cx="3633216" cy="2816352"/>
          </a:xfrm>
        </p:grpSpPr>
        <p:pic>
          <p:nvPicPr>
            <p:cNvPr id="74808" name="Rectangle 10"/>
            <p:cNvPicPr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980944" y="3846576"/>
              <a:ext cx="3633216" cy="281635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</p:pic>
        <p:sp>
          <p:nvSpPr>
            <p:cNvPr id="124986" name="Text Box 58"/>
            <p:cNvSpPr txBox="1">
              <a:spLocks noChangeArrowheads="1"/>
            </p:cNvSpPr>
            <p:nvPr/>
          </p:nvSpPr>
          <p:spPr bwMode="auto">
            <a:xfrm>
              <a:off x="3045145" y="3883069"/>
              <a:ext cx="3510650" cy="270845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</p:grpSp>
      <p:sp>
        <p:nvSpPr>
          <p:cNvPr id="8" name="Rectangle 7"/>
          <p:cNvSpPr/>
          <p:nvPr/>
        </p:nvSpPr>
        <p:spPr bwMode="auto">
          <a:xfrm>
            <a:off x="3116263" y="4006850"/>
            <a:ext cx="3686175" cy="2447925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4807" name="Picture 6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30550" y="4019550"/>
            <a:ext cx="3643313" cy="254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Graphical Profit Maximization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marL="225425" indent="-225425" eaLnBrk="1" hangingPunct="1"/>
            <a:r>
              <a:rPr lang="en-US"/>
              <a:t>Market price is $0.20 per bottle</a:t>
            </a:r>
          </a:p>
          <a:p>
            <a:pPr marL="511175" lvl="1" indent="-290513" eaLnBrk="1" hangingPunct="1"/>
            <a:r>
              <a:rPr lang="en-US"/>
              <a:t>Produce where the marginal benefit of selling a bottle (price) equals the marginal cost </a:t>
            </a:r>
          </a:p>
          <a:p>
            <a:pPr marL="692150" lvl="2" eaLnBrk="1" hangingPunct="1"/>
            <a:r>
              <a:rPr lang="en-US"/>
              <a:t>260 bottles per day</a:t>
            </a:r>
          </a:p>
        </p:txBody>
      </p:sp>
      <p:grpSp>
        <p:nvGrpSpPr>
          <p:cNvPr id="76803" name="Rectangle 8"/>
          <p:cNvGrpSpPr>
            <a:grpSpLocks/>
          </p:cNvGrpSpPr>
          <p:nvPr/>
        </p:nvGrpSpPr>
        <p:grpSpPr bwMode="auto">
          <a:xfrm>
            <a:off x="2182813" y="3432175"/>
            <a:ext cx="5218112" cy="3133725"/>
            <a:chOff x="2182368" y="3432048"/>
            <a:chExt cx="5218176" cy="3133344"/>
          </a:xfrm>
        </p:grpSpPr>
        <p:pic>
          <p:nvPicPr>
            <p:cNvPr id="76806" name="Rectangle 8"/>
            <p:cNvPicPr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182368" y="3432048"/>
              <a:ext cx="5218176" cy="3133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6983" name="Text Box 7"/>
            <p:cNvSpPr txBox="1">
              <a:spLocks noChangeArrowheads="1"/>
            </p:cNvSpPr>
            <p:nvPr/>
          </p:nvSpPr>
          <p:spPr bwMode="auto">
            <a:xfrm>
              <a:off x="2242694" y="3466969"/>
              <a:ext cx="5103875" cy="3022233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</p:grpSp>
      <p:sp>
        <p:nvSpPr>
          <p:cNvPr id="7" name="Rectangle 6"/>
          <p:cNvSpPr/>
          <p:nvPr/>
        </p:nvSpPr>
        <p:spPr bwMode="auto">
          <a:xfrm>
            <a:off x="2319338" y="3554413"/>
            <a:ext cx="4951412" cy="2847975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0903" y="3677620"/>
            <a:ext cx="4098131" cy="26295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Graphical Profit Maximization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marL="225425" indent="-225425" eaLnBrk="1" hangingPunct="1"/>
            <a:r>
              <a:rPr lang="en-US" dirty="0"/>
              <a:t>At a price of $0.20, the firm produces 260 bottles</a:t>
            </a:r>
          </a:p>
          <a:p>
            <a:pPr marL="225425" indent="-225425" eaLnBrk="1" hangingPunct="1"/>
            <a:r>
              <a:rPr lang="en-US" dirty="0"/>
              <a:t>Profit is  TR – TC or  </a:t>
            </a:r>
          </a:p>
          <a:p>
            <a:pPr marL="511175" lvl="1" indent="-290513" eaLnBrk="1" hangingPunct="1">
              <a:buFontTx/>
              <a:buNone/>
            </a:pPr>
            <a:r>
              <a:rPr lang="en-US" dirty="0"/>
              <a:t>		(P – ATC) </a:t>
            </a:r>
            <a:r>
              <a:rPr lang="en-US" baseline="10000" dirty="0"/>
              <a:t>x</a:t>
            </a:r>
            <a:r>
              <a:rPr lang="en-US" dirty="0"/>
              <a:t> Q</a:t>
            </a:r>
          </a:p>
          <a:p>
            <a:pPr marL="225425" indent="-225425" eaLnBrk="1" hangingPunct="1"/>
            <a:r>
              <a:rPr lang="en-US" dirty="0"/>
              <a:t>On the graph, (P – ATC) is </a:t>
            </a:r>
            <a:br>
              <a:rPr lang="en-US" dirty="0"/>
            </a:br>
            <a:r>
              <a:rPr lang="en-US" dirty="0"/>
              <a:t>profit per unit of output </a:t>
            </a:r>
          </a:p>
          <a:p>
            <a:pPr marL="692150" lvl="2" eaLnBrk="1" hangingPunct="1"/>
            <a:r>
              <a:rPr lang="en-US" dirty="0"/>
              <a:t>It is the distance </a:t>
            </a:r>
            <a:br>
              <a:rPr lang="en-US" dirty="0"/>
            </a:br>
            <a:r>
              <a:rPr lang="en-US" dirty="0"/>
              <a:t>between P = $0.20 and </a:t>
            </a:r>
            <a:br>
              <a:rPr lang="en-US" dirty="0"/>
            </a:br>
            <a:r>
              <a:rPr lang="en-US" dirty="0"/>
              <a:t>the ATC curve</a:t>
            </a:r>
          </a:p>
          <a:p>
            <a:pPr marL="225425" indent="-225425" eaLnBrk="1" hangingPunct="1"/>
            <a:r>
              <a:rPr lang="en-US" dirty="0"/>
              <a:t>Profit is the area of the rectangle with height </a:t>
            </a:r>
            <a:br>
              <a:rPr lang="en-US" dirty="0"/>
            </a:br>
            <a:r>
              <a:rPr lang="en-US" dirty="0"/>
              <a:t>(P – ATC) and width Q</a:t>
            </a:r>
          </a:p>
          <a:p>
            <a:pPr marL="692150" lvl="2" eaLnBrk="1" hangingPunct="1">
              <a:buFontTx/>
              <a:buNone/>
            </a:pPr>
            <a:r>
              <a:rPr lang="en-US" dirty="0"/>
              <a:t>($0.08) (260) = $20.80</a:t>
            </a:r>
          </a:p>
        </p:txBody>
      </p:sp>
      <p:grpSp>
        <p:nvGrpSpPr>
          <p:cNvPr id="78851" name="Rectangle 7"/>
          <p:cNvGrpSpPr>
            <a:grpSpLocks/>
          </p:cNvGrpSpPr>
          <p:nvPr/>
        </p:nvGrpSpPr>
        <p:grpSpPr bwMode="auto">
          <a:xfrm>
            <a:off x="4903788" y="2273300"/>
            <a:ext cx="4151312" cy="2689225"/>
            <a:chOff x="4828032" y="2273808"/>
            <a:chExt cx="4151376" cy="2688336"/>
          </a:xfrm>
        </p:grpSpPr>
        <p:pic>
          <p:nvPicPr>
            <p:cNvPr id="78854" name="Rectangle 7"/>
            <p:cNvPicPr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828032" y="2273808"/>
              <a:ext cx="4151376" cy="2688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9031" name="Text Box 7"/>
            <p:cNvSpPr txBox="1">
              <a:spLocks noChangeArrowheads="1"/>
            </p:cNvSpPr>
            <p:nvPr/>
          </p:nvSpPr>
          <p:spPr bwMode="auto">
            <a:xfrm>
              <a:off x="4891533" y="2310309"/>
              <a:ext cx="4032312" cy="257566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</p:grpSp>
      <p:sp>
        <p:nvSpPr>
          <p:cNvPr id="7" name="Rectangle 6"/>
          <p:cNvSpPr/>
          <p:nvPr/>
        </p:nvSpPr>
        <p:spPr bwMode="auto">
          <a:xfrm>
            <a:off x="5062538" y="2392363"/>
            <a:ext cx="3841750" cy="2411412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4294" y="2449513"/>
            <a:ext cx="3670300" cy="23042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Title 1"/>
          <p:cNvSpPr>
            <a:spLocks noGrp="1"/>
          </p:cNvSpPr>
          <p:nvPr>
            <p:ph type="title" idx="4294967295"/>
          </p:nvPr>
        </p:nvSpPr>
        <p:spPr>
          <a:xfrm>
            <a:off x="685800" y="50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Losses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660400" y="1270000"/>
            <a:ext cx="8229600" cy="4525963"/>
          </a:xfrm>
        </p:spPr>
        <p:txBody>
          <a:bodyPr/>
          <a:lstStyle/>
          <a:p>
            <a:pPr marL="225425" indent="-225425" eaLnBrk="1" hangingPunct="1"/>
            <a:r>
              <a:rPr lang="en-US"/>
              <a:t>Losses can also be shown on a graph</a:t>
            </a:r>
          </a:p>
          <a:p>
            <a:pPr marL="692150" lvl="2" eaLnBrk="1" hangingPunct="1"/>
            <a:r>
              <a:rPr lang="en-US"/>
              <a:t>When P &lt; ATC, the firm loses (P – ATC) per unit of output</a:t>
            </a:r>
          </a:p>
          <a:p>
            <a:pPr marL="511175" lvl="1" indent="-290513" eaLnBrk="1" hangingPunct="1"/>
            <a:r>
              <a:rPr lang="en-US"/>
              <a:t>Total losses are the </a:t>
            </a:r>
            <a:br>
              <a:rPr lang="en-US"/>
            </a:br>
            <a:r>
              <a:rPr lang="en-US"/>
              <a:t>rectangle whose height </a:t>
            </a:r>
            <a:br>
              <a:rPr lang="en-US"/>
            </a:br>
            <a:r>
              <a:rPr lang="en-US"/>
              <a:t>is ATC – P and whose </a:t>
            </a:r>
            <a:br>
              <a:rPr lang="en-US"/>
            </a:br>
            <a:r>
              <a:rPr lang="en-US"/>
              <a:t>width is Q</a:t>
            </a:r>
          </a:p>
          <a:p>
            <a:pPr marL="511175" lvl="1" indent="-290513" eaLnBrk="1" hangingPunct="1"/>
            <a:r>
              <a:rPr lang="en-US"/>
              <a:t>Losses  = (ATC – P) (Q)</a:t>
            </a:r>
          </a:p>
          <a:p>
            <a:pPr marL="511175" lvl="1" indent="-290513" eaLnBrk="1" hangingPunct="1">
              <a:buFontTx/>
              <a:buNone/>
            </a:pPr>
            <a:r>
              <a:rPr lang="en-US"/>
              <a:t>	($0.10 – $0.08) (180) </a:t>
            </a:r>
            <a:br>
              <a:rPr lang="en-US"/>
            </a:br>
            <a:r>
              <a:rPr lang="en-US"/>
              <a:t>= $3.60</a:t>
            </a:r>
          </a:p>
        </p:txBody>
      </p:sp>
      <p:grpSp>
        <p:nvGrpSpPr>
          <p:cNvPr id="80899" name="Rectangle 7"/>
          <p:cNvGrpSpPr>
            <a:grpSpLocks/>
          </p:cNvGrpSpPr>
          <p:nvPr/>
        </p:nvGrpSpPr>
        <p:grpSpPr bwMode="auto">
          <a:xfrm>
            <a:off x="4803775" y="2651125"/>
            <a:ext cx="4211638" cy="3127375"/>
            <a:chOff x="4803648" y="2651760"/>
            <a:chExt cx="4212336" cy="3127248"/>
          </a:xfrm>
        </p:grpSpPr>
        <p:pic>
          <p:nvPicPr>
            <p:cNvPr id="80902" name="Rectangle 7"/>
            <p:cNvPicPr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803648" y="2651760"/>
              <a:ext cx="4212336" cy="31272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1079" name="Text Box 7"/>
            <p:cNvSpPr txBox="1">
              <a:spLocks noChangeArrowheads="1"/>
            </p:cNvSpPr>
            <p:nvPr/>
          </p:nvSpPr>
          <p:spPr bwMode="auto">
            <a:xfrm>
              <a:off x="4863983" y="2689858"/>
              <a:ext cx="4096429" cy="3016128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</p:grpSp>
      <p:sp>
        <p:nvSpPr>
          <p:cNvPr id="7" name="Rectangle 6"/>
          <p:cNvSpPr/>
          <p:nvPr/>
        </p:nvSpPr>
        <p:spPr bwMode="auto">
          <a:xfrm>
            <a:off x="4965700" y="2778125"/>
            <a:ext cx="3892550" cy="2838450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0475" y="2935224"/>
            <a:ext cx="3683000" cy="24718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Accounting Profit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906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Most common profit idea</a:t>
            </a:r>
          </a:p>
          <a:p>
            <a:pPr lvl="1" algn="ctr" eaLnBrk="1" hangingPunct="1">
              <a:buFontTx/>
              <a:buNone/>
            </a:pPr>
            <a:r>
              <a:rPr lang="en-US" b="1" dirty="0"/>
              <a:t>Accounting profit</a:t>
            </a:r>
            <a:r>
              <a:rPr lang="en-US" dirty="0"/>
              <a:t> = total revenue – explicit costs</a:t>
            </a:r>
          </a:p>
          <a:p>
            <a:pPr lvl="1" eaLnBrk="1" hangingPunct="1"/>
            <a:r>
              <a:rPr lang="en-US" b="1" dirty="0"/>
              <a:t>Explicit costs</a:t>
            </a:r>
            <a:r>
              <a:rPr lang="en-US" dirty="0"/>
              <a:t> are payments firms make to purchase</a:t>
            </a:r>
          </a:p>
          <a:p>
            <a:pPr lvl="2" eaLnBrk="1" hangingPunct="1"/>
            <a:r>
              <a:rPr lang="en-US" dirty="0"/>
              <a:t>Resources (labor, land, etc.) and </a:t>
            </a:r>
          </a:p>
          <a:p>
            <a:pPr lvl="2" eaLnBrk="1" hangingPunct="1"/>
            <a:r>
              <a:rPr lang="en-US" dirty="0"/>
              <a:t>Products from other firms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Economic Profit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78933" y="1363134"/>
            <a:ext cx="8263467" cy="5367866"/>
          </a:xfrm>
        </p:spPr>
        <p:txBody>
          <a:bodyPr/>
          <a:lstStyle/>
          <a:p>
            <a:pPr eaLnBrk="1" hangingPunct="1"/>
            <a:r>
              <a:rPr lang="en-US" b="1" dirty="0"/>
              <a:t>Economic profit</a:t>
            </a:r>
            <a:r>
              <a:rPr lang="en-US" dirty="0"/>
              <a:t> is the difference between a firm's total revenue and the sum of its explicit and implicit costs</a:t>
            </a:r>
          </a:p>
          <a:p>
            <a:pPr lvl="1" eaLnBrk="1" hangingPunct="1"/>
            <a:r>
              <a:rPr lang="en-US" dirty="0"/>
              <a:t>Also called excess profits</a:t>
            </a:r>
          </a:p>
          <a:p>
            <a:pPr eaLnBrk="1" hangingPunct="1"/>
            <a:r>
              <a:rPr lang="en-US" b="1" dirty="0"/>
              <a:t>Implicit costs</a:t>
            </a:r>
            <a:r>
              <a:rPr lang="en-US" dirty="0"/>
              <a:t> are the opportunity costs of the resources supplied by the firm's owners</a:t>
            </a:r>
          </a:p>
          <a:p>
            <a:pPr eaLnBrk="1" hangingPunct="1"/>
            <a:r>
              <a:rPr lang="en-US" b="1" dirty="0"/>
              <a:t>Normal profit</a:t>
            </a:r>
            <a:r>
              <a:rPr lang="en-US" dirty="0"/>
              <a:t> occurs when total revenue = Explicit cost plus Implicit cost</a:t>
            </a:r>
          </a:p>
          <a:p>
            <a:pPr eaLnBrk="1" hangingPunct="1"/>
            <a:r>
              <a:rPr lang="en-US" dirty="0"/>
              <a:t>Normal profit = Zero economic profit</a:t>
            </a:r>
          </a:p>
          <a:p>
            <a:pPr lvl="1" eaLnBrk="1" hangingPunct="1"/>
            <a:r>
              <a:rPr lang="en-US" dirty="0"/>
              <a:t>The firm is earning the same amount as its opportunity (implicit) cost (the next best alternative use of its resources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 idx="4294967295"/>
          </p:nvPr>
        </p:nvSpPr>
        <p:spPr>
          <a:xfrm>
            <a:off x="942975" y="317500"/>
            <a:ext cx="7924800" cy="762000"/>
          </a:xfrm>
        </p:spPr>
        <p:txBody>
          <a:bodyPr/>
          <a:lstStyle/>
          <a:p>
            <a:pPr eaLnBrk="1" hangingPunct="1"/>
            <a:r>
              <a:rPr lang="en-US"/>
              <a:t>Three Kinds of Profit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838200" y="1570955"/>
            <a:ext cx="2387600" cy="2387600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 b="1" dirty="0">
                <a:solidFill>
                  <a:schemeClr val="bg1"/>
                </a:solidFill>
              </a:rPr>
              <a:t>Total</a:t>
            </a:r>
          </a:p>
          <a:p>
            <a:pPr algn="ctr">
              <a:defRPr/>
            </a:pPr>
            <a:r>
              <a:rPr lang="en-US" sz="2400" b="1" dirty="0">
                <a:solidFill>
                  <a:schemeClr val="bg1"/>
                </a:solidFill>
              </a:rPr>
              <a:t>Revenue</a:t>
            </a: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3548063" y="2395538"/>
            <a:ext cx="2505075" cy="2500312"/>
            <a:chOff x="3373211" y="2322703"/>
            <a:chExt cx="2505492" cy="2499361"/>
          </a:xfrm>
        </p:grpSpPr>
        <p:sp>
          <p:nvSpPr>
            <p:cNvPr id="6" name="Oval 4"/>
            <p:cNvSpPr>
              <a:spLocks noChangeArrowheads="1"/>
            </p:cNvSpPr>
            <p:nvPr/>
          </p:nvSpPr>
          <p:spPr bwMode="auto">
            <a:xfrm>
              <a:off x="3435350" y="2362200"/>
              <a:ext cx="2389188" cy="2387600"/>
            </a:xfrm>
            <a:prstGeom prst="ellipse">
              <a:avLst/>
            </a:prstGeom>
            <a:ln w="12700"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807585" y="3541713"/>
              <a:ext cx="1616075" cy="1208088"/>
            </a:xfrm>
            <a:custGeom>
              <a:avLst/>
              <a:gdLst/>
              <a:ahLst/>
              <a:cxnLst>
                <a:cxn ang="0">
                  <a:pos x="448" y="0"/>
                </a:cxn>
                <a:cxn ang="0">
                  <a:pos x="0" y="480"/>
                </a:cxn>
                <a:cxn ang="0">
                  <a:pos x="96" y="568"/>
                </a:cxn>
                <a:cxn ang="0">
                  <a:pos x="240" y="624"/>
                </a:cxn>
                <a:cxn ang="0">
                  <a:pos x="368" y="664"/>
                </a:cxn>
                <a:cxn ang="0">
                  <a:pos x="544" y="664"/>
                </a:cxn>
                <a:cxn ang="0">
                  <a:pos x="688" y="616"/>
                </a:cxn>
                <a:cxn ang="0">
                  <a:pos x="824" y="544"/>
                </a:cxn>
                <a:cxn ang="0">
                  <a:pos x="888" y="480"/>
                </a:cxn>
                <a:cxn ang="0">
                  <a:pos x="448" y="0"/>
                </a:cxn>
              </a:cxnLst>
              <a:rect l="0" t="0" r="r" b="b"/>
              <a:pathLst>
                <a:path w="888" h="664">
                  <a:moveTo>
                    <a:pt x="448" y="0"/>
                  </a:moveTo>
                  <a:lnTo>
                    <a:pt x="0" y="480"/>
                  </a:lnTo>
                  <a:lnTo>
                    <a:pt x="96" y="568"/>
                  </a:lnTo>
                  <a:lnTo>
                    <a:pt x="240" y="624"/>
                  </a:lnTo>
                  <a:lnTo>
                    <a:pt x="368" y="664"/>
                  </a:lnTo>
                  <a:lnTo>
                    <a:pt x="544" y="664"/>
                  </a:lnTo>
                  <a:lnTo>
                    <a:pt x="688" y="616"/>
                  </a:lnTo>
                  <a:lnTo>
                    <a:pt x="824" y="544"/>
                  </a:lnTo>
                  <a:lnTo>
                    <a:pt x="888" y="480"/>
                  </a:lnTo>
                  <a:lnTo>
                    <a:pt x="448" y="0"/>
                  </a:lnTo>
                  <a:close/>
                </a:path>
              </a:pathLst>
            </a:custGeom>
            <a:ln w="12700"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Oval 8"/>
            <p:cNvSpPr>
              <a:spLocks noChangeArrowheads="1"/>
            </p:cNvSpPr>
            <p:nvPr/>
          </p:nvSpPr>
          <p:spPr bwMode="auto">
            <a:xfrm>
              <a:off x="3420844" y="2362375"/>
              <a:ext cx="2389585" cy="23866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686" name="Text Box 10"/>
            <p:cNvSpPr txBox="1">
              <a:spLocks noChangeArrowheads="1"/>
            </p:cNvSpPr>
            <p:nvPr/>
          </p:nvSpPr>
          <p:spPr bwMode="auto">
            <a:xfrm>
              <a:off x="4040162" y="2751138"/>
              <a:ext cx="1150954" cy="8223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400">
                  <a:solidFill>
                    <a:schemeClr val="bg1"/>
                  </a:solidFill>
                </a:rPr>
                <a:t>Explicit</a:t>
              </a:r>
            </a:p>
            <a:p>
              <a:pPr algn="ctr"/>
              <a:r>
                <a:rPr lang="en-US" sz="2400">
                  <a:solidFill>
                    <a:schemeClr val="bg1"/>
                  </a:solidFill>
                </a:rPr>
                <a:t>Costs</a:t>
              </a:r>
            </a:p>
          </p:txBody>
        </p:sp>
      </p:grp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2384425" y="4400550"/>
            <a:ext cx="1709738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/>
              <a:t>Accounting</a:t>
            </a:r>
          </a:p>
          <a:p>
            <a:pPr algn="ctr"/>
            <a:r>
              <a:rPr lang="en-US" sz="2400"/>
              <a:t>Profit</a:t>
            </a: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6154738" y="5568950"/>
            <a:ext cx="13827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dirty="0"/>
              <a:t>Implicit Cost</a:t>
            </a:r>
          </a:p>
        </p:txBody>
      </p:sp>
      <p:sp>
        <p:nvSpPr>
          <p:cNvPr id="16" name="Line 17"/>
          <p:cNvSpPr>
            <a:spLocks noChangeShapeType="1"/>
          </p:cNvSpPr>
          <p:nvPr/>
        </p:nvSpPr>
        <p:spPr bwMode="auto">
          <a:xfrm flipH="1" flipV="1">
            <a:off x="8140700" y="5492750"/>
            <a:ext cx="165100" cy="4318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Text Box 18"/>
          <p:cNvSpPr txBox="1">
            <a:spLocks noChangeArrowheads="1"/>
          </p:cNvSpPr>
          <p:nvPr/>
        </p:nvSpPr>
        <p:spPr bwMode="auto">
          <a:xfrm>
            <a:off x="7537450" y="5568950"/>
            <a:ext cx="15367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/>
              <a:t>Economic</a:t>
            </a:r>
          </a:p>
          <a:p>
            <a:pPr algn="ctr"/>
            <a:r>
              <a:rPr lang="en-US" sz="2400"/>
              <a:t>Profit</a:t>
            </a:r>
          </a:p>
        </p:txBody>
      </p:sp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6315075" y="3144838"/>
            <a:ext cx="2505075" cy="2500312"/>
            <a:chOff x="6315456" y="3145266"/>
            <a:chExt cx="2505456" cy="2499361"/>
          </a:xfrm>
        </p:grpSpPr>
        <p:sp>
          <p:nvSpPr>
            <p:cNvPr id="7" name="Oval 5"/>
            <p:cNvSpPr>
              <a:spLocks noChangeArrowheads="1"/>
            </p:cNvSpPr>
            <p:nvPr/>
          </p:nvSpPr>
          <p:spPr bwMode="auto">
            <a:xfrm>
              <a:off x="6376988" y="3181080"/>
              <a:ext cx="2387600" cy="2387600"/>
            </a:xfrm>
            <a:prstGeom prst="ellipse">
              <a:avLst/>
            </a:prstGeom>
            <a:ln w="12700"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Freeform 13"/>
            <p:cNvSpPr>
              <a:spLocks/>
            </p:cNvSpPr>
            <p:nvPr/>
          </p:nvSpPr>
          <p:spPr bwMode="auto">
            <a:xfrm>
              <a:off x="6750497" y="4360828"/>
              <a:ext cx="1616321" cy="1207628"/>
            </a:xfrm>
            <a:custGeom>
              <a:avLst/>
              <a:gdLst/>
              <a:ahLst/>
              <a:cxnLst>
                <a:cxn ang="0">
                  <a:pos x="448" y="0"/>
                </a:cxn>
                <a:cxn ang="0">
                  <a:pos x="0" y="480"/>
                </a:cxn>
                <a:cxn ang="0">
                  <a:pos x="96" y="568"/>
                </a:cxn>
                <a:cxn ang="0">
                  <a:pos x="240" y="624"/>
                </a:cxn>
                <a:cxn ang="0">
                  <a:pos x="368" y="664"/>
                </a:cxn>
                <a:cxn ang="0">
                  <a:pos x="544" y="664"/>
                </a:cxn>
                <a:cxn ang="0">
                  <a:pos x="688" y="616"/>
                </a:cxn>
                <a:cxn ang="0">
                  <a:pos x="824" y="544"/>
                </a:cxn>
                <a:cxn ang="0">
                  <a:pos x="888" y="480"/>
                </a:cxn>
                <a:cxn ang="0">
                  <a:pos x="448" y="0"/>
                </a:cxn>
              </a:cxnLst>
              <a:rect l="0" t="0" r="r" b="b"/>
              <a:pathLst>
                <a:path w="888" h="664">
                  <a:moveTo>
                    <a:pt x="448" y="0"/>
                  </a:moveTo>
                  <a:lnTo>
                    <a:pt x="0" y="480"/>
                  </a:lnTo>
                  <a:lnTo>
                    <a:pt x="96" y="568"/>
                  </a:lnTo>
                  <a:lnTo>
                    <a:pt x="240" y="624"/>
                  </a:lnTo>
                  <a:lnTo>
                    <a:pt x="368" y="664"/>
                  </a:lnTo>
                  <a:lnTo>
                    <a:pt x="544" y="664"/>
                  </a:lnTo>
                  <a:lnTo>
                    <a:pt x="688" y="616"/>
                  </a:lnTo>
                  <a:lnTo>
                    <a:pt x="824" y="544"/>
                  </a:lnTo>
                  <a:lnTo>
                    <a:pt x="888" y="480"/>
                  </a:lnTo>
                  <a:lnTo>
                    <a:pt x="448" y="0"/>
                  </a:lnTo>
                  <a:close/>
                </a:path>
              </a:pathLst>
            </a:custGeom>
            <a:ln w="12700"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 algn="ctr"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Oval 15"/>
            <p:cNvSpPr>
              <a:spLocks noChangeArrowheads="1"/>
            </p:cNvSpPr>
            <p:nvPr/>
          </p:nvSpPr>
          <p:spPr bwMode="auto">
            <a:xfrm>
              <a:off x="6369439" y="3181764"/>
              <a:ext cx="2389551" cy="23866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Freeform 16"/>
            <p:cNvSpPr>
              <a:spLocks/>
            </p:cNvSpPr>
            <p:nvPr/>
          </p:nvSpPr>
          <p:spPr bwMode="auto">
            <a:xfrm>
              <a:off x="7569200" y="4362180"/>
              <a:ext cx="800100" cy="11811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8" y="744"/>
                </a:cxn>
                <a:cxn ang="0">
                  <a:pos x="304" y="704"/>
                </a:cxn>
                <a:cxn ang="0">
                  <a:pos x="464" y="608"/>
                </a:cxn>
                <a:cxn ang="0">
                  <a:pos x="504" y="552"/>
                </a:cxn>
                <a:cxn ang="0">
                  <a:pos x="0" y="0"/>
                </a:cxn>
              </a:cxnLst>
              <a:rect l="0" t="0" r="r" b="b"/>
              <a:pathLst>
                <a:path w="504" h="744">
                  <a:moveTo>
                    <a:pt x="0" y="0"/>
                  </a:moveTo>
                  <a:lnTo>
                    <a:pt x="168" y="744"/>
                  </a:lnTo>
                  <a:lnTo>
                    <a:pt x="304" y="704"/>
                  </a:lnTo>
                  <a:lnTo>
                    <a:pt x="464" y="608"/>
                  </a:lnTo>
                  <a:lnTo>
                    <a:pt x="504" y="55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678" name="Text Box 20"/>
            <p:cNvSpPr txBox="1">
              <a:spLocks noChangeArrowheads="1"/>
            </p:cNvSpPr>
            <p:nvPr/>
          </p:nvSpPr>
          <p:spPr bwMode="auto">
            <a:xfrm>
              <a:off x="7000875" y="3570018"/>
              <a:ext cx="1150938" cy="8223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400">
                  <a:solidFill>
                    <a:schemeClr val="bg1"/>
                  </a:solidFill>
                </a:rPr>
                <a:t>Explicit</a:t>
              </a:r>
            </a:p>
            <a:p>
              <a:pPr algn="ctr"/>
              <a:r>
                <a:rPr lang="en-US" sz="2400">
                  <a:solidFill>
                    <a:schemeClr val="bg1"/>
                  </a:solidFill>
                </a:rPr>
                <a:t>Costs</a:t>
              </a:r>
            </a:p>
          </p:txBody>
        </p:sp>
      </p:grpSp>
      <p:cxnSp>
        <p:nvCxnSpPr>
          <p:cNvPr id="21" name="Straight Arrow Connector 20"/>
          <p:cNvCxnSpPr>
            <a:stCxn id="11" idx="3"/>
          </p:cNvCxnSpPr>
          <p:nvPr/>
        </p:nvCxnSpPr>
        <p:spPr bwMode="auto">
          <a:xfrm flipV="1">
            <a:off x="4094163" y="4400550"/>
            <a:ext cx="573087" cy="41592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7" idx="0"/>
          </p:cNvCxnSpPr>
          <p:nvPr/>
        </p:nvCxnSpPr>
        <p:spPr bwMode="auto">
          <a:xfrm rot="16200000" flipV="1">
            <a:off x="7795419" y="5058569"/>
            <a:ext cx="520700" cy="500062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3" idx="0"/>
          </p:cNvCxnSpPr>
          <p:nvPr/>
        </p:nvCxnSpPr>
        <p:spPr bwMode="auto">
          <a:xfrm flipV="1">
            <a:off x="6846094" y="5067300"/>
            <a:ext cx="454819" cy="50165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3016250" y="1733550"/>
            <a:ext cx="5965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tabLst>
                <a:tab pos="1882775" algn="l"/>
              </a:tabLst>
            </a:pPr>
            <a:r>
              <a:rPr lang="en-US" sz="2000"/>
              <a:t>Total Revenue = Explicit Costs + Accounting Profit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820738" y="5494338"/>
            <a:ext cx="550703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5425" indent="-225425">
              <a:tabLst>
                <a:tab pos="1139825" algn="l"/>
              </a:tabLst>
            </a:pPr>
            <a:r>
              <a:rPr lang="en-US" sz="2000" dirty="0"/>
              <a:t>Economic</a:t>
            </a:r>
            <a:br>
              <a:rPr lang="en-US" sz="2000" dirty="0"/>
            </a:br>
            <a:r>
              <a:rPr lang="en-US" sz="2000" dirty="0"/>
              <a:t>Profit  =  Accounting Profit – Implicit Cost</a:t>
            </a:r>
          </a:p>
        </p:txBody>
      </p:sp>
      <p:sp>
        <p:nvSpPr>
          <p:cNvPr id="25" name="Equal 24"/>
          <p:cNvSpPr/>
          <p:nvPr/>
        </p:nvSpPr>
        <p:spPr bwMode="auto">
          <a:xfrm>
            <a:off x="3263700" y="2504046"/>
            <a:ext cx="422031" cy="590843"/>
          </a:xfrm>
          <a:prstGeom prst="mathEqual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Equal 26"/>
          <p:cNvSpPr/>
          <p:nvPr/>
        </p:nvSpPr>
        <p:spPr bwMode="auto">
          <a:xfrm>
            <a:off x="6132023" y="3050340"/>
            <a:ext cx="422031" cy="590843"/>
          </a:xfrm>
          <a:prstGeom prst="mathEqual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7" grpId="0"/>
      <p:bldP spid="30" grpId="0"/>
      <p:bldP spid="3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 idx="4294967295"/>
          </p:nvPr>
        </p:nvSpPr>
        <p:spPr>
          <a:xfrm>
            <a:off x="685800" y="1143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Example: Economic Profit Guides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5800" y="1358900"/>
            <a:ext cx="8229600" cy="5397500"/>
          </a:xfrm>
        </p:spPr>
        <p:txBody>
          <a:bodyPr/>
          <a:lstStyle/>
          <a:p>
            <a:pPr eaLnBrk="1" hangingPunct="1"/>
            <a:r>
              <a:rPr lang="en-US" dirty="0"/>
              <a:t>Kim Hyun-</a:t>
            </a:r>
            <a:r>
              <a:rPr lang="en-US" dirty="0" err="1"/>
              <a:t>woo's</a:t>
            </a:r>
            <a:r>
              <a:rPr lang="en-US" dirty="0"/>
              <a:t> decision: continue farming or quit?</a:t>
            </a:r>
          </a:p>
          <a:p>
            <a:pPr lvl="1" eaLnBrk="1" hangingPunct="1"/>
            <a:r>
              <a:rPr lang="en-US" dirty="0"/>
              <a:t>Quit farming and earn $11,000 per year working retail</a:t>
            </a:r>
          </a:p>
          <a:p>
            <a:pPr lvl="1" eaLnBrk="1" hangingPunct="1"/>
            <a:r>
              <a:rPr lang="en-US" dirty="0"/>
              <a:t>Explicit farm costs are $10,000</a:t>
            </a:r>
          </a:p>
          <a:p>
            <a:pPr lvl="1" eaLnBrk="1" hangingPunct="1"/>
            <a:r>
              <a:rPr lang="en-US" dirty="0"/>
              <a:t>Total revenue is $22,000</a:t>
            </a:r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1" eaLnBrk="1" hangingPunct="1"/>
            <a:r>
              <a:rPr lang="en-US" dirty="0"/>
              <a:t>Kim should stick with farming</a:t>
            </a:r>
          </a:p>
          <a:p>
            <a:pPr lvl="2" eaLnBrk="1" hangingPunct="1"/>
            <a:r>
              <a:rPr lang="en-US" dirty="0"/>
              <a:t>His economic profit is positive</a:t>
            </a:r>
          </a:p>
        </p:txBody>
      </p:sp>
      <p:graphicFrame>
        <p:nvGraphicFramePr>
          <p:cNvPr id="29714" name="Group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207810"/>
              </p:ext>
            </p:extLst>
          </p:nvPr>
        </p:nvGraphicFramePr>
        <p:xfrm>
          <a:off x="1017588" y="4243388"/>
          <a:ext cx="7702550" cy="1463040"/>
        </p:xfrm>
        <a:graphic>
          <a:graphicData uri="http://schemas.openxmlformats.org/drawingml/2006/table">
            <a:tbl>
              <a:tblPr/>
              <a:tblGrid>
                <a:gridCol w="280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8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Accounting Profit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Economic Profit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Implicit Costs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$12,000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$1,000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$11,000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 idx="4294967295"/>
          </p:nvPr>
        </p:nvSpPr>
        <p:spPr>
          <a:xfrm>
            <a:off x="762000" y="1397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Example: Economic Profit Guides Decisions, A Change in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57250" y="142875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Kim Hyun-</a:t>
            </a:r>
            <a:r>
              <a:rPr lang="en-US" dirty="0" err="1"/>
              <a:t>woo's</a:t>
            </a:r>
            <a:r>
              <a:rPr lang="en-US" dirty="0"/>
              <a:t> decision: continue farming or quit?</a:t>
            </a:r>
          </a:p>
          <a:p>
            <a:pPr lvl="1" eaLnBrk="1" hangingPunct="1"/>
            <a:r>
              <a:rPr lang="en-US" dirty="0"/>
              <a:t>Quit farming and earn $11,000 per year working retail</a:t>
            </a:r>
          </a:p>
          <a:p>
            <a:pPr lvl="1" eaLnBrk="1" hangingPunct="1"/>
            <a:r>
              <a:rPr lang="en-US" dirty="0"/>
              <a:t>Explicit farm costs are $10,000</a:t>
            </a:r>
          </a:p>
          <a:p>
            <a:pPr lvl="1" eaLnBrk="1" hangingPunct="1"/>
            <a:r>
              <a:rPr lang="en-US" dirty="0"/>
              <a:t>Total revenue is $20,000</a:t>
            </a:r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1" eaLnBrk="1" hangingPunct="1"/>
            <a:r>
              <a:rPr lang="en-US" dirty="0"/>
              <a:t>Kim should quit</a:t>
            </a:r>
          </a:p>
          <a:p>
            <a:pPr lvl="2" eaLnBrk="1" hangingPunct="1"/>
            <a:r>
              <a:rPr lang="en-US" dirty="0"/>
              <a:t>His economic profit is negative</a:t>
            </a:r>
          </a:p>
          <a:p>
            <a:pPr lvl="1" eaLnBrk="1" hangingPunct="1">
              <a:buFontTx/>
              <a:buNone/>
            </a:pPr>
            <a:endParaRPr lang="en-US" dirty="0"/>
          </a:p>
        </p:txBody>
      </p:sp>
      <p:graphicFrame>
        <p:nvGraphicFramePr>
          <p:cNvPr id="43024" name="Group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281586"/>
              </p:ext>
            </p:extLst>
          </p:nvPr>
        </p:nvGraphicFramePr>
        <p:xfrm>
          <a:off x="1004888" y="4268788"/>
          <a:ext cx="7702550" cy="1463040"/>
        </p:xfrm>
        <a:graphic>
          <a:graphicData uri="http://schemas.openxmlformats.org/drawingml/2006/table">
            <a:tbl>
              <a:tblPr/>
              <a:tblGrid>
                <a:gridCol w="280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8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Accounting Profit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Economic Profit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Implicit Costs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$10,000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-$1,000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$11,000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/>
          <p:cNvSpPr>
            <a:spLocks noGrp="1"/>
          </p:cNvSpPr>
          <p:nvPr>
            <p:ph type="title" idx="4294967295"/>
          </p:nvPr>
        </p:nvSpPr>
        <p:spPr>
          <a:xfrm>
            <a:off x="6858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Example: Owned Inputs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95350" y="10668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Rent for the farm land is $6,000 of the $10,000 in explicit costs</a:t>
            </a:r>
          </a:p>
          <a:p>
            <a:pPr lvl="1" eaLnBrk="1" hangingPunct="1"/>
            <a:r>
              <a:rPr lang="en-US" dirty="0"/>
              <a:t>What changes if Kim inherits the land?</a:t>
            </a:r>
          </a:p>
          <a:p>
            <a:pPr lvl="2" eaLnBrk="1" hangingPunct="1"/>
            <a:r>
              <a:rPr lang="en-US" dirty="0"/>
              <a:t>His rent payments become an implicit cost</a:t>
            </a:r>
          </a:p>
          <a:p>
            <a:pPr lvl="2" eaLnBrk="1" hangingPunct="1"/>
            <a:endParaRPr lang="en-US" dirty="0"/>
          </a:p>
          <a:p>
            <a:pPr lvl="2" eaLnBrk="1" hangingPunct="1"/>
            <a:endParaRPr lang="en-US" dirty="0"/>
          </a:p>
          <a:p>
            <a:pPr lvl="2" eaLnBrk="1" hangingPunct="1"/>
            <a:endParaRPr lang="en-US" dirty="0"/>
          </a:p>
          <a:p>
            <a:pPr lvl="2" eaLnBrk="1" hangingPunct="1"/>
            <a:endParaRPr lang="en-US" dirty="0"/>
          </a:p>
          <a:p>
            <a:pPr lvl="2"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Kim should quit farming</a:t>
            </a:r>
          </a:p>
        </p:txBody>
      </p:sp>
      <p:graphicFrame>
        <p:nvGraphicFramePr>
          <p:cNvPr id="45084" name="Group 28"/>
          <p:cNvGraphicFramePr>
            <a:graphicFrameLocks noGrp="1"/>
          </p:cNvGraphicFramePr>
          <p:nvPr/>
        </p:nvGraphicFramePr>
        <p:xfrm>
          <a:off x="1006475" y="3025775"/>
          <a:ext cx="7702550" cy="1463040"/>
        </p:xfrm>
        <a:graphic>
          <a:graphicData uri="http://schemas.openxmlformats.org/drawingml/2006/table">
            <a:tbl>
              <a:tblPr/>
              <a:tblGrid>
                <a:gridCol w="2566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6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Total Revenue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Explicit Costs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Implicit Costs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$20,000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$4,000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$17,000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5085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703823"/>
              </p:ext>
            </p:extLst>
          </p:nvPr>
        </p:nvGraphicFramePr>
        <p:xfrm>
          <a:off x="1001713" y="4498975"/>
          <a:ext cx="7702550" cy="1463040"/>
        </p:xfrm>
        <a:graphic>
          <a:graphicData uri="http://schemas.openxmlformats.org/drawingml/2006/table">
            <a:tbl>
              <a:tblPr/>
              <a:tblGrid>
                <a:gridCol w="280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8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Accounting Profit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Economic Profit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Implicit Costs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$16,000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-$1,000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$17,000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The Invisible Hand (Price)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001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Individuals act in their own interests</a:t>
            </a:r>
          </a:p>
          <a:p>
            <a:pPr lvl="1" eaLnBrk="1" hangingPunct="1"/>
            <a:r>
              <a:rPr lang="en-US" dirty="0"/>
              <a:t>People maximizes their own self-interest</a:t>
            </a:r>
          </a:p>
          <a:p>
            <a:pPr lvl="1" eaLnBrk="1" hangingPunct="1"/>
            <a:r>
              <a:rPr lang="en-US" dirty="0"/>
              <a:t>This leads to maximum welfare for society</a:t>
            </a:r>
          </a:p>
          <a:p>
            <a:pPr eaLnBrk="1" hangingPunct="1"/>
            <a:r>
              <a:rPr lang="en-US" dirty="0"/>
              <a:t>Profit motive </a:t>
            </a:r>
          </a:p>
          <a:p>
            <a:pPr lvl="1" eaLnBrk="1" hangingPunct="1"/>
            <a:r>
              <a:rPr lang="en-US" dirty="0"/>
              <a:t>Produces highly valued goods and services</a:t>
            </a:r>
          </a:p>
          <a:p>
            <a:pPr lvl="1" eaLnBrk="1" hangingPunct="1"/>
            <a:r>
              <a:rPr lang="en-US" dirty="0"/>
              <a:t>Allocates resources to their highest value use</a:t>
            </a:r>
          </a:p>
          <a:p>
            <a:pPr lvl="1" eaLnBrk="1" hangingPunct="1"/>
            <a:r>
              <a:rPr lang="en-US" dirty="0"/>
              <a:t>Allocate the product to consumers that pay the highest price</a:t>
            </a:r>
          </a:p>
          <a:p>
            <a:pPr eaLnBrk="1" hangingPunct="1"/>
            <a:r>
              <a:rPr lang="en-US" dirty="0"/>
              <a:t>Allocate resources and output through price via the market system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Two Functions of Price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5800" y="1397000"/>
            <a:ext cx="8229600" cy="4525963"/>
          </a:xfrm>
        </p:spPr>
        <p:txBody>
          <a:bodyPr/>
          <a:lstStyle/>
          <a:p>
            <a:pPr eaLnBrk="1" hangingPunct="1"/>
            <a:r>
              <a:rPr lang="en-US" b="1" dirty="0"/>
              <a:t>Rationing function </a:t>
            </a:r>
            <a:r>
              <a:rPr lang="en-US" dirty="0"/>
              <a:t>of price distributes scarce goods to the consumers who value them most highly</a:t>
            </a:r>
          </a:p>
          <a:p>
            <a:pPr eaLnBrk="1" hangingPunct="1"/>
            <a:r>
              <a:rPr lang="en-US" b="1" dirty="0"/>
              <a:t>Allocative function</a:t>
            </a:r>
            <a:r>
              <a:rPr lang="en-US" dirty="0"/>
              <a:t> of price directs resources away from overcrowded markets to markets that are underserved</a:t>
            </a:r>
          </a:p>
          <a:p>
            <a:pPr eaLnBrk="1" hangingPunct="1"/>
            <a:r>
              <a:rPr lang="en-US" b="1" dirty="0"/>
              <a:t>Invisible Hand Theory</a:t>
            </a:r>
            <a:r>
              <a:rPr lang="en-US" dirty="0"/>
              <a:t> states that the actions of independent, self-interested buyers and sellers will often result in the most efficient allocation of resources</a:t>
            </a:r>
          </a:p>
          <a:p>
            <a:pPr lvl="1" eaLnBrk="1" hangingPunct="1"/>
            <a:r>
              <a:rPr lang="en-US" dirty="0"/>
              <a:t>Articulated by Adam Smith in eighteenth century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/>
          <p:cNvSpPr>
            <a:spLocks noGrp="1"/>
          </p:cNvSpPr>
          <p:nvPr>
            <p:ph type="title" idx="4294967295"/>
          </p:nvPr>
        </p:nvSpPr>
        <p:spPr>
          <a:xfrm>
            <a:off x="685800" y="40005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Responses to Profits and Losses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23900" y="173355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Will the firm remain in business in the long run?</a:t>
            </a:r>
          </a:p>
          <a:p>
            <a:pPr lvl="1" eaLnBrk="1" hangingPunct="1"/>
            <a:r>
              <a:rPr lang="en-US" dirty="0"/>
              <a:t>If it covers ALL of its costs</a:t>
            </a:r>
          </a:p>
          <a:p>
            <a:pPr eaLnBrk="1" hangingPunct="1"/>
            <a:r>
              <a:rPr lang="en-US" dirty="0"/>
              <a:t>Firms that earn normal profit recover only their opportunity cost</a:t>
            </a:r>
          </a:p>
          <a:p>
            <a:pPr eaLnBrk="1" hangingPunct="1"/>
            <a:r>
              <a:rPr lang="en-US" dirty="0"/>
              <a:t>Firms that earn positive economic profit recover more than their opportunity cost</a:t>
            </a:r>
          </a:p>
          <a:p>
            <a:pPr eaLnBrk="1" hangingPunct="1"/>
            <a:r>
              <a:rPr lang="en-US" dirty="0"/>
              <a:t>Markets in which firms are earning economic profit will attract resources</a:t>
            </a:r>
          </a:p>
          <a:p>
            <a:pPr eaLnBrk="1" hangingPunct="1"/>
            <a:r>
              <a:rPr lang="en-US" dirty="0"/>
              <a:t>Markets in which firms are suffering economic losses will lose resources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Response to Economic Profits</a:t>
            </a:r>
          </a:p>
        </p:txBody>
      </p:sp>
      <p:sp>
        <p:nvSpPr>
          <p:cNvPr id="38914" name="Content Placeholder 2"/>
          <p:cNvSpPr>
            <a:spLocks noGrp="1"/>
          </p:cNvSpPr>
          <p:nvPr>
            <p:ph idx="4294967295"/>
          </p:nvPr>
        </p:nvSpPr>
        <p:spPr>
          <a:xfrm>
            <a:off x="914400" y="1600200"/>
            <a:ext cx="8229600" cy="4525963"/>
          </a:xfrm>
        </p:spPr>
        <p:txBody>
          <a:bodyPr/>
          <a:lstStyle/>
          <a:p>
            <a:pPr marL="225425" indent="-225425" eaLnBrk="1" hangingPunct="1"/>
            <a:r>
              <a:rPr lang="en-US" dirty="0"/>
              <a:t>Markets with excess profits attract resources</a:t>
            </a: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1020763" y="2187575"/>
            <a:ext cx="7827962" cy="4232275"/>
            <a:chOff x="945304" y="2187831"/>
            <a:chExt cx="7826870" cy="4231342"/>
          </a:xfrm>
        </p:grpSpPr>
        <p:grpSp>
          <p:nvGrpSpPr>
            <p:cNvPr id="3" name="Rectangle 4"/>
            <p:cNvGrpSpPr>
              <a:grpSpLocks/>
            </p:cNvGrpSpPr>
            <p:nvPr/>
          </p:nvGrpSpPr>
          <p:grpSpPr bwMode="auto">
            <a:xfrm>
              <a:off x="896860" y="2152152"/>
              <a:ext cx="7929790" cy="4339395"/>
              <a:chOff x="896112" y="2151888"/>
              <a:chExt cx="7930896" cy="4340352"/>
            </a:xfrm>
          </p:grpSpPr>
          <p:pic>
            <p:nvPicPr>
              <p:cNvPr id="38953" name="Rectangle 4"/>
              <p:cNvPicPr>
                <a:picLocks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96112" y="2151888"/>
                <a:ext cx="7930896" cy="43403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91143" name="Text Box 7"/>
              <p:cNvSpPr txBox="1">
                <a:spLocks noChangeArrowheads="1"/>
              </p:cNvSpPr>
              <p:nvPr/>
            </p:nvSpPr>
            <p:spPr bwMode="auto">
              <a:xfrm>
                <a:off x="958850" y="2187575"/>
                <a:ext cx="7813675" cy="423227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FFFFFF"/>
                    </a:outerShdw>
                  </a:effectLst>
                </a:endParaRPr>
              </a:p>
            </p:txBody>
          </p:sp>
        </p:grpSp>
        <p:sp>
          <p:nvSpPr>
            <p:cNvPr id="6" name="Rectangle 5"/>
            <p:cNvSpPr/>
            <p:nvPr/>
          </p:nvSpPr>
          <p:spPr bwMode="auto">
            <a:xfrm>
              <a:off x="1035778" y="2264014"/>
              <a:ext cx="7658619" cy="4078976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4" name="Group 50"/>
            <p:cNvGrpSpPr>
              <a:grpSpLocks/>
            </p:cNvGrpSpPr>
            <p:nvPr/>
          </p:nvGrpSpPr>
          <p:grpSpPr bwMode="auto">
            <a:xfrm>
              <a:off x="945304" y="2264031"/>
              <a:ext cx="7733186" cy="4078942"/>
              <a:chOff x="1233014" y="1404937"/>
              <a:chExt cx="7733186" cy="4078942"/>
            </a:xfrm>
          </p:grpSpPr>
          <p:sp>
            <p:nvSpPr>
              <p:cNvPr id="8" name="Line 52"/>
              <p:cNvSpPr>
                <a:spLocks noChangeShapeType="1"/>
              </p:cNvSpPr>
              <p:nvPr/>
            </p:nvSpPr>
            <p:spPr bwMode="auto">
              <a:xfrm>
                <a:off x="5744060" y="3195225"/>
                <a:ext cx="2622184" cy="0"/>
              </a:xfrm>
              <a:prstGeom prst="line">
                <a:avLst/>
              </a:prstGeom>
              <a:ln>
                <a:solidFill>
                  <a:srgbClr val="00B0F0"/>
                </a:solidFill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algn="ctr">
                  <a:defRPr/>
                </a:pPr>
                <a:endParaRPr lang="en-US" sz="2000" dirty="0"/>
              </a:p>
            </p:txBody>
          </p:sp>
          <p:sp>
            <p:nvSpPr>
              <p:cNvPr id="38920" name="Text Box 58"/>
              <p:cNvSpPr txBox="1">
                <a:spLocks noChangeArrowheads="1"/>
              </p:cNvSpPr>
              <p:nvPr/>
            </p:nvSpPr>
            <p:spPr bwMode="auto">
              <a:xfrm>
                <a:off x="8274884" y="3022237"/>
                <a:ext cx="327406" cy="3880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US" sz="2000"/>
                  <a:t>P</a:t>
                </a:r>
              </a:p>
            </p:txBody>
          </p:sp>
          <p:sp>
            <p:nvSpPr>
              <p:cNvPr id="38921" name="Text Box 61"/>
              <p:cNvSpPr txBox="1">
                <a:spLocks noChangeArrowheads="1"/>
              </p:cNvSpPr>
              <p:nvPr/>
            </p:nvSpPr>
            <p:spPr bwMode="auto">
              <a:xfrm>
                <a:off x="5150421" y="3046875"/>
                <a:ext cx="591539" cy="358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US" sz="1800"/>
                  <a:t>2</a:t>
                </a:r>
              </a:p>
            </p:txBody>
          </p:sp>
          <p:sp>
            <p:nvSpPr>
              <p:cNvPr id="38922" name="Line 54"/>
              <p:cNvSpPr>
                <a:spLocks noChangeShapeType="1"/>
              </p:cNvSpPr>
              <p:nvPr/>
            </p:nvSpPr>
            <p:spPr bwMode="auto">
              <a:xfrm>
                <a:off x="5733407" y="4882371"/>
                <a:ext cx="25357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23" name="Text Box 55"/>
              <p:cNvSpPr txBox="1">
                <a:spLocks noChangeArrowheads="1"/>
              </p:cNvSpPr>
              <p:nvPr/>
            </p:nvSpPr>
            <p:spPr bwMode="auto">
              <a:xfrm>
                <a:off x="5594334" y="5114547"/>
                <a:ext cx="3371866" cy="358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800"/>
                  <a:t>Quantity (000s of bushels/year)</a:t>
                </a:r>
              </a:p>
            </p:txBody>
          </p:sp>
          <p:sp>
            <p:nvSpPr>
              <p:cNvPr id="38924" name="Text Box 56"/>
              <p:cNvSpPr txBox="1">
                <a:spLocks noChangeArrowheads="1"/>
              </p:cNvSpPr>
              <p:nvPr/>
            </p:nvSpPr>
            <p:spPr bwMode="auto">
              <a:xfrm>
                <a:off x="4985592" y="1614100"/>
                <a:ext cx="869914" cy="6463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800"/>
                  <a:t>Price </a:t>
                </a:r>
                <a:br>
                  <a:rPr lang="en-US" sz="1800"/>
                </a:br>
                <a:r>
                  <a:rPr lang="en-US" sz="1800"/>
                  <a:t>$/bu</a:t>
                </a:r>
              </a:p>
            </p:txBody>
          </p:sp>
          <p:sp>
            <p:nvSpPr>
              <p:cNvPr id="38925" name="Line 57"/>
              <p:cNvSpPr>
                <a:spLocks noChangeShapeType="1"/>
              </p:cNvSpPr>
              <p:nvPr/>
            </p:nvSpPr>
            <p:spPr bwMode="auto">
              <a:xfrm>
                <a:off x="5741959" y="1853494"/>
                <a:ext cx="0" cy="302887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26" name="Line 53"/>
              <p:cNvSpPr>
                <a:spLocks noChangeShapeType="1"/>
              </p:cNvSpPr>
              <p:nvPr/>
            </p:nvSpPr>
            <p:spPr bwMode="auto">
              <a:xfrm flipV="1">
                <a:off x="7509448" y="3217798"/>
                <a:ext cx="0" cy="16738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27" name="Text Box 59"/>
              <p:cNvSpPr txBox="1">
                <a:spLocks noChangeArrowheads="1"/>
              </p:cNvSpPr>
              <p:nvPr/>
            </p:nvSpPr>
            <p:spPr bwMode="auto">
              <a:xfrm>
                <a:off x="7246185" y="1888484"/>
                <a:ext cx="54592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US" sz="1800"/>
                  <a:t>MC</a:t>
                </a:r>
              </a:p>
            </p:txBody>
          </p:sp>
          <p:sp>
            <p:nvSpPr>
              <p:cNvPr id="38928" name="Text Box 60"/>
              <p:cNvSpPr txBox="1">
                <a:spLocks noChangeArrowheads="1"/>
              </p:cNvSpPr>
              <p:nvPr/>
            </p:nvSpPr>
            <p:spPr bwMode="auto">
              <a:xfrm>
                <a:off x="7190840" y="4900849"/>
                <a:ext cx="652830" cy="358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800"/>
                  <a:t> 130</a:t>
                </a:r>
              </a:p>
            </p:txBody>
          </p:sp>
          <p:sp>
            <p:nvSpPr>
              <p:cNvPr id="18" name="Rectangle 51"/>
              <p:cNvSpPr>
                <a:spLocks noChangeArrowheads="1"/>
              </p:cNvSpPr>
              <p:nvPr/>
            </p:nvSpPr>
            <p:spPr bwMode="auto">
              <a:xfrm>
                <a:off x="5769103" y="3226467"/>
                <a:ext cx="1740344" cy="632213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>
                  <a:defRPr/>
                </a:pPr>
                <a:endParaRPr 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9" name="Freeform 65"/>
              <p:cNvSpPr>
                <a:spLocks/>
              </p:cNvSpPr>
              <p:nvPr/>
            </p:nvSpPr>
            <p:spPr bwMode="auto">
              <a:xfrm>
                <a:off x="5882152" y="2179449"/>
                <a:ext cx="2547583" cy="1803003"/>
              </a:xfrm>
              <a:custGeom>
                <a:avLst/>
                <a:gdLst/>
                <a:ahLst/>
                <a:cxnLst>
                  <a:cxn ang="0">
                    <a:pos x="0" y="665"/>
                  </a:cxn>
                  <a:cxn ang="0">
                    <a:pos x="412" y="1294"/>
                  </a:cxn>
                  <a:cxn ang="0">
                    <a:pos x="1175" y="1563"/>
                  </a:cxn>
                  <a:cxn ang="0">
                    <a:pos x="1848" y="1189"/>
                  </a:cxn>
                  <a:cxn ang="0">
                    <a:pos x="2416" y="0"/>
                  </a:cxn>
                </a:cxnLst>
                <a:rect l="0" t="0" r="r" b="b"/>
                <a:pathLst>
                  <a:path w="2416" h="1581">
                    <a:moveTo>
                      <a:pt x="0" y="665"/>
                    </a:moveTo>
                    <a:cubicBezTo>
                      <a:pt x="108" y="904"/>
                      <a:pt x="216" y="1144"/>
                      <a:pt x="412" y="1294"/>
                    </a:cubicBezTo>
                    <a:cubicBezTo>
                      <a:pt x="608" y="1444"/>
                      <a:pt x="936" y="1581"/>
                      <a:pt x="1175" y="1563"/>
                    </a:cubicBezTo>
                    <a:cubicBezTo>
                      <a:pt x="1414" y="1545"/>
                      <a:pt x="1641" y="1449"/>
                      <a:pt x="1848" y="1189"/>
                    </a:cubicBezTo>
                    <a:cubicBezTo>
                      <a:pt x="2055" y="929"/>
                      <a:pt x="2321" y="198"/>
                      <a:pt x="2416" y="0"/>
                    </a:cubicBezTo>
                  </a:path>
                </a:pathLst>
              </a:custGeom>
              <a:ln>
                <a:solidFill>
                  <a:srgbClr val="FF0000"/>
                </a:solidFill>
                <a:headEnd/>
                <a:tailEnd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algn="ctr">
                  <a:defRPr/>
                </a:pPr>
                <a:endParaRPr lang="en-US" sz="2000" dirty="0"/>
              </a:p>
            </p:txBody>
          </p:sp>
          <p:sp>
            <p:nvSpPr>
              <p:cNvPr id="38933" name="Text Box 67"/>
              <p:cNvSpPr txBox="1">
                <a:spLocks noChangeArrowheads="1"/>
              </p:cNvSpPr>
              <p:nvPr/>
            </p:nvSpPr>
            <p:spPr bwMode="auto">
              <a:xfrm>
                <a:off x="8096638" y="1888484"/>
                <a:ext cx="644278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US" sz="1800"/>
                  <a:t>ATC</a:t>
                </a:r>
              </a:p>
            </p:txBody>
          </p:sp>
          <p:sp>
            <p:nvSpPr>
              <p:cNvPr id="21" name="Freeform 69"/>
              <p:cNvSpPr>
                <a:spLocks/>
              </p:cNvSpPr>
              <p:nvPr/>
            </p:nvSpPr>
            <p:spPr bwMode="auto">
              <a:xfrm>
                <a:off x="5853581" y="1820753"/>
                <a:ext cx="2036479" cy="2679110"/>
              </a:xfrm>
              <a:custGeom>
                <a:avLst/>
                <a:gdLst/>
                <a:ahLst/>
                <a:cxnLst>
                  <a:cxn ang="0">
                    <a:pos x="0" y="1664"/>
                  </a:cxn>
                  <a:cxn ang="0">
                    <a:pos x="255" y="1724"/>
                  </a:cxn>
                  <a:cxn ang="0">
                    <a:pos x="636" y="1567"/>
                  </a:cxn>
                  <a:cxn ang="0">
                    <a:pos x="950" y="1297"/>
                  </a:cxn>
                  <a:cxn ang="0">
                    <a:pos x="1175" y="886"/>
                  </a:cxn>
                  <a:cxn ang="0">
                    <a:pos x="1429" y="0"/>
                  </a:cxn>
                </a:cxnLst>
                <a:rect l="0" t="0" r="r" b="b"/>
                <a:pathLst>
                  <a:path w="1429" h="1740">
                    <a:moveTo>
                      <a:pt x="0" y="1664"/>
                    </a:moveTo>
                    <a:cubicBezTo>
                      <a:pt x="44" y="1674"/>
                      <a:pt x="149" y="1740"/>
                      <a:pt x="255" y="1724"/>
                    </a:cubicBezTo>
                    <a:cubicBezTo>
                      <a:pt x="361" y="1708"/>
                      <a:pt x="520" y="1638"/>
                      <a:pt x="636" y="1567"/>
                    </a:cubicBezTo>
                    <a:cubicBezTo>
                      <a:pt x="752" y="1496"/>
                      <a:pt x="860" y="1410"/>
                      <a:pt x="950" y="1297"/>
                    </a:cubicBezTo>
                    <a:cubicBezTo>
                      <a:pt x="1040" y="1184"/>
                      <a:pt x="1095" y="1102"/>
                      <a:pt x="1175" y="886"/>
                    </a:cubicBezTo>
                    <a:cubicBezTo>
                      <a:pt x="1255" y="670"/>
                      <a:pt x="1376" y="184"/>
                      <a:pt x="1429" y="0"/>
                    </a:cubicBezTo>
                  </a:path>
                </a:pathLst>
              </a:custGeom>
              <a:ln>
                <a:solidFill>
                  <a:srgbClr val="FF0000"/>
                </a:solidFill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algn="ctr">
                  <a:defRPr/>
                </a:pPr>
                <a:endParaRPr lang="en-US" sz="2000" dirty="0"/>
              </a:p>
            </p:txBody>
          </p:sp>
          <p:sp>
            <p:nvSpPr>
              <p:cNvPr id="38935" name="Text Box 64"/>
              <p:cNvSpPr txBox="1">
                <a:spLocks noChangeArrowheads="1"/>
              </p:cNvSpPr>
              <p:nvPr/>
            </p:nvSpPr>
            <p:spPr bwMode="auto">
              <a:xfrm>
                <a:off x="5150421" y="3713861"/>
                <a:ext cx="591539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US" sz="1600"/>
                  <a:t>1.20</a:t>
                </a:r>
              </a:p>
            </p:txBody>
          </p:sp>
          <p:cxnSp>
            <p:nvCxnSpPr>
              <p:cNvPr id="23" name="Straight Connector 22"/>
              <p:cNvCxnSpPr/>
              <p:nvPr/>
            </p:nvCxnSpPr>
            <p:spPr bwMode="auto">
              <a:xfrm rot="10800000">
                <a:off x="5744060" y="3841196"/>
                <a:ext cx="1765054" cy="1587"/>
              </a:xfrm>
              <a:prstGeom prst="line">
                <a:avLst/>
              </a:prstGeom>
              <a:ln w="12700">
                <a:prstDash val="dash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8937" name="Text Box 7"/>
              <p:cNvSpPr txBox="1">
                <a:spLocks noChangeArrowheads="1"/>
              </p:cNvSpPr>
              <p:nvPr/>
            </p:nvSpPr>
            <p:spPr bwMode="auto">
              <a:xfrm>
                <a:off x="5391064" y="1404937"/>
                <a:ext cx="3039188" cy="3692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800" u="sng" dirty="0"/>
                  <a:t>Typical Rice Farm</a:t>
                </a:r>
              </a:p>
            </p:txBody>
          </p:sp>
          <p:sp>
            <p:nvSpPr>
              <p:cNvPr id="38938" name="Text Box 56"/>
              <p:cNvSpPr txBox="1">
                <a:spLocks noChangeArrowheads="1"/>
              </p:cNvSpPr>
              <p:nvPr/>
            </p:nvSpPr>
            <p:spPr bwMode="auto">
              <a:xfrm>
                <a:off x="1233014" y="1614100"/>
                <a:ext cx="869914" cy="6463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800" dirty="0"/>
                  <a:t>Price </a:t>
                </a:r>
                <a:br>
                  <a:rPr lang="en-US" sz="1800" dirty="0"/>
                </a:br>
                <a:r>
                  <a:rPr lang="en-US" sz="1800" dirty="0"/>
                  <a:t>$/</a:t>
                </a:r>
                <a:r>
                  <a:rPr lang="en-US" sz="1800" dirty="0" err="1"/>
                  <a:t>bu</a:t>
                </a:r>
                <a:endParaRPr lang="en-US" sz="1800" dirty="0"/>
              </a:p>
            </p:txBody>
          </p:sp>
          <p:sp>
            <p:nvSpPr>
              <p:cNvPr id="38939" name="Line 45"/>
              <p:cNvSpPr>
                <a:spLocks noChangeShapeType="1"/>
              </p:cNvSpPr>
              <p:nvPr/>
            </p:nvSpPr>
            <p:spPr bwMode="auto">
              <a:xfrm flipV="1">
                <a:off x="1948986" y="3180579"/>
                <a:ext cx="3795824" cy="4434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40" name="Text Box 38"/>
              <p:cNvSpPr txBox="1">
                <a:spLocks noChangeArrowheads="1"/>
              </p:cNvSpPr>
              <p:nvPr/>
            </p:nvSpPr>
            <p:spPr bwMode="auto">
              <a:xfrm>
                <a:off x="1414463" y="3045803"/>
                <a:ext cx="531672" cy="358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US" sz="1800"/>
                  <a:t>2</a:t>
                </a:r>
              </a:p>
            </p:txBody>
          </p:sp>
          <p:sp>
            <p:nvSpPr>
              <p:cNvPr id="38941" name="Line 3"/>
              <p:cNvSpPr>
                <a:spLocks noChangeShapeType="1"/>
              </p:cNvSpPr>
              <p:nvPr/>
            </p:nvSpPr>
            <p:spPr bwMode="auto">
              <a:xfrm>
                <a:off x="1937583" y="4891610"/>
                <a:ext cx="254290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42" name="Text Box 7"/>
              <p:cNvSpPr txBox="1">
                <a:spLocks noChangeArrowheads="1"/>
              </p:cNvSpPr>
              <p:nvPr/>
            </p:nvSpPr>
            <p:spPr bwMode="auto">
              <a:xfrm>
                <a:off x="1467668" y="5114547"/>
                <a:ext cx="346491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800"/>
                  <a:t>Quantity (M of bushels/year)</a:t>
                </a:r>
              </a:p>
            </p:txBody>
          </p:sp>
          <p:sp>
            <p:nvSpPr>
              <p:cNvPr id="38943" name="Line 13"/>
              <p:cNvSpPr>
                <a:spLocks noChangeShapeType="1"/>
              </p:cNvSpPr>
              <p:nvPr/>
            </p:nvSpPr>
            <p:spPr bwMode="auto">
              <a:xfrm>
                <a:off x="1946135" y="1853494"/>
                <a:ext cx="0" cy="30381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44" name="Text Box 16"/>
              <p:cNvSpPr txBox="1">
                <a:spLocks noChangeArrowheads="1"/>
              </p:cNvSpPr>
              <p:nvPr/>
            </p:nvSpPr>
            <p:spPr bwMode="auto">
              <a:xfrm>
                <a:off x="3988725" y="1763182"/>
                <a:ext cx="387707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800"/>
                  <a:t>S</a:t>
                </a:r>
              </a:p>
            </p:txBody>
          </p:sp>
          <p:sp>
            <p:nvSpPr>
              <p:cNvPr id="32" name="Line 47"/>
              <p:cNvSpPr>
                <a:spLocks noChangeShapeType="1"/>
              </p:cNvSpPr>
              <p:nvPr/>
            </p:nvSpPr>
            <p:spPr bwMode="auto">
              <a:xfrm>
                <a:off x="2185381" y="2120725"/>
                <a:ext cx="2114255" cy="2361679"/>
              </a:xfrm>
              <a:prstGeom prst="line">
                <a:avLst/>
              </a:prstGeom>
              <a:ln>
                <a:solidFill>
                  <a:srgbClr val="00B0F0"/>
                </a:solidFill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algn="ctr">
                  <a:defRPr/>
                </a:pPr>
                <a:endParaRPr lang="en-US" sz="1800" dirty="0"/>
              </a:p>
            </p:txBody>
          </p:sp>
          <p:sp>
            <p:nvSpPr>
              <p:cNvPr id="38946" name="Line 42"/>
              <p:cNvSpPr>
                <a:spLocks noChangeShapeType="1"/>
              </p:cNvSpPr>
              <p:nvPr/>
            </p:nvSpPr>
            <p:spPr bwMode="auto">
              <a:xfrm flipV="1">
                <a:off x="3163422" y="3222417"/>
                <a:ext cx="0" cy="16768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Line 14"/>
              <p:cNvSpPr>
                <a:spLocks noChangeShapeType="1"/>
              </p:cNvSpPr>
              <p:nvPr/>
            </p:nvSpPr>
            <p:spPr bwMode="auto">
              <a:xfrm rot="5400000">
                <a:off x="1622016" y="2350783"/>
                <a:ext cx="2914008" cy="1952353"/>
              </a:xfrm>
              <a:prstGeom prst="line">
                <a:avLst/>
              </a:prstGeom>
              <a:ln>
                <a:solidFill>
                  <a:srgbClr val="FF0000"/>
                </a:solidFill>
                <a:headEnd/>
                <a:tailEnd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algn="ctr">
                  <a:defRPr/>
                </a:pPr>
                <a:endParaRPr lang="en-US" sz="1800" dirty="0"/>
              </a:p>
            </p:txBody>
          </p:sp>
          <p:sp>
            <p:nvSpPr>
              <p:cNvPr id="38948" name="Text Box 15"/>
              <p:cNvSpPr txBox="1">
                <a:spLocks noChangeArrowheads="1"/>
              </p:cNvSpPr>
              <p:nvPr/>
            </p:nvSpPr>
            <p:spPr bwMode="auto">
              <a:xfrm>
                <a:off x="4088502" y="3955384"/>
                <a:ext cx="28793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US" sz="1800"/>
                  <a:t>D</a:t>
                </a:r>
              </a:p>
            </p:txBody>
          </p:sp>
          <p:sp>
            <p:nvSpPr>
              <p:cNvPr id="38949" name="Text Box 35"/>
              <p:cNvSpPr txBox="1">
                <a:spLocks noChangeArrowheads="1"/>
              </p:cNvSpPr>
              <p:nvPr/>
            </p:nvSpPr>
            <p:spPr bwMode="auto">
              <a:xfrm>
                <a:off x="2903689" y="4910088"/>
                <a:ext cx="535948" cy="358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800"/>
                  <a:t>65</a:t>
                </a:r>
              </a:p>
            </p:txBody>
          </p:sp>
          <p:sp>
            <p:nvSpPr>
              <p:cNvPr id="38950" name="Text Box 7"/>
              <p:cNvSpPr txBox="1">
                <a:spLocks noChangeArrowheads="1"/>
              </p:cNvSpPr>
              <p:nvPr/>
            </p:nvSpPr>
            <p:spPr bwMode="auto">
              <a:xfrm>
                <a:off x="2072962" y="1447513"/>
                <a:ext cx="2303470" cy="3692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800" u="sng" dirty="0"/>
                  <a:t>Rice Industry</a:t>
                </a:r>
              </a:p>
            </p:txBody>
          </p:sp>
          <p:sp>
            <p:nvSpPr>
              <p:cNvPr id="38951" name="TextBox 37"/>
              <p:cNvSpPr txBox="1">
                <a:spLocks noChangeArrowheads="1"/>
              </p:cNvSpPr>
              <p:nvPr/>
            </p:nvSpPr>
            <p:spPr bwMode="auto">
              <a:xfrm>
                <a:off x="5881648" y="2260431"/>
                <a:ext cx="1364537" cy="6463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800"/>
                  <a:t>Economic Profit</a:t>
                </a:r>
              </a:p>
            </p:txBody>
          </p:sp>
          <p:cxnSp>
            <p:nvCxnSpPr>
              <p:cNvPr id="39" name="Straight Arrow Connector 38"/>
              <p:cNvCxnSpPr>
                <a:stCxn id="38951" idx="2"/>
              </p:cNvCxnSpPr>
              <p:nvPr/>
            </p:nvCxnSpPr>
            <p:spPr bwMode="auto">
              <a:xfrm rot="5400000">
                <a:off x="6312326" y="3158721"/>
                <a:ext cx="503126" cy="1587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pic>
        <p:nvPicPr>
          <p:cNvPr id="42" name="Picture 4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Shrinking Economic Profits</a:t>
            </a:r>
          </a:p>
        </p:txBody>
      </p:sp>
      <p:sp>
        <p:nvSpPr>
          <p:cNvPr id="40962" name="Content Placeholder 2"/>
          <p:cNvSpPr>
            <a:spLocks noGrp="1"/>
          </p:cNvSpPr>
          <p:nvPr>
            <p:ph idx="4294967295"/>
          </p:nvPr>
        </p:nvSpPr>
        <p:spPr>
          <a:xfrm>
            <a:off x="876300" y="1600200"/>
            <a:ext cx="8229600" cy="4525963"/>
          </a:xfrm>
        </p:spPr>
        <p:txBody>
          <a:bodyPr/>
          <a:lstStyle/>
          <a:p>
            <a:pPr marL="225425" indent="-225425" eaLnBrk="1" hangingPunct="1"/>
            <a:r>
              <a:rPr lang="en-US" dirty="0"/>
              <a:t>Supply increases</a:t>
            </a:r>
          </a:p>
        </p:txBody>
      </p:sp>
      <p:grpSp>
        <p:nvGrpSpPr>
          <p:cNvPr id="2" name="Group 111"/>
          <p:cNvGrpSpPr>
            <a:grpSpLocks/>
          </p:cNvGrpSpPr>
          <p:nvPr/>
        </p:nvGrpSpPr>
        <p:grpSpPr bwMode="auto">
          <a:xfrm>
            <a:off x="934212" y="2121408"/>
            <a:ext cx="7821168" cy="4346448"/>
            <a:chOff x="896860" y="2122156"/>
            <a:chExt cx="7820041" cy="4345490"/>
          </a:xfrm>
        </p:grpSpPr>
        <p:grpSp>
          <p:nvGrpSpPr>
            <p:cNvPr id="3" name="Rectangle 4"/>
            <p:cNvGrpSpPr>
              <a:grpSpLocks/>
            </p:cNvGrpSpPr>
            <p:nvPr/>
          </p:nvGrpSpPr>
          <p:grpSpPr bwMode="auto">
            <a:xfrm>
              <a:off x="896860" y="2122156"/>
              <a:ext cx="7820041" cy="4345490"/>
              <a:chOff x="896112" y="2121408"/>
              <a:chExt cx="7821168" cy="4346448"/>
            </a:xfrm>
          </p:grpSpPr>
          <p:pic>
            <p:nvPicPr>
              <p:cNvPr id="41006" name="Rectangle 4"/>
              <p:cNvPicPr>
                <a:picLocks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96112" y="2121408"/>
                <a:ext cx="7821168" cy="43464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93191" name="Text Box 7"/>
              <p:cNvSpPr txBox="1">
                <a:spLocks noChangeArrowheads="1"/>
              </p:cNvSpPr>
              <p:nvPr/>
            </p:nvSpPr>
            <p:spPr bwMode="auto">
              <a:xfrm>
                <a:off x="958850" y="2160588"/>
                <a:ext cx="7705725" cy="423227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FFFFFF"/>
                    </a:outerShdw>
                  </a:effectLst>
                </a:endParaRPr>
              </a:p>
            </p:txBody>
          </p:sp>
        </p:grpSp>
        <p:sp>
          <p:nvSpPr>
            <p:cNvPr id="6" name="Rectangle 5"/>
            <p:cNvSpPr/>
            <p:nvPr/>
          </p:nvSpPr>
          <p:spPr bwMode="auto">
            <a:xfrm>
              <a:off x="1035778" y="2237510"/>
              <a:ext cx="7552237" cy="4078976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0966" name="Text Box 58"/>
            <p:cNvSpPr txBox="1">
              <a:spLocks noChangeArrowheads="1"/>
            </p:cNvSpPr>
            <p:nvPr/>
          </p:nvSpPr>
          <p:spPr bwMode="auto">
            <a:xfrm>
              <a:off x="8040184" y="4237009"/>
              <a:ext cx="327406" cy="3880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2000"/>
                <a:t>P</a:t>
              </a:r>
            </a:p>
          </p:txBody>
        </p:sp>
        <p:sp>
          <p:nvSpPr>
            <p:cNvPr id="40967" name="Line 54"/>
            <p:cNvSpPr>
              <a:spLocks noChangeShapeType="1"/>
            </p:cNvSpPr>
            <p:nvPr/>
          </p:nvSpPr>
          <p:spPr bwMode="auto">
            <a:xfrm>
              <a:off x="5445697" y="5767969"/>
              <a:ext cx="2535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68" name="Text Box 55"/>
            <p:cNvSpPr txBox="1">
              <a:spLocks noChangeArrowheads="1"/>
            </p:cNvSpPr>
            <p:nvPr/>
          </p:nvSpPr>
          <p:spPr bwMode="auto">
            <a:xfrm>
              <a:off x="5306624" y="6000145"/>
              <a:ext cx="3371866" cy="358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Quantity (000s of bushels/year)</a:t>
              </a:r>
            </a:p>
          </p:txBody>
        </p:sp>
        <p:sp>
          <p:nvSpPr>
            <p:cNvPr id="40969" name="Text Box 56"/>
            <p:cNvSpPr txBox="1">
              <a:spLocks noChangeArrowheads="1"/>
            </p:cNvSpPr>
            <p:nvPr/>
          </p:nvSpPr>
          <p:spPr bwMode="auto">
            <a:xfrm>
              <a:off x="4697882" y="2499698"/>
              <a:ext cx="869914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Price </a:t>
              </a:r>
              <a:br>
                <a:rPr lang="en-US" sz="1800"/>
              </a:br>
              <a:r>
                <a:rPr lang="en-US" sz="1800"/>
                <a:t>$/bu</a:t>
              </a:r>
            </a:p>
          </p:txBody>
        </p:sp>
        <p:sp>
          <p:nvSpPr>
            <p:cNvPr id="40970" name="Line 57"/>
            <p:cNvSpPr>
              <a:spLocks noChangeShapeType="1"/>
            </p:cNvSpPr>
            <p:nvPr/>
          </p:nvSpPr>
          <p:spPr bwMode="auto">
            <a:xfrm>
              <a:off x="5454249" y="2739092"/>
              <a:ext cx="0" cy="30288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71" name="Line 53"/>
            <p:cNvSpPr>
              <a:spLocks noChangeShapeType="1"/>
            </p:cNvSpPr>
            <p:nvPr/>
          </p:nvSpPr>
          <p:spPr bwMode="auto">
            <a:xfrm flipV="1">
              <a:off x="7221738" y="4103396"/>
              <a:ext cx="0" cy="16738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72" name="Text Box 59"/>
            <p:cNvSpPr txBox="1">
              <a:spLocks noChangeArrowheads="1"/>
            </p:cNvSpPr>
            <p:nvPr/>
          </p:nvSpPr>
          <p:spPr bwMode="auto">
            <a:xfrm>
              <a:off x="6958475" y="2774082"/>
              <a:ext cx="54592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MC</a:t>
              </a:r>
            </a:p>
          </p:txBody>
        </p:sp>
        <p:sp>
          <p:nvSpPr>
            <p:cNvPr id="40973" name="Text Box 60"/>
            <p:cNvSpPr txBox="1">
              <a:spLocks noChangeArrowheads="1"/>
            </p:cNvSpPr>
            <p:nvPr/>
          </p:nvSpPr>
          <p:spPr bwMode="auto">
            <a:xfrm>
              <a:off x="7009146" y="5766569"/>
              <a:ext cx="652830" cy="358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 130</a:t>
              </a:r>
            </a:p>
          </p:txBody>
        </p:sp>
        <p:sp>
          <p:nvSpPr>
            <p:cNvPr id="18" name="Rectangle 51"/>
            <p:cNvSpPr>
              <a:spLocks noChangeArrowheads="1"/>
            </p:cNvSpPr>
            <p:nvPr/>
          </p:nvSpPr>
          <p:spPr bwMode="auto">
            <a:xfrm>
              <a:off x="5481393" y="4558748"/>
              <a:ext cx="1581395" cy="32843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0977" name="Text Box 67"/>
            <p:cNvSpPr txBox="1">
              <a:spLocks noChangeArrowheads="1"/>
            </p:cNvSpPr>
            <p:nvPr/>
          </p:nvSpPr>
          <p:spPr bwMode="auto">
            <a:xfrm>
              <a:off x="7808928" y="2774082"/>
              <a:ext cx="64427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ATC</a:t>
              </a:r>
            </a:p>
          </p:txBody>
        </p:sp>
        <p:sp>
          <p:nvSpPr>
            <p:cNvPr id="40978" name="Text Box 7"/>
            <p:cNvSpPr txBox="1">
              <a:spLocks noChangeArrowheads="1"/>
            </p:cNvSpPr>
            <p:nvPr/>
          </p:nvSpPr>
          <p:spPr bwMode="auto">
            <a:xfrm>
              <a:off x="5103354" y="2290535"/>
              <a:ext cx="3039188" cy="3692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 u="sng" dirty="0"/>
                <a:t>Typical Rice Farm</a:t>
              </a:r>
            </a:p>
          </p:txBody>
        </p:sp>
        <p:sp>
          <p:nvSpPr>
            <p:cNvPr id="40979" name="Text Box 56"/>
            <p:cNvSpPr txBox="1">
              <a:spLocks noChangeArrowheads="1"/>
            </p:cNvSpPr>
            <p:nvPr/>
          </p:nvSpPr>
          <p:spPr bwMode="auto">
            <a:xfrm>
              <a:off x="945304" y="2499698"/>
              <a:ext cx="869914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Price </a:t>
              </a:r>
              <a:br>
                <a:rPr lang="en-US" sz="1800"/>
              </a:br>
              <a:r>
                <a:rPr lang="en-US" sz="1800"/>
                <a:t>$/bu</a:t>
              </a:r>
            </a:p>
          </p:txBody>
        </p:sp>
        <p:sp>
          <p:nvSpPr>
            <p:cNvPr id="40980" name="Text Box 38"/>
            <p:cNvSpPr txBox="1">
              <a:spLocks noChangeArrowheads="1"/>
            </p:cNvSpPr>
            <p:nvPr/>
          </p:nvSpPr>
          <p:spPr bwMode="auto">
            <a:xfrm>
              <a:off x="1146633" y="3931401"/>
              <a:ext cx="531672" cy="358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2</a:t>
              </a:r>
            </a:p>
          </p:txBody>
        </p:sp>
        <p:sp>
          <p:nvSpPr>
            <p:cNvPr id="40981" name="Line 3"/>
            <p:cNvSpPr>
              <a:spLocks noChangeShapeType="1"/>
            </p:cNvSpPr>
            <p:nvPr/>
          </p:nvSpPr>
          <p:spPr bwMode="auto">
            <a:xfrm>
              <a:off x="1649873" y="5777208"/>
              <a:ext cx="254290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82" name="Text Box 7"/>
            <p:cNvSpPr txBox="1">
              <a:spLocks noChangeArrowheads="1"/>
            </p:cNvSpPr>
            <p:nvPr/>
          </p:nvSpPr>
          <p:spPr bwMode="auto">
            <a:xfrm>
              <a:off x="1179958" y="6000145"/>
              <a:ext cx="346491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Quantity (M of bushels/year)</a:t>
              </a:r>
            </a:p>
          </p:txBody>
        </p:sp>
        <p:sp>
          <p:nvSpPr>
            <p:cNvPr id="40983" name="Line 13"/>
            <p:cNvSpPr>
              <a:spLocks noChangeShapeType="1"/>
            </p:cNvSpPr>
            <p:nvPr/>
          </p:nvSpPr>
          <p:spPr bwMode="auto">
            <a:xfrm>
              <a:off x="1658425" y="2739092"/>
              <a:ext cx="0" cy="30381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84" name="Text Box 16"/>
            <p:cNvSpPr txBox="1">
              <a:spLocks noChangeArrowheads="1"/>
            </p:cNvSpPr>
            <p:nvPr/>
          </p:nvSpPr>
          <p:spPr bwMode="auto">
            <a:xfrm>
              <a:off x="3701015" y="2648780"/>
              <a:ext cx="38770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S</a:t>
              </a:r>
            </a:p>
          </p:txBody>
        </p:sp>
        <p:sp>
          <p:nvSpPr>
            <p:cNvPr id="32" name="Line 47"/>
            <p:cNvSpPr>
              <a:spLocks noChangeShapeType="1"/>
            </p:cNvSpPr>
            <p:nvPr/>
          </p:nvSpPr>
          <p:spPr bwMode="auto">
            <a:xfrm>
              <a:off x="1897667" y="3007277"/>
              <a:ext cx="2114245" cy="2360093"/>
            </a:xfrm>
            <a:prstGeom prst="line">
              <a:avLst/>
            </a:pr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algn="ctr">
                <a:defRPr/>
              </a:pPr>
              <a:endParaRPr lang="en-US" sz="1800" dirty="0"/>
            </a:p>
          </p:txBody>
        </p:sp>
        <p:sp>
          <p:nvSpPr>
            <p:cNvPr id="40986" name="Line 42"/>
            <p:cNvSpPr>
              <a:spLocks noChangeShapeType="1"/>
            </p:cNvSpPr>
            <p:nvPr/>
          </p:nvSpPr>
          <p:spPr bwMode="auto">
            <a:xfrm flipV="1">
              <a:off x="2875712" y="4108015"/>
              <a:ext cx="0" cy="16768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14"/>
            <p:cNvSpPr>
              <a:spLocks noChangeShapeType="1"/>
            </p:cNvSpPr>
            <p:nvPr/>
          </p:nvSpPr>
          <p:spPr bwMode="auto">
            <a:xfrm rot="5400000">
              <a:off x="1335090" y="3236546"/>
              <a:ext cx="2912421" cy="1952344"/>
            </a:xfrm>
            <a:prstGeom prst="line">
              <a:avLst/>
            </a:pr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pPr algn="ctr">
                <a:defRPr/>
              </a:pPr>
              <a:endParaRPr lang="en-US" sz="1800" dirty="0"/>
            </a:p>
          </p:txBody>
        </p:sp>
        <p:sp>
          <p:nvSpPr>
            <p:cNvPr id="40988" name="Text Box 15"/>
            <p:cNvSpPr txBox="1">
              <a:spLocks noChangeArrowheads="1"/>
            </p:cNvSpPr>
            <p:nvPr/>
          </p:nvSpPr>
          <p:spPr bwMode="auto">
            <a:xfrm>
              <a:off x="3800792" y="4840982"/>
              <a:ext cx="28793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D</a:t>
              </a:r>
            </a:p>
          </p:txBody>
        </p:sp>
        <p:sp>
          <p:nvSpPr>
            <p:cNvPr id="40989" name="Text Box 35"/>
            <p:cNvSpPr txBox="1">
              <a:spLocks noChangeArrowheads="1"/>
            </p:cNvSpPr>
            <p:nvPr/>
          </p:nvSpPr>
          <p:spPr bwMode="auto">
            <a:xfrm>
              <a:off x="2615979" y="5795686"/>
              <a:ext cx="535948" cy="358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65</a:t>
              </a:r>
            </a:p>
          </p:txBody>
        </p:sp>
        <p:sp>
          <p:nvSpPr>
            <p:cNvPr id="40990" name="Text Box 7"/>
            <p:cNvSpPr txBox="1">
              <a:spLocks noChangeArrowheads="1"/>
            </p:cNvSpPr>
            <p:nvPr/>
          </p:nvSpPr>
          <p:spPr bwMode="auto">
            <a:xfrm>
              <a:off x="1785252" y="2333111"/>
              <a:ext cx="2303470" cy="3692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 u="sng" dirty="0"/>
                <a:t>Rice Industry</a:t>
              </a:r>
            </a:p>
          </p:txBody>
        </p:sp>
        <p:sp>
          <p:nvSpPr>
            <p:cNvPr id="40991" name="TextBox 37"/>
            <p:cNvSpPr txBox="1">
              <a:spLocks noChangeArrowheads="1"/>
            </p:cNvSpPr>
            <p:nvPr/>
          </p:nvSpPr>
          <p:spPr bwMode="auto">
            <a:xfrm>
              <a:off x="5698251" y="3464077"/>
              <a:ext cx="1364537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Economic Profit</a:t>
              </a:r>
            </a:p>
          </p:txBody>
        </p:sp>
        <p:sp>
          <p:nvSpPr>
            <p:cNvPr id="41" name="Line 14"/>
            <p:cNvSpPr>
              <a:spLocks noChangeShapeType="1"/>
            </p:cNvSpPr>
            <p:nvPr/>
          </p:nvSpPr>
          <p:spPr bwMode="auto">
            <a:xfrm rot="5400000">
              <a:off x="2165217" y="3412731"/>
              <a:ext cx="2498174" cy="1674571"/>
            </a:xfrm>
            <a:prstGeom prst="line">
              <a:avLst/>
            </a:pr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pPr algn="ctr">
                <a:defRPr/>
              </a:pPr>
              <a:endParaRPr lang="en-US" sz="1800" dirty="0"/>
            </a:p>
          </p:txBody>
        </p:sp>
        <p:sp>
          <p:nvSpPr>
            <p:cNvPr id="40993" name="Text Box 16"/>
            <p:cNvSpPr txBox="1">
              <a:spLocks noChangeArrowheads="1"/>
            </p:cNvSpPr>
            <p:nvPr/>
          </p:nvSpPr>
          <p:spPr bwMode="auto">
            <a:xfrm>
              <a:off x="4158215" y="2946953"/>
              <a:ext cx="38770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S'</a:t>
              </a:r>
            </a:p>
          </p:txBody>
        </p:sp>
        <p:sp>
          <p:nvSpPr>
            <p:cNvPr id="40994" name="Text Box 38"/>
            <p:cNvSpPr txBox="1">
              <a:spLocks noChangeArrowheads="1"/>
            </p:cNvSpPr>
            <p:nvPr/>
          </p:nvSpPr>
          <p:spPr bwMode="auto">
            <a:xfrm>
              <a:off x="1007167" y="4352409"/>
              <a:ext cx="67113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1.50</a:t>
              </a:r>
            </a:p>
          </p:txBody>
        </p:sp>
        <p:cxnSp>
          <p:nvCxnSpPr>
            <p:cNvPr id="40995" name="Straight Connector 53"/>
            <p:cNvCxnSpPr>
              <a:cxnSpLocks noChangeShapeType="1"/>
            </p:cNvCxnSpPr>
            <p:nvPr/>
          </p:nvCxnSpPr>
          <p:spPr bwMode="auto">
            <a:xfrm rot="10800000">
              <a:off x="1656523" y="4537075"/>
              <a:ext cx="3790121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sp>
          <p:nvSpPr>
            <p:cNvPr id="8" name="Line 52"/>
            <p:cNvSpPr>
              <a:spLocks noChangeShapeType="1"/>
            </p:cNvSpPr>
            <p:nvPr/>
          </p:nvSpPr>
          <p:spPr bwMode="auto">
            <a:xfrm>
              <a:off x="5470614" y="4537290"/>
              <a:ext cx="2620585" cy="0"/>
            </a:xfrm>
            <a:prstGeom prst="line">
              <a:avLst/>
            </a:pr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algn="ctr">
                <a:defRPr/>
              </a:pPr>
              <a:endParaRPr lang="en-US" sz="2000" dirty="0"/>
            </a:p>
          </p:txBody>
        </p:sp>
        <p:cxnSp>
          <p:nvCxnSpPr>
            <p:cNvPr id="40997" name="Straight Connector 58"/>
            <p:cNvCxnSpPr>
              <a:cxnSpLocks noChangeShapeType="1"/>
            </p:cNvCxnSpPr>
            <p:nvPr/>
          </p:nvCxnSpPr>
          <p:spPr bwMode="auto">
            <a:xfrm rot="5400000" flipH="1" flipV="1">
              <a:off x="2623586" y="5141844"/>
              <a:ext cx="1245705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sp>
          <p:nvSpPr>
            <p:cNvPr id="40998" name="Text Box 35"/>
            <p:cNvSpPr txBox="1">
              <a:spLocks noChangeArrowheads="1"/>
            </p:cNvSpPr>
            <p:nvPr/>
          </p:nvSpPr>
          <p:spPr bwMode="auto">
            <a:xfrm>
              <a:off x="2980414" y="5795686"/>
              <a:ext cx="53594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95</a:t>
              </a:r>
            </a:p>
          </p:txBody>
        </p:sp>
        <p:cxnSp>
          <p:nvCxnSpPr>
            <p:cNvPr id="40999" name="Straight Connector 62"/>
            <p:cNvCxnSpPr>
              <a:cxnSpLocks noChangeShapeType="1"/>
            </p:cNvCxnSpPr>
            <p:nvPr/>
          </p:nvCxnSpPr>
          <p:spPr bwMode="auto">
            <a:xfrm rot="5400000">
              <a:off x="6440557" y="5155095"/>
              <a:ext cx="1245705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sp>
          <p:nvSpPr>
            <p:cNvPr id="41000" name="Text Box 60"/>
            <p:cNvSpPr txBox="1">
              <a:spLocks noChangeArrowheads="1"/>
            </p:cNvSpPr>
            <p:nvPr/>
          </p:nvSpPr>
          <p:spPr bwMode="auto">
            <a:xfrm>
              <a:off x="6555730" y="5766569"/>
              <a:ext cx="65283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 120</a:t>
              </a:r>
            </a:p>
          </p:txBody>
        </p:sp>
        <p:cxnSp>
          <p:nvCxnSpPr>
            <p:cNvPr id="39" name="Straight Arrow Connector 38"/>
            <p:cNvCxnSpPr>
              <a:stCxn id="40991" idx="2"/>
            </p:cNvCxnSpPr>
            <p:nvPr/>
          </p:nvCxnSpPr>
          <p:spPr bwMode="auto">
            <a:xfrm rot="5400000">
              <a:off x="6129351" y="4362704"/>
              <a:ext cx="503127" cy="1587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Freeform 65"/>
            <p:cNvSpPr>
              <a:spLocks/>
            </p:cNvSpPr>
            <p:nvPr/>
          </p:nvSpPr>
          <p:spPr bwMode="auto">
            <a:xfrm>
              <a:off x="5594421" y="3066003"/>
              <a:ext cx="2547571" cy="1803002"/>
            </a:xfrm>
            <a:custGeom>
              <a:avLst/>
              <a:gdLst/>
              <a:ahLst/>
              <a:cxnLst>
                <a:cxn ang="0">
                  <a:pos x="0" y="665"/>
                </a:cxn>
                <a:cxn ang="0">
                  <a:pos x="412" y="1294"/>
                </a:cxn>
                <a:cxn ang="0">
                  <a:pos x="1175" y="1563"/>
                </a:cxn>
                <a:cxn ang="0">
                  <a:pos x="1848" y="1189"/>
                </a:cxn>
                <a:cxn ang="0">
                  <a:pos x="2416" y="0"/>
                </a:cxn>
              </a:cxnLst>
              <a:rect l="0" t="0" r="r" b="b"/>
              <a:pathLst>
                <a:path w="2416" h="1581">
                  <a:moveTo>
                    <a:pt x="0" y="665"/>
                  </a:moveTo>
                  <a:cubicBezTo>
                    <a:pt x="108" y="904"/>
                    <a:pt x="216" y="1144"/>
                    <a:pt x="412" y="1294"/>
                  </a:cubicBezTo>
                  <a:cubicBezTo>
                    <a:pt x="608" y="1444"/>
                    <a:pt x="936" y="1581"/>
                    <a:pt x="1175" y="1563"/>
                  </a:cubicBezTo>
                  <a:cubicBezTo>
                    <a:pt x="1414" y="1545"/>
                    <a:pt x="1641" y="1449"/>
                    <a:pt x="1848" y="1189"/>
                  </a:cubicBezTo>
                  <a:cubicBezTo>
                    <a:pt x="2055" y="929"/>
                    <a:pt x="2321" y="198"/>
                    <a:pt x="2416" y="0"/>
                  </a:cubicBezTo>
                </a:path>
              </a:pathLst>
            </a:cu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/>
            <a:lstStyle/>
            <a:p>
              <a:pPr algn="ctr">
                <a:defRPr/>
              </a:pPr>
              <a:endParaRPr lang="en-US" sz="2000" dirty="0"/>
            </a:p>
          </p:txBody>
        </p:sp>
        <p:sp>
          <p:nvSpPr>
            <p:cNvPr id="21" name="Freeform 69"/>
            <p:cNvSpPr>
              <a:spLocks/>
            </p:cNvSpPr>
            <p:nvPr/>
          </p:nvSpPr>
          <p:spPr bwMode="auto">
            <a:xfrm>
              <a:off x="5565850" y="2707307"/>
              <a:ext cx="2036470" cy="2679109"/>
            </a:xfrm>
            <a:custGeom>
              <a:avLst/>
              <a:gdLst/>
              <a:ahLst/>
              <a:cxnLst>
                <a:cxn ang="0">
                  <a:pos x="0" y="1664"/>
                </a:cxn>
                <a:cxn ang="0">
                  <a:pos x="255" y="1724"/>
                </a:cxn>
                <a:cxn ang="0">
                  <a:pos x="636" y="1567"/>
                </a:cxn>
                <a:cxn ang="0">
                  <a:pos x="950" y="1297"/>
                </a:cxn>
                <a:cxn ang="0">
                  <a:pos x="1175" y="886"/>
                </a:cxn>
                <a:cxn ang="0">
                  <a:pos x="1429" y="0"/>
                </a:cxn>
              </a:cxnLst>
              <a:rect l="0" t="0" r="r" b="b"/>
              <a:pathLst>
                <a:path w="1429" h="1740">
                  <a:moveTo>
                    <a:pt x="0" y="1664"/>
                  </a:moveTo>
                  <a:cubicBezTo>
                    <a:pt x="44" y="1674"/>
                    <a:pt x="149" y="1740"/>
                    <a:pt x="255" y="1724"/>
                  </a:cubicBezTo>
                  <a:cubicBezTo>
                    <a:pt x="361" y="1708"/>
                    <a:pt x="520" y="1638"/>
                    <a:pt x="636" y="1567"/>
                  </a:cubicBezTo>
                  <a:cubicBezTo>
                    <a:pt x="752" y="1496"/>
                    <a:pt x="860" y="1410"/>
                    <a:pt x="950" y="1297"/>
                  </a:cubicBezTo>
                  <a:cubicBezTo>
                    <a:pt x="1040" y="1184"/>
                    <a:pt x="1095" y="1102"/>
                    <a:pt x="1175" y="886"/>
                  </a:cubicBezTo>
                  <a:cubicBezTo>
                    <a:pt x="1255" y="670"/>
                    <a:pt x="1376" y="184"/>
                    <a:pt x="1429" y="0"/>
                  </a:cubicBezTo>
                </a:path>
              </a:pathLst>
            </a:cu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algn="ctr">
                <a:defRPr/>
              </a:pPr>
              <a:endParaRPr lang="en-US" sz="2000" dirty="0"/>
            </a:p>
          </p:txBody>
        </p:sp>
        <p:cxnSp>
          <p:nvCxnSpPr>
            <p:cNvPr id="108" name="Straight Arrow Connector 107"/>
            <p:cNvCxnSpPr/>
            <p:nvPr/>
          </p:nvCxnSpPr>
          <p:spPr bwMode="auto">
            <a:xfrm>
              <a:off x="3432558" y="3338992"/>
              <a:ext cx="542847" cy="1587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1005" name="Straight Connector 109"/>
            <p:cNvCxnSpPr>
              <a:cxnSpLocks noChangeShapeType="1"/>
            </p:cNvCxnSpPr>
            <p:nvPr/>
          </p:nvCxnSpPr>
          <p:spPr bwMode="auto">
            <a:xfrm>
              <a:off x="1669774" y="4127500"/>
              <a:ext cx="3776869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</p:grpSp>
      <p:pic>
        <p:nvPicPr>
          <p:cNvPr id="47" name="Picture 4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Market Equilibrium</a:t>
            </a:r>
          </a:p>
        </p:txBody>
      </p:sp>
      <p:sp>
        <p:nvSpPr>
          <p:cNvPr id="43010" name="Content Placeholder 2"/>
          <p:cNvSpPr>
            <a:spLocks noGrp="1"/>
          </p:cNvSpPr>
          <p:nvPr>
            <p:ph idx="4294967295"/>
          </p:nvPr>
        </p:nvSpPr>
        <p:spPr>
          <a:xfrm>
            <a:off x="971550" y="1600200"/>
            <a:ext cx="8229600" cy="4525963"/>
          </a:xfrm>
        </p:spPr>
        <p:txBody>
          <a:bodyPr/>
          <a:lstStyle/>
          <a:p>
            <a:pPr marL="225425" indent="-225425" eaLnBrk="1" hangingPunct="1"/>
            <a:r>
              <a:rPr lang="en-US" dirty="0"/>
              <a:t>Zero economic profits</a:t>
            </a:r>
          </a:p>
        </p:txBody>
      </p:sp>
      <p:grpSp>
        <p:nvGrpSpPr>
          <p:cNvPr id="2" name="Group 66"/>
          <p:cNvGrpSpPr>
            <a:grpSpLocks/>
          </p:cNvGrpSpPr>
          <p:nvPr/>
        </p:nvGrpSpPr>
        <p:grpSpPr bwMode="auto">
          <a:xfrm>
            <a:off x="1111250" y="2193925"/>
            <a:ext cx="7704138" cy="4232275"/>
            <a:chOff x="959828" y="2214335"/>
            <a:chExt cx="7704138" cy="4231342"/>
          </a:xfrm>
        </p:grpSpPr>
        <p:grpSp>
          <p:nvGrpSpPr>
            <p:cNvPr id="3" name="Rectangle 42"/>
            <p:cNvGrpSpPr>
              <a:grpSpLocks/>
            </p:cNvGrpSpPr>
            <p:nvPr/>
          </p:nvGrpSpPr>
          <p:grpSpPr bwMode="auto">
            <a:xfrm>
              <a:off x="897852" y="2178402"/>
              <a:ext cx="7821168" cy="4339395"/>
              <a:chOff x="877824" y="2157984"/>
              <a:chExt cx="7821168" cy="4340352"/>
            </a:xfrm>
          </p:grpSpPr>
          <p:pic>
            <p:nvPicPr>
              <p:cNvPr id="43056" name="Rectangle 42"/>
              <p:cNvPicPr>
                <a:picLocks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77824" y="2157984"/>
                <a:ext cx="7821168" cy="43403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95239" name="Text Box 7"/>
              <p:cNvSpPr txBox="1">
                <a:spLocks noChangeArrowheads="1"/>
              </p:cNvSpPr>
              <p:nvPr/>
            </p:nvSpPr>
            <p:spPr bwMode="auto">
              <a:xfrm>
                <a:off x="939800" y="2193925"/>
                <a:ext cx="7704138" cy="423227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FFFFFF"/>
                    </a:outerShdw>
                  </a:effectLst>
                </a:endParaRPr>
              </a:p>
            </p:txBody>
          </p:sp>
        </p:grpSp>
        <p:sp>
          <p:nvSpPr>
            <p:cNvPr id="44" name="Rectangle 43"/>
            <p:cNvSpPr/>
            <p:nvPr/>
          </p:nvSpPr>
          <p:spPr bwMode="auto">
            <a:xfrm>
              <a:off x="1036028" y="2290518"/>
              <a:ext cx="7551738" cy="4078976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4" name="Group 75"/>
          <p:cNvGrpSpPr>
            <a:grpSpLocks/>
          </p:cNvGrpSpPr>
          <p:nvPr/>
        </p:nvGrpSpPr>
        <p:grpSpPr bwMode="auto">
          <a:xfrm>
            <a:off x="1096963" y="2270125"/>
            <a:ext cx="7732712" cy="4079875"/>
            <a:chOff x="925427" y="2323667"/>
            <a:chExt cx="7733186" cy="4078942"/>
          </a:xfrm>
        </p:grpSpPr>
        <p:sp>
          <p:nvSpPr>
            <p:cNvPr id="43013" name="Text Box 58"/>
            <p:cNvSpPr txBox="1">
              <a:spLocks noChangeArrowheads="1"/>
            </p:cNvSpPr>
            <p:nvPr/>
          </p:nvSpPr>
          <p:spPr bwMode="auto">
            <a:xfrm>
              <a:off x="8046812" y="4760471"/>
              <a:ext cx="28880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P</a:t>
              </a:r>
            </a:p>
          </p:txBody>
        </p:sp>
        <p:sp>
          <p:nvSpPr>
            <p:cNvPr id="43014" name="Line 54"/>
            <p:cNvSpPr>
              <a:spLocks noChangeShapeType="1"/>
            </p:cNvSpPr>
            <p:nvPr/>
          </p:nvSpPr>
          <p:spPr bwMode="auto">
            <a:xfrm>
              <a:off x="5425820" y="5801101"/>
              <a:ext cx="2535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015" name="Text Box 55"/>
            <p:cNvSpPr txBox="1">
              <a:spLocks noChangeArrowheads="1"/>
            </p:cNvSpPr>
            <p:nvPr/>
          </p:nvSpPr>
          <p:spPr bwMode="auto">
            <a:xfrm>
              <a:off x="5286747" y="6033277"/>
              <a:ext cx="3371866" cy="358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Quantity (000s of bushels/year)</a:t>
              </a:r>
            </a:p>
          </p:txBody>
        </p:sp>
        <p:sp>
          <p:nvSpPr>
            <p:cNvPr id="43016" name="Text Box 56"/>
            <p:cNvSpPr txBox="1">
              <a:spLocks noChangeArrowheads="1"/>
            </p:cNvSpPr>
            <p:nvPr/>
          </p:nvSpPr>
          <p:spPr bwMode="auto">
            <a:xfrm>
              <a:off x="4678005" y="2532830"/>
              <a:ext cx="869914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Price </a:t>
              </a:r>
              <a:br>
                <a:rPr lang="en-US" sz="1800"/>
              </a:br>
              <a:r>
                <a:rPr lang="en-US" sz="1800"/>
                <a:t>$/bu</a:t>
              </a:r>
            </a:p>
          </p:txBody>
        </p:sp>
        <p:sp>
          <p:nvSpPr>
            <p:cNvPr id="43017" name="Line 57"/>
            <p:cNvSpPr>
              <a:spLocks noChangeShapeType="1"/>
            </p:cNvSpPr>
            <p:nvPr/>
          </p:nvSpPr>
          <p:spPr bwMode="auto">
            <a:xfrm>
              <a:off x="5434372" y="2772224"/>
              <a:ext cx="0" cy="30288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018" name="Line 53"/>
            <p:cNvSpPr>
              <a:spLocks noChangeShapeType="1"/>
            </p:cNvSpPr>
            <p:nvPr/>
          </p:nvSpPr>
          <p:spPr bwMode="auto">
            <a:xfrm flipV="1">
              <a:off x="7201861" y="4136528"/>
              <a:ext cx="0" cy="16738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019" name="Text Box 59"/>
            <p:cNvSpPr txBox="1">
              <a:spLocks noChangeArrowheads="1"/>
            </p:cNvSpPr>
            <p:nvPr/>
          </p:nvSpPr>
          <p:spPr bwMode="auto">
            <a:xfrm>
              <a:off x="6938598" y="2807214"/>
              <a:ext cx="54592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MC</a:t>
              </a:r>
            </a:p>
          </p:txBody>
        </p:sp>
        <p:sp>
          <p:nvSpPr>
            <p:cNvPr id="43020" name="Text Box 60"/>
            <p:cNvSpPr txBox="1">
              <a:spLocks noChangeArrowheads="1"/>
            </p:cNvSpPr>
            <p:nvPr/>
          </p:nvSpPr>
          <p:spPr bwMode="auto">
            <a:xfrm>
              <a:off x="6989269" y="5806327"/>
              <a:ext cx="652830" cy="358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 130</a:t>
              </a:r>
            </a:p>
          </p:txBody>
        </p:sp>
        <p:sp>
          <p:nvSpPr>
            <p:cNvPr id="43021" name="Text Box 67"/>
            <p:cNvSpPr txBox="1">
              <a:spLocks noChangeArrowheads="1"/>
            </p:cNvSpPr>
            <p:nvPr/>
          </p:nvSpPr>
          <p:spPr bwMode="auto">
            <a:xfrm>
              <a:off x="7789051" y="2807214"/>
              <a:ext cx="64427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ATC</a:t>
              </a:r>
            </a:p>
          </p:txBody>
        </p:sp>
        <p:sp>
          <p:nvSpPr>
            <p:cNvPr id="43022" name="Text Box 7"/>
            <p:cNvSpPr txBox="1">
              <a:spLocks noChangeArrowheads="1"/>
            </p:cNvSpPr>
            <p:nvPr/>
          </p:nvSpPr>
          <p:spPr bwMode="auto">
            <a:xfrm>
              <a:off x="5083477" y="2323667"/>
              <a:ext cx="3039188" cy="3692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 u="sng" dirty="0"/>
                <a:t>Typical Rice Farm</a:t>
              </a:r>
            </a:p>
          </p:txBody>
        </p:sp>
        <p:sp>
          <p:nvSpPr>
            <p:cNvPr id="43023" name="Text Box 56"/>
            <p:cNvSpPr txBox="1">
              <a:spLocks noChangeArrowheads="1"/>
            </p:cNvSpPr>
            <p:nvPr/>
          </p:nvSpPr>
          <p:spPr bwMode="auto">
            <a:xfrm>
              <a:off x="925427" y="2532830"/>
              <a:ext cx="869914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Price </a:t>
              </a:r>
              <a:br>
                <a:rPr lang="en-US" sz="1800"/>
              </a:br>
              <a:r>
                <a:rPr lang="en-US" sz="1800"/>
                <a:t>$/bu</a:t>
              </a:r>
            </a:p>
          </p:txBody>
        </p:sp>
        <p:sp>
          <p:nvSpPr>
            <p:cNvPr id="43024" name="Text Box 38"/>
            <p:cNvSpPr txBox="1">
              <a:spLocks noChangeArrowheads="1"/>
            </p:cNvSpPr>
            <p:nvPr/>
          </p:nvSpPr>
          <p:spPr bwMode="auto">
            <a:xfrm>
              <a:off x="1133382" y="3964533"/>
              <a:ext cx="531672" cy="358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2</a:t>
              </a:r>
            </a:p>
          </p:txBody>
        </p:sp>
        <p:sp>
          <p:nvSpPr>
            <p:cNvPr id="43025" name="Line 3"/>
            <p:cNvSpPr>
              <a:spLocks noChangeShapeType="1"/>
            </p:cNvSpPr>
            <p:nvPr/>
          </p:nvSpPr>
          <p:spPr bwMode="auto">
            <a:xfrm>
              <a:off x="1629996" y="5810340"/>
              <a:ext cx="254290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026" name="Text Box 7"/>
            <p:cNvSpPr txBox="1">
              <a:spLocks noChangeArrowheads="1"/>
            </p:cNvSpPr>
            <p:nvPr/>
          </p:nvSpPr>
          <p:spPr bwMode="auto">
            <a:xfrm>
              <a:off x="1160081" y="6033277"/>
              <a:ext cx="346491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Quantity (M of bushels/year)</a:t>
              </a:r>
            </a:p>
          </p:txBody>
        </p:sp>
        <p:sp>
          <p:nvSpPr>
            <p:cNvPr id="43027" name="Line 13"/>
            <p:cNvSpPr>
              <a:spLocks noChangeShapeType="1"/>
            </p:cNvSpPr>
            <p:nvPr/>
          </p:nvSpPr>
          <p:spPr bwMode="auto">
            <a:xfrm>
              <a:off x="1638548" y="2772224"/>
              <a:ext cx="0" cy="30381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028" name="Text Box 16"/>
            <p:cNvSpPr txBox="1">
              <a:spLocks noChangeArrowheads="1"/>
            </p:cNvSpPr>
            <p:nvPr/>
          </p:nvSpPr>
          <p:spPr bwMode="auto">
            <a:xfrm>
              <a:off x="3681138" y="2681912"/>
              <a:ext cx="38770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S</a:t>
              </a:r>
            </a:p>
          </p:txBody>
        </p:sp>
        <p:sp>
          <p:nvSpPr>
            <p:cNvPr id="24" name="Line 47"/>
            <p:cNvSpPr>
              <a:spLocks noChangeShapeType="1"/>
            </p:cNvSpPr>
            <p:nvPr/>
          </p:nvSpPr>
          <p:spPr bwMode="auto">
            <a:xfrm>
              <a:off x="1877985" y="3039466"/>
              <a:ext cx="2114680" cy="2361660"/>
            </a:xfrm>
            <a:prstGeom prst="line">
              <a:avLst/>
            </a:pr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algn="ctr">
                <a:defRPr/>
              </a:pPr>
              <a:endParaRPr lang="en-US" sz="1800" dirty="0"/>
            </a:p>
          </p:txBody>
        </p:sp>
        <p:sp>
          <p:nvSpPr>
            <p:cNvPr id="43030" name="Line 42"/>
            <p:cNvSpPr>
              <a:spLocks noChangeShapeType="1"/>
            </p:cNvSpPr>
            <p:nvPr/>
          </p:nvSpPr>
          <p:spPr bwMode="auto">
            <a:xfrm flipV="1">
              <a:off x="2855835" y="4141147"/>
              <a:ext cx="0" cy="16768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031" name="Text Box 15"/>
            <p:cNvSpPr txBox="1">
              <a:spLocks noChangeArrowheads="1"/>
            </p:cNvSpPr>
            <p:nvPr/>
          </p:nvSpPr>
          <p:spPr bwMode="auto">
            <a:xfrm>
              <a:off x="3780915" y="4874114"/>
              <a:ext cx="28793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D</a:t>
              </a:r>
            </a:p>
          </p:txBody>
        </p:sp>
        <p:sp>
          <p:nvSpPr>
            <p:cNvPr id="43032" name="Text Box 35"/>
            <p:cNvSpPr txBox="1">
              <a:spLocks noChangeArrowheads="1"/>
            </p:cNvSpPr>
            <p:nvPr/>
          </p:nvSpPr>
          <p:spPr bwMode="auto">
            <a:xfrm>
              <a:off x="2596102" y="5828818"/>
              <a:ext cx="535948" cy="358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65</a:t>
              </a:r>
            </a:p>
          </p:txBody>
        </p:sp>
        <p:sp>
          <p:nvSpPr>
            <p:cNvPr id="43033" name="Text Box 7"/>
            <p:cNvSpPr txBox="1">
              <a:spLocks noChangeArrowheads="1"/>
            </p:cNvSpPr>
            <p:nvPr/>
          </p:nvSpPr>
          <p:spPr bwMode="auto">
            <a:xfrm>
              <a:off x="1765375" y="2366243"/>
              <a:ext cx="2303470" cy="3692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 u="sng" dirty="0"/>
                <a:t>Rice Industry</a:t>
              </a:r>
            </a:p>
          </p:txBody>
        </p:sp>
        <p:sp>
          <p:nvSpPr>
            <p:cNvPr id="31" name="Line 14"/>
            <p:cNvSpPr>
              <a:spLocks noChangeShapeType="1"/>
            </p:cNvSpPr>
            <p:nvPr/>
          </p:nvSpPr>
          <p:spPr bwMode="auto">
            <a:xfrm rot="5400000">
              <a:off x="2145857" y="3446324"/>
              <a:ext cx="2498154" cy="1674915"/>
            </a:xfrm>
            <a:prstGeom prst="line">
              <a:avLst/>
            </a:pr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pPr algn="ctr">
                <a:defRPr/>
              </a:pPr>
              <a:endParaRPr lang="en-US" sz="1800" dirty="0"/>
            </a:p>
          </p:txBody>
        </p:sp>
        <p:sp>
          <p:nvSpPr>
            <p:cNvPr id="43035" name="Text Box 16"/>
            <p:cNvSpPr txBox="1">
              <a:spLocks noChangeArrowheads="1"/>
            </p:cNvSpPr>
            <p:nvPr/>
          </p:nvSpPr>
          <p:spPr bwMode="auto">
            <a:xfrm>
              <a:off x="4138338" y="2980085"/>
              <a:ext cx="38770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S'</a:t>
              </a:r>
            </a:p>
          </p:txBody>
        </p:sp>
        <p:sp>
          <p:nvSpPr>
            <p:cNvPr id="43036" name="Text Box 38"/>
            <p:cNvSpPr txBox="1">
              <a:spLocks noChangeArrowheads="1"/>
            </p:cNvSpPr>
            <p:nvPr/>
          </p:nvSpPr>
          <p:spPr bwMode="auto">
            <a:xfrm>
              <a:off x="993916" y="4385541"/>
              <a:ext cx="67113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1.50</a:t>
              </a:r>
            </a:p>
          </p:txBody>
        </p:sp>
        <p:cxnSp>
          <p:nvCxnSpPr>
            <p:cNvPr id="43037" name="Straight Connector 35"/>
            <p:cNvCxnSpPr>
              <a:cxnSpLocks noChangeShapeType="1"/>
            </p:cNvCxnSpPr>
            <p:nvPr/>
          </p:nvCxnSpPr>
          <p:spPr bwMode="auto">
            <a:xfrm rot="5400000" flipH="1" flipV="1">
              <a:off x="2603709" y="5174976"/>
              <a:ext cx="1245705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sp>
          <p:nvSpPr>
            <p:cNvPr id="43038" name="Text Box 35"/>
            <p:cNvSpPr txBox="1">
              <a:spLocks noChangeArrowheads="1"/>
            </p:cNvSpPr>
            <p:nvPr/>
          </p:nvSpPr>
          <p:spPr bwMode="auto">
            <a:xfrm>
              <a:off x="3252080" y="5828818"/>
              <a:ext cx="644061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115</a:t>
              </a:r>
            </a:p>
          </p:txBody>
        </p:sp>
        <p:cxnSp>
          <p:nvCxnSpPr>
            <p:cNvPr id="43039" name="Straight Connector 37"/>
            <p:cNvCxnSpPr>
              <a:cxnSpLocks noChangeShapeType="1"/>
            </p:cNvCxnSpPr>
            <p:nvPr/>
          </p:nvCxnSpPr>
          <p:spPr bwMode="auto">
            <a:xfrm rot="5400000">
              <a:off x="6420680" y="5188227"/>
              <a:ext cx="1245705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sp>
          <p:nvSpPr>
            <p:cNvPr id="41" name="Freeform 65"/>
            <p:cNvSpPr>
              <a:spLocks/>
            </p:cNvSpPr>
            <p:nvPr/>
          </p:nvSpPr>
          <p:spPr bwMode="auto">
            <a:xfrm>
              <a:off x="5573912" y="3098190"/>
              <a:ext cx="2548093" cy="1802988"/>
            </a:xfrm>
            <a:custGeom>
              <a:avLst/>
              <a:gdLst/>
              <a:ahLst/>
              <a:cxnLst>
                <a:cxn ang="0">
                  <a:pos x="0" y="665"/>
                </a:cxn>
                <a:cxn ang="0">
                  <a:pos x="412" y="1294"/>
                </a:cxn>
                <a:cxn ang="0">
                  <a:pos x="1175" y="1563"/>
                </a:cxn>
                <a:cxn ang="0">
                  <a:pos x="1848" y="1189"/>
                </a:cxn>
                <a:cxn ang="0">
                  <a:pos x="2416" y="0"/>
                </a:cxn>
              </a:cxnLst>
              <a:rect l="0" t="0" r="r" b="b"/>
              <a:pathLst>
                <a:path w="2416" h="1581">
                  <a:moveTo>
                    <a:pt x="0" y="665"/>
                  </a:moveTo>
                  <a:cubicBezTo>
                    <a:pt x="108" y="904"/>
                    <a:pt x="216" y="1144"/>
                    <a:pt x="412" y="1294"/>
                  </a:cubicBezTo>
                  <a:cubicBezTo>
                    <a:pt x="608" y="1444"/>
                    <a:pt x="936" y="1581"/>
                    <a:pt x="1175" y="1563"/>
                  </a:cubicBezTo>
                  <a:cubicBezTo>
                    <a:pt x="1414" y="1545"/>
                    <a:pt x="1641" y="1449"/>
                    <a:pt x="1848" y="1189"/>
                  </a:cubicBezTo>
                  <a:cubicBezTo>
                    <a:pt x="2055" y="929"/>
                    <a:pt x="2321" y="198"/>
                    <a:pt x="2416" y="0"/>
                  </a:cubicBezTo>
                </a:path>
              </a:pathLst>
            </a:cu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/>
            <a:lstStyle/>
            <a:p>
              <a:pPr algn="ctr">
                <a:defRPr/>
              </a:pPr>
              <a:endParaRPr lang="en-US" sz="2000" dirty="0"/>
            </a:p>
          </p:txBody>
        </p:sp>
        <p:sp>
          <p:nvSpPr>
            <p:cNvPr id="42" name="Freeform 69"/>
            <p:cNvSpPr>
              <a:spLocks/>
            </p:cNvSpPr>
            <p:nvPr/>
          </p:nvSpPr>
          <p:spPr bwMode="auto">
            <a:xfrm>
              <a:off x="5545335" y="2739497"/>
              <a:ext cx="2036887" cy="2679087"/>
            </a:xfrm>
            <a:custGeom>
              <a:avLst/>
              <a:gdLst/>
              <a:ahLst/>
              <a:cxnLst>
                <a:cxn ang="0">
                  <a:pos x="0" y="1664"/>
                </a:cxn>
                <a:cxn ang="0">
                  <a:pos x="255" y="1724"/>
                </a:cxn>
                <a:cxn ang="0">
                  <a:pos x="636" y="1567"/>
                </a:cxn>
                <a:cxn ang="0">
                  <a:pos x="950" y="1297"/>
                </a:cxn>
                <a:cxn ang="0">
                  <a:pos x="1175" y="886"/>
                </a:cxn>
                <a:cxn ang="0">
                  <a:pos x="1429" y="0"/>
                </a:cxn>
              </a:cxnLst>
              <a:rect l="0" t="0" r="r" b="b"/>
              <a:pathLst>
                <a:path w="1429" h="1740">
                  <a:moveTo>
                    <a:pt x="0" y="1664"/>
                  </a:moveTo>
                  <a:cubicBezTo>
                    <a:pt x="44" y="1674"/>
                    <a:pt x="149" y="1740"/>
                    <a:pt x="255" y="1724"/>
                  </a:cubicBezTo>
                  <a:cubicBezTo>
                    <a:pt x="361" y="1708"/>
                    <a:pt x="520" y="1638"/>
                    <a:pt x="636" y="1567"/>
                  </a:cubicBezTo>
                  <a:cubicBezTo>
                    <a:pt x="752" y="1496"/>
                    <a:pt x="860" y="1410"/>
                    <a:pt x="950" y="1297"/>
                  </a:cubicBezTo>
                  <a:cubicBezTo>
                    <a:pt x="1040" y="1184"/>
                    <a:pt x="1095" y="1102"/>
                    <a:pt x="1175" y="886"/>
                  </a:cubicBezTo>
                  <a:cubicBezTo>
                    <a:pt x="1255" y="670"/>
                    <a:pt x="1376" y="184"/>
                    <a:pt x="1429" y="0"/>
                  </a:cubicBezTo>
                </a:path>
              </a:pathLst>
            </a:cu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algn="ctr">
                <a:defRPr/>
              </a:pPr>
              <a:endParaRPr lang="en-US" sz="2000" dirty="0"/>
            </a:p>
          </p:txBody>
        </p:sp>
        <p:cxnSp>
          <p:nvCxnSpPr>
            <p:cNvPr id="43042" name="Straight Connector 44"/>
            <p:cNvCxnSpPr>
              <a:cxnSpLocks noChangeShapeType="1"/>
              <a:endCxn id="43043" idx="3"/>
            </p:cNvCxnSpPr>
            <p:nvPr/>
          </p:nvCxnSpPr>
          <p:spPr bwMode="auto">
            <a:xfrm rot="10800000">
              <a:off x="1665055" y="4934643"/>
              <a:ext cx="3781591" cy="8421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sp>
          <p:nvSpPr>
            <p:cNvPr id="43043" name="Text Box 38"/>
            <p:cNvSpPr txBox="1">
              <a:spLocks noChangeArrowheads="1"/>
            </p:cNvSpPr>
            <p:nvPr/>
          </p:nvSpPr>
          <p:spPr bwMode="auto">
            <a:xfrm>
              <a:off x="993916" y="4749976"/>
              <a:ext cx="67113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1</a:t>
              </a:r>
            </a:p>
          </p:txBody>
        </p:sp>
        <p:sp>
          <p:nvSpPr>
            <p:cNvPr id="51" name="Line 14"/>
            <p:cNvSpPr>
              <a:spLocks noChangeShapeType="1"/>
            </p:cNvSpPr>
            <p:nvPr/>
          </p:nvSpPr>
          <p:spPr bwMode="auto">
            <a:xfrm rot="5400000">
              <a:off x="2689577" y="3712195"/>
              <a:ext cx="2266432" cy="1495517"/>
            </a:xfrm>
            <a:prstGeom prst="line">
              <a:avLst/>
            </a:pr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pPr algn="ctr">
                <a:defRPr/>
              </a:pPr>
              <a:endParaRPr lang="en-US" sz="1800" dirty="0"/>
            </a:p>
          </p:txBody>
        </p:sp>
        <p:sp>
          <p:nvSpPr>
            <p:cNvPr id="43045" name="Text Box 16"/>
            <p:cNvSpPr txBox="1">
              <a:spLocks noChangeArrowheads="1"/>
            </p:cNvSpPr>
            <p:nvPr/>
          </p:nvSpPr>
          <p:spPr bwMode="auto">
            <a:xfrm>
              <a:off x="4482896" y="3231878"/>
              <a:ext cx="46016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S"</a:t>
              </a:r>
            </a:p>
          </p:txBody>
        </p:sp>
        <p:sp>
          <p:nvSpPr>
            <p:cNvPr id="43046" name="Text Box 60"/>
            <p:cNvSpPr txBox="1">
              <a:spLocks noChangeArrowheads="1"/>
            </p:cNvSpPr>
            <p:nvPr/>
          </p:nvSpPr>
          <p:spPr bwMode="auto">
            <a:xfrm>
              <a:off x="6493566" y="5806327"/>
              <a:ext cx="58531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 90</a:t>
              </a:r>
            </a:p>
          </p:txBody>
        </p:sp>
        <p:cxnSp>
          <p:nvCxnSpPr>
            <p:cNvPr id="43047" name="Straight Connector 55"/>
            <p:cNvCxnSpPr>
              <a:cxnSpLocks noChangeShapeType="1"/>
            </p:cNvCxnSpPr>
            <p:nvPr/>
          </p:nvCxnSpPr>
          <p:spPr bwMode="auto">
            <a:xfrm rot="5400000" flipH="1" flipV="1">
              <a:off x="6328295" y="5360506"/>
              <a:ext cx="887896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cxnSp>
          <p:nvCxnSpPr>
            <p:cNvPr id="58" name="Straight Connector 57"/>
            <p:cNvCxnSpPr/>
            <p:nvPr/>
          </p:nvCxnSpPr>
          <p:spPr bwMode="auto">
            <a:xfrm>
              <a:off x="5446904" y="4921811"/>
              <a:ext cx="2463951" cy="1587"/>
            </a:xfrm>
            <a:prstGeom prst="line">
              <a:avLst/>
            </a:prstGeom>
            <a:ln>
              <a:solidFill>
                <a:srgbClr val="00B0F0"/>
              </a:solidFill>
              <a:headEnd type="non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3049" name="Straight Connector 63"/>
            <p:cNvCxnSpPr>
              <a:cxnSpLocks noChangeShapeType="1"/>
            </p:cNvCxnSpPr>
            <p:nvPr/>
          </p:nvCxnSpPr>
          <p:spPr bwMode="auto">
            <a:xfrm rot="10800000">
              <a:off x="1643271" y="4140132"/>
              <a:ext cx="1205947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cxnSp>
          <p:nvCxnSpPr>
            <p:cNvPr id="43050" name="Straight Connector 68"/>
            <p:cNvCxnSpPr>
              <a:cxnSpLocks noChangeShapeType="1"/>
              <a:endCxn id="43038" idx="0"/>
            </p:cNvCxnSpPr>
            <p:nvPr/>
          </p:nvCxnSpPr>
          <p:spPr bwMode="auto">
            <a:xfrm rot="16200000" flipH="1">
              <a:off x="3106544" y="5361251"/>
              <a:ext cx="911468" cy="23666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cxnSp>
          <p:nvCxnSpPr>
            <p:cNvPr id="71" name="Straight Arrow Connector 70"/>
            <p:cNvCxnSpPr/>
            <p:nvPr/>
          </p:nvCxnSpPr>
          <p:spPr bwMode="auto">
            <a:xfrm>
              <a:off x="3432243" y="3339435"/>
              <a:ext cx="542958" cy="1588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5" name="Straight Arrow Connector 74"/>
            <p:cNvCxnSpPr/>
            <p:nvPr/>
          </p:nvCxnSpPr>
          <p:spPr bwMode="auto">
            <a:xfrm>
              <a:off x="3883120" y="3617184"/>
              <a:ext cx="476279" cy="1587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26" name="Line 14"/>
            <p:cNvSpPr>
              <a:spLocks noChangeShapeType="1"/>
            </p:cNvSpPr>
            <p:nvPr/>
          </p:nvSpPr>
          <p:spPr bwMode="auto">
            <a:xfrm rot="5400000">
              <a:off x="1314811" y="3269318"/>
              <a:ext cx="2913983" cy="1952745"/>
            </a:xfrm>
            <a:prstGeom prst="line">
              <a:avLst/>
            </a:pr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pPr algn="ctr">
                <a:defRPr/>
              </a:pPr>
              <a:endParaRPr lang="en-US" sz="1800" dirty="0"/>
            </a:p>
          </p:txBody>
        </p:sp>
      </p:grpSp>
      <p:pic>
        <p:nvPicPr>
          <p:cNvPr id="52" name="Picture 5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Economic Losses</a:t>
            </a:r>
          </a:p>
        </p:txBody>
      </p:sp>
      <p:sp>
        <p:nvSpPr>
          <p:cNvPr id="45058" name="Content Placeholder 2"/>
          <p:cNvSpPr>
            <a:spLocks noGrp="1"/>
          </p:cNvSpPr>
          <p:nvPr>
            <p:ph idx="4294967295"/>
          </p:nvPr>
        </p:nvSpPr>
        <p:spPr>
          <a:xfrm>
            <a:off x="971550" y="1600200"/>
            <a:ext cx="8229600" cy="4525963"/>
          </a:xfrm>
        </p:spPr>
        <p:txBody>
          <a:bodyPr/>
          <a:lstStyle/>
          <a:p>
            <a:pPr marL="225425" indent="-225425" eaLnBrk="1" hangingPunct="1"/>
            <a:r>
              <a:rPr lang="en-US" dirty="0"/>
              <a:t>Resources leave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038606" y="2187110"/>
            <a:ext cx="7821168" cy="4340352"/>
            <a:chOff x="1087031" y="1666305"/>
            <a:chExt cx="7821168" cy="4341024"/>
          </a:xfrm>
        </p:grpSpPr>
        <p:grpSp>
          <p:nvGrpSpPr>
            <p:cNvPr id="3" name="Rectangle 4"/>
            <p:cNvGrpSpPr>
              <a:grpSpLocks/>
            </p:cNvGrpSpPr>
            <p:nvPr/>
          </p:nvGrpSpPr>
          <p:grpSpPr bwMode="auto">
            <a:xfrm>
              <a:off x="1087031" y="1666305"/>
              <a:ext cx="7821168" cy="4341024"/>
              <a:chOff x="981456" y="2170176"/>
              <a:chExt cx="7821168" cy="4340352"/>
            </a:xfrm>
          </p:grpSpPr>
          <p:pic>
            <p:nvPicPr>
              <p:cNvPr id="45095" name="Rectangle 4"/>
              <p:cNvPicPr>
                <a:picLocks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981456" y="2170176"/>
                <a:ext cx="7821168" cy="43403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97287" name="Text Box 7"/>
              <p:cNvSpPr txBox="1">
                <a:spLocks noChangeArrowheads="1"/>
              </p:cNvSpPr>
              <p:nvPr/>
            </p:nvSpPr>
            <p:spPr bwMode="auto">
              <a:xfrm>
                <a:off x="1044575" y="2208213"/>
                <a:ext cx="7704138" cy="4230687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FFFFFF"/>
                    </a:outerShdw>
                  </a:effectLst>
                </a:endParaRPr>
              </a:p>
            </p:txBody>
          </p:sp>
        </p:grpSp>
        <p:sp>
          <p:nvSpPr>
            <p:cNvPr id="6" name="Rectangle 5"/>
            <p:cNvSpPr/>
            <p:nvPr/>
          </p:nvSpPr>
          <p:spPr bwMode="auto">
            <a:xfrm>
              <a:off x="1226350" y="1780560"/>
              <a:ext cx="7551738" cy="4078918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Rectangle 66"/>
            <p:cNvSpPr>
              <a:spLocks noChangeArrowheads="1"/>
            </p:cNvSpPr>
            <p:nvPr/>
          </p:nvSpPr>
          <p:spPr bwMode="auto">
            <a:xfrm>
              <a:off x="5565913" y="4398153"/>
              <a:ext cx="1042188" cy="305269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endParaRPr lang="en-US" sz="1800" dirty="0"/>
            </a:p>
          </p:txBody>
        </p:sp>
        <p:sp>
          <p:nvSpPr>
            <p:cNvPr id="45067" name="Text Box 61"/>
            <p:cNvSpPr txBox="1">
              <a:spLocks noChangeArrowheads="1"/>
            </p:cNvSpPr>
            <p:nvPr/>
          </p:nvSpPr>
          <p:spPr bwMode="auto">
            <a:xfrm>
              <a:off x="4838541" y="4209818"/>
              <a:ext cx="677263" cy="335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1.05</a:t>
              </a:r>
            </a:p>
          </p:txBody>
        </p:sp>
        <p:sp>
          <p:nvSpPr>
            <p:cNvPr id="45068" name="Line 36"/>
            <p:cNvSpPr>
              <a:spLocks noChangeShapeType="1"/>
            </p:cNvSpPr>
            <p:nvPr/>
          </p:nvSpPr>
          <p:spPr bwMode="auto">
            <a:xfrm>
              <a:off x="1970122" y="5236816"/>
              <a:ext cx="2383109" cy="0"/>
            </a:xfrm>
            <a:prstGeom prst="line">
              <a:avLst/>
            </a:prstGeom>
            <a:noFill/>
            <a:ln w="38100">
              <a:solidFill>
                <a:srgbClr val="00B0F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069" name="Text Box 37"/>
            <p:cNvSpPr txBox="1">
              <a:spLocks noChangeArrowheads="1"/>
            </p:cNvSpPr>
            <p:nvPr/>
          </p:nvSpPr>
          <p:spPr bwMode="auto">
            <a:xfrm>
              <a:off x="1662498" y="5462249"/>
              <a:ext cx="313478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Quantity (M of bushels/year)</a:t>
              </a:r>
            </a:p>
          </p:txBody>
        </p:sp>
        <p:sp>
          <p:nvSpPr>
            <p:cNvPr id="45070" name="Line 39"/>
            <p:cNvSpPr>
              <a:spLocks noChangeShapeType="1"/>
            </p:cNvSpPr>
            <p:nvPr/>
          </p:nvSpPr>
          <p:spPr bwMode="auto">
            <a:xfrm>
              <a:off x="1978137" y="2390937"/>
              <a:ext cx="0" cy="2845880"/>
            </a:xfrm>
            <a:prstGeom prst="line">
              <a:avLst/>
            </a:prstGeom>
            <a:noFill/>
            <a:ln w="38100">
              <a:solidFill>
                <a:srgbClr val="00B0F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071" name="Line 47"/>
            <p:cNvSpPr>
              <a:spLocks noChangeShapeType="1"/>
            </p:cNvSpPr>
            <p:nvPr/>
          </p:nvSpPr>
          <p:spPr bwMode="auto">
            <a:xfrm>
              <a:off x="5567175" y="5241413"/>
              <a:ext cx="260619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072" name="Text Box 48"/>
            <p:cNvSpPr txBox="1">
              <a:spLocks noChangeArrowheads="1"/>
            </p:cNvSpPr>
            <p:nvPr/>
          </p:nvSpPr>
          <p:spPr bwMode="auto">
            <a:xfrm>
              <a:off x="5194852" y="5462249"/>
              <a:ext cx="356483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Quantity (000s of bushels/year)</a:t>
              </a:r>
            </a:p>
          </p:txBody>
        </p:sp>
        <p:sp>
          <p:nvSpPr>
            <p:cNvPr id="45073" name="Line 50"/>
            <p:cNvSpPr>
              <a:spLocks noChangeShapeType="1"/>
            </p:cNvSpPr>
            <p:nvPr/>
          </p:nvSpPr>
          <p:spPr bwMode="auto">
            <a:xfrm>
              <a:off x="5535434" y="2390937"/>
              <a:ext cx="0" cy="28372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074" name="Line 69"/>
            <p:cNvSpPr>
              <a:spLocks noChangeShapeType="1"/>
            </p:cNvSpPr>
            <p:nvPr/>
          </p:nvSpPr>
          <p:spPr bwMode="auto">
            <a:xfrm flipV="1">
              <a:off x="6610772" y="4700239"/>
              <a:ext cx="1335" cy="5106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075" name="Text Box 70"/>
            <p:cNvSpPr txBox="1">
              <a:spLocks noChangeArrowheads="1"/>
            </p:cNvSpPr>
            <p:nvPr/>
          </p:nvSpPr>
          <p:spPr bwMode="auto">
            <a:xfrm>
              <a:off x="6161935" y="5221388"/>
              <a:ext cx="611807" cy="335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70</a:t>
              </a:r>
            </a:p>
          </p:txBody>
        </p:sp>
        <p:sp>
          <p:nvSpPr>
            <p:cNvPr id="45076" name="Text Box 43"/>
            <p:cNvSpPr txBox="1">
              <a:spLocks noChangeArrowheads="1"/>
            </p:cNvSpPr>
            <p:nvPr/>
          </p:nvSpPr>
          <p:spPr bwMode="auto">
            <a:xfrm>
              <a:off x="1298713" y="4523295"/>
              <a:ext cx="70172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0.75</a:t>
              </a:r>
            </a:p>
          </p:txBody>
        </p:sp>
        <p:sp>
          <p:nvSpPr>
            <p:cNvPr id="45077" name="Line 46"/>
            <p:cNvSpPr>
              <a:spLocks noChangeShapeType="1"/>
            </p:cNvSpPr>
            <p:nvPr/>
          </p:nvSpPr>
          <p:spPr bwMode="auto">
            <a:xfrm flipH="1" flipV="1">
              <a:off x="6920683" y="4456471"/>
              <a:ext cx="14694" cy="7716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078" name="Text Box 51"/>
            <p:cNvSpPr txBox="1">
              <a:spLocks noChangeArrowheads="1"/>
            </p:cNvSpPr>
            <p:nvPr/>
          </p:nvSpPr>
          <p:spPr bwMode="auto">
            <a:xfrm>
              <a:off x="7911547" y="4441042"/>
              <a:ext cx="38140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P</a:t>
              </a:r>
            </a:p>
          </p:txBody>
        </p:sp>
        <p:sp>
          <p:nvSpPr>
            <p:cNvPr id="45079" name="Text Box 53"/>
            <p:cNvSpPr txBox="1">
              <a:spLocks noChangeArrowheads="1"/>
            </p:cNvSpPr>
            <p:nvPr/>
          </p:nvSpPr>
          <p:spPr bwMode="auto">
            <a:xfrm>
              <a:off x="6694927" y="5221388"/>
              <a:ext cx="51425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90</a:t>
              </a:r>
            </a:p>
          </p:txBody>
        </p:sp>
        <p:sp>
          <p:nvSpPr>
            <p:cNvPr id="45080" name="Text Box 59"/>
            <p:cNvSpPr txBox="1">
              <a:spLocks noChangeArrowheads="1"/>
            </p:cNvSpPr>
            <p:nvPr/>
          </p:nvSpPr>
          <p:spPr bwMode="auto">
            <a:xfrm>
              <a:off x="7964557" y="2322139"/>
              <a:ext cx="742121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ATC</a:t>
              </a:r>
            </a:p>
          </p:txBody>
        </p:sp>
        <p:sp>
          <p:nvSpPr>
            <p:cNvPr id="45081" name="Line 65"/>
            <p:cNvSpPr>
              <a:spLocks noChangeShapeType="1"/>
            </p:cNvSpPr>
            <p:nvPr/>
          </p:nvSpPr>
          <p:spPr bwMode="auto">
            <a:xfrm flipV="1">
              <a:off x="5551464" y="4690644"/>
              <a:ext cx="2463258" cy="15867"/>
            </a:xfrm>
            <a:prstGeom prst="line">
              <a:avLst/>
            </a:prstGeom>
            <a:noFill/>
            <a:ln w="57150">
              <a:solidFill>
                <a:srgbClr val="00B0F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57"/>
            <p:cNvSpPr>
              <a:spLocks/>
            </p:cNvSpPr>
            <p:nvPr/>
          </p:nvSpPr>
          <p:spPr bwMode="auto">
            <a:xfrm>
              <a:off x="5853913" y="2728444"/>
              <a:ext cx="2395537" cy="1733818"/>
            </a:xfrm>
            <a:custGeom>
              <a:avLst/>
              <a:gdLst/>
              <a:ahLst/>
              <a:cxnLst>
                <a:cxn ang="0">
                  <a:pos x="0" y="591"/>
                </a:cxn>
                <a:cxn ang="0">
                  <a:pos x="326" y="992"/>
                </a:cxn>
                <a:cxn ang="0">
                  <a:pos x="816" y="1189"/>
                </a:cxn>
                <a:cxn ang="0">
                  <a:pos x="1389" y="915"/>
                </a:cxn>
                <a:cxn ang="0">
                  <a:pos x="1794" y="0"/>
                </a:cxn>
              </a:cxnLst>
              <a:rect l="0" t="0" r="r" b="b"/>
              <a:pathLst>
                <a:path w="1794" h="1202">
                  <a:moveTo>
                    <a:pt x="0" y="591"/>
                  </a:moveTo>
                  <a:cubicBezTo>
                    <a:pt x="53" y="658"/>
                    <a:pt x="190" y="892"/>
                    <a:pt x="326" y="992"/>
                  </a:cubicBezTo>
                  <a:cubicBezTo>
                    <a:pt x="462" y="1092"/>
                    <a:pt x="639" y="1202"/>
                    <a:pt x="816" y="1189"/>
                  </a:cubicBezTo>
                  <a:cubicBezTo>
                    <a:pt x="993" y="1176"/>
                    <a:pt x="1226" y="1113"/>
                    <a:pt x="1389" y="915"/>
                  </a:cubicBezTo>
                  <a:cubicBezTo>
                    <a:pt x="1552" y="717"/>
                    <a:pt x="1710" y="191"/>
                    <a:pt x="1794" y="0"/>
                  </a:cubicBezTo>
                </a:path>
              </a:pathLst>
            </a:cu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/>
            <a:lstStyle/>
            <a:p>
              <a:pPr algn="ctr">
                <a:defRPr/>
              </a:pPr>
              <a:endParaRPr lang="en-US" sz="1800" dirty="0"/>
            </a:p>
          </p:txBody>
        </p:sp>
        <p:sp>
          <p:nvSpPr>
            <p:cNvPr id="24" name="Freeform 58"/>
            <p:cNvSpPr>
              <a:spLocks/>
            </p:cNvSpPr>
            <p:nvPr/>
          </p:nvSpPr>
          <p:spPr bwMode="auto">
            <a:xfrm>
              <a:off x="5798350" y="2401368"/>
              <a:ext cx="1909763" cy="2510227"/>
            </a:xfrm>
            <a:custGeom>
              <a:avLst/>
              <a:gdLst/>
              <a:ahLst/>
              <a:cxnLst>
                <a:cxn ang="0">
                  <a:pos x="0" y="1664"/>
                </a:cxn>
                <a:cxn ang="0">
                  <a:pos x="255" y="1724"/>
                </a:cxn>
                <a:cxn ang="0">
                  <a:pos x="636" y="1567"/>
                </a:cxn>
                <a:cxn ang="0">
                  <a:pos x="950" y="1297"/>
                </a:cxn>
                <a:cxn ang="0">
                  <a:pos x="1175" y="886"/>
                </a:cxn>
                <a:cxn ang="0">
                  <a:pos x="1429" y="0"/>
                </a:cxn>
              </a:cxnLst>
              <a:rect l="0" t="0" r="r" b="b"/>
              <a:pathLst>
                <a:path w="1429" h="1740">
                  <a:moveTo>
                    <a:pt x="0" y="1664"/>
                  </a:moveTo>
                  <a:cubicBezTo>
                    <a:pt x="44" y="1674"/>
                    <a:pt x="149" y="1740"/>
                    <a:pt x="255" y="1724"/>
                  </a:cubicBezTo>
                  <a:cubicBezTo>
                    <a:pt x="361" y="1708"/>
                    <a:pt x="520" y="1638"/>
                    <a:pt x="636" y="1567"/>
                  </a:cubicBezTo>
                  <a:cubicBezTo>
                    <a:pt x="752" y="1496"/>
                    <a:pt x="860" y="1410"/>
                    <a:pt x="950" y="1297"/>
                  </a:cubicBezTo>
                  <a:cubicBezTo>
                    <a:pt x="1040" y="1184"/>
                    <a:pt x="1095" y="1102"/>
                    <a:pt x="1175" y="886"/>
                  </a:cubicBezTo>
                  <a:cubicBezTo>
                    <a:pt x="1255" y="670"/>
                    <a:pt x="1376" y="184"/>
                    <a:pt x="1429" y="0"/>
                  </a:cubicBezTo>
                </a:path>
              </a:pathLst>
            </a:cu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algn="ctr">
                <a:defRPr/>
              </a:pPr>
              <a:endParaRPr lang="en-US" sz="1800" dirty="0"/>
            </a:p>
          </p:txBody>
        </p:sp>
        <p:sp>
          <p:nvSpPr>
            <p:cNvPr id="45084" name="Text Box 71"/>
            <p:cNvSpPr txBox="1">
              <a:spLocks noChangeArrowheads="1"/>
            </p:cNvSpPr>
            <p:nvPr/>
          </p:nvSpPr>
          <p:spPr bwMode="auto">
            <a:xfrm>
              <a:off x="7076661" y="2217153"/>
              <a:ext cx="65949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MC</a:t>
              </a:r>
            </a:p>
          </p:txBody>
        </p:sp>
        <p:sp>
          <p:nvSpPr>
            <p:cNvPr id="45085" name="Text Box 31"/>
            <p:cNvSpPr txBox="1">
              <a:spLocks noChangeArrowheads="1"/>
            </p:cNvSpPr>
            <p:nvPr/>
          </p:nvSpPr>
          <p:spPr bwMode="auto">
            <a:xfrm>
              <a:off x="3870998" y="3751570"/>
              <a:ext cx="363344" cy="335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S</a:t>
              </a:r>
            </a:p>
          </p:txBody>
        </p:sp>
        <p:sp>
          <p:nvSpPr>
            <p:cNvPr id="27" name="Line 32"/>
            <p:cNvSpPr>
              <a:spLocks noChangeShapeType="1"/>
            </p:cNvSpPr>
            <p:nvPr/>
          </p:nvSpPr>
          <p:spPr bwMode="auto">
            <a:xfrm>
              <a:off x="2062963" y="2833235"/>
              <a:ext cx="1997075" cy="2229195"/>
            </a:xfrm>
            <a:prstGeom prst="line">
              <a:avLst/>
            </a:pr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/>
            <a:lstStyle/>
            <a:p>
              <a:pPr algn="ctr">
                <a:defRPr/>
              </a:pPr>
              <a:endParaRPr lang="en-US" sz="1800" dirty="0"/>
            </a:p>
          </p:txBody>
        </p:sp>
        <p:sp>
          <p:nvSpPr>
            <p:cNvPr id="28" name="Line 35"/>
            <p:cNvSpPr>
              <a:spLocks noChangeShapeType="1"/>
            </p:cNvSpPr>
            <p:nvPr/>
          </p:nvSpPr>
          <p:spPr bwMode="auto">
            <a:xfrm rot="5400000">
              <a:off x="3293182" y="4027282"/>
              <a:ext cx="1200336" cy="806450"/>
            </a:xfrm>
            <a:prstGeom prst="line">
              <a:avLst/>
            </a:pr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algn="ctr">
                <a:defRPr/>
              </a:pPr>
              <a:endParaRPr lang="en-US" sz="1800" dirty="0"/>
            </a:p>
          </p:txBody>
        </p:sp>
        <p:sp>
          <p:nvSpPr>
            <p:cNvPr id="45088" name="Text Box 40"/>
            <p:cNvSpPr txBox="1">
              <a:spLocks noChangeArrowheads="1"/>
            </p:cNvSpPr>
            <p:nvPr/>
          </p:nvSpPr>
          <p:spPr bwMode="auto">
            <a:xfrm>
              <a:off x="3973644" y="4777845"/>
              <a:ext cx="269836" cy="335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D</a:t>
              </a:r>
            </a:p>
          </p:txBody>
        </p:sp>
        <p:sp>
          <p:nvSpPr>
            <p:cNvPr id="45089" name="Text Box 41"/>
            <p:cNvSpPr txBox="1">
              <a:spLocks noChangeArrowheads="1"/>
            </p:cNvSpPr>
            <p:nvPr/>
          </p:nvSpPr>
          <p:spPr bwMode="auto">
            <a:xfrm>
              <a:off x="3470774" y="5221388"/>
              <a:ext cx="502270" cy="335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60</a:t>
              </a:r>
            </a:p>
          </p:txBody>
        </p:sp>
        <p:sp>
          <p:nvSpPr>
            <p:cNvPr id="45090" name="Line 77"/>
            <p:cNvSpPr>
              <a:spLocks noChangeShapeType="1"/>
            </p:cNvSpPr>
            <p:nvPr/>
          </p:nvSpPr>
          <p:spPr bwMode="auto">
            <a:xfrm>
              <a:off x="3716043" y="4708893"/>
              <a:ext cx="0" cy="484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091" name="Text Box 56"/>
            <p:cNvSpPr txBox="1">
              <a:spLocks noChangeArrowheads="1"/>
            </p:cNvSpPr>
            <p:nvPr/>
          </p:nvSpPr>
          <p:spPr bwMode="auto">
            <a:xfrm>
              <a:off x="1473239" y="1815547"/>
              <a:ext cx="732001" cy="587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Price </a:t>
              </a:r>
              <a:br>
                <a:rPr lang="en-US" sz="1800"/>
              </a:br>
              <a:r>
                <a:rPr lang="en-US" sz="1800"/>
                <a:t>$/bu</a:t>
              </a:r>
            </a:p>
          </p:txBody>
        </p:sp>
        <p:cxnSp>
          <p:nvCxnSpPr>
            <p:cNvPr id="45092" name="Straight Connector 32"/>
            <p:cNvCxnSpPr>
              <a:cxnSpLocks noChangeShapeType="1"/>
              <a:stCxn id="45093" idx="3"/>
            </p:cNvCxnSpPr>
            <p:nvPr/>
          </p:nvCxnSpPr>
          <p:spPr bwMode="auto">
            <a:xfrm flipH="1" flipV="1">
              <a:off x="1960193" y="4715164"/>
              <a:ext cx="3555612" cy="3361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sp>
          <p:nvSpPr>
            <p:cNvPr id="45093" name="Text Box 67"/>
            <p:cNvSpPr txBox="1">
              <a:spLocks noChangeArrowheads="1"/>
            </p:cNvSpPr>
            <p:nvPr/>
          </p:nvSpPr>
          <p:spPr bwMode="auto">
            <a:xfrm>
              <a:off x="4863549" y="4533859"/>
              <a:ext cx="652256" cy="36933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0.75</a:t>
              </a:r>
            </a:p>
          </p:txBody>
        </p:sp>
        <p:sp>
          <p:nvSpPr>
            <p:cNvPr id="45094" name="Text Box 56"/>
            <p:cNvSpPr txBox="1">
              <a:spLocks noChangeArrowheads="1"/>
            </p:cNvSpPr>
            <p:nvPr/>
          </p:nvSpPr>
          <p:spPr bwMode="auto">
            <a:xfrm>
              <a:off x="5002596" y="1815547"/>
              <a:ext cx="732001" cy="587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Price </a:t>
              </a:r>
              <a:br>
                <a:rPr lang="en-US" sz="1800"/>
              </a:br>
              <a:r>
                <a:rPr lang="en-US" sz="1800"/>
                <a:t>$/bu</a:t>
              </a:r>
            </a:p>
          </p:txBody>
        </p:sp>
      </p:grpSp>
      <p:sp>
        <p:nvSpPr>
          <p:cNvPr id="45060" name="Text Box 7"/>
          <p:cNvSpPr txBox="1">
            <a:spLocks noChangeArrowheads="1"/>
          </p:cNvSpPr>
          <p:nvPr/>
        </p:nvSpPr>
        <p:spPr bwMode="auto">
          <a:xfrm>
            <a:off x="5365750" y="2270125"/>
            <a:ext cx="30400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800" u="sng" dirty="0"/>
              <a:t>Typical Rice Farm</a:t>
            </a:r>
          </a:p>
        </p:txBody>
      </p:sp>
      <p:sp>
        <p:nvSpPr>
          <p:cNvPr id="45061" name="Text Box 7"/>
          <p:cNvSpPr txBox="1">
            <a:spLocks noChangeArrowheads="1"/>
          </p:cNvSpPr>
          <p:nvPr/>
        </p:nvSpPr>
        <p:spPr bwMode="auto">
          <a:xfrm>
            <a:off x="2047875" y="2312988"/>
            <a:ext cx="23034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800" u="sng" dirty="0"/>
              <a:t>Rice Industry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Market Equilibrium</a:t>
            </a:r>
          </a:p>
        </p:txBody>
      </p:sp>
      <p:sp>
        <p:nvSpPr>
          <p:cNvPr id="47106" name="Content Placeholder 2"/>
          <p:cNvSpPr>
            <a:spLocks noGrp="1"/>
          </p:cNvSpPr>
          <p:nvPr>
            <p:ph idx="4294967295"/>
          </p:nvPr>
        </p:nvSpPr>
        <p:spPr>
          <a:xfrm>
            <a:off x="985838" y="1428750"/>
            <a:ext cx="7924800" cy="4525963"/>
          </a:xfrm>
        </p:spPr>
        <p:txBody>
          <a:bodyPr/>
          <a:lstStyle/>
          <a:p>
            <a:pPr marL="225425" indent="-225425" eaLnBrk="1" hangingPunct="1"/>
            <a:r>
              <a:rPr lang="en-US" dirty="0"/>
              <a:t>No economic losses</a:t>
            </a:r>
          </a:p>
        </p:txBody>
      </p:sp>
      <p:grpSp>
        <p:nvGrpSpPr>
          <p:cNvPr id="2" name="Group 94"/>
          <p:cNvGrpSpPr>
            <a:grpSpLocks/>
          </p:cNvGrpSpPr>
          <p:nvPr/>
        </p:nvGrpSpPr>
        <p:grpSpPr bwMode="auto">
          <a:xfrm>
            <a:off x="962025" y="2193925"/>
            <a:ext cx="7704138" cy="4230688"/>
            <a:chOff x="948531" y="2207930"/>
            <a:chExt cx="7704138" cy="4231342"/>
          </a:xfrm>
        </p:grpSpPr>
        <p:grpSp>
          <p:nvGrpSpPr>
            <p:cNvPr id="3" name="Rectangle 49"/>
            <p:cNvGrpSpPr>
              <a:grpSpLocks/>
            </p:cNvGrpSpPr>
            <p:nvPr/>
          </p:nvGrpSpPr>
          <p:grpSpPr bwMode="auto">
            <a:xfrm>
              <a:off x="888714" y="2171983"/>
              <a:ext cx="7821168" cy="4341023"/>
              <a:chOff x="902208" y="2157984"/>
              <a:chExt cx="7821168" cy="4340352"/>
            </a:xfrm>
          </p:grpSpPr>
          <p:pic>
            <p:nvPicPr>
              <p:cNvPr id="47142" name="Rectangle 49"/>
              <p:cNvPicPr>
                <a:picLocks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902208" y="2157984"/>
                <a:ext cx="7821168" cy="43403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99335" name="Text Box 7"/>
              <p:cNvSpPr txBox="1">
                <a:spLocks noChangeArrowheads="1"/>
              </p:cNvSpPr>
              <p:nvPr/>
            </p:nvSpPr>
            <p:spPr bwMode="auto">
              <a:xfrm>
                <a:off x="962025" y="2193925"/>
                <a:ext cx="7704138" cy="4230688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FFFFFF"/>
                    </a:outerShdw>
                  </a:effectLst>
                </a:endParaRPr>
              </a:p>
            </p:txBody>
          </p:sp>
        </p:grpSp>
        <p:sp>
          <p:nvSpPr>
            <p:cNvPr id="51" name="Rectangle 50"/>
            <p:cNvSpPr/>
            <p:nvPr/>
          </p:nvSpPr>
          <p:spPr bwMode="auto">
            <a:xfrm>
              <a:off x="1024731" y="2284142"/>
              <a:ext cx="7551738" cy="4078918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7110" name="Line 36"/>
            <p:cNvSpPr>
              <a:spLocks noChangeShapeType="1"/>
            </p:cNvSpPr>
            <p:nvPr/>
          </p:nvSpPr>
          <p:spPr bwMode="auto">
            <a:xfrm>
              <a:off x="1768503" y="5740398"/>
              <a:ext cx="238310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11" name="Text Box 37"/>
            <p:cNvSpPr txBox="1">
              <a:spLocks noChangeArrowheads="1"/>
            </p:cNvSpPr>
            <p:nvPr/>
          </p:nvSpPr>
          <p:spPr bwMode="auto">
            <a:xfrm>
              <a:off x="1460879" y="5965831"/>
              <a:ext cx="313478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Quantity (M of bushels/year)</a:t>
              </a:r>
            </a:p>
          </p:txBody>
        </p:sp>
        <p:sp>
          <p:nvSpPr>
            <p:cNvPr id="47112" name="Line 39"/>
            <p:cNvSpPr>
              <a:spLocks noChangeShapeType="1"/>
            </p:cNvSpPr>
            <p:nvPr/>
          </p:nvSpPr>
          <p:spPr bwMode="auto">
            <a:xfrm>
              <a:off x="1776518" y="2894519"/>
              <a:ext cx="0" cy="28458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13" name="Line 47"/>
            <p:cNvSpPr>
              <a:spLocks noChangeShapeType="1"/>
            </p:cNvSpPr>
            <p:nvPr/>
          </p:nvSpPr>
          <p:spPr bwMode="auto">
            <a:xfrm>
              <a:off x="5365556" y="5744995"/>
              <a:ext cx="260619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14" name="Text Box 48"/>
            <p:cNvSpPr txBox="1">
              <a:spLocks noChangeArrowheads="1"/>
            </p:cNvSpPr>
            <p:nvPr/>
          </p:nvSpPr>
          <p:spPr bwMode="auto">
            <a:xfrm>
              <a:off x="4993233" y="5965831"/>
              <a:ext cx="356483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Quantity (000s of bushels/year)</a:t>
              </a:r>
            </a:p>
          </p:txBody>
        </p:sp>
        <p:sp>
          <p:nvSpPr>
            <p:cNvPr id="47115" name="Line 50"/>
            <p:cNvSpPr>
              <a:spLocks noChangeShapeType="1"/>
            </p:cNvSpPr>
            <p:nvPr/>
          </p:nvSpPr>
          <p:spPr bwMode="auto">
            <a:xfrm>
              <a:off x="5360319" y="2907771"/>
              <a:ext cx="0" cy="28372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16" name="Line 69"/>
            <p:cNvSpPr>
              <a:spLocks noChangeShapeType="1"/>
            </p:cNvSpPr>
            <p:nvPr/>
          </p:nvSpPr>
          <p:spPr bwMode="auto">
            <a:xfrm flipV="1">
              <a:off x="6369397" y="5203821"/>
              <a:ext cx="1335" cy="5106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17" name="Text Box 70"/>
            <p:cNvSpPr txBox="1">
              <a:spLocks noChangeArrowheads="1"/>
            </p:cNvSpPr>
            <p:nvPr/>
          </p:nvSpPr>
          <p:spPr bwMode="auto">
            <a:xfrm>
              <a:off x="5960316" y="5724970"/>
              <a:ext cx="611807" cy="335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70</a:t>
              </a:r>
            </a:p>
          </p:txBody>
        </p:sp>
        <p:sp>
          <p:nvSpPr>
            <p:cNvPr id="47118" name="Text Box 43"/>
            <p:cNvSpPr txBox="1">
              <a:spLocks noChangeArrowheads="1"/>
            </p:cNvSpPr>
            <p:nvPr/>
          </p:nvSpPr>
          <p:spPr bwMode="auto">
            <a:xfrm>
              <a:off x="1097094" y="5026877"/>
              <a:ext cx="70172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0.75</a:t>
              </a:r>
            </a:p>
          </p:txBody>
        </p:sp>
        <p:sp>
          <p:nvSpPr>
            <p:cNvPr id="47119" name="Line 46"/>
            <p:cNvSpPr>
              <a:spLocks noChangeShapeType="1"/>
            </p:cNvSpPr>
            <p:nvPr/>
          </p:nvSpPr>
          <p:spPr bwMode="auto">
            <a:xfrm flipH="1" flipV="1">
              <a:off x="6719064" y="4960053"/>
              <a:ext cx="14694" cy="7716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20" name="Text Box 51"/>
            <p:cNvSpPr txBox="1">
              <a:spLocks noChangeArrowheads="1"/>
            </p:cNvSpPr>
            <p:nvPr/>
          </p:nvSpPr>
          <p:spPr bwMode="auto">
            <a:xfrm>
              <a:off x="7762936" y="4812104"/>
              <a:ext cx="38140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P</a:t>
              </a:r>
            </a:p>
          </p:txBody>
        </p:sp>
        <p:sp>
          <p:nvSpPr>
            <p:cNvPr id="47121" name="Text Box 53"/>
            <p:cNvSpPr txBox="1">
              <a:spLocks noChangeArrowheads="1"/>
            </p:cNvSpPr>
            <p:nvPr/>
          </p:nvSpPr>
          <p:spPr bwMode="auto">
            <a:xfrm>
              <a:off x="6493308" y="5724970"/>
              <a:ext cx="51425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90</a:t>
              </a:r>
            </a:p>
          </p:txBody>
        </p:sp>
        <p:sp>
          <p:nvSpPr>
            <p:cNvPr id="47122" name="Text Box 59"/>
            <p:cNvSpPr txBox="1">
              <a:spLocks noChangeArrowheads="1"/>
            </p:cNvSpPr>
            <p:nvPr/>
          </p:nvSpPr>
          <p:spPr bwMode="auto">
            <a:xfrm>
              <a:off x="7762938" y="2825721"/>
              <a:ext cx="742121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ATC</a:t>
              </a:r>
            </a:p>
          </p:txBody>
        </p:sp>
        <p:sp>
          <p:nvSpPr>
            <p:cNvPr id="67" name="Line 65"/>
            <p:cNvSpPr>
              <a:spLocks noChangeShapeType="1"/>
            </p:cNvSpPr>
            <p:nvPr/>
          </p:nvSpPr>
          <p:spPr bwMode="auto">
            <a:xfrm flipV="1">
              <a:off x="5376069" y="4983309"/>
              <a:ext cx="2463800" cy="15877"/>
            </a:xfrm>
            <a:prstGeom prst="line">
              <a:avLst/>
            </a:pr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algn="ctr">
                <a:defRPr/>
              </a:pPr>
              <a:endParaRPr lang="en-US" sz="1800" dirty="0"/>
            </a:p>
          </p:txBody>
        </p:sp>
        <p:sp>
          <p:nvSpPr>
            <p:cNvPr id="68" name="Freeform 57"/>
            <p:cNvSpPr>
              <a:spLocks/>
            </p:cNvSpPr>
            <p:nvPr/>
          </p:nvSpPr>
          <p:spPr bwMode="auto">
            <a:xfrm>
              <a:off x="5652294" y="3232026"/>
              <a:ext cx="2395537" cy="1733818"/>
            </a:xfrm>
            <a:custGeom>
              <a:avLst/>
              <a:gdLst/>
              <a:ahLst/>
              <a:cxnLst>
                <a:cxn ang="0">
                  <a:pos x="0" y="591"/>
                </a:cxn>
                <a:cxn ang="0">
                  <a:pos x="326" y="992"/>
                </a:cxn>
                <a:cxn ang="0">
                  <a:pos x="816" y="1189"/>
                </a:cxn>
                <a:cxn ang="0">
                  <a:pos x="1389" y="915"/>
                </a:cxn>
                <a:cxn ang="0">
                  <a:pos x="1794" y="0"/>
                </a:cxn>
              </a:cxnLst>
              <a:rect l="0" t="0" r="r" b="b"/>
              <a:pathLst>
                <a:path w="1794" h="1202">
                  <a:moveTo>
                    <a:pt x="0" y="591"/>
                  </a:moveTo>
                  <a:cubicBezTo>
                    <a:pt x="53" y="658"/>
                    <a:pt x="190" y="892"/>
                    <a:pt x="326" y="992"/>
                  </a:cubicBezTo>
                  <a:cubicBezTo>
                    <a:pt x="462" y="1092"/>
                    <a:pt x="639" y="1202"/>
                    <a:pt x="816" y="1189"/>
                  </a:cubicBezTo>
                  <a:cubicBezTo>
                    <a:pt x="993" y="1176"/>
                    <a:pt x="1226" y="1113"/>
                    <a:pt x="1389" y="915"/>
                  </a:cubicBezTo>
                  <a:cubicBezTo>
                    <a:pt x="1552" y="717"/>
                    <a:pt x="1710" y="191"/>
                    <a:pt x="1794" y="0"/>
                  </a:cubicBezTo>
                </a:path>
              </a:pathLst>
            </a:cu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/>
            <a:lstStyle/>
            <a:p>
              <a:pPr algn="ctr">
                <a:defRPr/>
              </a:pPr>
              <a:endParaRPr lang="en-US" sz="1800" dirty="0"/>
            </a:p>
          </p:txBody>
        </p:sp>
        <p:sp>
          <p:nvSpPr>
            <p:cNvPr id="47125" name="Text Box 71"/>
            <p:cNvSpPr txBox="1">
              <a:spLocks noChangeArrowheads="1"/>
            </p:cNvSpPr>
            <p:nvPr/>
          </p:nvSpPr>
          <p:spPr bwMode="auto">
            <a:xfrm>
              <a:off x="6875042" y="2720735"/>
              <a:ext cx="65949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MC</a:t>
              </a:r>
            </a:p>
          </p:txBody>
        </p:sp>
        <p:sp>
          <p:nvSpPr>
            <p:cNvPr id="47126" name="Text Box 31"/>
            <p:cNvSpPr txBox="1">
              <a:spLocks noChangeArrowheads="1"/>
            </p:cNvSpPr>
            <p:nvPr/>
          </p:nvSpPr>
          <p:spPr bwMode="auto">
            <a:xfrm>
              <a:off x="4025815" y="4161187"/>
              <a:ext cx="357809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S</a:t>
              </a:r>
            </a:p>
          </p:txBody>
        </p:sp>
        <p:sp>
          <p:nvSpPr>
            <p:cNvPr id="72" name="Line 32"/>
            <p:cNvSpPr>
              <a:spLocks noChangeShapeType="1"/>
            </p:cNvSpPr>
            <p:nvPr/>
          </p:nvSpPr>
          <p:spPr bwMode="auto">
            <a:xfrm>
              <a:off x="1861344" y="3336817"/>
              <a:ext cx="1997075" cy="2229195"/>
            </a:xfrm>
            <a:prstGeom prst="line">
              <a:avLst/>
            </a:pr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/>
            <a:lstStyle/>
            <a:p>
              <a:pPr algn="ctr">
                <a:defRPr/>
              </a:pPr>
              <a:endParaRPr lang="en-US" sz="1800" dirty="0"/>
            </a:p>
          </p:txBody>
        </p:sp>
        <p:sp>
          <p:nvSpPr>
            <p:cNvPr id="73" name="Line 35"/>
            <p:cNvSpPr>
              <a:spLocks noChangeShapeType="1"/>
            </p:cNvSpPr>
            <p:nvPr/>
          </p:nvSpPr>
          <p:spPr bwMode="auto">
            <a:xfrm rot="5400000">
              <a:off x="3091563" y="4530864"/>
              <a:ext cx="1200336" cy="806450"/>
            </a:xfrm>
            <a:prstGeom prst="line">
              <a:avLst/>
            </a:pr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algn="ctr">
                <a:defRPr/>
              </a:pPr>
              <a:endParaRPr lang="en-US" sz="1800" dirty="0"/>
            </a:p>
          </p:txBody>
        </p:sp>
        <p:sp>
          <p:nvSpPr>
            <p:cNvPr id="47129" name="Text Box 40"/>
            <p:cNvSpPr txBox="1">
              <a:spLocks noChangeArrowheads="1"/>
            </p:cNvSpPr>
            <p:nvPr/>
          </p:nvSpPr>
          <p:spPr bwMode="auto">
            <a:xfrm>
              <a:off x="3772025" y="5281427"/>
              <a:ext cx="269836" cy="335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D</a:t>
              </a:r>
            </a:p>
          </p:txBody>
        </p:sp>
        <p:sp>
          <p:nvSpPr>
            <p:cNvPr id="47130" name="Text Box 41"/>
            <p:cNvSpPr txBox="1">
              <a:spLocks noChangeArrowheads="1"/>
            </p:cNvSpPr>
            <p:nvPr/>
          </p:nvSpPr>
          <p:spPr bwMode="auto">
            <a:xfrm>
              <a:off x="3402964" y="5731596"/>
              <a:ext cx="45057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60</a:t>
              </a:r>
            </a:p>
          </p:txBody>
        </p:sp>
        <p:sp>
          <p:nvSpPr>
            <p:cNvPr id="47131" name="Line 77"/>
            <p:cNvSpPr>
              <a:spLocks noChangeShapeType="1"/>
            </p:cNvSpPr>
            <p:nvPr/>
          </p:nvSpPr>
          <p:spPr bwMode="auto">
            <a:xfrm>
              <a:off x="3514424" y="5212475"/>
              <a:ext cx="0" cy="484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32" name="Text Box 56"/>
            <p:cNvSpPr txBox="1">
              <a:spLocks noChangeArrowheads="1"/>
            </p:cNvSpPr>
            <p:nvPr/>
          </p:nvSpPr>
          <p:spPr bwMode="auto">
            <a:xfrm>
              <a:off x="1271620" y="2319129"/>
              <a:ext cx="732001" cy="587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Price </a:t>
              </a:r>
              <a:br>
                <a:rPr lang="en-US" sz="1800"/>
              </a:br>
              <a:r>
                <a:rPr lang="en-US" sz="1800"/>
                <a:t>$/bu</a:t>
              </a:r>
            </a:p>
          </p:txBody>
        </p:sp>
        <p:cxnSp>
          <p:nvCxnSpPr>
            <p:cNvPr id="47133" name="Straight Connector 77"/>
            <p:cNvCxnSpPr>
              <a:cxnSpLocks noChangeShapeType="1"/>
            </p:cNvCxnSpPr>
            <p:nvPr/>
          </p:nvCxnSpPr>
          <p:spPr bwMode="auto">
            <a:xfrm rot="10800000">
              <a:off x="1758575" y="5218747"/>
              <a:ext cx="4639381" cy="15862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sp>
          <p:nvSpPr>
            <p:cNvPr id="47134" name="Text Box 56"/>
            <p:cNvSpPr txBox="1">
              <a:spLocks noChangeArrowheads="1"/>
            </p:cNvSpPr>
            <p:nvPr/>
          </p:nvSpPr>
          <p:spPr bwMode="auto">
            <a:xfrm>
              <a:off x="4800977" y="2319129"/>
              <a:ext cx="732001" cy="587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Price </a:t>
              </a:r>
              <a:br>
                <a:rPr lang="en-US" sz="1800"/>
              </a:br>
              <a:r>
                <a:rPr lang="en-US" sz="1800"/>
                <a:t>$/bu</a:t>
              </a:r>
            </a:p>
          </p:txBody>
        </p:sp>
        <p:sp>
          <p:nvSpPr>
            <p:cNvPr id="69" name="Freeform 58"/>
            <p:cNvSpPr>
              <a:spLocks/>
            </p:cNvSpPr>
            <p:nvPr/>
          </p:nvSpPr>
          <p:spPr bwMode="auto">
            <a:xfrm>
              <a:off x="5596731" y="2904951"/>
              <a:ext cx="1909763" cy="2510225"/>
            </a:xfrm>
            <a:custGeom>
              <a:avLst/>
              <a:gdLst/>
              <a:ahLst/>
              <a:cxnLst>
                <a:cxn ang="0">
                  <a:pos x="0" y="1664"/>
                </a:cxn>
                <a:cxn ang="0">
                  <a:pos x="255" y="1724"/>
                </a:cxn>
                <a:cxn ang="0">
                  <a:pos x="636" y="1567"/>
                </a:cxn>
                <a:cxn ang="0">
                  <a:pos x="950" y="1297"/>
                </a:cxn>
                <a:cxn ang="0">
                  <a:pos x="1175" y="886"/>
                </a:cxn>
                <a:cxn ang="0">
                  <a:pos x="1429" y="0"/>
                </a:cxn>
              </a:cxnLst>
              <a:rect l="0" t="0" r="r" b="b"/>
              <a:pathLst>
                <a:path w="1429" h="1740">
                  <a:moveTo>
                    <a:pt x="0" y="1664"/>
                  </a:moveTo>
                  <a:cubicBezTo>
                    <a:pt x="44" y="1674"/>
                    <a:pt x="149" y="1740"/>
                    <a:pt x="255" y="1724"/>
                  </a:cubicBezTo>
                  <a:cubicBezTo>
                    <a:pt x="361" y="1708"/>
                    <a:pt x="520" y="1638"/>
                    <a:pt x="636" y="1567"/>
                  </a:cubicBezTo>
                  <a:cubicBezTo>
                    <a:pt x="752" y="1496"/>
                    <a:pt x="860" y="1410"/>
                    <a:pt x="950" y="1297"/>
                  </a:cubicBezTo>
                  <a:cubicBezTo>
                    <a:pt x="1040" y="1184"/>
                    <a:pt x="1095" y="1102"/>
                    <a:pt x="1175" y="886"/>
                  </a:cubicBezTo>
                  <a:cubicBezTo>
                    <a:pt x="1255" y="670"/>
                    <a:pt x="1376" y="184"/>
                    <a:pt x="1429" y="0"/>
                  </a:cubicBezTo>
                </a:path>
              </a:pathLst>
            </a:cu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algn="ctr">
                <a:defRPr/>
              </a:pPr>
              <a:endParaRPr lang="en-US" sz="1800" dirty="0"/>
            </a:p>
          </p:txBody>
        </p:sp>
        <p:sp>
          <p:nvSpPr>
            <p:cNvPr id="47136" name="Text Box 43"/>
            <p:cNvSpPr txBox="1">
              <a:spLocks noChangeArrowheads="1"/>
            </p:cNvSpPr>
            <p:nvPr/>
          </p:nvSpPr>
          <p:spPr bwMode="auto">
            <a:xfrm>
              <a:off x="1097094" y="4831109"/>
              <a:ext cx="70172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1</a:t>
              </a:r>
            </a:p>
          </p:txBody>
        </p:sp>
        <p:sp>
          <p:nvSpPr>
            <p:cNvPr id="89" name="Line 35"/>
            <p:cNvSpPr>
              <a:spLocks noChangeShapeType="1"/>
            </p:cNvSpPr>
            <p:nvPr/>
          </p:nvSpPr>
          <p:spPr bwMode="auto">
            <a:xfrm rot="5400000">
              <a:off x="2872488" y="4418134"/>
              <a:ext cx="1200336" cy="806450"/>
            </a:xfrm>
            <a:prstGeom prst="line">
              <a:avLst/>
            </a:pr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algn="ctr">
                <a:defRPr/>
              </a:pPr>
              <a:endParaRPr lang="en-US" sz="1800" dirty="0"/>
            </a:p>
          </p:txBody>
        </p:sp>
        <p:sp>
          <p:nvSpPr>
            <p:cNvPr id="47138" name="Text Box 31"/>
            <p:cNvSpPr txBox="1">
              <a:spLocks noChangeArrowheads="1"/>
            </p:cNvSpPr>
            <p:nvPr/>
          </p:nvSpPr>
          <p:spPr bwMode="auto">
            <a:xfrm>
              <a:off x="3542111" y="3929274"/>
              <a:ext cx="443949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S'</a:t>
              </a:r>
            </a:p>
          </p:txBody>
        </p:sp>
        <p:cxnSp>
          <p:nvCxnSpPr>
            <p:cNvPr id="47139" name="Straight Connector 85"/>
            <p:cNvCxnSpPr>
              <a:cxnSpLocks noChangeShapeType="1"/>
            </p:cNvCxnSpPr>
            <p:nvPr/>
          </p:nvCxnSpPr>
          <p:spPr bwMode="auto">
            <a:xfrm flipV="1">
              <a:off x="1772947" y="5015775"/>
              <a:ext cx="3564834" cy="1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cxnSp>
          <p:nvCxnSpPr>
            <p:cNvPr id="47140" name="Straight Connector 91"/>
            <p:cNvCxnSpPr>
              <a:cxnSpLocks noChangeShapeType="1"/>
            </p:cNvCxnSpPr>
            <p:nvPr/>
          </p:nvCxnSpPr>
          <p:spPr bwMode="auto">
            <a:xfrm rot="5400000">
              <a:off x="3013406" y="5360504"/>
              <a:ext cx="728869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sp>
          <p:nvSpPr>
            <p:cNvPr id="47141" name="Text Box 41"/>
            <p:cNvSpPr txBox="1">
              <a:spLocks noChangeArrowheads="1"/>
            </p:cNvSpPr>
            <p:nvPr/>
          </p:nvSpPr>
          <p:spPr bwMode="auto">
            <a:xfrm>
              <a:off x="3104789" y="5731596"/>
              <a:ext cx="45057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40</a:t>
              </a:r>
            </a:p>
          </p:txBody>
        </p:sp>
      </p:grpSp>
      <p:pic>
        <p:nvPicPr>
          <p:cNvPr id="41" name="Picture 4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Example: Movement Toward Equilibrium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57250" y="1600200"/>
            <a:ext cx="8229600" cy="4826479"/>
          </a:xfrm>
        </p:spPr>
        <p:txBody>
          <a:bodyPr/>
          <a:lstStyle/>
          <a:p>
            <a:pPr eaLnBrk="1" hangingPunct="1"/>
            <a:r>
              <a:rPr lang="en-US" dirty="0"/>
              <a:t>Consider two perfectly competitive markets, haircuts and yoga with free entry and exit.</a:t>
            </a:r>
          </a:p>
          <a:p>
            <a:pPr eaLnBrk="1" hangingPunct="1"/>
            <a:r>
              <a:rPr lang="en-US" dirty="0"/>
              <a:t>Assume both markets require similar resources and resources are mobile across the markets</a:t>
            </a:r>
          </a:p>
          <a:p>
            <a:pPr eaLnBrk="1" hangingPunct="1"/>
            <a:r>
              <a:rPr lang="en-US" dirty="0"/>
              <a:t>Initially both markets are in long run equilibrium.  All hairstylists and yoga instructors earn normal profit</a:t>
            </a:r>
          </a:p>
          <a:p>
            <a:pPr marL="225425" indent="-225425" eaLnBrk="1" hangingPunct="1"/>
            <a:r>
              <a:rPr lang="en-US" dirty="0"/>
              <a:t>Due to change in preferences</a:t>
            </a:r>
          </a:p>
          <a:p>
            <a:pPr marL="511175" lvl="1" indent="-290513" eaLnBrk="1" hangingPunct="1"/>
            <a:r>
              <a:rPr lang="en-US" dirty="0"/>
              <a:t>Demand for haircuts decreases</a:t>
            </a:r>
          </a:p>
          <a:p>
            <a:pPr marL="511175" lvl="1" indent="-290513" eaLnBrk="1" hangingPunct="1"/>
            <a:r>
              <a:rPr lang="en-US" dirty="0"/>
              <a:t>Demand for yoga class increases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948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4000" dirty="0"/>
              <a:t>Example: Movement Toward Equilibrium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90600" y="1828800"/>
            <a:ext cx="8229600" cy="4839419"/>
          </a:xfrm>
        </p:spPr>
        <p:txBody>
          <a:bodyPr/>
          <a:lstStyle/>
          <a:p>
            <a:pPr marL="225425" indent="-225425" eaLnBrk="1" hangingPunct="1"/>
            <a:r>
              <a:rPr lang="en-US" dirty="0"/>
              <a:t>Price of haircuts goes down; hair stylists have losses</a:t>
            </a:r>
          </a:p>
          <a:p>
            <a:pPr marL="225425" indent="-225425" eaLnBrk="1" hangingPunct="1"/>
            <a:r>
              <a:rPr lang="en-US" dirty="0"/>
              <a:t>Price of yoga classes go up; instructors have excess profits</a:t>
            </a:r>
          </a:p>
          <a:p>
            <a:pPr marL="225425" indent="-225425" eaLnBrk="1" hangingPunct="1"/>
            <a:r>
              <a:rPr lang="en-US" dirty="0"/>
              <a:t>Resources move out from haircuts market and flow into yoga market</a:t>
            </a:r>
          </a:p>
          <a:p>
            <a:pPr marL="225425" indent="-225425" eaLnBrk="1" hangingPunct="1"/>
            <a:r>
              <a:rPr lang="en-US" dirty="0"/>
              <a:t>Supply of haircut decreases, supply of yoga increases</a:t>
            </a:r>
          </a:p>
          <a:p>
            <a:pPr marL="225425" indent="-225425" eaLnBrk="1" hangingPunct="1"/>
            <a:r>
              <a:rPr lang="en-US" dirty="0"/>
              <a:t>Eventually the long-run prices of haircuts and yoga class return to long-run equilibrium</a:t>
            </a:r>
          </a:p>
          <a:p>
            <a:pPr marL="225425" indent="-225425" eaLnBrk="1" hangingPunct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Short-Run Adjustments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798513" y="1895475"/>
            <a:ext cx="8248650" cy="4075113"/>
            <a:chOff x="1047405" y="2261062"/>
            <a:chExt cx="8248996" cy="4076007"/>
          </a:xfrm>
        </p:grpSpPr>
        <p:sp>
          <p:nvSpPr>
            <p:cNvPr id="5" name="Rectangle 4"/>
            <p:cNvSpPr/>
            <p:nvPr/>
          </p:nvSpPr>
          <p:spPr bwMode="auto">
            <a:xfrm>
              <a:off x="1047405" y="2261062"/>
              <a:ext cx="8248996" cy="4076007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1131546" y="2337279"/>
              <a:ext cx="8080714" cy="3923574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3" name="Group 81"/>
            <p:cNvGrpSpPr>
              <a:grpSpLocks/>
            </p:cNvGrpSpPr>
            <p:nvPr/>
          </p:nvGrpSpPr>
          <p:grpSpPr bwMode="auto">
            <a:xfrm>
              <a:off x="1321477" y="2630937"/>
              <a:ext cx="7700853" cy="3336257"/>
              <a:chOff x="1296785" y="2543697"/>
              <a:chExt cx="7700853" cy="3336257"/>
            </a:xfrm>
          </p:grpSpPr>
          <p:sp>
            <p:nvSpPr>
              <p:cNvPr id="55304" name="Text Box 12"/>
              <p:cNvSpPr txBox="1">
                <a:spLocks noChangeArrowheads="1"/>
              </p:cNvSpPr>
              <p:nvPr/>
            </p:nvSpPr>
            <p:spPr bwMode="auto">
              <a:xfrm rot="-5400000">
                <a:off x="100299" y="3873184"/>
                <a:ext cx="2783109" cy="3901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Price ($/haircut)</a:t>
                </a:r>
              </a:p>
            </p:txBody>
          </p:sp>
          <p:sp>
            <p:nvSpPr>
              <p:cNvPr id="55305" name="Line 10"/>
              <p:cNvSpPr>
                <a:spLocks noChangeShapeType="1"/>
              </p:cNvSpPr>
              <p:nvPr/>
            </p:nvSpPr>
            <p:spPr bwMode="auto">
              <a:xfrm>
                <a:off x="2046478" y="5214132"/>
                <a:ext cx="25686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06" name="Text Box 11"/>
              <p:cNvSpPr txBox="1">
                <a:spLocks noChangeArrowheads="1"/>
              </p:cNvSpPr>
              <p:nvPr/>
            </p:nvSpPr>
            <p:spPr bwMode="auto">
              <a:xfrm>
                <a:off x="2047081" y="5562837"/>
                <a:ext cx="2636308" cy="3171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Haircuts/day</a:t>
                </a:r>
              </a:p>
            </p:txBody>
          </p:sp>
          <p:sp>
            <p:nvSpPr>
              <p:cNvPr id="55307" name="Line 13"/>
              <p:cNvSpPr>
                <a:spLocks noChangeShapeType="1"/>
              </p:cNvSpPr>
              <p:nvPr/>
            </p:nvSpPr>
            <p:spPr bwMode="auto">
              <a:xfrm>
                <a:off x="2055117" y="2731679"/>
                <a:ext cx="0" cy="248245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08" name="Line 21"/>
              <p:cNvSpPr>
                <a:spLocks noChangeShapeType="1"/>
              </p:cNvSpPr>
              <p:nvPr/>
            </p:nvSpPr>
            <p:spPr bwMode="auto">
              <a:xfrm>
                <a:off x="5714852" y="5206583"/>
                <a:ext cx="328278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09" name="Text Box 22"/>
              <p:cNvSpPr txBox="1">
                <a:spLocks noChangeArrowheads="1"/>
              </p:cNvSpPr>
              <p:nvPr/>
            </p:nvSpPr>
            <p:spPr bwMode="auto">
              <a:xfrm>
                <a:off x="5992737" y="5562837"/>
                <a:ext cx="2627668" cy="3171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Classes/day</a:t>
                </a:r>
              </a:p>
            </p:txBody>
          </p:sp>
          <p:sp>
            <p:nvSpPr>
              <p:cNvPr id="55310" name="Text Box 23"/>
              <p:cNvSpPr txBox="1">
                <a:spLocks noChangeArrowheads="1"/>
              </p:cNvSpPr>
              <p:nvPr/>
            </p:nvSpPr>
            <p:spPr bwMode="auto">
              <a:xfrm rot="-5400000">
                <a:off x="4289333" y="3964398"/>
                <a:ext cx="1899901" cy="36288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Price ($/class)</a:t>
                </a:r>
              </a:p>
            </p:txBody>
          </p:sp>
          <p:sp>
            <p:nvSpPr>
              <p:cNvPr id="55311" name="Line 24"/>
              <p:cNvSpPr>
                <a:spLocks noChangeShapeType="1"/>
              </p:cNvSpPr>
              <p:nvPr/>
            </p:nvSpPr>
            <p:spPr bwMode="auto">
              <a:xfrm>
                <a:off x="5723491" y="2731679"/>
                <a:ext cx="0" cy="24749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12" name="Text Box 5"/>
              <p:cNvSpPr txBox="1">
                <a:spLocks noChangeArrowheads="1"/>
              </p:cNvSpPr>
              <p:nvPr/>
            </p:nvSpPr>
            <p:spPr bwMode="auto">
              <a:xfrm>
                <a:off x="4391942" y="3130532"/>
                <a:ext cx="391631" cy="3171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US" sz="2000"/>
                  <a:t>S</a:t>
                </a:r>
              </a:p>
            </p:txBody>
          </p:sp>
          <p:sp>
            <p:nvSpPr>
              <p:cNvPr id="17" name="Line 6"/>
              <p:cNvSpPr>
                <a:spLocks noChangeShapeType="1"/>
              </p:cNvSpPr>
              <p:nvPr/>
            </p:nvSpPr>
            <p:spPr bwMode="auto">
              <a:xfrm>
                <a:off x="2662668" y="2677170"/>
                <a:ext cx="1682821" cy="2173764"/>
              </a:xfrm>
              <a:prstGeom prst="line">
                <a:avLst/>
              </a:prstGeom>
              <a:ln>
                <a:solidFill>
                  <a:srgbClr val="00B0F0"/>
                </a:solidFill>
                <a:headEnd/>
                <a:tailEnd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algn="ctr">
                  <a:defRPr/>
                </a:pPr>
                <a:endParaRPr lang="en-US" sz="2000" dirty="0"/>
              </a:p>
            </p:txBody>
          </p:sp>
          <p:sp>
            <p:nvSpPr>
              <p:cNvPr id="55314" name="Text Box 14"/>
              <p:cNvSpPr txBox="1">
                <a:spLocks noChangeArrowheads="1"/>
              </p:cNvSpPr>
              <p:nvPr/>
            </p:nvSpPr>
            <p:spPr bwMode="auto">
              <a:xfrm>
                <a:off x="4219164" y="4449139"/>
                <a:ext cx="290843" cy="3171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US" sz="2000"/>
                  <a:t>D</a:t>
                </a:r>
              </a:p>
            </p:txBody>
          </p:sp>
          <p:sp>
            <p:nvSpPr>
              <p:cNvPr id="55315" name="Text Box 16"/>
              <p:cNvSpPr txBox="1">
                <a:spLocks noChangeArrowheads="1"/>
              </p:cNvSpPr>
              <p:nvPr/>
            </p:nvSpPr>
            <p:spPr bwMode="auto">
              <a:xfrm>
                <a:off x="3361032" y="5229229"/>
                <a:ext cx="657630" cy="3171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US" sz="2000"/>
                  <a:t>500</a:t>
                </a:r>
              </a:p>
            </p:txBody>
          </p:sp>
          <p:sp>
            <p:nvSpPr>
              <p:cNvPr id="55316" name="Text Box 17"/>
              <p:cNvSpPr txBox="1">
                <a:spLocks noChangeArrowheads="1"/>
              </p:cNvSpPr>
              <p:nvPr/>
            </p:nvSpPr>
            <p:spPr bwMode="auto">
              <a:xfrm>
                <a:off x="1518064" y="3753486"/>
                <a:ext cx="537053" cy="3171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US" sz="2000"/>
                  <a:t>15</a:t>
                </a:r>
              </a:p>
            </p:txBody>
          </p:sp>
          <p:sp>
            <p:nvSpPr>
              <p:cNvPr id="55317" name="Line 20"/>
              <p:cNvSpPr>
                <a:spLocks noChangeShapeType="1"/>
              </p:cNvSpPr>
              <p:nvPr/>
            </p:nvSpPr>
            <p:spPr bwMode="auto">
              <a:xfrm flipV="1">
                <a:off x="7508866" y="4306961"/>
                <a:ext cx="0" cy="9071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18" name="Text Box 27"/>
              <p:cNvSpPr txBox="1">
                <a:spLocks noChangeArrowheads="1"/>
              </p:cNvSpPr>
              <p:nvPr/>
            </p:nvSpPr>
            <p:spPr bwMode="auto">
              <a:xfrm>
                <a:off x="7066842" y="5229229"/>
                <a:ext cx="659437" cy="3171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US" sz="2000"/>
                  <a:t>200</a:t>
                </a:r>
              </a:p>
            </p:txBody>
          </p:sp>
          <p:sp>
            <p:nvSpPr>
              <p:cNvPr id="55319" name="Text Box 30"/>
              <p:cNvSpPr txBox="1">
                <a:spLocks noChangeArrowheads="1"/>
              </p:cNvSpPr>
              <p:nvPr/>
            </p:nvSpPr>
            <p:spPr bwMode="auto">
              <a:xfrm>
                <a:off x="5147563" y="4158492"/>
                <a:ext cx="575927" cy="3171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US" sz="2000"/>
                  <a:t>10</a:t>
                </a:r>
              </a:p>
            </p:txBody>
          </p:sp>
          <p:sp>
            <p:nvSpPr>
              <p:cNvPr id="55320" name="Line 35"/>
              <p:cNvSpPr>
                <a:spLocks noChangeShapeType="1"/>
              </p:cNvSpPr>
              <p:nvPr/>
            </p:nvSpPr>
            <p:spPr bwMode="auto">
              <a:xfrm rot="10800000" flipV="1">
                <a:off x="3676353" y="3955920"/>
                <a:ext cx="0" cy="12846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Line 9"/>
              <p:cNvSpPr>
                <a:spLocks noChangeShapeType="1"/>
              </p:cNvSpPr>
              <p:nvPr/>
            </p:nvSpPr>
            <p:spPr bwMode="auto">
              <a:xfrm rot="5400000">
                <a:off x="2737949" y="3076694"/>
                <a:ext cx="1449706" cy="2025735"/>
              </a:xfrm>
              <a:prstGeom prst="line">
                <a:avLst/>
              </a:prstGeom>
              <a:ln>
                <a:solidFill>
                  <a:srgbClr val="FF0000"/>
                </a:solidFill>
                <a:headEnd/>
                <a:tailEnd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algn="ctr">
                  <a:defRPr/>
                </a:pPr>
                <a:endParaRPr lang="en-US" sz="2000" dirty="0"/>
              </a:p>
            </p:txBody>
          </p:sp>
          <p:sp>
            <p:nvSpPr>
              <p:cNvPr id="55322" name="Line 44"/>
              <p:cNvSpPr>
                <a:spLocks noChangeShapeType="1"/>
              </p:cNvSpPr>
              <p:nvPr/>
            </p:nvSpPr>
            <p:spPr bwMode="auto">
              <a:xfrm rot="16200000" flipV="1">
                <a:off x="6611859" y="3379329"/>
                <a:ext cx="0" cy="176089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Line 43"/>
              <p:cNvSpPr>
                <a:spLocks noChangeShapeType="1"/>
              </p:cNvSpPr>
              <p:nvPr/>
            </p:nvSpPr>
            <p:spPr bwMode="auto">
              <a:xfrm rot="5400000">
                <a:off x="6784656" y="3124353"/>
                <a:ext cx="1459233" cy="2295621"/>
              </a:xfrm>
              <a:prstGeom prst="line">
                <a:avLst/>
              </a:prstGeom>
              <a:ln>
                <a:solidFill>
                  <a:srgbClr val="FF0000"/>
                </a:solidFill>
                <a:headEnd/>
                <a:tailEnd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algn="ctr">
                  <a:defRPr/>
                </a:pPr>
                <a:endParaRPr lang="en-US" sz="2000" dirty="0"/>
              </a:p>
            </p:txBody>
          </p:sp>
          <p:sp>
            <p:nvSpPr>
              <p:cNvPr id="28" name="Line 49"/>
              <p:cNvSpPr>
                <a:spLocks noChangeShapeType="1"/>
              </p:cNvSpPr>
              <p:nvPr/>
            </p:nvSpPr>
            <p:spPr bwMode="auto">
              <a:xfrm>
                <a:off x="5831451" y="3480622"/>
                <a:ext cx="2630598" cy="1268690"/>
              </a:xfrm>
              <a:prstGeom prst="line">
                <a:avLst/>
              </a:prstGeom>
              <a:ln>
                <a:solidFill>
                  <a:srgbClr val="00B0F0"/>
                </a:solidFill>
                <a:headEnd/>
                <a:tailEnd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algn="ctr">
                  <a:defRPr/>
                </a:pPr>
                <a:endParaRPr lang="en-US" sz="2000" dirty="0"/>
              </a:p>
            </p:txBody>
          </p:sp>
          <p:sp>
            <p:nvSpPr>
              <p:cNvPr id="55325" name="Text Box 50"/>
              <p:cNvSpPr txBox="1">
                <a:spLocks noChangeArrowheads="1"/>
              </p:cNvSpPr>
              <p:nvPr/>
            </p:nvSpPr>
            <p:spPr bwMode="auto">
              <a:xfrm>
                <a:off x="8401553" y="4608932"/>
                <a:ext cx="290843" cy="3171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US" sz="2000"/>
                  <a:t>D</a:t>
                </a:r>
              </a:p>
            </p:txBody>
          </p:sp>
          <p:sp>
            <p:nvSpPr>
              <p:cNvPr id="55326" name="Text Box 52"/>
              <p:cNvSpPr txBox="1">
                <a:spLocks noChangeArrowheads="1"/>
              </p:cNvSpPr>
              <p:nvPr/>
            </p:nvSpPr>
            <p:spPr bwMode="auto">
              <a:xfrm>
                <a:off x="8525378" y="3326813"/>
                <a:ext cx="391631" cy="3171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US" sz="2000"/>
                  <a:t>S</a:t>
                </a:r>
              </a:p>
            </p:txBody>
          </p:sp>
          <p:sp>
            <p:nvSpPr>
              <p:cNvPr id="55327" name="Text Box 15"/>
              <p:cNvSpPr txBox="1">
                <a:spLocks noChangeArrowheads="1"/>
              </p:cNvSpPr>
              <p:nvPr/>
            </p:nvSpPr>
            <p:spPr bwMode="auto">
              <a:xfrm>
                <a:off x="2736962" y="5229229"/>
                <a:ext cx="677344" cy="3171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US" sz="2000"/>
                  <a:t>350</a:t>
                </a:r>
              </a:p>
            </p:txBody>
          </p:sp>
          <p:sp>
            <p:nvSpPr>
              <p:cNvPr id="55328" name="Text Box 28"/>
              <p:cNvSpPr txBox="1">
                <a:spLocks noChangeArrowheads="1"/>
              </p:cNvSpPr>
              <p:nvPr/>
            </p:nvSpPr>
            <p:spPr bwMode="auto">
              <a:xfrm>
                <a:off x="5102929" y="3603621"/>
                <a:ext cx="597525" cy="3171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US" sz="2000"/>
                  <a:t>15</a:t>
                </a:r>
              </a:p>
            </p:txBody>
          </p:sp>
          <p:sp>
            <p:nvSpPr>
              <p:cNvPr id="55329" name="Line 36"/>
              <p:cNvSpPr>
                <a:spLocks noChangeShapeType="1"/>
              </p:cNvSpPr>
              <p:nvPr/>
            </p:nvSpPr>
            <p:spPr bwMode="auto">
              <a:xfrm rot="10800000" flipV="1">
                <a:off x="3191134" y="4280539"/>
                <a:ext cx="0" cy="9172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30" name="Line 37"/>
              <p:cNvSpPr>
                <a:spLocks noChangeShapeType="1"/>
              </p:cNvSpPr>
              <p:nvPr/>
            </p:nvSpPr>
            <p:spPr bwMode="auto">
              <a:xfrm rot="16200000" flipV="1">
                <a:off x="2608008" y="3648991"/>
                <a:ext cx="0" cy="11360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Line 38"/>
              <p:cNvSpPr>
                <a:spLocks noChangeShapeType="1"/>
              </p:cNvSpPr>
              <p:nvPr/>
            </p:nvSpPr>
            <p:spPr bwMode="auto">
              <a:xfrm>
                <a:off x="2178461" y="2924875"/>
                <a:ext cx="1551052" cy="2003865"/>
              </a:xfrm>
              <a:prstGeom prst="line">
                <a:avLst/>
              </a:prstGeom>
              <a:ln>
                <a:solidFill>
                  <a:srgbClr val="00B0F0"/>
                </a:solidFill>
                <a:headEnd/>
                <a:tailEnd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algn="ctr">
                  <a:defRPr/>
                </a:pPr>
                <a:endParaRPr lang="en-US" sz="2000" dirty="0"/>
              </a:p>
            </p:txBody>
          </p:sp>
          <p:sp>
            <p:nvSpPr>
              <p:cNvPr id="55332" name="Text Box 39"/>
              <p:cNvSpPr txBox="1">
                <a:spLocks noChangeArrowheads="1"/>
              </p:cNvSpPr>
              <p:nvPr/>
            </p:nvSpPr>
            <p:spPr bwMode="auto">
              <a:xfrm>
                <a:off x="3647556" y="4632839"/>
                <a:ext cx="500745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US" sz="2000"/>
                  <a:t>D'</a:t>
                </a:r>
              </a:p>
            </p:txBody>
          </p:sp>
          <p:sp>
            <p:nvSpPr>
              <p:cNvPr id="55333" name="Text Box 41"/>
              <p:cNvSpPr txBox="1">
                <a:spLocks noChangeArrowheads="1"/>
              </p:cNvSpPr>
              <p:nvPr/>
            </p:nvSpPr>
            <p:spPr bwMode="auto">
              <a:xfrm>
                <a:off x="1495027" y="4074192"/>
                <a:ext cx="537053" cy="3171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US" sz="2000"/>
                  <a:t>12</a:t>
                </a:r>
              </a:p>
            </p:txBody>
          </p:sp>
          <p:sp>
            <p:nvSpPr>
              <p:cNvPr id="55334" name="Line 45"/>
              <p:cNvSpPr>
                <a:spLocks noChangeShapeType="1"/>
              </p:cNvSpPr>
              <p:nvPr/>
            </p:nvSpPr>
            <p:spPr bwMode="auto">
              <a:xfrm flipV="1">
                <a:off x="8391475" y="3689110"/>
                <a:ext cx="0" cy="150859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35" name="Line 47"/>
              <p:cNvSpPr>
                <a:spLocks noChangeShapeType="1"/>
              </p:cNvSpPr>
              <p:nvPr/>
            </p:nvSpPr>
            <p:spPr bwMode="auto">
              <a:xfrm rot="16200000" flipV="1">
                <a:off x="7051003" y="2339537"/>
                <a:ext cx="0" cy="26867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Line 48"/>
              <p:cNvSpPr>
                <a:spLocks noChangeShapeType="1"/>
              </p:cNvSpPr>
              <p:nvPr/>
            </p:nvSpPr>
            <p:spPr bwMode="auto">
              <a:xfrm>
                <a:off x="6379162" y="2731157"/>
                <a:ext cx="2554394" cy="1232170"/>
              </a:xfrm>
              <a:prstGeom prst="line">
                <a:avLst/>
              </a:prstGeom>
              <a:ln>
                <a:solidFill>
                  <a:srgbClr val="00B0F0"/>
                </a:solidFill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algn="ctr">
                  <a:defRPr/>
                </a:pPr>
                <a:endParaRPr lang="en-US" sz="2000" dirty="0"/>
              </a:p>
            </p:txBody>
          </p:sp>
          <p:sp>
            <p:nvSpPr>
              <p:cNvPr id="55337" name="Text Box 51"/>
              <p:cNvSpPr txBox="1">
                <a:spLocks noChangeArrowheads="1"/>
              </p:cNvSpPr>
              <p:nvPr/>
            </p:nvSpPr>
            <p:spPr bwMode="auto">
              <a:xfrm>
                <a:off x="8544096" y="3918174"/>
                <a:ext cx="420427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US" sz="2000"/>
                  <a:t>D'</a:t>
                </a:r>
              </a:p>
            </p:txBody>
          </p:sp>
          <p:sp>
            <p:nvSpPr>
              <p:cNvPr id="55338" name="Text Box 55"/>
              <p:cNvSpPr txBox="1">
                <a:spLocks noChangeArrowheads="1"/>
              </p:cNvSpPr>
              <p:nvPr/>
            </p:nvSpPr>
            <p:spPr bwMode="auto">
              <a:xfrm>
                <a:off x="7999844" y="5229229"/>
                <a:ext cx="659437" cy="3171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US" sz="2000"/>
                  <a:t>300</a:t>
                </a:r>
              </a:p>
            </p:txBody>
          </p:sp>
          <p:cxnSp>
            <p:nvCxnSpPr>
              <p:cNvPr id="55339" name="Straight Connector 42"/>
              <p:cNvCxnSpPr>
                <a:cxnSpLocks noChangeShapeType="1"/>
              </p:cNvCxnSpPr>
              <p:nvPr/>
            </p:nvCxnSpPr>
            <p:spPr bwMode="auto">
              <a:xfrm rot="10800000">
                <a:off x="2088574" y="3942491"/>
                <a:ext cx="1522962" cy="1259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</p:cxnSp>
          <p:cxnSp>
            <p:nvCxnSpPr>
              <p:cNvPr id="44" name="Straight Arrow Connector 43"/>
              <p:cNvCxnSpPr/>
              <p:nvPr/>
            </p:nvCxnSpPr>
            <p:spPr bwMode="auto">
              <a:xfrm>
                <a:off x="6204530" y="3340891"/>
                <a:ext cx="1116059" cy="1587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/>
              <p:cNvCxnSpPr/>
              <p:nvPr/>
            </p:nvCxnSpPr>
            <p:spPr bwMode="auto">
              <a:xfrm rot="10800000">
                <a:off x="2646793" y="3407581"/>
                <a:ext cx="482620" cy="12703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55342" name="TextBox 45"/>
              <p:cNvSpPr txBox="1">
                <a:spLocks noChangeArrowheads="1"/>
              </p:cNvSpPr>
              <p:nvPr/>
            </p:nvSpPr>
            <p:spPr bwMode="auto">
              <a:xfrm>
                <a:off x="2892830" y="2543697"/>
                <a:ext cx="1685077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 u="sng"/>
                  <a:t>Haircut Market</a:t>
                </a:r>
              </a:p>
            </p:txBody>
          </p:sp>
          <p:sp>
            <p:nvSpPr>
              <p:cNvPr id="55343" name="TextBox 46"/>
              <p:cNvSpPr txBox="1">
                <a:spLocks noChangeArrowheads="1"/>
              </p:cNvSpPr>
              <p:nvPr/>
            </p:nvSpPr>
            <p:spPr bwMode="auto">
              <a:xfrm>
                <a:off x="6924975" y="2543697"/>
                <a:ext cx="1471619" cy="3694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 u="sng" dirty="0"/>
                  <a:t>Yoga Market</a:t>
                </a:r>
              </a:p>
            </p:txBody>
          </p:sp>
        </p:grpSp>
      </p:grpSp>
      <p:pic>
        <p:nvPicPr>
          <p:cNvPr id="47" name="Picture 4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  <p:sp>
        <p:nvSpPr>
          <p:cNvPr id="57345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Short-Run Adjustments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779463" y="1862138"/>
            <a:ext cx="8247062" cy="3924300"/>
            <a:chOff x="448887" y="1512925"/>
            <a:chExt cx="8246226" cy="3923600"/>
          </a:xfrm>
        </p:grpSpPr>
        <p:grpSp>
          <p:nvGrpSpPr>
            <p:cNvPr id="3" name="Group 48"/>
            <p:cNvGrpSpPr>
              <a:grpSpLocks/>
            </p:cNvGrpSpPr>
            <p:nvPr/>
          </p:nvGrpSpPr>
          <p:grpSpPr bwMode="auto">
            <a:xfrm>
              <a:off x="448887" y="1512925"/>
              <a:ext cx="8246226" cy="3923600"/>
              <a:chOff x="432263" y="1512924"/>
              <a:chExt cx="8248996" cy="4073229"/>
            </a:xfrm>
          </p:grpSpPr>
          <p:sp>
            <p:nvSpPr>
              <p:cNvPr id="45" name="Rectangle 44"/>
              <p:cNvSpPr/>
              <p:nvPr/>
            </p:nvSpPr>
            <p:spPr bwMode="auto">
              <a:xfrm>
                <a:off x="432263" y="1512924"/>
                <a:ext cx="8248996" cy="4073229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endParaRPr lang="en-US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6" name="Rectangle 45"/>
              <p:cNvSpPr/>
              <p:nvPr/>
            </p:nvSpPr>
            <p:spPr bwMode="auto">
              <a:xfrm>
                <a:off x="516420" y="1588720"/>
                <a:ext cx="8080683" cy="3921636"/>
              </a:xfrm>
              <a:prstGeom prst="rect">
                <a:avLst/>
              </a:prstGeom>
              <a:solidFill>
                <a:schemeClr val="bg1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4" name="Group 42"/>
            <p:cNvGrpSpPr>
              <a:grpSpLocks/>
            </p:cNvGrpSpPr>
            <p:nvPr/>
          </p:nvGrpSpPr>
          <p:grpSpPr bwMode="auto">
            <a:xfrm>
              <a:off x="598513" y="1712422"/>
              <a:ext cx="4135411" cy="3524595"/>
              <a:chOff x="284163" y="1444625"/>
              <a:chExt cx="4449762" cy="4108450"/>
            </a:xfrm>
          </p:grpSpPr>
          <p:sp>
            <p:nvSpPr>
              <p:cNvPr id="29" name="Rectangle 63"/>
              <p:cNvSpPr>
                <a:spLocks noChangeArrowheads="1"/>
              </p:cNvSpPr>
              <p:nvPr/>
            </p:nvSpPr>
            <p:spPr bwMode="auto">
              <a:xfrm>
                <a:off x="1177925" y="3486150"/>
                <a:ext cx="1058862" cy="549275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>
                  <a:defRPr/>
                </a:pPr>
                <a:endParaRPr lang="en-US" sz="1600" dirty="0"/>
              </a:p>
            </p:txBody>
          </p:sp>
          <p:sp>
            <p:nvSpPr>
              <p:cNvPr id="57373" name="Line 42"/>
              <p:cNvSpPr>
                <a:spLocks noChangeShapeType="1"/>
              </p:cNvSpPr>
              <p:nvPr/>
            </p:nvSpPr>
            <p:spPr bwMode="auto">
              <a:xfrm flipV="1">
                <a:off x="2560638" y="3524250"/>
                <a:ext cx="0" cy="1654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74" name="Line 43"/>
              <p:cNvSpPr>
                <a:spLocks noChangeShapeType="1"/>
              </p:cNvSpPr>
              <p:nvPr/>
            </p:nvSpPr>
            <p:spPr bwMode="auto">
              <a:xfrm>
                <a:off x="1166813" y="5197475"/>
                <a:ext cx="309721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75" name="Line 45"/>
              <p:cNvSpPr>
                <a:spLocks noChangeShapeType="1"/>
              </p:cNvSpPr>
              <p:nvPr/>
            </p:nvSpPr>
            <p:spPr bwMode="auto">
              <a:xfrm>
                <a:off x="1176338" y="2074863"/>
                <a:ext cx="0" cy="312261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76" name="Text Box 46"/>
              <p:cNvSpPr txBox="1">
                <a:spLocks noChangeArrowheads="1"/>
              </p:cNvSpPr>
              <p:nvPr/>
            </p:nvSpPr>
            <p:spPr bwMode="auto">
              <a:xfrm>
                <a:off x="2892425" y="1784350"/>
                <a:ext cx="774700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US" sz="1600"/>
                  <a:t>MC</a:t>
                </a:r>
                <a:r>
                  <a:rPr lang="en-US" sz="1600" baseline="-25000"/>
                  <a:t>H</a:t>
                </a:r>
              </a:p>
            </p:txBody>
          </p:sp>
          <p:sp>
            <p:nvSpPr>
              <p:cNvPr id="57377" name="Text Box 47"/>
              <p:cNvSpPr txBox="1">
                <a:spLocks noChangeArrowheads="1"/>
              </p:cNvSpPr>
              <p:nvPr/>
            </p:nvSpPr>
            <p:spPr bwMode="auto">
              <a:xfrm>
                <a:off x="2038350" y="5216525"/>
                <a:ext cx="727075" cy="3365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US" sz="1600"/>
                  <a:t>Q</a:t>
                </a:r>
                <a:r>
                  <a:rPr lang="en-US" sz="1600" baseline="-25000"/>
                  <a:t>H</a:t>
                </a:r>
              </a:p>
            </p:txBody>
          </p:sp>
          <p:sp>
            <p:nvSpPr>
              <p:cNvPr id="57378" name="Text Box 48"/>
              <p:cNvSpPr txBox="1">
                <a:spLocks noChangeArrowheads="1"/>
              </p:cNvSpPr>
              <p:nvPr/>
            </p:nvSpPr>
            <p:spPr bwMode="auto">
              <a:xfrm>
                <a:off x="3862388" y="1444625"/>
                <a:ext cx="871537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US" sz="1600"/>
                  <a:t>ATC</a:t>
                </a:r>
                <a:r>
                  <a:rPr lang="en-US" sz="1600" baseline="-25000"/>
                  <a:t>H</a:t>
                </a:r>
              </a:p>
            </p:txBody>
          </p:sp>
          <p:sp>
            <p:nvSpPr>
              <p:cNvPr id="36" name="Freeform 49"/>
              <p:cNvSpPr>
                <a:spLocks/>
              </p:cNvSpPr>
              <p:nvPr/>
            </p:nvSpPr>
            <p:spPr bwMode="auto">
              <a:xfrm>
                <a:off x="1674027" y="1569157"/>
                <a:ext cx="2351915" cy="1983352"/>
              </a:xfrm>
              <a:custGeom>
                <a:avLst/>
                <a:gdLst/>
                <a:ahLst/>
                <a:cxnLst>
                  <a:cxn ang="0">
                    <a:pos x="0" y="982"/>
                  </a:cxn>
                  <a:cxn ang="0">
                    <a:pos x="329" y="1199"/>
                  </a:cxn>
                  <a:cxn ang="0">
                    <a:pos x="614" y="1229"/>
                  </a:cxn>
                  <a:cxn ang="0">
                    <a:pos x="945" y="1070"/>
                  </a:cxn>
                  <a:cxn ang="0">
                    <a:pos x="1162" y="719"/>
                  </a:cxn>
                  <a:cxn ang="0">
                    <a:pos x="1481" y="0"/>
                  </a:cxn>
                </a:cxnLst>
                <a:rect l="0" t="0" r="r" b="b"/>
                <a:pathLst>
                  <a:path w="1481" h="1250">
                    <a:moveTo>
                      <a:pt x="0" y="982"/>
                    </a:moveTo>
                    <a:cubicBezTo>
                      <a:pt x="55" y="1018"/>
                      <a:pt x="227" y="1158"/>
                      <a:pt x="329" y="1199"/>
                    </a:cubicBezTo>
                    <a:cubicBezTo>
                      <a:pt x="431" y="1240"/>
                      <a:pt x="511" y="1250"/>
                      <a:pt x="614" y="1229"/>
                    </a:cubicBezTo>
                    <a:cubicBezTo>
                      <a:pt x="717" y="1208"/>
                      <a:pt x="854" y="1155"/>
                      <a:pt x="945" y="1070"/>
                    </a:cubicBezTo>
                    <a:cubicBezTo>
                      <a:pt x="1036" y="985"/>
                      <a:pt x="1073" y="897"/>
                      <a:pt x="1162" y="719"/>
                    </a:cubicBezTo>
                    <a:cubicBezTo>
                      <a:pt x="1251" y="541"/>
                      <a:pt x="1415" y="150"/>
                      <a:pt x="1481" y="0"/>
                    </a:cubicBezTo>
                  </a:path>
                </a:pathLst>
              </a:custGeom>
              <a:ln>
                <a:solidFill>
                  <a:srgbClr val="FF0000"/>
                </a:solidFill>
                <a:headEnd/>
                <a:tailEnd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algn="ctr">
                  <a:defRPr/>
                </a:pPr>
                <a:endParaRPr lang="en-US" sz="1600" dirty="0"/>
              </a:p>
            </p:txBody>
          </p:sp>
          <p:sp>
            <p:nvSpPr>
              <p:cNvPr id="37" name="Line 50"/>
              <p:cNvSpPr>
                <a:spLocks noChangeShapeType="1"/>
              </p:cNvSpPr>
              <p:nvPr/>
            </p:nvSpPr>
            <p:spPr bwMode="auto">
              <a:xfrm rot="5400000">
                <a:off x="1313061" y="2574977"/>
                <a:ext cx="2593899" cy="1718248"/>
              </a:xfrm>
              <a:prstGeom prst="line">
                <a:avLst/>
              </a:prstGeom>
              <a:ln>
                <a:solidFill>
                  <a:srgbClr val="FF0000"/>
                </a:solidFill>
                <a:headEnd/>
                <a:tailEnd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algn="ctr">
                  <a:defRPr/>
                </a:pPr>
                <a:endParaRPr lang="en-US" sz="1600" dirty="0"/>
              </a:p>
            </p:txBody>
          </p:sp>
          <p:sp>
            <p:nvSpPr>
              <p:cNvPr id="57381" name="Text Box 51"/>
              <p:cNvSpPr txBox="1">
                <a:spLocks noChangeArrowheads="1"/>
              </p:cNvSpPr>
              <p:nvPr/>
            </p:nvSpPr>
            <p:spPr bwMode="auto">
              <a:xfrm rot="-5400000">
                <a:off x="-749300" y="3452813"/>
                <a:ext cx="2403475" cy="3365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600"/>
                  <a:t>Price ($/haircut)</a:t>
                </a:r>
              </a:p>
            </p:txBody>
          </p:sp>
          <p:sp>
            <p:nvSpPr>
              <p:cNvPr id="57382" name="Line 65"/>
              <p:cNvSpPr>
                <a:spLocks noChangeShapeType="1"/>
              </p:cNvSpPr>
              <p:nvPr/>
            </p:nvSpPr>
            <p:spPr bwMode="auto">
              <a:xfrm flipH="1">
                <a:off x="1824038" y="2987675"/>
                <a:ext cx="244475" cy="77946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83" name="Line 66"/>
              <p:cNvSpPr>
                <a:spLocks noChangeShapeType="1"/>
              </p:cNvSpPr>
              <p:nvPr/>
            </p:nvSpPr>
            <p:spPr bwMode="auto">
              <a:xfrm flipV="1">
                <a:off x="2230438" y="4037013"/>
                <a:ext cx="0" cy="11414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84" name="Text Box 69"/>
              <p:cNvSpPr txBox="1">
                <a:spLocks noChangeArrowheads="1"/>
              </p:cNvSpPr>
              <p:nvPr/>
            </p:nvSpPr>
            <p:spPr bwMode="auto">
              <a:xfrm>
                <a:off x="1679575" y="5216525"/>
                <a:ext cx="727075" cy="3365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US" sz="1600"/>
                  <a:t>Q'</a:t>
                </a:r>
                <a:r>
                  <a:rPr lang="en-US" sz="1600" baseline="-25000"/>
                  <a:t>H</a:t>
                </a:r>
              </a:p>
            </p:txBody>
          </p:sp>
          <p:sp>
            <p:nvSpPr>
              <p:cNvPr id="57385" name="Text Box 70"/>
              <p:cNvSpPr txBox="1">
                <a:spLocks noChangeArrowheads="1"/>
              </p:cNvSpPr>
              <p:nvPr/>
            </p:nvSpPr>
            <p:spPr bwMode="auto">
              <a:xfrm>
                <a:off x="423414" y="3330575"/>
                <a:ext cx="776736" cy="3945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1600" dirty="0"/>
                  <a:t>15.50</a:t>
                </a:r>
              </a:p>
            </p:txBody>
          </p:sp>
          <p:sp>
            <p:nvSpPr>
              <p:cNvPr id="57386" name="Text Box 71"/>
              <p:cNvSpPr txBox="1">
                <a:spLocks noChangeArrowheads="1"/>
              </p:cNvSpPr>
              <p:nvPr/>
            </p:nvSpPr>
            <p:spPr bwMode="auto">
              <a:xfrm>
                <a:off x="488950" y="3854450"/>
                <a:ext cx="711200" cy="3365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US" sz="1600"/>
                  <a:t>12</a:t>
                </a:r>
              </a:p>
            </p:txBody>
          </p:sp>
          <p:sp>
            <p:nvSpPr>
              <p:cNvPr id="57387" name="Text Box 77"/>
              <p:cNvSpPr txBox="1">
                <a:spLocks noChangeArrowheads="1"/>
              </p:cNvSpPr>
              <p:nvPr/>
            </p:nvSpPr>
            <p:spPr bwMode="auto">
              <a:xfrm>
                <a:off x="1647825" y="2346325"/>
                <a:ext cx="1083951" cy="6093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/>
                  <a:t>Economic</a:t>
                </a:r>
              </a:p>
              <a:p>
                <a:pPr algn="ctr">
                  <a:spcBef>
                    <a:spcPct val="10000"/>
                  </a:spcBef>
                </a:pPr>
                <a:r>
                  <a:rPr lang="en-US" sz="1600"/>
                  <a:t>loss</a:t>
                </a:r>
              </a:p>
            </p:txBody>
          </p:sp>
        </p:grpSp>
        <p:grpSp>
          <p:nvGrpSpPr>
            <p:cNvPr id="5" name="Group 41"/>
            <p:cNvGrpSpPr>
              <a:grpSpLocks/>
            </p:cNvGrpSpPr>
            <p:nvPr/>
          </p:nvGrpSpPr>
          <p:grpSpPr bwMode="auto">
            <a:xfrm>
              <a:off x="4627163" y="1754099"/>
              <a:ext cx="3868737" cy="3499543"/>
              <a:chOff x="4776788" y="1720850"/>
              <a:chExt cx="3868737" cy="3827463"/>
            </a:xfrm>
          </p:grpSpPr>
          <p:sp>
            <p:nvSpPr>
              <p:cNvPr id="57352" name="Line 72"/>
              <p:cNvSpPr>
                <a:spLocks noChangeShapeType="1"/>
              </p:cNvSpPr>
              <p:nvPr/>
            </p:nvSpPr>
            <p:spPr bwMode="auto">
              <a:xfrm flipV="1">
                <a:off x="7418388" y="3959225"/>
                <a:ext cx="0" cy="12144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Rectangle 67"/>
              <p:cNvSpPr>
                <a:spLocks noChangeArrowheads="1"/>
              </p:cNvSpPr>
              <p:nvPr/>
            </p:nvSpPr>
            <p:spPr bwMode="auto">
              <a:xfrm>
                <a:off x="5564188" y="3475038"/>
                <a:ext cx="1865312" cy="52387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>
                  <a:defRPr/>
                </a:pPr>
                <a:endParaRPr lang="en-US" sz="1600" dirty="0"/>
              </a:p>
            </p:txBody>
          </p:sp>
          <p:sp>
            <p:nvSpPr>
              <p:cNvPr id="57356" name="Line 53"/>
              <p:cNvSpPr>
                <a:spLocks noChangeShapeType="1"/>
              </p:cNvSpPr>
              <p:nvPr/>
            </p:nvSpPr>
            <p:spPr bwMode="auto">
              <a:xfrm flipV="1">
                <a:off x="7086600" y="4102100"/>
                <a:ext cx="0" cy="10715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57" name="Line 54"/>
              <p:cNvSpPr>
                <a:spLocks noChangeShapeType="1"/>
              </p:cNvSpPr>
              <p:nvPr/>
            </p:nvSpPr>
            <p:spPr bwMode="auto">
              <a:xfrm>
                <a:off x="5548313" y="5192713"/>
                <a:ext cx="309721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58" name="Line 56"/>
              <p:cNvSpPr>
                <a:spLocks noChangeShapeType="1"/>
              </p:cNvSpPr>
              <p:nvPr/>
            </p:nvSpPr>
            <p:spPr bwMode="auto">
              <a:xfrm>
                <a:off x="5557838" y="2070100"/>
                <a:ext cx="0" cy="312261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59" name="Text Box 57"/>
              <p:cNvSpPr txBox="1">
                <a:spLocks noChangeArrowheads="1"/>
              </p:cNvSpPr>
              <p:nvPr/>
            </p:nvSpPr>
            <p:spPr bwMode="auto">
              <a:xfrm>
                <a:off x="7072313" y="2397125"/>
                <a:ext cx="774700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US" sz="1600"/>
                  <a:t>MC</a:t>
                </a:r>
                <a:r>
                  <a:rPr lang="en-US" sz="1600" baseline="-25000"/>
                  <a:t>A</a:t>
                </a:r>
              </a:p>
            </p:txBody>
          </p:sp>
          <p:sp>
            <p:nvSpPr>
              <p:cNvPr id="57360" name="Text Box 58"/>
              <p:cNvSpPr txBox="1">
                <a:spLocks noChangeArrowheads="1"/>
              </p:cNvSpPr>
              <p:nvPr/>
            </p:nvSpPr>
            <p:spPr bwMode="auto">
              <a:xfrm>
                <a:off x="6567488" y="5211763"/>
                <a:ext cx="727075" cy="3365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US" sz="1600"/>
                  <a:t>Q</a:t>
                </a:r>
                <a:r>
                  <a:rPr lang="en-US" sz="1600" baseline="-25000"/>
                  <a:t>A</a:t>
                </a:r>
              </a:p>
            </p:txBody>
          </p:sp>
          <p:sp>
            <p:nvSpPr>
              <p:cNvPr id="57361" name="Text Box 59"/>
              <p:cNvSpPr txBox="1">
                <a:spLocks noChangeArrowheads="1"/>
              </p:cNvSpPr>
              <p:nvPr/>
            </p:nvSpPr>
            <p:spPr bwMode="auto">
              <a:xfrm>
                <a:off x="7721600" y="1720850"/>
                <a:ext cx="871537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US" sz="1600"/>
                  <a:t>ATC</a:t>
                </a:r>
                <a:r>
                  <a:rPr lang="en-US" sz="1600" baseline="-25000"/>
                  <a:t>A</a:t>
                </a:r>
              </a:p>
            </p:txBody>
          </p:sp>
          <p:sp>
            <p:nvSpPr>
              <p:cNvPr id="21" name="Freeform 60"/>
              <p:cNvSpPr>
                <a:spLocks/>
              </p:cNvSpPr>
              <p:nvPr/>
            </p:nvSpPr>
            <p:spPr bwMode="auto">
              <a:xfrm>
                <a:off x="6301820" y="2104584"/>
                <a:ext cx="2066716" cy="2025848"/>
              </a:xfrm>
              <a:custGeom>
                <a:avLst/>
                <a:gdLst/>
                <a:ahLst/>
                <a:cxnLst>
                  <a:cxn ang="0">
                    <a:pos x="0" y="1009"/>
                  </a:cxn>
                  <a:cxn ang="0">
                    <a:pos x="244" y="1229"/>
                  </a:cxn>
                  <a:cxn ang="0">
                    <a:pos x="529" y="1259"/>
                  </a:cxn>
                  <a:cxn ang="0">
                    <a:pos x="786" y="1129"/>
                  </a:cxn>
                  <a:cxn ang="0">
                    <a:pos x="1032" y="807"/>
                  </a:cxn>
                  <a:cxn ang="0">
                    <a:pos x="1197" y="359"/>
                  </a:cxn>
                  <a:cxn ang="0">
                    <a:pos x="1302" y="0"/>
                  </a:cxn>
                </a:cxnLst>
                <a:rect l="0" t="0" r="r" b="b"/>
                <a:pathLst>
                  <a:path w="1302" h="1276">
                    <a:moveTo>
                      <a:pt x="0" y="1009"/>
                    </a:moveTo>
                    <a:cubicBezTo>
                      <a:pt x="41" y="1047"/>
                      <a:pt x="156" y="1187"/>
                      <a:pt x="244" y="1229"/>
                    </a:cubicBezTo>
                    <a:cubicBezTo>
                      <a:pt x="332" y="1271"/>
                      <a:pt x="439" y="1276"/>
                      <a:pt x="529" y="1259"/>
                    </a:cubicBezTo>
                    <a:cubicBezTo>
                      <a:pt x="619" y="1242"/>
                      <a:pt x="702" y="1204"/>
                      <a:pt x="786" y="1129"/>
                    </a:cubicBezTo>
                    <a:cubicBezTo>
                      <a:pt x="870" y="1054"/>
                      <a:pt x="964" y="935"/>
                      <a:pt x="1032" y="807"/>
                    </a:cubicBezTo>
                    <a:cubicBezTo>
                      <a:pt x="1100" y="679"/>
                      <a:pt x="1152" y="493"/>
                      <a:pt x="1197" y="359"/>
                    </a:cubicBezTo>
                    <a:cubicBezTo>
                      <a:pt x="1242" y="225"/>
                      <a:pt x="1280" y="75"/>
                      <a:pt x="1302" y="0"/>
                    </a:cubicBezTo>
                  </a:path>
                </a:pathLst>
              </a:custGeom>
              <a:ln>
                <a:solidFill>
                  <a:srgbClr val="FF0000"/>
                </a:solidFill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algn="ctr">
                  <a:defRPr/>
                </a:pPr>
                <a:endParaRPr lang="en-US" sz="1600" dirty="0"/>
              </a:p>
            </p:txBody>
          </p:sp>
          <p:sp>
            <p:nvSpPr>
              <p:cNvPr id="22" name="Line 61"/>
              <p:cNvSpPr>
                <a:spLocks noChangeShapeType="1"/>
              </p:cNvSpPr>
              <p:nvPr/>
            </p:nvSpPr>
            <p:spPr bwMode="auto">
              <a:xfrm rot="5400000">
                <a:off x="6283321" y="3051422"/>
                <a:ext cx="2119589" cy="1184155"/>
              </a:xfrm>
              <a:prstGeom prst="line">
                <a:avLst/>
              </a:prstGeom>
              <a:ln>
                <a:solidFill>
                  <a:srgbClr val="FF0000"/>
                </a:solidFill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algn="ctr">
                  <a:defRPr/>
                </a:pPr>
                <a:endParaRPr lang="en-US" sz="1600" dirty="0"/>
              </a:p>
            </p:txBody>
          </p:sp>
          <p:sp>
            <p:nvSpPr>
              <p:cNvPr id="57364" name="Text Box 62"/>
              <p:cNvSpPr txBox="1">
                <a:spLocks noChangeArrowheads="1"/>
              </p:cNvSpPr>
              <p:nvPr/>
            </p:nvSpPr>
            <p:spPr bwMode="auto">
              <a:xfrm rot="-5400000">
                <a:off x="3743325" y="3448050"/>
                <a:ext cx="2403475" cy="3365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600"/>
                  <a:t>Price ($/class)</a:t>
                </a:r>
              </a:p>
            </p:txBody>
          </p:sp>
          <p:sp>
            <p:nvSpPr>
              <p:cNvPr id="57365" name="Line 68"/>
              <p:cNvSpPr>
                <a:spLocks noChangeShapeType="1"/>
              </p:cNvSpPr>
              <p:nvPr/>
            </p:nvSpPr>
            <p:spPr bwMode="auto">
              <a:xfrm flipH="1">
                <a:off x="5989638" y="2951163"/>
                <a:ext cx="244475" cy="77946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66" name="Text Box 73"/>
              <p:cNvSpPr txBox="1">
                <a:spLocks noChangeArrowheads="1"/>
              </p:cNvSpPr>
              <p:nvPr/>
            </p:nvSpPr>
            <p:spPr bwMode="auto">
              <a:xfrm>
                <a:off x="6897688" y="5211763"/>
                <a:ext cx="727075" cy="3365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US" sz="1600"/>
                  <a:t>Q'</a:t>
                </a:r>
                <a:r>
                  <a:rPr lang="en-US" sz="1600" baseline="-25000"/>
                  <a:t>A</a:t>
                </a:r>
              </a:p>
            </p:txBody>
          </p:sp>
          <p:sp>
            <p:nvSpPr>
              <p:cNvPr id="57367" name="Text Box 74"/>
              <p:cNvSpPr txBox="1">
                <a:spLocks noChangeArrowheads="1"/>
              </p:cNvSpPr>
              <p:nvPr/>
            </p:nvSpPr>
            <p:spPr bwMode="auto">
              <a:xfrm>
                <a:off x="4895850" y="3319463"/>
                <a:ext cx="711200" cy="3365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US" sz="1600"/>
                  <a:t>15</a:t>
                </a:r>
              </a:p>
            </p:txBody>
          </p:sp>
          <p:sp>
            <p:nvSpPr>
              <p:cNvPr id="57368" name="Text Box 75"/>
              <p:cNvSpPr txBox="1">
                <a:spLocks noChangeArrowheads="1"/>
              </p:cNvSpPr>
              <p:nvPr/>
            </p:nvSpPr>
            <p:spPr bwMode="auto">
              <a:xfrm>
                <a:off x="4895850" y="3821113"/>
                <a:ext cx="711200" cy="3365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US" sz="1600"/>
                  <a:t>11</a:t>
                </a:r>
              </a:p>
            </p:txBody>
          </p:sp>
          <p:sp>
            <p:nvSpPr>
              <p:cNvPr id="57369" name="Text Box 78"/>
              <p:cNvSpPr txBox="1">
                <a:spLocks noChangeArrowheads="1"/>
              </p:cNvSpPr>
              <p:nvPr/>
            </p:nvSpPr>
            <p:spPr bwMode="auto">
              <a:xfrm>
                <a:off x="5749925" y="2346325"/>
                <a:ext cx="1083951" cy="6093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/>
                  <a:t>Economic</a:t>
                </a:r>
              </a:p>
              <a:p>
                <a:pPr algn="ctr">
                  <a:spcBef>
                    <a:spcPct val="10000"/>
                  </a:spcBef>
                </a:pPr>
                <a:r>
                  <a:rPr lang="en-US" sz="1600"/>
                  <a:t>profit</a:t>
                </a:r>
              </a:p>
            </p:txBody>
          </p:sp>
        </p:grpSp>
        <p:sp>
          <p:nvSpPr>
            <p:cNvPr id="57350" name="TextBox 10"/>
            <p:cNvSpPr txBox="1">
              <a:spLocks noChangeArrowheads="1"/>
            </p:cNvSpPr>
            <p:nvPr/>
          </p:nvSpPr>
          <p:spPr bwMode="auto">
            <a:xfrm>
              <a:off x="1197033" y="1629300"/>
              <a:ext cx="204421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800" u="sng"/>
                <a:t>Typical Hair Salon</a:t>
              </a:r>
            </a:p>
          </p:txBody>
        </p:sp>
        <p:sp>
          <p:nvSpPr>
            <p:cNvPr id="57351" name="TextBox 11"/>
            <p:cNvSpPr txBox="1">
              <a:spLocks noChangeArrowheads="1"/>
            </p:cNvSpPr>
            <p:nvPr/>
          </p:nvSpPr>
          <p:spPr bwMode="auto">
            <a:xfrm>
              <a:off x="5508852" y="1665321"/>
              <a:ext cx="2198200" cy="369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800" u="sng" dirty="0"/>
                <a:t>Typical Yoga Studio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/>
          <p:cNvSpPr>
            <a:spLocks noGrp="1"/>
          </p:cNvSpPr>
          <p:nvPr>
            <p:ph type="title" idx="4294967295"/>
          </p:nvPr>
        </p:nvSpPr>
        <p:spPr>
          <a:xfrm>
            <a:off x="762000" y="5715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Cost-Saving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62000" y="1697567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Competitive firms are price takers</a:t>
            </a:r>
          </a:p>
          <a:p>
            <a:pPr eaLnBrk="1" hangingPunct="1"/>
            <a:r>
              <a:rPr lang="en-US" dirty="0"/>
              <a:t>Innovation lowers cost for one firm</a:t>
            </a:r>
          </a:p>
          <a:p>
            <a:pPr lvl="1" eaLnBrk="1" hangingPunct="1"/>
            <a:r>
              <a:rPr lang="en-US" dirty="0"/>
              <a:t>Profits increase by amount of cost savings and short run profit for innovative firm</a:t>
            </a:r>
          </a:p>
          <a:p>
            <a:pPr lvl="1" eaLnBrk="1" hangingPunct="1"/>
            <a:r>
              <a:rPr lang="en-US" dirty="0"/>
              <a:t>Information is freely available</a:t>
            </a:r>
          </a:p>
          <a:p>
            <a:pPr eaLnBrk="1" hangingPunct="1"/>
            <a:r>
              <a:rPr lang="en-US" dirty="0"/>
              <a:t>In the long run, all firms use the same cost savings techniques, new firms enter the market  </a:t>
            </a:r>
          </a:p>
          <a:p>
            <a:pPr eaLnBrk="1" hangingPunct="1"/>
            <a:r>
              <a:rPr lang="en-US" dirty="0"/>
              <a:t>Market supply increases, equilibrium price decreases, profit decreases until zero profit in the long run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itle 1"/>
          <p:cNvSpPr>
            <a:spLocks noGrp="1"/>
          </p:cNvSpPr>
          <p:nvPr>
            <p:ph type="title" idx="4294967295"/>
          </p:nvPr>
        </p:nvSpPr>
        <p:spPr>
          <a:xfrm>
            <a:off x="685800" y="4953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Market Equilibrium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68867" y="1595966"/>
            <a:ext cx="8475133" cy="5024967"/>
          </a:xfrm>
        </p:spPr>
        <p:txBody>
          <a:bodyPr/>
          <a:lstStyle/>
          <a:p>
            <a:pPr eaLnBrk="1" hangingPunct="1"/>
            <a:r>
              <a:rPr lang="en-US" dirty="0"/>
              <a:t>Equilibrium leaves no opportunities for individuals to gain</a:t>
            </a:r>
          </a:p>
          <a:p>
            <a:pPr lvl="1" eaLnBrk="1" hangingPunct="1"/>
            <a:r>
              <a:rPr lang="en-US" dirty="0"/>
              <a:t>Non-equilibrium opportunities benefit individuals</a:t>
            </a:r>
          </a:p>
          <a:p>
            <a:pPr lvl="2" eaLnBrk="1" hangingPunct="1"/>
            <a:r>
              <a:rPr lang="en-US" dirty="0"/>
              <a:t>Exploiting opportunities moves the market toward equilibrium</a:t>
            </a:r>
          </a:p>
          <a:p>
            <a:pPr eaLnBrk="1" hangingPunct="1"/>
            <a:r>
              <a:rPr lang="en-US" dirty="0"/>
              <a:t>No cash on the table</a:t>
            </a:r>
          </a:p>
          <a:p>
            <a:pPr eaLnBrk="1" hangingPunct="1"/>
            <a:r>
              <a:rPr lang="en-US" dirty="0"/>
              <a:t>Markets work best when</a:t>
            </a:r>
          </a:p>
          <a:p>
            <a:pPr lvl="1" eaLnBrk="1" hangingPunct="1"/>
            <a:r>
              <a:rPr lang="en-US" dirty="0"/>
              <a:t>Buyers' marginal benefits = sellers' marginal costs</a:t>
            </a:r>
          </a:p>
          <a:p>
            <a:pPr lvl="1" algn="ctr" eaLnBrk="1" hangingPunct="1">
              <a:buFontTx/>
              <a:buNone/>
            </a:pPr>
            <a:r>
              <a:rPr lang="en-US" b="1" dirty="0"/>
              <a:t>AND</a:t>
            </a:r>
          </a:p>
          <a:p>
            <a:pPr lvl="1" eaLnBrk="1" hangingPunct="1"/>
            <a:r>
              <a:rPr lang="en-US" dirty="0"/>
              <a:t>Society's marginal benefits = society's marginal costs</a:t>
            </a:r>
          </a:p>
          <a:p>
            <a:pPr eaLnBrk="1" hangingPunct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1"/>
          <p:cNvSpPr>
            <a:spLocks noGrp="1"/>
          </p:cNvSpPr>
          <p:nvPr>
            <p:ph type="title" idx="4294967295"/>
          </p:nvPr>
        </p:nvSpPr>
        <p:spPr>
          <a:xfrm>
            <a:off x="838200" y="59055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Market Equilibrium and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38200" y="2152650"/>
            <a:ext cx="8229600" cy="4525963"/>
          </a:xfrm>
        </p:spPr>
        <p:txBody>
          <a:bodyPr/>
          <a:lstStyle/>
          <a:p>
            <a:pPr eaLnBrk="1" hangingPunct="1"/>
            <a:r>
              <a:rPr lang="en-US" b="1" dirty="0"/>
              <a:t>Economic efficiency</a:t>
            </a:r>
            <a:r>
              <a:rPr lang="en-US" dirty="0"/>
              <a:t> exists when no change could be made to benefit one party without harming the other</a:t>
            </a:r>
          </a:p>
          <a:p>
            <a:pPr lvl="1" eaLnBrk="1" hangingPunct="1"/>
            <a:r>
              <a:rPr lang="en-US" dirty="0"/>
              <a:t>Equilibrium price and quantity are efficient</a:t>
            </a:r>
          </a:p>
          <a:p>
            <a:pPr lvl="1" eaLnBrk="1" hangingPunct="1"/>
            <a:r>
              <a:rPr lang="en-US" dirty="0"/>
              <a:t>Prices above or below equilibrium are not</a:t>
            </a:r>
          </a:p>
          <a:p>
            <a:pPr eaLnBrk="1" hangingPunct="1"/>
            <a:endParaRPr lang="en-US" dirty="0"/>
          </a:p>
          <a:p>
            <a:pPr lvl="1" eaLnBrk="1" hangingPunct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 bwMode="auto">
          <a:xfrm>
            <a:off x="1790135" y="2340509"/>
            <a:ext cx="6016707" cy="403533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1860550" y="2411413"/>
            <a:ext cx="5880100" cy="3898900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5781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Price Below Equilibrium</a:t>
            </a:r>
          </a:p>
        </p:txBody>
      </p:sp>
      <p:sp>
        <p:nvSpPr>
          <p:cNvPr id="75782" name="Content Placeholder 33"/>
          <p:cNvSpPr>
            <a:spLocks noGrp="1"/>
          </p:cNvSpPr>
          <p:nvPr>
            <p:ph idx="4294967295"/>
          </p:nvPr>
        </p:nvSpPr>
        <p:spPr>
          <a:xfrm>
            <a:off x="1219200" y="1320800"/>
            <a:ext cx="7677150" cy="5055043"/>
          </a:xfrm>
        </p:spPr>
        <p:txBody>
          <a:bodyPr/>
          <a:lstStyle/>
          <a:p>
            <a:pPr eaLnBrk="1" hangingPunct="1"/>
            <a:r>
              <a:rPr lang="en-US" dirty="0"/>
              <a:t>Suppose milk is $1 per liter</a:t>
            </a:r>
          </a:p>
          <a:p>
            <a:pPr eaLnBrk="1" hangingPunct="1"/>
            <a:r>
              <a:rPr lang="en-US" dirty="0"/>
              <a:t>Only 2000 </a:t>
            </a:r>
            <a:r>
              <a:rPr lang="en-US" dirty="0" err="1"/>
              <a:t>litres</a:t>
            </a:r>
            <a:r>
              <a:rPr lang="en-US" dirty="0"/>
              <a:t> will be traded - Inefficient</a:t>
            </a:r>
          </a:p>
        </p:txBody>
      </p:sp>
      <p:sp>
        <p:nvSpPr>
          <p:cNvPr id="9" name="Line 43"/>
          <p:cNvSpPr>
            <a:spLocks noChangeShapeType="1"/>
          </p:cNvSpPr>
          <p:nvPr/>
        </p:nvSpPr>
        <p:spPr bwMode="auto">
          <a:xfrm>
            <a:off x="2500313" y="1588"/>
            <a:ext cx="1279525" cy="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36"/>
          <p:cNvGrpSpPr>
            <a:grpSpLocks/>
          </p:cNvGrpSpPr>
          <p:nvPr/>
        </p:nvGrpSpPr>
        <p:grpSpPr bwMode="auto">
          <a:xfrm>
            <a:off x="2038243" y="2538413"/>
            <a:ext cx="5530957" cy="3666255"/>
            <a:chOff x="2038125" y="2538949"/>
            <a:chExt cx="5530959" cy="3666091"/>
          </a:xfrm>
        </p:grpSpPr>
        <p:sp>
          <p:nvSpPr>
            <p:cNvPr id="75787" name="Line 42"/>
            <p:cNvSpPr>
              <a:spLocks noChangeShapeType="1"/>
            </p:cNvSpPr>
            <p:nvPr/>
          </p:nvSpPr>
          <p:spPr bwMode="auto">
            <a:xfrm flipV="1">
              <a:off x="4242547" y="3416004"/>
              <a:ext cx="0" cy="21547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788" name="Line 9"/>
            <p:cNvSpPr>
              <a:spLocks noChangeShapeType="1"/>
            </p:cNvSpPr>
            <p:nvPr/>
          </p:nvSpPr>
          <p:spPr bwMode="auto">
            <a:xfrm flipV="1">
              <a:off x="5488412" y="4472836"/>
              <a:ext cx="0" cy="10979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789" name="Line 12"/>
            <p:cNvSpPr>
              <a:spLocks noChangeShapeType="1"/>
            </p:cNvSpPr>
            <p:nvPr/>
          </p:nvSpPr>
          <p:spPr bwMode="auto">
            <a:xfrm>
              <a:off x="3018101" y="4462563"/>
              <a:ext cx="2521902" cy="0"/>
            </a:xfrm>
            <a:prstGeom prst="line">
              <a:avLst/>
            </a:prstGeom>
            <a:noFill/>
            <a:ln w="9525">
              <a:solidFill>
                <a:srgbClr val="6A5218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790" name="Line 3"/>
            <p:cNvSpPr>
              <a:spLocks noChangeShapeType="1"/>
            </p:cNvSpPr>
            <p:nvPr/>
          </p:nvSpPr>
          <p:spPr bwMode="auto">
            <a:xfrm>
              <a:off x="2969427" y="5561771"/>
              <a:ext cx="459965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791" name="Text Box 5"/>
            <p:cNvSpPr txBox="1">
              <a:spLocks noChangeArrowheads="1"/>
            </p:cNvSpPr>
            <p:nvPr/>
          </p:nvSpPr>
          <p:spPr bwMode="auto">
            <a:xfrm>
              <a:off x="2277349" y="2805012"/>
              <a:ext cx="704247" cy="2987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2.50</a:t>
              </a:r>
            </a:p>
          </p:txBody>
        </p:sp>
        <p:sp>
          <p:nvSpPr>
            <p:cNvPr id="75792" name="Text Box 7"/>
            <p:cNvSpPr txBox="1">
              <a:spLocks noChangeArrowheads="1"/>
            </p:cNvSpPr>
            <p:nvPr/>
          </p:nvSpPr>
          <p:spPr bwMode="auto">
            <a:xfrm>
              <a:off x="3418178" y="5835724"/>
              <a:ext cx="3630747" cy="3693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 dirty="0"/>
                <a:t>Quantity (1,000s of liters/day)</a:t>
              </a:r>
            </a:p>
          </p:txBody>
        </p:sp>
        <p:sp>
          <p:nvSpPr>
            <p:cNvPr id="75793" name="Text Box 8"/>
            <p:cNvSpPr txBox="1">
              <a:spLocks noChangeArrowheads="1"/>
            </p:cNvSpPr>
            <p:nvPr/>
          </p:nvSpPr>
          <p:spPr bwMode="auto">
            <a:xfrm rot="16200000">
              <a:off x="897598" y="3909335"/>
              <a:ext cx="261960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600" dirty="0"/>
                <a:t>Price ($/liter)</a:t>
              </a:r>
            </a:p>
          </p:txBody>
        </p:sp>
        <p:sp>
          <p:nvSpPr>
            <p:cNvPr id="75794" name="Line 13"/>
            <p:cNvSpPr>
              <a:spLocks noChangeShapeType="1"/>
            </p:cNvSpPr>
            <p:nvPr/>
          </p:nvSpPr>
          <p:spPr bwMode="auto">
            <a:xfrm>
              <a:off x="2981596" y="2556847"/>
              <a:ext cx="0" cy="29997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795" name="Text Box 17"/>
            <p:cNvSpPr txBox="1">
              <a:spLocks noChangeArrowheads="1"/>
            </p:cNvSpPr>
            <p:nvPr/>
          </p:nvSpPr>
          <p:spPr bwMode="auto">
            <a:xfrm>
              <a:off x="3355359" y="5574824"/>
              <a:ext cx="51107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1</a:t>
              </a:r>
            </a:p>
          </p:txBody>
        </p:sp>
        <p:sp>
          <p:nvSpPr>
            <p:cNvPr id="75796" name="Text Box 34"/>
            <p:cNvSpPr txBox="1">
              <a:spLocks noChangeArrowheads="1"/>
            </p:cNvSpPr>
            <p:nvPr/>
          </p:nvSpPr>
          <p:spPr bwMode="auto">
            <a:xfrm>
              <a:off x="3998763" y="5574824"/>
              <a:ext cx="51107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2</a:t>
              </a:r>
            </a:p>
          </p:txBody>
        </p:sp>
        <p:sp>
          <p:nvSpPr>
            <p:cNvPr id="75797" name="Text Box 35"/>
            <p:cNvSpPr txBox="1">
              <a:spLocks noChangeArrowheads="1"/>
            </p:cNvSpPr>
            <p:nvPr/>
          </p:nvSpPr>
          <p:spPr bwMode="auto">
            <a:xfrm>
              <a:off x="4602745" y="5574824"/>
              <a:ext cx="51107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3</a:t>
              </a:r>
            </a:p>
          </p:txBody>
        </p:sp>
        <p:sp>
          <p:nvSpPr>
            <p:cNvPr id="75798" name="Text Box 36"/>
            <p:cNvSpPr txBox="1">
              <a:spLocks noChangeArrowheads="1"/>
            </p:cNvSpPr>
            <p:nvPr/>
          </p:nvSpPr>
          <p:spPr bwMode="auto">
            <a:xfrm>
              <a:off x="5234022" y="5574824"/>
              <a:ext cx="51107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4</a:t>
              </a:r>
            </a:p>
          </p:txBody>
        </p:sp>
        <p:sp>
          <p:nvSpPr>
            <p:cNvPr id="75799" name="Text Box 37"/>
            <p:cNvSpPr txBox="1">
              <a:spLocks noChangeArrowheads="1"/>
            </p:cNvSpPr>
            <p:nvPr/>
          </p:nvSpPr>
          <p:spPr bwMode="auto">
            <a:xfrm>
              <a:off x="5797060" y="5574824"/>
              <a:ext cx="51107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5</a:t>
              </a:r>
            </a:p>
          </p:txBody>
        </p:sp>
        <p:sp>
          <p:nvSpPr>
            <p:cNvPr id="75800" name="Text Box 38"/>
            <p:cNvSpPr txBox="1">
              <a:spLocks noChangeArrowheads="1"/>
            </p:cNvSpPr>
            <p:nvPr/>
          </p:nvSpPr>
          <p:spPr bwMode="auto">
            <a:xfrm>
              <a:off x="2310812" y="3287841"/>
              <a:ext cx="670784" cy="2987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2.00</a:t>
              </a:r>
            </a:p>
          </p:txBody>
        </p:sp>
        <p:sp>
          <p:nvSpPr>
            <p:cNvPr id="75801" name="Text Box 39"/>
            <p:cNvSpPr txBox="1">
              <a:spLocks noChangeArrowheads="1"/>
            </p:cNvSpPr>
            <p:nvPr/>
          </p:nvSpPr>
          <p:spPr bwMode="auto">
            <a:xfrm>
              <a:off x="2287996" y="3798115"/>
              <a:ext cx="693599" cy="2987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1.50</a:t>
              </a:r>
            </a:p>
          </p:txBody>
        </p:sp>
        <p:sp>
          <p:nvSpPr>
            <p:cNvPr id="75802" name="Text Box 40"/>
            <p:cNvSpPr txBox="1">
              <a:spLocks noChangeArrowheads="1"/>
            </p:cNvSpPr>
            <p:nvPr/>
          </p:nvSpPr>
          <p:spPr bwMode="auto">
            <a:xfrm>
              <a:off x="2344275" y="4308389"/>
              <a:ext cx="637321" cy="2987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1.00</a:t>
              </a:r>
            </a:p>
          </p:txBody>
        </p:sp>
        <p:sp>
          <p:nvSpPr>
            <p:cNvPr id="75803" name="Text Box 41"/>
            <p:cNvSpPr txBox="1">
              <a:spLocks noChangeArrowheads="1"/>
            </p:cNvSpPr>
            <p:nvPr/>
          </p:nvSpPr>
          <p:spPr bwMode="auto">
            <a:xfrm>
              <a:off x="2344275" y="4849333"/>
              <a:ext cx="637321" cy="2987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0.50</a:t>
              </a:r>
            </a:p>
          </p:txBody>
        </p:sp>
        <p:sp>
          <p:nvSpPr>
            <p:cNvPr id="75804" name="Text Box 15"/>
            <p:cNvSpPr txBox="1">
              <a:spLocks noChangeArrowheads="1"/>
            </p:cNvSpPr>
            <p:nvPr/>
          </p:nvSpPr>
          <p:spPr bwMode="auto">
            <a:xfrm>
              <a:off x="6483054" y="5154705"/>
              <a:ext cx="413726" cy="3734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2400" i="1"/>
                <a:t>D</a:t>
              </a:r>
            </a:p>
          </p:txBody>
        </p:sp>
        <p:sp>
          <p:nvSpPr>
            <p:cNvPr id="75805" name="Text Box 16"/>
            <p:cNvSpPr txBox="1">
              <a:spLocks noChangeArrowheads="1"/>
            </p:cNvSpPr>
            <p:nvPr/>
          </p:nvSpPr>
          <p:spPr bwMode="auto">
            <a:xfrm>
              <a:off x="6215349" y="2538949"/>
              <a:ext cx="413726" cy="3734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2400"/>
                <a:t>S</a:t>
              </a:r>
            </a:p>
          </p:txBody>
        </p:sp>
        <p:sp>
          <p:nvSpPr>
            <p:cNvPr id="5" name="Line 46"/>
            <p:cNvSpPr>
              <a:spLocks noChangeShapeType="1"/>
            </p:cNvSpPr>
            <p:nvPr/>
          </p:nvSpPr>
          <p:spPr bwMode="auto">
            <a:xfrm rot="5400000">
              <a:off x="4883827" y="3831882"/>
              <a:ext cx="1587" cy="1263650"/>
            </a:xfrm>
            <a:prstGeom prst="line">
              <a:avLst/>
            </a:prstGeom>
            <a:ln>
              <a:headEnd/>
              <a:tailEnd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75807" name="Straight Connector 30"/>
            <p:cNvCxnSpPr>
              <a:cxnSpLocks noChangeShapeType="1"/>
              <a:stCxn id="75800" idx="3"/>
            </p:cNvCxnSpPr>
            <p:nvPr/>
          </p:nvCxnSpPr>
          <p:spPr bwMode="auto">
            <a:xfrm>
              <a:off x="2981596" y="3437217"/>
              <a:ext cx="1262472" cy="867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sp>
          <p:nvSpPr>
            <p:cNvPr id="25" name="Line 14"/>
            <p:cNvSpPr>
              <a:spLocks noChangeShapeType="1"/>
            </p:cNvSpPr>
            <p:nvPr/>
          </p:nvSpPr>
          <p:spPr bwMode="auto">
            <a:xfrm rot="5400000">
              <a:off x="3213841" y="2471408"/>
              <a:ext cx="2839910" cy="3311526"/>
            </a:xfrm>
            <a:prstGeom prst="line">
              <a:avLst/>
            </a:pr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8" name="Line 45"/>
            <p:cNvSpPr>
              <a:spLocks noChangeShapeType="1"/>
            </p:cNvSpPr>
            <p:nvPr/>
          </p:nvSpPr>
          <p:spPr bwMode="auto">
            <a:xfrm>
              <a:off x="3432058" y="2758014"/>
              <a:ext cx="3138489" cy="2582746"/>
            </a:xfrm>
            <a:prstGeom prst="line">
              <a:avLst/>
            </a:pr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/>
            <a:lstStyle/>
            <a:p>
              <a:pPr algn="ctr">
                <a:defRPr/>
              </a:pPr>
              <a:endParaRPr lang="en-US" dirty="0"/>
            </a:p>
          </p:txBody>
        </p:sp>
      </p:grpSp>
      <p:cxnSp>
        <p:nvCxnSpPr>
          <p:cNvPr id="75785" name="Straight Connector 39"/>
          <p:cNvCxnSpPr>
            <a:cxnSpLocks noChangeShapeType="1"/>
          </p:cNvCxnSpPr>
          <p:nvPr/>
        </p:nvCxnSpPr>
        <p:spPr bwMode="auto">
          <a:xfrm rot="5400000">
            <a:off x="4016375" y="4757738"/>
            <a:ext cx="1652587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75786" name="Straight Connector 37"/>
          <p:cNvCxnSpPr>
            <a:cxnSpLocks noChangeShapeType="1"/>
          </p:cNvCxnSpPr>
          <p:nvPr/>
        </p:nvCxnSpPr>
        <p:spPr bwMode="auto">
          <a:xfrm>
            <a:off x="2978150" y="3929063"/>
            <a:ext cx="1824038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pic>
        <p:nvPicPr>
          <p:cNvPr id="33" name="Picture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 bwMode="auto">
          <a:xfrm>
            <a:off x="1830318" y="2349062"/>
            <a:ext cx="5984407" cy="39794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1908175" y="2419350"/>
            <a:ext cx="5832475" cy="3843338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7829" name="Title 1"/>
          <p:cNvSpPr>
            <a:spLocks noGrp="1"/>
          </p:cNvSpPr>
          <p:nvPr>
            <p:ph type="title" idx="4294967295"/>
          </p:nvPr>
        </p:nvSpPr>
        <p:spPr>
          <a:xfrm>
            <a:off x="685800" y="177800"/>
            <a:ext cx="8229600" cy="812800"/>
          </a:xfrm>
        </p:spPr>
        <p:txBody>
          <a:bodyPr/>
          <a:lstStyle/>
          <a:p>
            <a:pPr eaLnBrk="1" hangingPunct="1"/>
            <a:r>
              <a:rPr lang="en-US" dirty="0"/>
              <a:t>Price Below Equilibrium</a:t>
            </a:r>
          </a:p>
        </p:txBody>
      </p:sp>
      <p:sp>
        <p:nvSpPr>
          <p:cNvPr id="77830" name="Content Placeholder 33"/>
          <p:cNvSpPr>
            <a:spLocks noGrp="1"/>
          </p:cNvSpPr>
          <p:nvPr>
            <p:ph idx="4294967295"/>
          </p:nvPr>
        </p:nvSpPr>
        <p:spPr>
          <a:xfrm>
            <a:off x="1390650" y="982133"/>
            <a:ext cx="7258050" cy="5346413"/>
          </a:xfrm>
        </p:spPr>
        <p:txBody>
          <a:bodyPr/>
          <a:lstStyle/>
          <a:p>
            <a:pPr eaLnBrk="1" hangingPunct="1"/>
            <a:r>
              <a:rPr lang="en-US" dirty="0"/>
              <a:t>A buyer offers $1.25 – Generate both consumer surplus ($0.75) and producer surplus ($0.25) – Welfare increases</a:t>
            </a:r>
          </a:p>
          <a:p>
            <a:pPr eaLnBrk="1" hangingPunct="1"/>
            <a:endParaRPr lang="en-US" dirty="0"/>
          </a:p>
        </p:txBody>
      </p:sp>
      <p:sp>
        <p:nvSpPr>
          <p:cNvPr id="9" name="Line 43"/>
          <p:cNvSpPr>
            <a:spLocks noChangeShapeType="1"/>
          </p:cNvSpPr>
          <p:nvPr/>
        </p:nvSpPr>
        <p:spPr bwMode="auto">
          <a:xfrm>
            <a:off x="2500313" y="1588"/>
            <a:ext cx="1279525" cy="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7832" name="Line 42"/>
          <p:cNvSpPr>
            <a:spLocks noChangeShapeType="1"/>
          </p:cNvSpPr>
          <p:nvPr/>
        </p:nvSpPr>
        <p:spPr bwMode="auto">
          <a:xfrm flipV="1">
            <a:off x="4241800" y="3416300"/>
            <a:ext cx="0" cy="21542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7833" name="Line 9"/>
          <p:cNvSpPr>
            <a:spLocks noChangeShapeType="1"/>
          </p:cNvSpPr>
          <p:nvPr/>
        </p:nvSpPr>
        <p:spPr bwMode="auto">
          <a:xfrm flipV="1">
            <a:off x="5529263" y="4473575"/>
            <a:ext cx="0" cy="1096963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7834" name="Line 12"/>
          <p:cNvSpPr>
            <a:spLocks noChangeShapeType="1"/>
          </p:cNvSpPr>
          <p:nvPr/>
        </p:nvSpPr>
        <p:spPr bwMode="auto">
          <a:xfrm>
            <a:off x="3017838" y="4462463"/>
            <a:ext cx="2522537" cy="0"/>
          </a:xfrm>
          <a:prstGeom prst="line">
            <a:avLst/>
          </a:prstGeom>
          <a:noFill/>
          <a:ln w="12700">
            <a:solidFill>
              <a:srgbClr val="6A5218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7835" name="Line 3"/>
          <p:cNvSpPr>
            <a:spLocks noChangeShapeType="1"/>
          </p:cNvSpPr>
          <p:nvPr/>
        </p:nvSpPr>
        <p:spPr bwMode="auto">
          <a:xfrm>
            <a:off x="2970213" y="5561013"/>
            <a:ext cx="45989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7836" name="Text Box 5"/>
          <p:cNvSpPr txBox="1">
            <a:spLocks noChangeArrowheads="1"/>
          </p:cNvSpPr>
          <p:nvPr/>
        </p:nvSpPr>
        <p:spPr bwMode="auto">
          <a:xfrm>
            <a:off x="2278063" y="2805113"/>
            <a:ext cx="703262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2.50</a:t>
            </a:r>
          </a:p>
        </p:txBody>
      </p:sp>
      <p:sp>
        <p:nvSpPr>
          <p:cNvPr id="77837" name="Text Box 7"/>
          <p:cNvSpPr txBox="1">
            <a:spLocks noChangeArrowheads="1"/>
          </p:cNvSpPr>
          <p:nvPr/>
        </p:nvSpPr>
        <p:spPr bwMode="auto">
          <a:xfrm>
            <a:off x="3432175" y="5897563"/>
            <a:ext cx="363061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800" dirty="0"/>
              <a:t>Quantity (1,000s of liters/day)</a:t>
            </a:r>
          </a:p>
        </p:txBody>
      </p:sp>
      <p:sp>
        <p:nvSpPr>
          <p:cNvPr id="77838" name="Text Box 8"/>
          <p:cNvSpPr txBox="1">
            <a:spLocks noChangeArrowheads="1"/>
          </p:cNvSpPr>
          <p:nvPr/>
        </p:nvSpPr>
        <p:spPr bwMode="auto">
          <a:xfrm rot="-5400000">
            <a:off x="897731" y="3909011"/>
            <a:ext cx="26193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dirty="0"/>
              <a:t>Price ($/liter)</a:t>
            </a:r>
          </a:p>
        </p:txBody>
      </p:sp>
      <p:sp>
        <p:nvSpPr>
          <p:cNvPr id="77839" name="Line 13"/>
          <p:cNvSpPr>
            <a:spLocks noChangeShapeType="1"/>
          </p:cNvSpPr>
          <p:nvPr/>
        </p:nvSpPr>
        <p:spPr bwMode="auto">
          <a:xfrm>
            <a:off x="2981325" y="2584450"/>
            <a:ext cx="0" cy="29987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7840" name="Text Box 17"/>
          <p:cNvSpPr txBox="1">
            <a:spLocks noChangeArrowheads="1"/>
          </p:cNvSpPr>
          <p:nvPr/>
        </p:nvSpPr>
        <p:spPr bwMode="auto">
          <a:xfrm>
            <a:off x="3219450" y="5629275"/>
            <a:ext cx="51117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1</a:t>
            </a:r>
          </a:p>
        </p:txBody>
      </p:sp>
      <p:sp>
        <p:nvSpPr>
          <p:cNvPr id="77841" name="Text Box 34"/>
          <p:cNvSpPr txBox="1">
            <a:spLocks noChangeArrowheads="1"/>
          </p:cNvSpPr>
          <p:nvPr/>
        </p:nvSpPr>
        <p:spPr bwMode="auto">
          <a:xfrm>
            <a:off x="3862388" y="5629275"/>
            <a:ext cx="51117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2</a:t>
            </a:r>
          </a:p>
        </p:txBody>
      </p:sp>
      <p:sp>
        <p:nvSpPr>
          <p:cNvPr id="77842" name="Text Box 35"/>
          <p:cNvSpPr txBox="1">
            <a:spLocks noChangeArrowheads="1"/>
          </p:cNvSpPr>
          <p:nvPr/>
        </p:nvSpPr>
        <p:spPr bwMode="auto">
          <a:xfrm>
            <a:off x="4506913" y="5629275"/>
            <a:ext cx="51117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3</a:t>
            </a:r>
          </a:p>
        </p:txBody>
      </p:sp>
      <p:sp>
        <p:nvSpPr>
          <p:cNvPr id="77843" name="Text Box 36"/>
          <p:cNvSpPr txBox="1">
            <a:spLocks noChangeArrowheads="1"/>
          </p:cNvSpPr>
          <p:nvPr/>
        </p:nvSpPr>
        <p:spPr bwMode="auto">
          <a:xfrm>
            <a:off x="5151438" y="5629275"/>
            <a:ext cx="51117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4</a:t>
            </a:r>
          </a:p>
        </p:txBody>
      </p:sp>
      <p:sp>
        <p:nvSpPr>
          <p:cNvPr id="77844" name="Text Box 37"/>
          <p:cNvSpPr txBox="1">
            <a:spLocks noChangeArrowheads="1"/>
          </p:cNvSpPr>
          <p:nvPr/>
        </p:nvSpPr>
        <p:spPr bwMode="auto">
          <a:xfrm>
            <a:off x="5797550" y="5629275"/>
            <a:ext cx="51117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5</a:t>
            </a:r>
          </a:p>
        </p:txBody>
      </p:sp>
      <p:sp>
        <p:nvSpPr>
          <p:cNvPr id="77845" name="Text Box 38"/>
          <p:cNvSpPr txBox="1">
            <a:spLocks noChangeArrowheads="1"/>
          </p:cNvSpPr>
          <p:nvPr/>
        </p:nvSpPr>
        <p:spPr bwMode="auto">
          <a:xfrm>
            <a:off x="2311400" y="3287713"/>
            <a:ext cx="66992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2.00</a:t>
            </a:r>
          </a:p>
        </p:txBody>
      </p:sp>
      <p:sp>
        <p:nvSpPr>
          <p:cNvPr id="77846" name="Text Box 39"/>
          <p:cNvSpPr txBox="1">
            <a:spLocks noChangeArrowheads="1"/>
          </p:cNvSpPr>
          <p:nvPr/>
        </p:nvSpPr>
        <p:spPr bwMode="auto">
          <a:xfrm>
            <a:off x="2287588" y="3822700"/>
            <a:ext cx="693737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1.50</a:t>
            </a:r>
          </a:p>
        </p:txBody>
      </p:sp>
      <p:sp>
        <p:nvSpPr>
          <p:cNvPr id="77847" name="Text Box 40"/>
          <p:cNvSpPr txBox="1">
            <a:spLocks noChangeArrowheads="1"/>
          </p:cNvSpPr>
          <p:nvPr/>
        </p:nvSpPr>
        <p:spPr bwMode="auto">
          <a:xfrm>
            <a:off x="2344738" y="4335463"/>
            <a:ext cx="636587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1.00</a:t>
            </a:r>
          </a:p>
        </p:txBody>
      </p:sp>
      <p:sp>
        <p:nvSpPr>
          <p:cNvPr id="77848" name="Text Box 41"/>
          <p:cNvSpPr txBox="1">
            <a:spLocks noChangeArrowheads="1"/>
          </p:cNvSpPr>
          <p:nvPr/>
        </p:nvSpPr>
        <p:spPr bwMode="auto">
          <a:xfrm>
            <a:off x="2344738" y="4849813"/>
            <a:ext cx="636587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0.50</a:t>
            </a:r>
          </a:p>
        </p:txBody>
      </p:sp>
      <p:sp>
        <p:nvSpPr>
          <p:cNvPr id="77849" name="Text Box 15"/>
          <p:cNvSpPr txBox="1">
            <a:spLocks noChangeArrowheads="1"/>
          </p:cNvSpPr>
          <p:nvPr/>
        </p:nvSpPr>
        <p:spPr bwMode="auto">
          <a:xfrm>
            <a:off x="6483350" y="5154613"/>
            <a:ext cx="412750" cy="373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2400" i="1"/>
              <a:t>D</a:t>
            </a:r>
          </a:p>
        </p:txBody>
      </p:sp>
      <p:sp>
        <p:nvSpPr>
          <p:cNvPr id="77850" name="Text Box 16"/>
          <p:cNvSpPr txBox="1">
            <a:spLocks noChangeArrowheads="1"/>
          </p:cNvSpPr>
          <p:nvPr/>
        </p:nvSpPr>
        <p:spPr bwMode="auto">
          <a:xfrm>
            <a:off x="6215063" y="2538413"/>
            <a:ext cx="414337" cy="37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2400"/>
              <a:t>S</a:t>
            </a:r>
          </a:p>
        </p:txBody>
      </p:sp>
      <p:sp>
        <p:nvSpPr>
          <p:cNvPr id="5" name="Line 46"/>
          <p:cNvSpPr>
            <a:spLocks noChangeShapeType="1"/>
          </p:cNvSpPr>
          <p:nvPr/>
        </p:nvSpPr>
        <p:spPr bwMode="auto">
          <a:xfrm rot="5400000">
            <a:off x="4883944" y="3831432"/>
            <a:ext cx="1587" cy="126365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/>
          <a:lstStyle/>
          <a:p>
            <a:pPr algn="ctr">
              <a:defRPr/>
            </a:pPr>
            <a:endParaRPr lang="en-US" dirty="0"/>
          </a:p>
        </p:txBody>
      </p:sp>
      <p:cxnSp>
        <p:nvCxnSpPr>
          <p:cNvPr id="77852" name="Straight Connector 30"/>
          <p:cNvCxnSpPr>
            <a:cxnSpLocks noChangeShapeType="1"/>
            <a:stCxn id="77845" idx="3"/>
          </p:cNvCxnSpPr>
          <p:nvPr/>
        </p:nvCxnSpPr>
        <p:spPr bwMode="auto">
          <a:xfrm>
            <a:off x="2981325" y="3436938"/>
            <a:ext cx="1262063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25" name="Line 14"/>
          <p:cNvSpPr>
            <a:spLocks noChangeShapeType="1"/>
          </p:cNvSpPr>
          <p:nvPr/>
        </p:nvSpPr>
        <p:spPr bwMode="auto">
          <a:xfrm rot="5400000">
            <a:off x="3213894" y="2470944"/>
            <a:ext cx="2840037" cy="3311525"/>
          </a:xfrm>
          <a:prstGeom prst="line">
            <a:avLst/>
          </a:prstGeom>
          <a:ln>
            <a:solidFill>
              <a:srgbClr val="FF4F4F"/>
            </a:solidFill>
            <a:headEnd/>
            <a:tailEnd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 algn="ctr">
              <a:defRPr/>
            </a:pPr>
            <a:endParaRPr lang="en-US" dirty="0"/>
          </a:p>
        </p:txBody>
      </p:sp>
      <p:sp>
        <p:nvSpPr>
          <p:cNvPr id="28" name="Line 45"/>
          <p:cNvSpPr>
            <a:spLocks noChangeShapeType="1"/>
          </p:cNvSpPr>
          <p:nvPr/>
        </p:nvSpPr>
        <p:spPr bwMode="auto">
          <a:xfrm>
            <a:off x="3432175" y="2757488"/>
            <a:ext cx="3138488" cy="2582862"/>
          </a:xfrm>
          <a:prstGeom prst="line">
            <a:avLst/>
          </a:pr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 algn="ctr">
              <a:defRPr/>
            </a:pPr>
            <a:endParaRPr lang="en-US" dirty="0"/>
          </a:p>
        </p:txBody>
      </p:sp>
      <p:sp>
        <p:nvSpPr>
          <p:cNvPr id="77855" name="Text Box 40"/>
          <p:cNvSpPr txBox="1">
            <a:spLocks noChangeArrowheads="1"/>
          </p:cNvSpPr>
          <p:nvPr/>
        </p:nvSpPr>
        <p:spPr bwMode="auto">
          <a:xfrm>
            <a:off x="2346325" y="4043363"/>
            <a:ext cx="6381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1.25</a:t>
            </a:r>
          </a:p>
        </p:txBody>
      </p:sp>
      <p:cxnSp>
        <p:nvCxnSpPr>
          <p:cNvPr id="77856" name="Straight Connector 36"/>
          <p:cNvCxnSpPr>
            <a:cxnSpLocks noChangeShapeType="1"/>
          </p:cNvCxnSpPr>
          <p:nvPr/>
        </p:nvCxnSpPr>
        <p:spPr bwMode="auto">
          <a:xfrm>
            <a:off x="2997200" y="4230688"/>
            <a:ext cx="1244600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pic>
        <p:nvPicPr>
          <p:cNvPr id="33" name="Picture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 bwMode="auto">
          <a:xfrm>
            <a:off x="1950936" y="1961384"/>
            <a:ext cx="5865783" cy="404650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9876" name="Title 1"/>
          <p:cNvSpPr>
            <a:spLocks noGrp="1"/>
          </p:cNvSpPr>
          <p:nvPr>
            <p:ph type="title" idx="4294967295"/>
          </p:nvPr>
        </p:nvSpPr>
        <p:spPr>
          <a:xfrm>
            <a:off x="685800" y="177800"/>
            <a:ext cx="8229600" cy="931333"/>
          </a:xfrm>
        </p:spPr>
        <p:txBody>
          <a:bodyPr/>
          <a:lstStyle/>
          <a:p>
            <a:pPr eaLnBrk="1" hangingPunct="1"/>
            <a:r>
              <a:rPr lang="en-US" dirty="0"/>
              <a:t>Price above Equilibrium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2027238" y="2044700"/>
            <a:ext cx="5713412" cy="3886200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9878" name="Line 42"/>
          <p:cNvSpPr>
            <a:spLocks noChangeShapeType="1"/>
          </p:cNvSpPr>
          <p:nvPr/>
        </p:nvSpPr>
        <p:spPr bwMode="auto">
          <a:xfrm flipV="1">
            <a:off x="4241800" y="3036888"/>
            <a:ext cx="0" cy="21558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9879" name="Line 3"/>
          <p:cNvSpPr>
            <a:spLocks noChangeShapeType="1"/>
          </p:cNvSpPr>
          <p:nvPr/>
        </p:nvSpPr>
        <p:spPr bwMode="auto">
          <a:xfrm>
            <a:off x="2970213" y="5183188"/>
            <a:ext cx="45989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9880" name="Text Box 5"/>
          <p:cNvSpPr txBox="1">
            <a:spLocks noChangeArrowheads="1"/>
          </p:cNvSpPr>
          <p:nvPr/>
        </p:nvSpPr>
        <p:spPr bwMode="auto">
          <a:xfrm>
            <a:off x="2293938" y="2427288"/>
            <a:ext cx="70326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2.50</a:t>
            </a:r>
          </a:p>
        </p:txBody>
      </p:sp>
      <p:sp>
        <p:nvSpPr>
          <p:cNvPr id="79881" name="Text Box 7"/>
          <p:cNvSpPr txBox="1">
            <a:spLocks noChangeArrowheads="1"/>
          </p:cNvSpPr>
          <p:nvPr/>
        </p:nvSpPr>
        <p:spPr bwMode="auto">
          <a:xfrm>
            <a:off x="3417888" y="5457825"/>
            <a:ext cx="36306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800" dirty="0"/>
              <a:t>Quantity (1,000s of liters/day)</a:t>
            </a:r>
          </a:p>
        </p:txBody>
      </p:sp>
      <p:sp>
        <p:nvSpPr>
          <p:cNvPr id="79882" name="Text Box 8"/>
          <p:cNvSpPr txBox="1">
            <a:spLocks noChangeArrowheads="1"/>
          </p:cNvSpPr>
          <p:nvPr/>
        </p:nvSpPr>
        <p:spPr bwMode="auto">
          <a:xfrm rot="-5400000">
            <a:off x="897731" y="3531186"/>
            <a:ext cx="26193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dirty="0"/>
              <a:t>Price ($/liter)</a:t>
            </a:r>
          </a:p>
        </p:txBody>
      </p:sp>
      <p:sp>
        <p:nvSpPr>
          <p:cNvPr id="79883" name="Line 13"/>
          <p:cNvSpPr>
            <a:spLocks noChangeShapeType="1"/>
          </p:cNvSpPr>
          <p:nvPr/>
        </p:nvSpPr>
        <p:spPr bwMode="auto">
          <a:xfrm>
            <a:off x="2970213" y="2178050"/>
            <a:ext cx="0" cy="3000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9884" name="Text Box 17"/>
          <p:cNvSpPr txBox="1">
            <a:spLocks noChangeArrowheads="1"/>
          </p:cNvSpPr>
          <p:nvPr/>
        </p:nvSpPr>
        <p:spPr bwMode="auto">
          <a:xfrm>
            <a:off x="3355975" y="5195888"/>
            <a:ext cx="5111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800"/>
              <a:t>1</a:t>
            </a:r>
          </a:p>
        </p:txBody>
      </p:sp>
      <p:sp>
        <p:nvSpPr>
          <p:cNvPr id="79885" name="Text Box 34"/>
          <p:cNvSpPr txBox="1">
            <a:spLocks noChangeArrowheads="1"/>
          </p:cNvSpPr>
          <p:nvPr/>
        </p:nvSpPr>
        <p:spPr bwMode="auto">
          <a:xfrm>
            <a:off x="3998913" y="5195888"/>
            <a:ext cx="5111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800"/>
              <a:t>2</a:t>
            </a:r>
          </a:p>
        </p:txBody>
      </p:sp>
      <p:sp>
        <p:nvSpPr>
          <p:cNvPr id="79886" name="Text Box 35"/>
          <p:cNvSpPr txBox="1">
            <a:spLocks noChangeArrowheads="1"/>
          </p:cNvSpPr>
          <p:nvPr/>
        </p:nvSpPr>
        <p:spPr bwMode="auto">
          <a:xfrm>
            <a:off x="4645025" y="5195888"/>
            <a:ext cx="5095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800"/>
              <a:t>3</a:t>
            </a:r>
          </a:p>
        </p:txBody>
      </p:sp>
      <p:sp>
        <p:nvSpPr>
          <p:cNvPr id="79887" name="Text Box 36"/>
          <p:cNvSpPr txBox="1">
            <a:spLocks noChangeArrowheads="1"/>
          </p:cNvSpPr>
          <p:nvPr/>
        </p:nvSpPr>
        <p:spPr bwMode="auto">
          <a:xfrm>
            <a:off x="5214938" y="5195888"/>
            <a:ext cx="5111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800"/>
              <a:t>4</a:t>
            </a:r>
          </a:p>
        </p:txBody>
      </p:sp>
      <p:sp>
        <p:nvSpPr>
          <p:cNvPr id="79888" name="Text Box 37"/>
          <p:cNvSpPr txBox="1">
            <a:spLocks noChangeArrowheads="1"/>
          </p:cNvSpPr>
          <p:nvPr/>
        </p:nvSpPr>
        <p:spPr bwMode="auto">
          <a:xfrm>
            <a:off x="5797550" y="5195888"/>
            <a:ext cx="5111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800"/>
              <a:t>5</a:t>
            </a:r>
          </a:p>
        </p:txBody>
      </p:sp>
      <p:sp>
        <p:nvSpPr>
          <p:cNvPr id="79889" name="Text Box 38"/>
          <p:cNvSpPr txBox="1">
            <a:spLocks noChangeArrowheads="1"/>
          </p:cNvSpPr>
          <p:nvPr/>
        </p:nvSpPr>
        <p:spPr bwMode="auto">
          <a:xfrm>
            <a:off x="2327275" y="2879725"/>
            <a:ext cx="66992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2.00</a:t>
            </a:r>
          </a:p>
        </p:txBody>
      </p:sp>
      <p:sp>
        <p:nvSpPr>
          <p:cNvPr id="79890" name="Text Box 39"/>
          <p:cNvSpPr txBox="1">
            <a:spLocks noChangeArrowheads="1"/>
          </p:cNvSpPr>
          <p:nvPr/>
        </p:nvSpPr>
        <p:spPr bwMode="auto">
          <a:xfrm>
            <a:off x="2303463" y="3419475"/>
            <a:ext cx="69373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1.50</a:t>
            </a:r>
          </a:p>
        </p:txBody>
      </p:sp>
      <p:sp>
        <p:nvSpPr>
          <p:cNvPr id="79891" name="Text Box 40"/>
          <p:cNvSpPr txBox="1">
            <a:spLocks noChangeArrowheads="1"/>
          </p:cNvSpPr>
          <p:nvPr/>
        </p:nvSpPr>
        <p:spPr bwMode="auto">
          <a:xfrm>
            <a:off x="2360613" y="3902075"/>
            <a:ext cx="63658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1.00</a:t>
            </a:r>
          </a:p>
        </p:txBody>
      </p:sp>
      <p:sp>
        <p:nvSpPr>
          <p:cNvPr id="79892" name="Text Box 41"/>
          <p:cNvSpPr txBox="1">
            <a:spLocks noChangeArrowheads="1"/>
          </p:cNvSpPr>
          <p:nvPr/>
        </p:nvSpPr>
        <p:spPr bwMode="auto">
          <a:xfrm>
            <a:off x="2360613" y="4470400"/>
            <a:ext cx="63658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0.50</a:t>
            </a:r>
          </a:p>
        </p:txBody>
      </p:sp>
      <p:sp>
        <p:nvSpPr>
          <p:cNvPr id="79893" name="Text Box 15"/>
          <p:cNvSpPr txBox="1">
            <a:spLocks noChangeArrowheads="1"/>
          </p:cNvSpPr>
          <p:nvPr/>
        </p:nvSpPr>
        <p:spPr bwMode="auto">
          <a:xfrm>
            <a:off x="6483350" y="4776788"/>
            <a:ext cx="412750" cy="373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2400" i="1"/>
              <a:t>D</a:t>
            </a:r>
          </a:p>
        </p:txBody>
      </p:sp>
      <p:sp>
        <p:nvSpPr>
          <p:cNvPr id="79894" name="Text Box 16"/>
          <p:cNvSpPr txBox="1">
            <a:spLocks noChangeArrowheads="1"/>
          </p:cNvSpPr>
          <p:nvPr/>
        </p:nvSpPr>
        <p:spPr bwMode="auto">
          <a:xfrm>
            <a:off x="6215063" y="2122488"/>
            <a:ext cx="414337" cy="37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2400"/>
              <a:t>S</a:t>
            </a:r>
          </a:p>
        </p:txBody>
      </p:sp>
      <p:cxnSp>
        <p:nvCxnSpPr>
          <p:cNvPr id="79895" name="Straight Connector 29"/>
          <p:cNvCxnSpPr>
            <a:cxnSpLocks noChangeShapeType="1"/>
          </p:cNvCxnSpPr>
          <p:nvPr/>
        </p:nvCxnSpPr>
        <p:spPr bwMode="auto">
          <a:xfrm rot="5400000">
            <a:off x="4057650" y="4379913"/>
            <a:ext cx="1652587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79896" name="Straight Connector 30"/>
          <p:cNvCxnSpPr>
            <a:cxnSpLocks noChangeShapeType="1"/>
          </p:cNvCxnSpPr>
          <p:nvPr/>
        </p:nvCxnSpPr>
        <p:spPr bwMode="auto">
          <a:xfrm>
            <a:off x="2978150" y="3579813"/>
            <a:ext cx="1824038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79897" name="Straight Connector 34"/>
          <p:cNvCxnSpPr>
            <a:cxnSpLocks noChangeShapeType="1"/>
          </p:cNvCxnSpPr>
          <p:nvPr/>
        </p:nvCxnSpPr>
        <p:spPr bwMode="auto">
          <a:xfrm>
            <a:off x="2981325" y="4051300"/>
            <a:ext cx="1260475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36" name="Line 46"/>
          <p:cNvSpPr>
            <a:spLocks noChangeShapeType="1"/>
          </p:cNvSpPr>
          <p:nvPr/>
        </p:nvSpPr>
        <p:spPr bwMode="auto">
          <a:xfrm rot="5400000">
            <a:off x="4856956" y="2429669"/>
            <a:ext cx="1588" cy="126365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/>
          <a:lstStyle/>
          <a:p>
            <a:pPr algn="ctr">
              <a:defRPr/>
            </a:pPr>
            <a:endParaRPr lang="en-US" dirty="0"/>
          </a:p>
        </p:txBody>
      </p:sp>
      <p:sp>
        <p:nvSpPr>
          <p:cNvPr id="79899" name="Text Box 39"/>
          <p:cNvSpPr txBox="1">
            <a:spLocks noChangeArrowheads="1"/>
          </p:cNvSpPr>
          <p:nvPr/>
        </p:nvSpPr>
        <p:spPr bwMode="auto">
          <a:xfrm>
            <a:off x="2303463" y="3128963"/>
            <a:ext cx="69373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1.75</a:t>
            </a:r>
          </a:p>
        </p:txBody>
      </p:sp>
      <p:cxnSp>
        <p:nvCxnSpPr>
          <p:cNvPr id="79900" name="Straight Connector 39"/>
          <p:cNvCxnSpPr>
            <a:cxnSpLocks noChangeShapeType="1"/>
          </p:cNvCxnSpPr>
          <p:nvPr/>
        </p:nvCxnSpPr>
        <p:spPr bwMode="auto">
          <a:xfrm>
            <a:off x="3013075" y="3306763"/>
            <a:ext cx="1228725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42" name="TextBox 41"/>
          <p:cNvSpPr txBox="1"/>
          <p:nvPr/>
        </p:nvSpPr>
        <p:spPr>
          <a:xfrm>
            <a:off x="1718733" y="6154003"/>
            <a:ext cx="6747933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b="1" dirty="0"/>
              <a:t>Only equilibrium price is efficient</a:t>
            </a:r>
          </a:p>
        </p:txBody>
      </p:sp>
      <p:cxnSp>
        <p:nvCxnSpPr>
          <p:cNvPr id="79904" name="Straight Connector 44"/>
          <p:cNvCxnSpPr>
            <a:cxnSpLocks noChangeShapeType="1"/>
          </p:cNvCxnSpPr>
          <p:nvPr/>
        </p:nvCxnSpPr>
        <p:spPr bwMode="auto">
          <a:xfrm rot="10800000">
            <a:off x="2978150" y="3070225"/>
            <a:ext cx="1262063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79905" name="Straight Connector 48"/>
          <p:cNvCxnSpPr>
            <a:cxnSpLocks noChangeShapeType="1"/>
          </p:cNvCxnSpPr>
          <p:nvPr/>
        </p:nvCxnSpPr>
        <p:spPr bwMode="auto">
          <a:xfrm rot="5400000">
            <a:off x="4408488" y="4132263"/>
            <a:ext cx="2124075" cy="3175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28" name="Line 14"/>
          <p:cNvSpPr>
            <a:spLocks noChangeShapeType="1"/>
          </p:cNvSpPr>
          <p:nvPr/>
        </p:nvSpPr>
        <p:spPr bwMode="auto">
          <a:xfrm rot="5400000">
            <a:off x="3255169" y="2105819"/>
            <a:ext cx="2786062" cy="3340100"/>
          </a:xfrm>
          <a:prstGeom prst="line">
            <a:avLst/>
          </a:prstGeom>
          <a:ln>
            <a:solidFill>
              <a:srgbClr val="FF0000"/>
            </a:solidFill>
            <a:headEnd/>
            <a:tailEnd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 algn="ctr">
              <a:defRPr/>
            </a:pPr>
            <a:endParaRPr lang="en-US" dirty="0"/>
          </a:p>
        </p:txBody>
      </p:sp>
      <p:sp>
        <p:nvSpPr>
          <p:cNvPr id="29" name="Line 45"/>
          <p:cNvSpPr>
            <a:spLocks noChangeShapeType="1"/>
          </p:cNvSpPr>
          <p:nvPr/>
        </p:nvSpPr>
        <p:spPr bwMode="auto">
          <a:xfrm>
            <a:off x="3432175" y="2378075"/>
            <a:ext cx="3138488" cy="2584450"/>
          </a:xfrm>
          <a:prstGeom prst="line">
            <a:avLst/>
          </a:pr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algn="ctr">
              <a:defRPr/>
            </a:pPr>
            <a:endParaRPr lang="en-US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1447800" y="983904"/>
            <a:ext cx="704426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dirty="0"/>
              <a:t>Suppose milk is $2 per liter</a:t>
            </a:r>
          </a:p>
          <a:p>
            <a:pPr eaLnBrk="1" hangingPunct="1"/>
            <a:r>
              <a:rPr lang="en-US" dirty="0"/>
              <a:t>Only 2000 </a:t>
            </a:r>
            <a:r>
              <a:rPr lang="en-US" dirty="0" err="1"/>
              <a:t>litres</a:t>
            </a:r>
            <a:r>
              <a:rPr lang="en-US" dirty="0"/>
              <a:t> will be traded - Inefficient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Trade-Offs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838200" y="1722438"/>
          <a:ext cx="7924800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28650"/>
            <a:ext cx="8229600" cy="1143000"/>
          </a:xfrm>
        </p:spPr>
        <p:txBody>
          <a:bodyPr/>
          <a:lstStyle/>
          <a:p>
            <a:r>
              <a:rPr lang="en-US" sz="4000" dirty="0"/>
              <a:t>The  Cost of Preventing Price Adjustments</a:t>
            </a:r>
          </a:p>
        </p:txBody>
      </p:sp>
      <p:sp>
        <p:nvSpPr>
          <p:cNvPr id="860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85850" y="2419350"/>
            <a:ext cx="7772400" cy="3790950"/>
          </a:xfrm>
        </p:spPr>
        <p:txBody>
          <a:bodyPr/>
          <a:lstStyle/>
          <a:p>
            <a:r>
              <a:rPr lang="en-US" dirty="0"/>
              <a:t>Price ceilings</a:t>
            </a:r>
          </a:p>
          <a:p>
            <a:pPr lvl="1"/>
            <a:r>
              <a:rPr lang="en-US" dirty="0"/>
              <a:t>A maximum allowable price, specified by law</a:t>
            </a:r>
          </a:p>
          <a:p>
            <a:r>
              <a:rPr lang="en-US" dirty="0"/>
              <a:t>Price subsidies</a:t>
            </a:r>
          </a:p>
          <a:p>
            <a:pPr lvl="1"/>
            <a:r>
              <a:rPr lang="en-US" dirty="0"/>
              <a:t>Meant to assist low-income consumers, governmental funding of “essential” goods and services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Example: Heating Oil Market</a:t>
            </a:r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1941513" y="1574800"/>
            <a:ext cx="5395912" cy="5002213"/>
            <a:chOff x="1942037" y="1574940"/>
            <a:chExt cx="5394914" cy="5001517"/>
          </a:xfrm>
        </p:grpSpPr>
        <p:sp>
          <p:nvSpPr>
            <p:cNvPr id="44" name="Rectangle 43"/>
            <p:cNvSpPr/>
            <p:nvPr/>
          </p:nvSpPr>
          <p:spPr bwMode="auto">
            <a:xfrm>
              <a:off x="1942037" y="1574940"/>
              <a:ext cx="5394914" cy="5001517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" name="Rectangle 42"/>
            <p:cNvSpPr/>
            <p:nvPr/>
          </p:nvSpPr>
          <p:spPr bwMode="auto">
            <a:xfrm>
              <a:off x="2086472" y="1749541"/>
              <a:ext cx="5102869" cy="4679299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7062" name="Line 33"/>
            <p:cNvSpPr>
              <a:spLocks noChangeShapeType="1"/>
            </p:cNvSpPr>
            <p:nvPr/>
          </p:nvSpPr>
          <p:spPr bwMode="auto">
            <a:xfrm flipH="1">
              <a:off x="3960720" y="2211802"/>
              <a:ext cx="234165" cy="483498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063" name="Line 34"/>
            <p:cNvSpPr>
              <a:spLocks noChangeShapeType="1"/>
            </p:cNvSpPr>
            <p:nvPr/>
          </p:nvSpPr>
          <p:spPr bwMode="auto">
            <a:xfrm flipH="1">
              <a:off x="4082680" y="3371328"/>
              <a:ext cx="1079758" cy="91198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25"/>
            <p:cNvSpPr>
              <a:spLocks noChangeShapeType="1"/>
            </p:cNvSpPr>
            <p:nvPr/>
          </p:nvSpPr>
          <p:spPr bwMode="auto">
            <a:xfrm>
              <a:off x="3167360" y="2028902"/>
              <a:ext cx="3612482" cy="3434872"/>
            </a:xfrm>
            <a:prstGeom prst="line">
              <a:avLst/>
            </a:pr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6" name="Line 6"/>
            <p:cNvSpPr>
              <a:spLocks noChangeShapeType="1"/>
            </p:cNvSpPr>
            <p:nvPr/>
          </p:nvSpPr>
          <p:spPr bwMode="auto">
            <a:xfrm rot="5400000">
              <a:off x="3205404" y="2000382"/>
              <a:ext cx="2152350" cy="2228438"/>
            </a:xfrm>
            <a:prstGeom prst="line">
              <a:avLst/>
            </a:pr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87066" name="Text Box 13"/>
            <p:cNvSpPr txBox="1">
              <a:spLocks noChangeArrowheads="1"/>
            </p:cNvSpPr>
            <p:nvPr/>
          </p:nvSpPr>
          <p:spPr bwMode="auto">
            <a:xfrm>
              <a:off x="6188535" y="5252618"/>
              <a:ext cx="442311" cy="4209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2400"/>
                <a:t>D</a:t>
              </a:r>
            </a:p>
          </p:txBody>
        </p:sp>
        <p:sp>
          <p:nvSpPr>
            <p:cNvPr id="87067" name="Text Box 14"/>
            <p:cNvSpPr txBox="1">
              <a:spLocks noChangeArrowheads="1"/>
            </p:cNvSpPr>
            <p:nvPr/>
          </p:nvSpPr>
          <p:spPr bwMode="auto">
            <a:xfrm>
              <a:off x="5299036" y="2051118"/>
              <a:ext cx="442311" cy="4209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2400"/>
                <a:t>S</a:t>
              </a:r>
            </a:p>
          </p:txBody>
        </p:sp>
        <p:sp>
          <p:nvSpPr>
            <p:cNvPr id="87068" name="Line 38"/>
            <p:cNvSpPr>
              <a:spLocks noChangeShapeType="1"/>
            </p:cNvSpPr>
            <p:nvPr/>
          </p:nvSpPr>
          <p:spPr bwMode="auto">
            <a:xfrm rot="16200000" flipV="1">
              <a:off x="3731435" y="2555448"/>
              <a:ext cx="0" cy="10569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069" name="Line 8"/>
            <p:cNvSpPr>
              <a:spLocks noChangeShapeType="1"/>
            </p:cNvSpPr>
            <p:nvPr/>
          </p:nvSpPr>
          <p:spPr bwMode="auto">
            <a:xfrm>
              <a:off x="3147378" y="5765657"/>
              <a:ext cx="3888904" cy="7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070" name="Text Box 9"/>
            <p:cNvSpPr txBox="1">
              <a:spLocks noChangeArrowheads="1"/>
            </p:cNvSpPr>
            <p:nvPr/>
          </p:nvSpPr>
          <p:spPr bwMode="auto">
            <a:xfrm>
              <a:off x="2420764" y="1893329"/>
              <a:ext cx="752904" cy="3367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2.00</a:t>
              </a:r>
            </a:p>
          </p:txBody>
        </p:sp>
        <p:sp>
          <p:nvSpPr>
            <p:cNvPr id="87071" name="Text Box 10"/>
            <p:cNvSpPr txBox="1">
              <a:spLocks noChangeArrowheads="1"/>
            </p:cNvSpPr>
            <p:nvPr/>
          </p:nvSpPr>
          <p:spPr bwMode="auto">
            <a:xfrm>
              <a:off x="3173668" y="6091366"/>
              <a:ext cx="3875895" cy="369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 dirty="0"/>
                <a:t>Quantity (1,000s of liters/day)</a:t>
              </a:r>
            </a:p>
          </p:txBody>
        </p:sp>
        <p:sp>
          <p:nvSpPr>
            <p:cNvPr id="87072" name="Text Box 11"/>
            <p:cNvSpPr txBox="1">
              <a:spLocks noChangeArrowheads="1"/>
            </p:cNvSpPr>
            <p:nvPr/>
          </p:nvSpPr>
          <p:spPr bwMode="auto">
            <a:xfrm rot="-5400000">
              <a:off x="308073" y="3631646"/>
              <a:ext cx="3936022" cy="3783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 dirty="0"/>
                <a:t>Price ($/liter)</a:t>
              </a:r>
            </a:p>
          </p:txBody>
        </p:sp>
        <p:sp>
          <p:nvSpPr>
            <p:cNvPr id="87073" name="Line 12"/>
            <p:cNvSpPr>
              <a:spLocks noChangeShapeType="1"/>
            </p:cNvSpPr>
            <p:nvPr/>
          </p:nvSpPr>
          <p:spPr bwMode="auto">
            <a:xfrm>
              <a:off x="3160387" y="1852797"/>
              <a:ext cx="0" cy="39128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074" name="Text Box 15"/>
            <p:cNvSpPr txBox="1">
              <a:spLocks noChangeArrowheads="1"/>
            </p:cNvSpPr>
            <p:nvPr/>
          </p:nvSpPr>
          <p:spPr bwMode="auto">
            <a:xfrm>
              <a:off x="3134640" y="5788818"/>
              <a:ext cx="546384" cy="3367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1</a:t>
              </a:r>
            </a:p>
          </p:txBody>
        </p:sp>
        <p:sp>
          <p:nvSpPr>
            <p:cNvPr id="87075" name="Text Box 16"/>
            <p:cNvSpPr txBox="1">
              <a:spLocks noChangeArrowheads="1"/>
            </p:cNvSpPr>
            <p:nvPr/>
          </p:nvSpPr>
          <p:spPr bwMode="auto">
            <a:xfrm>
              <a:off x="3521663" y="5788818"/>
              <a:ext cx="546384" cy="3367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2</a:t>
              </a:r>
            </a:p>
          </p:txBody>
        </p:sp>
        <p:sp>
          <p:nvSpPr>
            <p:cNvPr id="87076" name="Text Box 17"/>
            <p:cNvSpPr txBox="1">
              <a:spLocks noChangeArrowheads="1"/>
            </p:cNvSpPr>
            <p:nvPr/>
          </p:nvSpPr>
          <p:spPr bwMode="auto">
            <a:xfrm>
              <a:off x="3907057" y="5788818"/>
              <a:ext cx="546384" cy="3367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3</a:t>
              </a:r>
            </a:p>
          </p:txBody>
        </p:sp>
        <p:sp>
          <p:nvSpPr>
            <p:cNvPr id="87077" name="Text Box 18"/>
            <p:cNvSpPr txBox="1">
              <a:spLocks noChangeArrowheads="1"/>
            </p:cNvSpPr>
            <p:nvPr/>
          </p:nvSpPr>
          <p:spPr bwMode="auto">
            <a:xfrm>
              <a:off x="4292453" y="5788818"/>
              <a:ext cx="546384" cy="3367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4</a:t>
              </a:r>
            </a:p>
          </p:txBody>
        </p:sp>
        <p:sp>
          <p:nvSpPr>
            <p:cNvPr id="87078" name="Text Box 19"/>
            <p:cNvSpPr txBox="1">
              <a:spLocks noChangeArrowheads="1"/>
            </p:cNvSpPr>
            <p:nvPr/>
          </p:nvSpPr>
          <p:spPr bwMode="auto">
            <a:xfrm>
              <a:off x="4677849" y="5788818"/>
              <a:ext cx="546384" cy="3367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5</a:t>
              </a:r>
            </a:p>
          </p:txBody>
        </p:sp>
        <p:sp>
          <p:nvSpPr>
            <p:cNvPr id="87079" name="Text Box 20"/>
            <p:cNvSpPr txBox="1">
              <a:spLocks noChangeArrowheads="1"/>
            </p:cNvSpPr>
            <p:nvPr/>
          </p:nvSpPr>
          <p:spPr bwMode="auto">
            <a:xfrm>
              <a:off x="2456539" y="2596863"/>
              <a:ext cx="717129" cy="3367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1.60</a:t>
              </a:r>
            </a:p>
          </p:txBody>
        </p:sp>
        <p:sp>
          <p:nvSpPr>
            <p:cNvPr id="87080" name="Text Box 21"/>
            <p:cNvSpPr txBox="1">
              <a:spLocks noChangeArrowheads="1"/>
            </p:cNvSpPr>
            <p:nvPr/>
          </p:nvSpPr>
          <p:spPr bwMode="auto">
            <a:xfrm>
              <a:off x="2432148" y="3300396"/>
              <a:ext cx="741520" cy="3367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1.20</a:t>
              </a:r>
            </a:p>
          </p:txBody>
        </p:sp>
        <p:sp>
          <p:nvSpPr>
            <p:cNvPr id="87081" name="Text Box 22"/>
            <p:cNvSpPr txBox="1">
              <a:spLocks noChangeArrowheads="1"/>
            </p:cNvSpPr>
            <p:nvPr/>
          </p:nvSpPr>
          <p:spPr bwMode="auto">
            <a:xfrm>
              <a:off x="2492314" y="3652162"/>
              <a:ext cx="681354" cy="3367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1.00</a:t>
              </a:r>
            </a:p>
          </p:txBody>
        </p:sp>
        <p:sp>
          <p:nvSpPr>
            <p:cNvPr id="87082" name="Text Box 23"/>
            <p:cNvSpPr txBox="1">
              <a:spLocks noChangeArrowheads="1"/>
            </p:cNvSpPr>
            <p:nvPr/>
          </p:nvSpPr>
          <p:spPr bwMode="auto">
            <a:xfrm>
              <a:off x="2627285" y="4005377"/>
              <a:ext cx="546384" cy="3367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.80</a:t>
              </a:r>
            </a:p>
          </p:txBody>
        </p:sp>
        <p:sp>
          <p:nvSpPr>
            <p:cNvPr id="87083" name="Text Box 26"/>
            <p:cNvSpPr txBox="1">
              <a:spLocks noChangeArrowheads="1"/>
            </p:cNvSpPr>
            <p:nvPr/>
          </p:nvSpPr>
          <p:spPr bwMode="auto">
            <a:xfrm>
              <a:off x="2420764" y="2245097"/>
              <a:ext cx="752904" cy="3367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1.80</a:t>
              </a:r>
            </a:p>
          </p:txBody>
        </p:sp>
        <p:sp>
          <p:nvSpPr>
            <p:cNvPr id="87084" name="Text Box 27"/>
            <p:cNvSpPr txBox="1">
              <a:spLocks noChangeArrowheads="1"/>
            </p:cNvSpPr>
            <p:nvPr/>
          </p:nvSpPr>
          <p:spPr bwMode="auto">
            <a:xfrm>
              <a:off x="2456539" y="2948630"/>
              <a:ext cx="717129" cy="3367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1.40</a:t>
              </a:r>
            </a:p>
          </p:txBody>
        </p:sp>
        <p:sp>
          <p:nvSpPr>
            <p:cNvPr id="87085" name="Text Box 28"/>
            <p:cNvSpPr txBox="1">
              <a:spLocks noChangeArrowheads="1"/>
            </p:cNvSpPr>
            <p:nvPr/>
          </p:nvSpPr>
          <p:spPr bwMode="auto">
            <a:xfrm>
              <a:off x="5863306" y="5788818"/>
              <a:ext cx="546384" cy="3367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8</a:t>
              </a:r>
            </a:p>
          </p:txBody>
        </p:sp>
        <p:cxnSp>
          <p:nvCxnSpPr>
            <p:cNvPr id="87086" name="Straight Connector 38"/>
            <p:cNvCxnSpPr>
              <a:cxnSpLocks noChangeShapeType="1"/>
            </p:cNvCxnSpPr>
            <p:nvPr/>
          </p:nvCxnSpPr>
          <p:spPr bwMode="auto">
            <a:xfrm rot="5400000">
              <a:off x="2961387" y="4434499"/>
              <a:ext cx="2662135" cy="1627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</p:grpSp>
      <p:sp>
        <p:nvSpPr>
          <p:cNvPr id="7" name="Freeform 32"/>
          <p:cNvSpPr>
            <a:spLocks/>
          </p:cNvSpPr>
          <p:nvPr/>
        </p:nvSpPr>
        <p:spPr bwMode="auto">
          <a:xfrm>
            <a:off x="3182070" y="2042433"/>
            <a:ext cx="1120412" cy="1061089"/>
          </a:xfrm>
          <a:custGeom>
            <a:avLst/>
            <a:gdLst/>
            <a:ahLst/>
            <a:cxnLst>
              <a:cxn ang="0">
                <a:pos x="0" y="733"/>
              </a:cxn>
              <a:cxn ang="0">
                <a:pos x="0" y="0"/>
              </a:cxn>
              <a:cxn ang="0">
                <a:pos x="689" y="733"/>
              </a:cxn>
              <a:cxn ang="0">
                <a:pos x="0" y="733"/>
              </a:cxn>
            </a:cxnLst>
            <a:rect l="0" t="0" r="r" b="b"/>
            <a:pathLst>
              <a:path w="689" h="733">
                <a:moveTo>
                  <a:pt x="0" y="733"/>
                </a:moveTo>
                <a:lnTo>
                  <a:pt x="0" y="0"/>
                </a:lnTo>
                <a:lnTo>
                  <a:pt x="689" y="733"/>
                </a:lnTo>
                <a:lnTo>
                  <a:pt x="0" y="733"/>
                </a:lnTo>
                <a:close/>
              </a:path>
            </a:pathLst>
          </a:cu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dirty="0"/>
          </a:p>
        </p:txBody>
      </p:sp>
      <p:sp>
        <p:nvSpPr>
          <p:cNvPr id="8" name="Freeform 30"/>
          <p:cNvSpPr>
            <a:spLocks/>
          </p:cNvSpPr>
          <p:nvPr/>
        </p:nvSpPr>
        <p:spPr bwMode="auto">
          <a:xfrm>
            <a:off x="3168789" y="3103522"/>
            <a:ext cx="1120412" cy="1082804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748"/>
              </a:cxn>
              <a:cxn ang="0">
                <a:pos x="689" y="0"/>
              </a:cxn>
              <a:cxn ang="0">
                <a:pos x="0" y="0"/>
              </a:cxn>
            </a:cxnLst>
            <a:rect l="0" t="0" r="r" b="b"/>
            <a:pathLst>
              <a:path w="689" h="748">
                <a:moveTo>
                  <a:pt x="0" y="0"/>
                </a:moveTo>
                <a:lnTo>
                  <a:pt x="0" y="748"/>
                </a:lnTo>
                <a:lnTo>
                  <a:pt x="689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dirty="0"/>
          </a:p>
        </p:txBody>
      </p:sp>
      <p:grpSp>
        <p:nvGrpSpPr>
          <p:cNvPr id="3" name="Group 54"/>
          <p:cNvGrpSpPr>
            <a:grpSpLocks/>
          </p:cNvGrpSpPr>
          <p:nvPr/>
        </p:nvGrpSpPr>
        <p:grpSpPr bwMode="auto">
          <a:xfrm>
            <a:off x="3508375" y="2611438"/>
            <a:ext cx="5410200" cy="944562"/>
            <a:chOff x="3508185" y="2611942"/>
            <a:chExt cx="5410162" cy="944004"/>
          </a:xfrm>
        </p:grpSpPr>
        <p:cxnSp>
          <p:nvCxnSpPr>
            <p:cNvPr id="46" name="Straight Arrow Connector 45"/>
            <p:cNvCxnSpPr/>
            <p:nvPr/>
          </p:nvCxnSpPr>
          <p:spPr bwMode="auto">
            <a:xfrm rot="10800000">
              <a:off x="3508185" y="2811849"/>
              <a:ext cx="1793862" cy="1586"/>
            </a:xfrm>
            <a:prstGeom prst="straightConnector1">
              <a:avLst/>
            </a:prstGeom>
            <a:solidFill>
              <a:srgbClr val="FFF05B"/>
            </a:solidFill>
            <a:ln w="12700" cap="flat" cmpd="sng" algn="ctr">
              <a:solidFill>
                <a:schemeClr val="accent3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8" name="Straight Arrow Connector 47"/>
            <p:cNvCxnSpPr/>
            <p:nvPr/>
          </p:nvCxnSpPr>
          <p:spPr bwMode="auto">
            <a:xfrm rot="10800000">
              <a:off x="3508185" y="3354453"/>
              <a:ext cx="1835137" cy="1586"/>
            </a:xfrm>
            <a:prstGeom prst="straightConnector1">
              <a:avLst/>
            </a:prstGeom>
            <a:solidFill>
              <a:srgbClr val="FFF05B"/>
            </a:solidFill>
            <a:ln w="12700" cap="flat" cmpd="sng" algn="ctr">
              <a:solidFill>
                <a:schemeClr val="accent3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1" name="Text Box 35"/>
            <p:cNvSpPr txBox="1">
              <a:spLocks noChangeArrowheads="1"/>
            </p:cNvSpPr>
            <p:nvPr/>
          </p:nvSpPr>
          <p:spPr bwMode="auto">
            <a:xfrm>
              <a:off x="5302004" y="3155836"/>
              <a:ext cx="3451958" cy="40011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/>
                <a:t>Producer surplus = $900/day</a:t>
              </a:r>
            </a:p>
          </p:txBody>
        </p:sp>
        <p:sp>
          <p:nvSpPr>
            <p:cNvPr id="12" name="Text Box 36"/>
            <p:cNvSpPr txBox="1">
              <a:spLocks noChangeArrowheads="1"/>
            </p:cNvSpPr>
            <p:nvPr/>
          </p:nvSpPr>
          <p:spPr bwMode="auto">
            <a:xfrm>
              <a:off x="5302004" y="2611942"/>
              <a:ext cx="3616343" cy="40011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/>
                <a:t>Consumer surplus = $900/day</a:t>
              </a:r>
            </a:p>
          </p:txBody>
        </p:sp>
      </p:grpSp>
      <p:pic>
        <p:nvPicPr>
          <p:cNvPr id="38" name="Picture 3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90"/>
          <p:cNvSpPr/>
          <p:nvPr/>
        </p:nvSpPr>
        <p:spPr bwMode="auto">
          <a:xfrm>
            <a:off x="2053159" y="1600200"/>
            <a:ext cx="5227052" cy="498035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9092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Price Ceiling on Heating Oil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2116138" y="1671638"/>
            <a:ext cx="5100637" cy="4832350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9094" name="Line 38"/>
          <p:cNvSpPr>
            <a:spLocks noChangeShapeType="1"/>
          </p:cNvSpPr>
          <p:nvPr/>
        </p:nvSpPr>
        <p:spPr bwMode="auto">
          <a:xfrm rot="16200000" flipV="1">
            <a:off x="3731419" y="2556669"/>
            <a:ext cx="0" cy="10556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9095" name="Line 33"/>
          <p:cNvSpPr>
            <a:spLocks noChangeShapeType="1"/>
          </p:cNvSpPr>
          <p:nvPr/>
        </p:nvSpPr>
        <p:spPr bwMode="auto">
          <a:xfrm flipH="1">
            <a:off x="3848100" y="2211388"/>
            <a:ext cx="234950" cy="48418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9096" name="Line 34"/>
          <p:cNvSpPr>
            <a:spLocks noChangeShapeType="1"/>
          </p:cNvSpPr>
          <p:nvPr/>
        </p:nvSpPr>
        <p:spPr bwMode="auto">
          <a:xfrm flipH="1">
            <a:off x="4083050" y="3371850"/>
            <a:ext cx="1079500" cy="90488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9097" name="Text Box 13"/>
          <p:cNvSpPr txBox="1">
            <a:spLocks noChangeArrowheads="1"/>
          </p:cNvSpPr>
          <p:nvPr/>
        </p:nvSpPr>
        <p:spPr bwMode="auto">
          <a:xfrm>
            <a:off x="6188075" y="5253038"/>
            <a:ext cx="442913" cy="420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2400"/>
              <a:t>D</a:t>
            </a:r>
          </a:p>
        </p:txBody>
      </p:sp>
      <p:sp>
        <p:nvSpPr>
          <p:cNvPr id="89098" name="Text Box 14"/>
          <p:cNvSpPr txBox="1">
            <a:spLocks noChangeArrowheads="1"/>
          </p:cNvSpPr>
          <p:nvPr/>
        </p:nvSpPr>
        <p:spPr bwMode="auto">
          <a:xfrm>
            <a:off x="4999038" y="2255838"/>
            <a:ext cx="442912" cy="420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2400"/>
              <a:t>S</a:t>
            </a:r>
          </a:p>
        </p:txBody>
      </p:sp>
      <p:sp>
        <p:nvSpPr>
          <p:cNvPr id="89099" name="Line 8"/>
          <p:cNvSpPr>
            <a:spLocks noChangeShapeType="1"/>
          </p:cNvSpPr>
          <p:nvPr/>
        </p:nvSpPr>
        <p:spPr bwMode="auto">
          <a:xfrm>
            <a:off x="3148013" y="5765800"/>
            <a:ext cx="38877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9100" name="Text Box 9"/>
          <p:cNvSpPr txBox="1">
            <a:spLocks noChangeArrowheads="1"/>
          </p:cNvSpPr>
          <p:nvPr/>
        </p:nvSpPr>
        <p:spPr bwMode="auto">
          <a:xfrm>
            <a:off x="2432050" y="1882775"/>
            <a:ext cx="7524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2.00</a:t>
            </a:r>
          </a:p>
        </p:txBody>
      </p:sp>
      <p:sp>
        <p:nvSpPr>
          <p:cNvPr id="89101" name="Text Box 10"/>
          <p:cNvSpPr txBox="1">
            <a:spLocks noChangeArrowheads="1"/>
          </p:cNvSpPr>
          <p:nvPr/>
        </p:nvSpPr>
        <p:spPr bwMode="auto">
          <a:xfrm>
            <a:off x="3173413" y="6091238"/>
            <a:ext cx="38766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800" dirty="0"/>
              <a:t>Quantity (1,000s of liters/day)</a:t>
            </a:r>
          </a:p>
        </p:txBody>
      </p:sp>
      <p:sp>
        <p:nvSpPr>
          <p:cNvPr id="89102" name="Text Box 11"/>
          <p:cNvSpPr txBox="1">
            <a:spLocks noChangeArrowheads="1"/>
          </p:cNvSpPr>
          <p:nvPr/>
        </p:nvSpPr>
        <p:spPr bwMode="auto">
          <a:xfrm rot="-5400000">
            <a:off x="334963" y="3529012"/>
            <a:ext cx="3937000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800" dirty="0"/>
              <a:t>Price ($/liter)</a:t>
            </a:r>
          </a:p>
        </p:txBody>
      </p:sp>
      <p:sp>
        <p:nvSpPr>
          <p:cNvPr id="89103" name="Text Box 15"/>
          <p:cNvSpPr txBox="1">
            <a:spLocks noChangeArrowheads="1"/>
          </p:cNvSpPr>
          <p:nvPr/>
        </p:nvSpPr>
        <p:spPr bwMode="auto">
          <a:xfrm>
            <a:off x="3135313" y="5788025"/>
            <a:ext cx="5461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1</a:t>
            </a:r>
          </a:p>
        </p:txBody>
      </p:sp>
      <p:sp>
        <p:nvSpPr>
          <p:cNvPr id="89104" name="Text Box 16"/>
          <p:cNvSpPr txBox="1">
            <a:spLocks noChangeArrowheads="1"/>
          </p:cNvSpPr>
          <p:nvPr/>
        </p:nvSpPr>
        <p:spPr bwMode="auto">
          <a:xfrm>
            <a:off x="3521075" y="5788025"/>
            <a:ext cx="5476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2</a:t>
            </a:r>
          </a:p>
        </p:txBody>
      </p:sp>
      <p:sp>
        <p:nvSpPr>
          <p:cNvPr id="89105" name="Text Box 17"/>
          <p:cNvSpPr txBox="1">
            <a:spLocks noChangeArrowheads="1"/>
          </p:cNvSpPr>
          <p:nvPr/>
        </p:nvSpPr>
        <p:spPr bwMode="auto">
          <a:xfrm>
            <a:off x="3906838" y="5788025"/>
            <a:ext cx="5461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3</a:t>
            </a:r>
          </a:p>
        </p:txBody>
      </p:sp>
      <p:sp>
        <p:nvSpPr>
          <p:cNvPr id="89106" name="Text Box 18"/>
          <p:cNvSpPr txBox="1">
            <a:spLocks noChangeArrowheads="1"/>
          </p:cNvSpPr>
          <p:nvPr/>
        </p:nvSpPr>
        <p:spPr bwMode="auto">
          <a:xfrm>
            <a:off x="4292600" y="5788025"/>
            <a:ext cx="5461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4</a:t>
            </a:r>
          </a:p>
        </p:txBody>
      </p:sp>
      <p:sp>
        <p:nvSpPr>
          <p:cNvPr id="89107" name="Text Box 19"/>
          <p:cNvSpPr txBox="1">
            <a:spLocks noChangeArrowheads="1"/>
          </p:cNvSpPr>
          <p:nvPr/>
        </p:nvSpPr>
        <p:spPr bwMode="auto">
          <a:xfrm>
            <a:off x="4678363" y="5788025"/>
            <a:ext cx="5461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5</a:t>
            </a:r>
          </a:p>
        </p:txBody>
      </p:sp>
      <p:sp>
        <p:nvSpPr>
          <p:cNvPr id="89108" name="Text Box 20"/>
          <p:cNvSpPr txBox="1">
            <a:spLocks noChangeArrowheads="1"/>
          </p:cNvSpPr>
          <p:nvPr/>
        </p:nvSpPr>
        <p:spPr bwMode="auto">
          <a:xfrm>
            <a:off x="2468563" y="2597150"/>
            <a:ext cx="7159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1.60</a:t>
            </a:r>
          </a:p>
        </p:txBody>
      </p:sp>
      <p:sp>
        <p:nvSpPr>
          <p:cNvPr id="89109" name="Text Box 21"/>
          <p:cNvSpPr txBox="1">
            <a:spLocks noChangeArrowheads="1"/>
          </p:cNvSpPr>
          <p:nvPr/>
        </p:nvSpPr>
        <p:spPr bwMode="auto">
          <a:xfrm>
            <a:off x="2443163" y="3300413"/>
            <a:ext cx="7413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1.20</a:t>
            </a:r>
          </a:p>
        </p:txBody>
      </p:sp>
      <p:sp>
        <p:nvSpPr>
          <p:cNvPr id="89110" name="Text Box 22"/>
          <p:cNvSpPr txBox="1">
            <a:spLocks noChangeArrowheads="1"/>
          </p:cNvSpPr>
          <p:nvPr/>
        </p:nvSpPr>
        <p:spPr bwMode="auto">
          <a:xfrm>
            <a:off x="2503488" y="3652838"/>
            <a:ext cx="6810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1.00</a:t>
            </a:r>
          </a:p>
        </p:txBody>
      </p:sp>
      <p:sp>
        <p:nvSpPr>
          <p:cNvPr id="89111" name="Text Box 23"/>
          <p:cNvSpPr txBox="1">
            <a:spLocks noChangeArrowheads="1"/>
          </p:cNvSpPr>
          <p:nvPr/>
        </p:nvSpPr>
        <p:spPr bwMode="auto">
          <a:xfrm>
            <a:off x="2503488" y="4005263"/>
            <a:ext cx="68103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0.80</a:t>
            </a:r>
          </a:p>
        </p:txBody>
      </p:sp>
      <p:sp>
        <p:nvSpPr>
          <p:cNvPr id="89112" name="Text Box 26"/>
          <p:cNvSpPr txBox="1">
            <a:spLocks noChangeArrowheads="1"/>
          </p:cNvSpPr>
          <p:nvPr/>
        </p:nvSpPr>
        <p:spPr bwMode="auto">
          <a:xfrm>
            <a:off x="2432050" y="2244725"/>
            <a:ext cx="7524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1.80</a:t>
            </a:r>
          </a:p>
        </p:txBody>
      </p:sp>
      <p:sp>
        <p:nvSpPr>
          <p:cNvPr id="89113" name="Text Box 27"/>
          <p:cNvSpPr txBox="1">
            <a:spLocks noChangeArrowheads="1"/>
          </p:cNvSpPr>
          <p:nvPr/>
        </p:nvSpPr>
        <p:spPr bwMode="auto">
          <a:xfrm>
            <a:off x="2468563" y="2947988"/>
            <a:ext cx="715962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1.40</a:t>
            </a:r>
          </a:p>
        </p:txBody>
      </p:sp>
      <p:sp>
        <p:nvSpPr>
          <p:cNvPr id="89114" name="Text Box 28"/>
          <p:cNvSpPr txBox="1">
            <a:spLocks noChangeArrowheads="1"/>
          </p:cNvSpPr>
          <p:nvPr/>
        </p:nvSpPr>
        <p:spPr bwMode="auto">
          <a:xfrm>
            <a:off x="5862638" y="5788025"/>
            <a:ext cx="54768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8</a:t>
            </a:r>
          </a:p>
        </p:txBody>
      </p:sp>
      <p:cxnSp>
        <p:nvCxnSpPr>
          <p:cNvPr id="89115" name="Straight Connector 30"/>
          <p:cNvCxnSpPr>
            <a:cxnSpLocks noChangeShapeType="1"/>
          </p:cNvCxnSpPr>
          <p:nvPr/>
        </p:nvCxnSpPr>
        <p:spPr bwMode="auto">
          <a:xfrm rot="5400000">
            <a:off x="2960688" y="4433888"/>
            <a:ext cx="2662237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89116" name="Straight Connector 32"/>
          <p:cNvCxnSpPr>
            <a:cxnSpLocks noChangeShapeType="1"/>
          </p:cNvCxnSpPr>
          <p:nvPr/>
        </p:nvCxnSpPr>
        <p:spPr bwMode="auto">
          <a:xfrm rot="5400000">
            <a:off x="1896269" y="4117182"/>
            <a:ext cx="3292475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89117" name="Line 38"/>
          <p:cNvSpPr>
            <a:spLocks noChangeShapeType="1"/>
          </p:cNvSpPr>
          <p:nvPr/>
        </p:nvSpPr>
        <p:spPr bwMode="auto">
          <a:xfrm rot="16200000" flipV="1">
            <a:off x="4094163" y="2913063"/>
            <a:ext cx="0" cy="18351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89118" name="Straight Connector 62"/>
          <p:cNvCxnSpPr>
            <a:cxnSpLocks noChangeShapeType="1"/>
          </p:cNvCxnSpPr>
          <p:nvPr/>
        </p:nvCxnSpPr>
        <p:spPr bwMode="auto">
          <a:xfrm rot="5400000">
            <a:off x="4060825" y="4789488"/>
            <a:ext cx="1939925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grpSp>
        <p:nvGrpSpPr>
          <p:cNvPr id="2" name="Group 60"/>
          <p:cNvGrpSpPr/>
          <p:nvPr/>
        </p:nvGrpSpPr>
        <p:grpSpPr>
          <a:xfrm>
            <a:off x="3180876" y="2002361"/>
            <a:ext cx="383182" cy="1827755"/>
            <a:chOff x="3160375" y="1993735"/>
            <a:chExt cx="374381" cy="1827755"/>
          </a:xfrm>
          <a:solidFill>
            <a:schemeClr val="accent6">
              <a:lumMod val="75000"/>
            </a:schemeClr>
          </a:solidFill>
        </p:grpSpPr>
        <p:sp>
          <p:nvSpPr>
            <p:cNvPr id="59" name="Rectangle 58"/>
            <p:cNvSpPr/>
            <p:nvPr/>
          </p:nvSpPr>
          <p:spPr bwMode="auto">
            <a:xfrm>
              <a:off x="3160375" y="2346395"/>
              <a:ext cx="374381" cy="1475095"/>
            </a:xfrm>
            <a:prstGeom prst="rect">
              <a:avLst/>
            </a:prstGeom>
            <a:grp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1001">
              <a:schemeClr val="lt1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0" name="Right Triangle 59"/>
            <p:cNvSpPr/>
            <p:nvPr/>
          </p:nvSpPr>
          <p:spPr bwMode="auto">
            <a:xfrm rot="16200000" flipV="1">
              <a:off x="3160387" y="1993723"/>
              <a:ext cx="361276" cy="361299"/>
            </a:xfrm>
            <a:prstGeom prst="rtTriangle">
              <a:avLst/>
            </a:prstGeom>
            <a:grp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62" name="Isosceles Triangle 61"/>
          <p:cNvSpPr/>
          <p:nvPr/>
        </p:nvSpPr>
        <p:spPr bwMode="auto">
          <a:xfrm rot="5400000">
            <a:off x="3157557" y="2727743"/>
            <a:ext cx="1466480" cy="738269"/>
          </a:xfrm>
          <a:prstGeom prst="triangle">
            <a:avLst>
              <a:gd name="adj" fmla="val 49999"/>
            </a:avLst>
          </a:prstGeom>
          <a:ln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3" name="TextBox 72"/>
          <p:cNvSpPr txBox="1"/>
          <p:nvPr/>
        </p:nvSpPr>
        <p:spPr>
          <a:xfrm flipH="1">
            <a:off x="4789290" y="2937032"/>
            <a:ext cx="3683111" cy="40011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 dirty="0"/>
              <a:t>Lost surplus = $800/ day </a:t>
            </a:r>
          </a:p>
        </p:txBody>
      </p:sp>
      <p:sp>
        <p:nvSpPr>
          <p:cNvPr id="36" name="Right Triangle 35"/>
          <p:cNvSpPr/>
          <p:nvPr/>
        </p:nvSpPr>
        <p:spPr bwMode="auto">
          <a:xfrm rot="5400000">
            <a:off x="3176620" y="3803949"/>
            <a:ext cx="371191" cy="403682"/>
          </a:xfrm>
          <a:prstGeom prst="rtTriangl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Line 6"/>
          <p:cNvSpPr>
            <a:spLocks noChangeShapeType="1"/>
          </p:cNvSpPr>
          <p:nvPr/>
        </p:nvSpPr>
        <p:spPr bwMode="auto">
          <a:xfrm rot="5400000">
            <a:off x="3205957" y="2001043"/>
            <a:ext cx="2152650" cy="2227263"/>
          </a:xfrm>
          <a:prstGeom prst="line">
            <a:avLst/>
          </a:prstGeom>
          <a:ln>
            <a:solidFill>
              <a:srgbClr val="FF0000"/>
            </a:solidFill>
            <a:headEnd/>
            <a:tailEnd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 algn="ctr">
              <a:defRPr/>
            </a:pPr>
            <a:endParaRPr lang="en-US" dirty="0"/>
          </a:p>
        </p:txBody>
      </p:sp>
      <p:sp>
        <p:nvSpPr>
          <p:cNvPr id="9" name="Line 25"/>
          <p:cNvSpPr>
            <a:spLocks noChangeShapeType="1"/>
          </p:cNvSpPr>
          <p:nvPr/>
        </p:nvSpPr>
        <p:spPr bwMode="auto">
          <a:xfrm>
            <a:off x="3167063" y="2028825"/>
            <a:ext cx="3613150" cy="3433763"/>
          </a:xfrm>
          <a:prstGeom prst="line">
            <a:avLst/>
          </a:pr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algn="ctr">
              <a:defRPr/>
            </a:pPr>
            <a:endParaRPr lang="en-US" dirty="0"/>
          </a:p>
        </p:txBody>
      </p:sp>
      <p:sp>
        <p:nvSpPr>
          <p:cNvPr id="71" name="TextBox 70"/>
          <p:cNvSpPr txBox="1"/>
          <p:nvPr/>
        </p:nvSpPr>
        <p:spPr>
          <a:xfrm flipH="1">
            <a:off x="3681023" y="1882726"/>
            <a:ext cx="3865996" cy="4001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 dirty="0"/>
              <a:t>Consumer surplus = $900/ day </a:t>
            </a:r>
          </a:p>
        </p:txBody>
      </p:sp>
      <p:sp>
        <p:nvSpPr>
          <p:cNvPr id="72" name="TextBox 71"/>
          <p:cNvSpPr txBox="1"/>
          <p:nvPr/>
        </p:nvSpPr>
        <p:spPr>
          <a:xfrm flipH="1">
            <a:off x="3681023" y="3991339"/>
            <a:ext cx="3840238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>
                <a:solidFill>
                  <a:schemeClr val="tx1"/>
                </a:solidFill>
              </a:rPr>
              <a:t>Producer surplus = $100/ day</a:t>
            </a:r>
            <a:r>
              <a:rPr lang="en-US" sz="2000" b="1">
                <a:solidFill>
                  <a:srgbClr val="FFFFFF"/>
                </a:solidFill>
              </a:rPr>
              <a:t> </a:t>
            </a:r>
          </a:p>
        </p:txBody>
      </p:sp>
      <p:cxnSp>
        <p:nvCxnSpPr>
          <p:cNvPr id="76" name="Straight Arrow Connector 75"/>
          <p:cNvCxnSpPr>
            <a:cxnSpLocks noChangeShapeType="1"/>
          </p:cNvCxnSpPr>
          <p:nvPr/>
        </p:nvCxnSpPr>
        <p:spPr bwMode="auto">
          <a:xfrm rot="10800000" flipV="1">
            <a:off x="3848100" y="3136900"/>
            <a:ext cx="941388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5" name="Straight Arrow Connector 74"/>
          <p:cNvCxnSpPr>
            <a:cxnSpLocks noChangeShapeType="1"/>
          </p:cNvCxnSpPr>
          <p:nvPr/>
        </p:nvCxnSpPr>
        <p:spPr bwMode="auto">
          <a:xfrm rot="10800000" flipV="1">
            <a:off x="3371850" y="2082800"/>
            <a:ext cx="309563" cy="38893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81" name="Straight Arrow Connector 80"/>
          <p:cNvCxnSpPr>
            <a:cxnSpLocks noChangeShapeType="1"/>
          </p:cNvCxnSpPr>
          <p:nvPr/>
        </p:nvCxnSpPr>
        <p:spPr bwMode="auto">
          <a:xfrm rot="10800000">
            <a:off x="3371850" y="3989388"/>
            <a:ext cx="309563" cy="20161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89140" name="Line 12"/>
          <p:cNvSpPr>
            <a:spLocks noChangeShapeType="1"/>
          </p:cNvSpPr>
          <p:nvPr/>
        </p:nvSpPr>
        <p:spPr bwMode="auto">
          <a:xfrm>
            <a:off x="3168650" y="1846263"/>
            <a:ext cx="0" cy="39131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/>
          <p:cNvSpPr>
            <a:spLocks noGrp="1"/>
          </p:cNvSpPr>
          <p:nvPr>
            <p:ph type="title" idx="4294967295"/>
          </p:nvPr>
        </p:nvSpPr>
        <p:spPr>
          <a:xfrm>
            <a:off x="7239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Surplus Lost to a Price Ceiling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71550" y="192405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$800 underestimates surplus loss</a:t>
            </a:r>
          </a:p>
          <a:p>
            <a:pPr lvl="1" eaLnBrk="1" hangingPunct="1"/>
            <a:r>
              <a:rPr lang="en-US" dirty="0"/>
              <a:t>Consumers place different values on heating oil</a:t>
            </a:r>
          </a:p>
          <a:p>
            <a:pPr lvl="2" eaLnBrk="1" hangingPunct="1"/>
            <a:r>
              <a:rPr lang="en-US" dirty="0"/>
              <a:t>If a person with a lower reservation price gets the oil, there is additional surplus lost</a:t>
            </a:r>
          </a:p>
          <a:p>
            <a:pPr lvl="2" eaLnBrk="1" hangingPunct="1"/>
            <a:r>
              <a:rPr lang="en-US" dirty="0"/>
              <a:t>Shortages increase non-market costs</a:t>
            </a:r>
          </a:p>
          <a:p>
            <a:pPr lvl="3" eaLnBrk="1" hangingPunct="1"/>
            <a:r>
              <a:rPr lang="en-US" dirty="0"/>
              <a:t>Waiting in line</a:t>
            </a:r>
          </a:p>
          <a:p>
            <a:pPr lvl="3" eaLnBrk="1" hangingPunct="1"/>
            <a:r>
              <a:rPr lang="en-US" dirty="0"/>
              <a:t>Side payments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Alternative Heating Oil Policy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450975" y="3163888"/>
            <a:ext cx="2133600" cy="2146300"/>
            <a:chOff x="1289050" y="2818484"/>
            <a:chExt cx="2133600" cy="2146300"/>
          </a:xfrm>
        </p:grpSpPr>
        <p:sp>
          <p:nvSpPr>
            <p:cNvPr id="10" name="Oval 30"/>
            <p:cNvSpPr>
              <a:spLocks noChangeArrowheads="1"/>
            </p:cNvSpPr>
            <p:nvPr/>
          </p:nvSpPr>
          <p:spPr bwMode="auto">
            <a:xfrm>
              <a:off x="1289050" y="2831184"/>
              <a:ext cx="2133600" cy="2133600"/>
            </a:xfrm>
            <a:prstGeom prst="ellipse">
              <a:avLst/>
            </a:prstGeom>
            <a:ln>
              <a:noFill/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Freeform 17"/>
            <p:cNvSpPr>
              <a:spLocks/>
            </p:cNvSpPr>
            <p:nvPr/>
          </p:nvSpPr>
          <p:spPr bwMode="auto">
            <a:xfrm>
              <a:off x="1624013" y="3894809"/>
              <a:ext cx="1493838" cy="1057275"/>
            </a:xfrm>
            <a:custGeom>
              <a:avLst/>
              <a:gdLst/>
              <a:ahLst/>
              <a:cxnLst>
                <a:cxn ang="0">
                  <a:pos x="0" y="478"/>
                </a:cxn>
                <a:cxn ang="0">
                  <a:pos x="478" y="0"/>
                </a:cxn>
                <a:cxn ang="0">
                  <a:pos x="941" y="463"/>
                </a:cxn>
                <a:cxn ang="0">
                  <a:pos x="822" y="568"/>
                </a:cxn>
                <a:cxn ang="0">
                  <a:pos x="701" y="626"/>
                </a:cxn>
                <a:cxn ang="0">
                  <a:pos x="573" y="658"/>
                </a:cxn>
                <a:cxn ang="0">
                  <a:pos x="413" y="666"/>
                </a:cxn>
                <a:cxn ang="0">
                  <a:pos x="325" y="658"/>
                </a:cxn>
                <a:cxn ang="0">
                  <a:pos x="229" y="626"/>
                </a:cxn>
                <a:cxn ang="0">
                  <a:pos x="141" y="586"/>
                </a:cxn>
                <a:cxn ang="0">
                  <a:pos x="59" y="538"/>
                </a:cxn>
                <a:cxn ang="0">
                  <a:pos x="0" y="478"/>
                </a:cxn>
              </a:cxnLst>
              <a:rect l="0" t="0" r="r" b="b"/>
              <a:pathLst>
                <a:path w="941" h="666">
                  <a:moveTo>
                    <a:pt x="0" y="478"/>
                  </a:moveTo>
                  <a:lnTo>
                    <a:pt x="478" y="0"/>
                  </a:lnTo>
                  <a:lnTo>
                    <a:pt x="941" y="463"/>
                  </a:lnTo>
                  <a:lnTo>
                    <a:pt x="822" y="568"/>
                  </a:lnTo>
                  <a:lnTo>
                    <a:pt x="701" y="626"/>
                  </a:lnTo>
                  <a:lnTo>
                    <a:pt x="573" y="658"/>
                  </a:lnTo>
                  <a:lnTo>
                    <a:pt x="413" y="666"/>
                  </a:lnTo>
                  <a:lnTo>
                    <a:pt x="325" y="658"/>
                  </a:lnTo>
                  <a:lnTo>
                    <a:pt x="229" y="626"/>
                  </a:lnTo>
                  <a:lnTo>
                    <a:pt x="141" y="586"/>
                  </a:lnTo>
                  <a:lnTo>
                    <a:pt x="59" y="538"/>
                  </a:lnTo>
                  <a:lnTo>
                    <a:pt x="0" y="478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Oval 31"/>
            <p:cNvSpPr>
              <a:spLocks noChangeArrowheads="1"/>
            </p:cNvSpPr>
            <p:nvPr/>
          </p:nvSpPr>
          <p:spPr bwMode="auto">
            <a:xfrm>
              <a:off x="1289050" y="2818484"/>
              <a:ext cx="2133600" cy="2133600"/>
            </a:xfrm>
            <a:prstGeom prst="ellipse">
              <a:avLst/>
            </a:prstGeom>
            <a:noFill/>
            <a:ln w="444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3215" name="Text Box 35"/>
            <p:cNvSpPr txBox="1">
              <a:spLocks noChangeArrowheads="1"/>
            </p:cNvSpPr>
            <p:nvPr/>
          </p:nvSpPr>
          <p:spPr bwMode="auto">
            <a:xfrm>
              <a:off x="2157413" y="3239171"/>
              <a:ext cx="404813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2400" b="1"/>
                <a:t>R</a:t>
              </a:r>
            </a:p>
          </p:txBody>
        </p:sp>
        <p:sp>
          <p:nvSpPr>
            <p:cNvPr id="93216" name="Text Box 36"/>
            <p:cNvSpPr txBox="1">
              <a:spLocks noChangeArrowheads="1"/>
            </p:cNvSpPr>
            <p:nvPr/>
          </p:nvSpPr>
          <p:spPr bwMode="auto">
            <a:xfrm>
              <a:off x="2174875" y="4229771"/>
              <a:ext cx="3873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2400" b="1">
                  <a:solidFill>
                    <a:schemeClr val="bg1"/>
                  </a:solidFill>
                </a:rPr>
                <a:t>P</a:t>
              </a:r>
            </a:p>
          </p:txBody>
        </p:sp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5226050" y="2687638"/>
            <a:ext cx="3063875" cy="3097212"/>
            <a:chOff x="4864100" y="2404146"/>
            <a:chExt cx="3063875" cy="3097213"/>
          </a:xfrm>
        </p:grpSpPr>
        <p:sp>
          <p:nvSpPr>
            <p:cNvPr id="12" name="Oval 18"/>
            <p:cNvSpPr>
              <a:spLocks noChangeArrowheads="1"/>
            </p:cNvSpPr>
            <p:nvPr/>
          </p:nvSpPr>
          <p:spPr bwMode="auto">
            <a:xfrm>
              <a:off x="4864100" y="2416846"/>
              <a:ext cx="3063875" cy="3084513"/>
            </a:xfrm>
            <a:prstGeom prst="ellipse">
              <a:avLst/>
            </a:prstGeom>
            <a:ln w="19050">
              <a:solidFill>
                <a:schemeClr val="tx1"/>
              </a:solidFill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Freeform 19"/>
            <p:cNvSpPr>
              <a:spLocks/>
            </p:cNvSpPr>
            <p:nvPr/>
          </p:nvSpPr>
          <p:spPr bwMode="auto">
            <a:xfrm>
              <a:off x="5341938" y="3832896"/>
              <a:ext cx="2146300" cy="1652588"/>
            </a:xfrm>
            <a:custGeom>
              <a:avLst/>
              <a:gdLst/>
              <a:ahLst/>
              <a:cxnLst>
                <a:cxn ang="0">
                  <a:pos x="0" y="753"/>
                </a:cxn>
                <a:cxn ang="0">
                  <a:pos x="687" y="0"/>
                </a:cxn>
                <a:cxn ang="0">
                  <a:pos x="1352" y="729"/>
                </a:cxn>
                <a:cxn ang="0">
                  <a:pos x="1287" y="801"/>
                </a:cxn>
                <a:cxn ang="0">
                  <a:pos x="1181" y="894"/>
                </a:cxn>
                <a:cxn ang="0">
                  <a:pos x="1063" y="977"/>
                </a:cxn>
                <a:cxn ang="0">
                  <a:pos x="903" y="1017"/>
                </a:cxn>
                <a:cxn ang="0">
                  <a:pos x="791" y="1041"/>
                </a:cxn>
                <a:cxn ang="0">
                  <a:pos x="647" y="1041"/>
                </a:cxn>
                <a:cxn ang="0">
                  <a:pos x="479" y="1033"/>
                </a:cxn>
                <a:cxn ang="0">
                  <a:pos x="300" y="976"/>
                </a:cxn>
                <a:cxn ang="0">
                  <a:pos x="85" y="847"/>
                </a:cxn>
                <a:cxn ang="0">
                  <a:pos x="0" y="753"/>
                </a:cxn>
              </a:cxnLst>
              <a:rect l="0" t="0" r="r" b="b"/>
              <a:pathLst>
                <a:path w="1352" h="1041">
                  <a:moveTo>
                    <a:pt x="0" y="753"/>
                  </a:moveTo>
                  <a:lnTo>
                    <a:pt x="687" y="0"/>
                  </a:lnTo>
                  <a:lnTo>
                    <a:pt x="1352" y="729"/>
                  </a:lnTo>
                  <a:lnTo>
                    <a:pt x="1287" y="801"/>
                  </a:lnTo>
                  <a:lnTo>
                    <a:pt x="1181" y="894"/>
                  </a:lnTo>
                  <a:lnTo>
                    <a:pt x="1063" y="977"/>
                  </a:lnTo>
                  <a:lnTo>
                    <a:pt x="903" y="1017"/>
                  </a:lnTo>
                  <a:lnTo>
                    <a:pt x="791" y="1041"/>
                  </a:lnTo>
                  <a:lnTo>
                    <a:pt x="647" y="1041"/>
                  </a:lnTo>
                  <a:lnTo>
                    <a:pt x="479" y="1033"/>
                  </a:lnTo>
                  <a:lnTo>
                    <a:pt x="300" y="976"/>
                  </a:lnTo>
                  <a:lnTo>
                    <a:pt x="85" y="847"/>
                  </a:lnTo>
                  <a:lnTo>
                    <a:pt x="0" y="753"/>
                  </a:lnTo>
                  <a:close/>
                </a:path>
              </a:pathLst>
            </a:custGeom>
            <a:ln w="76200">
              <a:noFill/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Oval 32"/>
            <p:cNvSpPr>
              <a:spLocks noChangeArrowheads="1"/>
            </p:cNvSpPr>
            <p:nvPr/>
          </p:nvSpPr>
          <p:spPr bwMode="auto">
            <a:xfrm>
              <a:off x="4864100" y="2404146"/>
              <a:ext cx="3063875" cy="3084513"/>
            </a:xfrm>
            <a:prstGeom prst="ellipse">
              <a:avLst/>
            </a:prstGeom>
            <a:noFill/>
            <a:ln w="476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3206" name="Text Box 37"/>
            <p:cNvSpPr txBox="1">
              <a:spLocks noChangeArrowheads="1"/>
            </p:cNvSpPr>
            <p:nvPr/>
          </p:nvSpPr>
          <p:spPr bwMode="auto">
            <a:xfrm>
              <a:off x="6246813" y="2985171"/>
              <a:ext cx="404813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2400" b="1"/>
                <a:t>R</a:t>
              </a:r>
            </a:p>
          </p:txBody>
        </p:sp>
        <p:sp>
          <p:nvSpPr>
            <p:cNvPr id="93207" name="Text Box 38"/>
            <p:cNvSpPr txBox="1">
              <a:spLocks noChangeArrowheads="1"/>
            </p:cNvSpPr>
            <p:nvPr/>
          </p:nvSpPr>
          <p:spPr bwMode="auto">
            <a:xfrm>
              <a:off x="6264275" y="4610771"/>
              <a:ext cx="3873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2400" b="1">
                  <a:solidFill>
                    <a:schemeClr val="bg1"/>
                  </a:solidFill>
                </a:rPr>
                <a:t>P</a:t>
              </a:r>
            </a:p>
          </p:txBody>
        </p:sp>
      </p:grpSp>
      <p:sp>
        <p:nvSpPr>
          <p:cNvPr id="16" name="Text Box 39"/>
          <p:cNvSpPr txBox="1">
            <a:spLocks noChangeArrowheads="1"/>
          </p:cNvSpPr>
          <p:nvPr/>
        </p:nvSpPr>
        <p:spPr bwMode="auto">
          <a:xfrm>
            <a:off x="1458345" y="1772527"/>
            <a:ext cx="2287806" cy="830997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>
              <a:defRPr/>
            </a:pPr>
            <a:r>
              <a:rPr lang="en-US" sz="2400" b="1" dirty="0"/>
              <a:t>Surplus with </a:t>
            </a:r>
            <a:br>
              <a:rPr lang="en-US" sz="2400" b="1" dirty="0"/>
            </a:br>
            <a:r>
              <a:rPr lang="en-US" sz="2400" b="1" dirty="0"/>
              <a:t>Price Controls</a:t>
            </a:r>
          </a:p>
        </p:txBody>
      </p:sp>
      <p:sp>
        <p:nvSpPr>
          <p:cNvPr id="17" name="Text Box 40"/>
          <p:cNvSpPr txBox="1">
            <a:spLocks noChangeArrowheads="1"/>
          </p:cNvSpPr>
          <p:nvPr/>
        </p:nvSpPr>
        <p:spPr bwMode="auto">
          <a:xfrm>
            <a:off x="5129926" y="1772527"/>
            <a:ext cx="3257329" cy="830997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/>
              <a:t>Surplus with Income </a:t>
            </a:r>
            <a:br>
              <a:rPr lang="en-US" sz="2400" b="1" dirty="0"/>
            </a:br>
            <a:r>
              <a:rPr lang="en-US" sz="2400" b="1" dirty="0"/>
              <a:t>Transfers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8464" y="5548548"/>
            <a:ext cx="2566728" cy="83099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sz="2400" b="1" dirty="0"/>
              <a:t>R = high income</a:t>
            </a:r>
          </a:p>
          <a:p>
            <a:pPr>
              <a:defRPr/>
            </a:pPr>
            <a:r>
              <a:rPr lang="en-US" sz="2400" b="1" dirty="0"/>
              <a:t>P = low income</a:t>
            </a:r>
          </a:p>
        </p:txBody>
      </p:sp>
      <p:cxnSp>
        <p:nvCxnSpPr>
          <p:cNvPr id="22" name="Straight Arrow Connector 21"/>
          <p:cNvCxnSpPr>
            <a:cxnSpLocks noChangeShapeType="1"/>
          </p:cNvCxnSpPr>
          <p:nvPr/>
        </p:nvCxnSpPr>
        <p:spPr bwMode="auto">
          <a:xfrm>
            <a:off x="3279775" y="3725863"/>
            <a:ext cx="2343150" cy="1587"/>
          </a:xfrm>
          <a:prstGeom prst="straightConnector1">
            <a:avLst/>
          </a:prstGeom>
          <a:noFill/>
          <a:ln w="38100" algn="ctr">
            <a:solidFill>
              <a:srgbClr val="00B0F0"/>
            </a:solidFill>
            <a:round/>
            <a:headEnd/>
            <a:tailEnd type="arrow" w="med" len="med"/>
          </a:ln>
        </p:spPr>
      </p:cxnSp>
      <p:cxnSp>
        <p:nvCxnSpPr>
          <p:cNvPr id="23" name="Straight Arrow Connector 22"/>
          <p:cNvCxnSpPr>
            <a:cxnSpLocks noChangeShapeType="1"/>
          </p:cNvCxnSpPr>
          <p:nvPr/>
        </p:nvCxnSpPr>
        <p:spPr bwMode="auto">
          <a:xfrm>
            <a:off x="2801938" y="5030788"/>
            <a:ext cx="3441700" cy="1587"/>
          </a:xfrm>
          <a:prstGeom prst="straightConnector1">
            <a:avLst/>
          </a:prstGeom>
          <a:noFill/>
          <a:ln w="38100" algn="ctr">
            <a:solidFill>
              <a:srgbClr val="00B0F0"/>
            </a:solidFill>
            <a:round/>
            <a:headEnd/>
            <a:tailEnd type="arrow" w="med" len="med"/>
          </a:ln>
        </p:spPr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Title 1"/>
          <p:cNvSpPr>
            <a:spLocks noGrp="1"/>
          </p:cNvSpPr>
          <p:nvPr>
            <p:ph type="title" idx="4294967295"/>
          </p:nvPr>
        </p:nvSpPr>
        <p:spPr>
          <a:xfrm>
            <a:off x="781050" y="4191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Example: Price Subsidy for Bread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90600" y="1562101"/>
            <a:ext cx="7410450" cy="4438650"/>
          </a:xfrm>
        </p:spPr>
        <p:txBody>
          <a:bodyPr/>
          <a:lstStyle/>
          <a:p>
            <a:pPr eaLnBrk="1" hangingPunct="1"/>
            <a:r>
              <a:rPr lang="en-US" dirty="0"/>
              <a:t>Imported bread costs $2</a:t>
            </a:r>
          </a:p>
          <a:p>
            <a:pPr lvl="1" eaLnBrk="1" hangingPunct="1"/>
            <a:r>
              <a:rPr lang="en-US" dirty="0"/>
              <a:t>Perfectly elastic supply</a:t>
            </a:r>
          </a:p>
          <a:p>
            <a:pPr eaLnBrk="1" hangingPunct="1"/>
            <a:r>
              <a:rPr lang="en-US" dirty="0"/>
              <a:t>Government program to subsidize bread</a:t>
            </a:r>
          </a:p>
          <a:p>
            <a:pPr lvl="1" eaLnBrk="1" hangingPunct="1"/>
            <a:r>
              <a:rPr lang="en-US" dirty="0"/>
              <a:t>Government imports bread for $2</a:t>
            </a:r>
          </a:p>
          <a:p>
            <a:pPr lvl="1" eaLnBrk="1" hangingPunct="1"/>
            <a:r>
              <a:rPr lang="en-US" dirty="0"/>
              <a:t>Government sells bread for $1</a:t>
            </a:r>
          </a:p>
          <a:p>
            <a:pPr lvl="1" eaLnBrk="1" hangingPunct="1"/>
            <a:r>
              <a:rPr lang="en-US" dirty="0"/>
              <a:t>Results</a:t>
            </a:r>
          </a:p>
          <a:p>
            <a:pPr lvl="2" eaLnBrk="1" hangingPunct="1"/>
            <a:r>
              <a:rPr lang="en-US" dirty="0"/>
              <a:t>More bread</a:t>
            </a:r>
          </a:p>
          <a:p>
            <a:pPr lvl="2" eaLnBrk="1" hangingPunct="1"/>
            <a:r>
              <a:rPr lang="en-US" dirty="0"/>
              <a:t>Less efficiency</a:t>
            </a:r>
          </a:p>
          <a:p>
            <a:pPr lvl="1" eaLnBrk="1" hangingPunct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/>
          <p:cNvSpPr/>
          <p:nvPr/>
        </p:nvSpPr>
        <p:spPr bwMode="auto">
          <a:xfrm>
            <a:off x="1481958" y="1681612"/>
            <a:ext cx="4731156" cy="459862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7284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Price Subsidies for Bread</a:t>
            </a:r>
          </a:p>
        </p:txBody>
      </p:sp>
      <p:sp>
        <p:nvSpPr>
          <p:cNvPr id="42" name="Rectangle 41"/>
          <p:cNvSpPr/>
          <p:nvPr/>
        </p:nvSpPr>
        <p:spPr bwMode="auto">
          <a:xfrm>
            <a:off x="1613432" y="1752600"/>
            <a:ext cx="4586287" cy="4456113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" name="Right Triangle 36"/>
          <p:cNvSpPr/>
          <p:nvPr/>
        </p:nvSpPr>
        <p:spPr bwMode="auto">
          <a:xfrm>
            <a:off x="2493276" y="2652327"/>
            <a:ext cx="1369949" cy="1373466"/>
          </a:xfrm>
          <a:prstGeom prst="rtTriangl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" name="Right Triangle 39"/>
          <p:cNvSpPr/>
          <p:nvPr/>
        </p:nvSpPr>
        <p:spPr bwMode="auto">
          <a:xfrm>
            <a:off x="2464631" y="2642630"/>
            <a:ext cx="2101294" cy="2091357"/>
          </a:xfrm>
          <a:prstGeom prst="rtTriangl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7292" name="Line 5"/>
          <p:cNvSpPr>
            <a:spLocks noChangeShapeType="1"/>
          </p:cNvSpPr>
          <p:nvPr/>
        </p:nvSpPr>
        <p:spPr bwMode="auto">
          <a:xfrm flipV="1">
            <a:off x="3863975" y="4054475"/>
            <a:ext cx="0" cy="1362075"/>
          </a:xfrm>
          <a:prstGeom prst="line">
            <a:avLst/>
          </a:prstGeom>
          <a:noFill/>
          <a:ln w="9525">
            <a:noFill/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7293" name="Line 4"/>
          <p:cNvSpPr>
            <a:spLocks noChangeShapeType="1"/>
          </p:cNvSpPr>
          <p:nvPr/>
        </p:nvSpPr>
        <p:spPr bwMode="auto">
          <a:xfrm>
            <a:off x="2468563" y="2643188"/>
            <a:ext cx="2762250" cy="2754312"/>
          </a:xfrm>
          <a:prstGeom prst="line">
            <a:avLst/>
          </a:prstGeom>
          <a:noFill/>
          <a:ln w="57150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7294" name="Line 6"/>
          <p:cNvSpPr>
            <a:spLocks noChangeShapeType="1"/>
          </p:cNvSpPr>
          <p:nvPr/>
        </p:nvSpPr>
        <p:spPr bwMode="auto">
          <a:xfrm rot="16200000" flipV="1">
            <a:off x="4064794" y="2442369"/>
            <a:ext cx="1587" cy="3190875"/>
          </a:xfrm>
          <a:prstGeom prst="line">
            <a:avLst/>
          </a:prstGeom>
          <a:noFill/>
          <a:ln w="57150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" name="Line 6"/>
          <p:cNvSpPr>
            <a:spLocks noChangeShapeType="1"/>
          </p:cNvSpPr>
          <p:nvPr/>
        </p:nvSpPr>
        <p:spPr bwMode="auto">
          <a:xfrm rot="16200000" flipV="1">
            <a:off x="4077494" y="3139281"/>
            <a:ext cx="1588" cy="3190875"/>
          </a:xfrm>
          <a:prstGeom prst="line">
            <a:avLst/>
          </a:prstGeom>
          <a:noFill/>
          <a:ln w="57150">
            <a:solidFill>
              <a:schemeClr val="accent4">
                <a:lumMod val="75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38" name="Straight Connector 37"/>
          <p:cNvCxnSpPr>
            <a:cxnSpLocks noChangeShapeType="1"/>
          </p:cNvCxnSpPr>
          <p:nvPr/>
        </p:nvCxnSpPr>
        <p:spPr bwMode="auto">
          <a:xfrm rot="5400000">
            <a:off x="4234657" y="5064919"/>
            <a:ext cx="660400" cy="1587"/>
          </a:xfrm>
          <a:prstGeom prst="line">
            <a:avLst/>
          </a:prstGeom>
          <a:noFill/>
          <a:ln w="381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1584325" y="1787525"/>
            <a:ext cx="4397375" cy="4235450"/>
            <a:chOff x="1095278" y="1787217"/>
            <a:chExt cx="4398046" cy="4235013"/>
          </a:xfrm>
        </p:grpSpPr>
        <p:sp>
          <p:nvSpPr>
            <p:cNvPr id="97309" name="Line 8"/>
            <p:cNvSpPr>
              <a:spLocks noChangeShapeType="1"/>
            </p:cNvSpPr>
            <p:nvPr/>
          </p:nvSpPr>
          <p:spPr bwMode="auto">
            <a:xfrm>
              <a:off x="1974420" y="5394396"/>
              <a:ext cx="33232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310" name="Text Box 10"/>
            <p:cNvSpPr txBox="1">
              <a:spLocks noChangeArrowheads="1"/>
            </p:cNvSpPr>
            <p:nvPr/>
          </p:nvSpPr>
          <p:spPr bwMode="auto">
            <a:xfrm>
              <a:off x="1732053" y="5652898"/>
              <a:ext cx="370772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Quantity (millions of loaves/month)</a:t>
              </a:r>
            </a:p>
          </p:txBody>
        </p:sp>
        <p:sp>
          <p:nvSpPr>
            <p:cNvPr id="97311" name="Text Box 16"/>
            <p:cNvSpPr txBox="1">
              <a:spLocks noChangeArrowheads="1"/>
            </p:cNvSpPr>
            <p:nvPr/>
          </p:nvSpPr>
          <p:spPr bwMode="auto">
            <a:xfrm>
              <a:off x="2299708" y="5417840"/>
              <a:ext cx="492329" cy="3408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2</a:t>
              </a:r>
            </a:p>
          </p:txBody>
        </p:sp>
        <p:sp>
          <p:nvSpPr>
            <p:cNvPr id="97312" name="Text Box 18"/>
            <p:cNvSpPr txBox="1">
              <a:spLocks noChangeArrowheads="1"/>
            </p:cNvSpPr>
            <p:nvPr/>
          </p:nvSpPr>
          <p:spPr bwMode="auto">
            <a:xfrm>
              <a:off x="3014757" y="5417840"/>
              <a:ext cx="492329" cy="3408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4</a:t>
              </a:r>
            </a:p>
          </p:txBody>
        </p:sp>
        <p:sp>
          <p:nvSpPr>
            <p:cNvPr id="97313" name="Text Box 19"/>
            <p:cNvSpPr txBox="1">
              <a:spLocks noChangeArrowheads="1"/>
            </p:cNvSpPr>
            <p:nvPr/>
          </p:nvSpPr>
          <p:spPr bwMode="auto">
            <a:xfrm>
              <a:off x="3710758" y="5417840"/>
              <a:ext cx="492329" cy="3408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6</a:t>
              </a:r>
            </a:p>
          </p:txBody>
        </p:sp>
        <p:sp>
          <p:nvSpPr>
            <p:cNvPr id="97314" name="Text Box 22"/>
            <p:cNvSpPr txBox="1">
              <a:spLocks noChangeArrowheads="1"/>
            </p:cNvSpPr>
            <p:nvPr/>
          </p:nvSpPr>
          <p:spPr bwMode="auto">
            <a:xfrm>
              <a:off x="1095279" y="3192644"/>
              <a:ext cx="890864" cy="3408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$3.00</a:t>
              </a:r>
            </a:p>
          </p:txBody>
        </p:sp>
        <p:sp>
          <p:nvSpPr>
            <p:cNvPr id="97315" name="Text Box 23"/>
            <p:cNvSpPr txBox="1">
              <a:spLocks noChangeArrowheads="1"/>
            </p:cNvSpPr>
            <p:nvPr/>
          </p:nvSpPr>
          <p:spPr bwMode="auto">
            <a:xfrm>
              <a:off x="1095279" y="4556265"/>
              <a:ext cx="890864" cy="3408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$1.00</a:t>
              </a:r>
            </a:p>
          </p:txBody>
        </p:sp>
        <p:sp>
          <p:nvSpPr>
            <p:cNvPr id="97316" name="Text Box 25"/>
            <p:cNvSpPr txBox="1">
              <a:spLocks noChangeArrowheads="1"/>
            </p:cNvSpPr>
            <p:nvPr/>
          </p:nvSpPr>
          <p:spPr bwMode="auto">
            <a:xfrm>
              <a:off x="1095279" y="2511759"/>
              <a:ext cx="890864" cy="3408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$4.00</a:t>
              </a:r>
            </a:p>
          </p:txBody>
        </p:sp>
        <p:sp>
          <p:nvSpPr>
            <p:cNvPr id="97317" name="Text Box 26"/>
            <p:cNvSpPr txBox="1">
              <a:spLocks noChangeArrowheads="1"/>
            </p:cNvSpPr>
            <p:nvPr/>
          </p:nvSpPr>
          <p:spPr bwMode="auto">
            <a:xfrm>
              <a:off x="4409689" y="5417840"/>
              <a:ext cx="492329" cy="3408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8</a:t>
              </a:r>
            </a:p>
          </p:txBody>
        </p:sp>
        <p:sp>
          <p:nvSpPr>
            <p:cNvPr id="97318" name="Text Box 30"/>
            <p:cNvSpPr txBox="1">
              <a:spLocks noChangeArrowheads="1"/>
            </p:cNvSpPr>
            <p:nvPr/>
          </p:nvSpPr>
          <p:spPr bwMode="auto">
            <a:xfrm>
              <a:off x="1095279" y="3873529"/>
              <a:ext cx="890864" cy="3408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/>
                <a:t>$2.00</a:t>
              </a:r>
            </a:p>
          </p:txBody>
        </p:sp>
        <p:sp>
          <p:nvSpPr>
            <p:cNvPr id="97319" name="Text Box 13"/>
            <p:cNvSpPr txBox="1">
              <a:spLocks noChangeArrowheads="1"/>
            </p:cNvSpPr>
            <p:nvPr/>
          </p:nvSpPr>
          <p:spPr bwMode="auto">
            <a:xfrm>
              <a:off x="4597149" y="4914091"/>
              <a:ext cx="398552" cy="4261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2400"/>
                <a:t>D</a:t>
              </a:r>
            </a:p>
          </p:txBody>
        </p:sp>
        <p:sp>
          <p:nvSpPr>
            <p:cNvPr id="97320" name="Text Box 14"/>
            <p:cNvSpPr txBox="1">
              <a:spLocks noChangeArrowheads="1"/>
            </p:cNvSpPr>
            <p:nvPr/>
          </p:nvSpPr>
          <p:spPr bwMode="auto">
            <a:xfrm>
              <a:off x="5094772" y="3736507"/>
              <a:ext cx="398552" cy="4261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2400"/>
                <a:t>S</a:t>
              </a:r>
            </a:p>
          </p:txBody>
        </p:sp>
        <p:sp>
          <p:nvSpPr>
            <p:cNvPr id="97321" name="Text Box 10"/>
            <p:cNvSpPr txBox="1">
              <a:spLocks noChangeArrowheads="1"/>
            </p:cNvSpPr>
            <p:nvPr/>
          </p:nvSpPr>
          <p:spPr bwMode="auto">
            <a:xfrm>
              <a:off x="1095278" y="1787217"/>
              <a:ext cx="1021832" cy="5965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/>
                <a:t>Price </a:t>
              </a:r>
              <a:br>
                <a:rPr lang="en-US" sz="1800"/>
              </a:br>
              <a:r>
                <a:rPr lang="en-US" sz="1800"/>
                <a:t>($/loaf)</a:t>
              </a:r>
            </a:p>
          </p:txBody>
        </p:sp>
        <p:cxnSp>
          <p:nvCxnSpPr>
            <p:cNvPr id="97322" name="Straight Connector 32"/>
            <p:cNvCxnSpPr>
              <a:cxnSpLocks noChangeShapeType="1"/>
              <a:stCxn id="97309" idx="0"/>
            </p:cNvCxnSpPr>
            <p:nvPr/>
          </p:nvCxnSpPr>
          <p:spPr bwMode="auto">
            <a:xfrm rot="5400000" flipH="1" flipV="1">
              <a:off x="341515" y="3733651"/>
              <a:ext cx="3293648" cy="2784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97323" name="Straight Connector 34"/>
            <p:cNvCxnSpPr>
              <a:cxnSpLocks noChangeShapeType="1"/>
            </p:cNvCxnSpPr>
            <p:nvPr/>
          </p:nvCxnSpPr>
          <p:spPr bwMode="auto">
            <a:xfrm rot="5400000">
              <a:off x="2690911" y="4710094"/>
              <a:ext cx="1368603" cy="1466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sp>
          <p:nvSpPr>
            <p:cNvPr id="26" name="Line 6"/>
            <p:cNvSpPr>
              <a:spLocks noChangeShapeType="1"/>
            </p:cNvSpPr>
            <p:nvPr/>
          </p:nvSpPr>
          <p:spPr bwMode="auto">
            <a:xfrm rot="16200000" flipV="1">
              <a:off x="3579301" y="2430474"/>
              <a:ext cx="1588" cy="3191362"/>
            </a:xfrm>
            <a:prstGeom prst="line">
              <a:avLst/>
            </a:pr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/>
            <a:lstStyle/>
            <a:p>
              <a:pPr algn="ctr">
                <a:defRPr/>
              </a:pPr>
              <a:endParaRPr lang="en-US" dirty="0">
                <a:solidFill>
                  <a:srgbClr val="0000FF"/>
                </a:solidFill>
              </a:endParaRPr>
            </a:p>
          </p:txBody>
        </p:sp>
      </p:grpSp>
      <p:sp>
        <p:nvSpPr>
          <p:cNvPr id="25" name="Line 4"/>
          <p:cNvSpPr>
            <a:spLocks noChangeShapeType="1"/>
          </p:cNvSpPr>
          <p:nvPr/>
        </p:nvSpPr>
        <p:spPr bwMode="auto">
          <a:xfrm>
            <a:off x="2493963" y="2652713"/>
            <a:ext cx="2760662" cy="2754312"/>
          </a:xfrm>
          <a:prstGeom prst="line">
            <a:avLst/>
          </a:pr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 algn="ctr">
              <a:defRPr/>
            </a:pP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48" name="Straight Arrow Connector 47"/>
          <p:cNvCxnSpPr>
            <a:cxnSpLocks noChangeShapeType="1"/>
          </p:cNvCxnSpPr>
          <p:nvPr/>
        </p:nvCxnSpPr>
        <p:spPr bwMode="auto">
          <a:xfrm rot="10800000" flipV="1">
            <a:off x="2789238" y="2652713"/>
            <a:ext cx="1022350" cy="881062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46" name="TextBox 45"/>
          <p:cNvSpPr txBox="1"/>
          <p:nvPr/>
        </p:nvSpPr>
        <p:spPr>
          <a:xfrm>
            <a:off x="3292755" y="2511759"/>
            <a:ext cx="5230919" cy="4001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>
              <a:defRPr/>
            </a:pPr>
            <a:r>
              <a:rPr lang="en-US" sz="2000" b="1" dirty="0"/>
              <a:t>Original Consumer Surplus = $4 M/month</a:t>
            </a:r>
          </a:p>
        </p:txBody>
      </p:sp>
      <p:cxnSp>
        <p:nvCxnSpPr>
          <p:cNvPr id="49" name="Straight Arrow Connector 48"/>
          <p:cNvCxnSpPr>
            <a:cxnSpLocks noChangeShapeType="1"/>
          </p:cNvCxnSpPr>
          <p:nvPr/>
        </p:nvCxnSpPr>
        <p:spPr bwMode="auto">
          <a:xfrm rot="10800000">
            <a:off x="3503613" y="4413250"/>
            <a:ext cx="1395412" cy="1588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50" name="TextBox 49"/>
          <p:cNvSpPr txBox="1"/>
          <p:nvPr/>
        </p:nvSpPr>
        <p:spPr>
          <a:xfrm>
            <a:off x="4423441" y="4156155"/>
            <a:ext cx="4791696" cy="40011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>
              <a:defRPr/>
            </a:pPr>
            <a:r>
              <a:rPr lang="en-US" sz="2000" b="1" dirty="0"/>
              <a:t>New Consumer Surplus = $9 M/month</a:t>
            </a:r>
          </a:p>
        </p:txBody>
      </p:sp>
      <p:sp>
        <p:nvSpPr>
          <p:cNvPr id="52" name="TextBox 51"/>
          <p:cNvSpPr txBox="1">
            <a:spLocks noChangeArrowheads="1"/>
          </p:cNvSpPr>
          <p:nvPr/>
        </p:nvSpPr>
        <p:spPr bwMode="auto">
          <a:xfrm>
            <a:off x="7272338" y="5759450"/>
            <a:ext cx="1262062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BUT…</a:t>
            </a:r>
          </a:p>
        </p:txBody>
      </p:sp>
      <p:sp>
        <p:nvSpPr>
          <p:cNvPr id="54" name="TextBox 53"/>
          <p:cNvSpPr txBox="1">
            <a:spLocks noChangeArrowheads="1"/>
          </p:cNvSpPr>
          <p:nvPr/>
        </p:nvSpPr>
        <p:spPr bwMode="auto">
          <a:xfrm>
            <a:off x="5673725" y="4665663"/>
            <a:ext cx="215265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/>
              <a:t>S with subsidy</a:t>
            </a: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Title 1"/>
          <p:cNvSpPr>
            <a:spLocks noGrp="1"/>
          </p:cNvSpPr>
          <p:nvPr>
            <p:ph type="title" idx="4294967295"/>
          </p:nvPr>
        </p:nvSpPr>
        <p:spPr>
          <a:xfrm>
            <a:off x="685800" y="3810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The Cost of the Subsidy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48780" y="1619250"/>
            <a:ext cx="8229600" cy="4790017"/>
          </a:xfrm>
        </p:spPr>
        <p:txBody>
          <a:bodyPr/>
          <a:lstStyle/>
          <a:p>
            <a:pPr eaLnBrk="1" hangingPunct="1"/>
            <a:r>
              <a:rPr lang="en-US" dirty="0"/>
              <a:t>The bread subsidy appears to increase consumer surplus from $4 million to $9 million, an increase of $5 million</a:t>
            </a:r>
          </a:p>
          <a:p>
            <a:pPr eaLnBrk="1" hangingPunct="1"/>
            <a:r>
              <a:rPr lang="en-US" dirty="0"/>
              <a:t>BUT …</a:t>
            </a:r>
          </a:p>
          <a:p>
            <a:pPr lvl="1" eaLnBrk="1" hangingPunct="1"/>
            <a:r>
              <a:rPr lang="en-US" dirty="0"/>
              <a:t>The government loses $1 on every loaf</a:t>
            </a:r>
          </a:p>
          <a:p>
            <a:pPr lvl="2" eaLnBrk="1" hangingPunct="1"/>
            <a:r>
              <a:rPr lang="en-US" dirty="0"/>
              <a:t>Imports 6 million loaves for $2 per loaf</a:t>
            </a:r>
          </a:p>
          <a:p>
            <a:pPr lvl="1" eaLnBrk="1" hangingPunct="1"/>
            <a:r>
              <a:rPr lang="en-US" dirty="0"/>
              <a:t>Government losses are $6 million</a:t>
            </a:r>
          </a:p>
          <a:p>
            <a:pPr eaLnBrk="1" hangingPunct="1"/>
            <a:r>
              <a:rPr lang="en-US" dirty="0"/>
              <a:t>The net benefit of the subsidy program </a:t>
            </a:r>
          </a:p>
          <a:p>
            <a:pPr lvl="1" eaLnBrk="1" hangingPunct="1"/>
            <a:r>
              <a:rPr lang="en-US" dirty="0"/>
              <a:t>Gain in Consumer surplus – government losses </a:t>
            </a:r>
          </a:p>
          <a:p>
            <a:pPr lvl="1" eaLnBrk="1" hangingPunct="1"/>
            <a:r>
              <a:rPr lang="en-US" dirty="0"/>
              <a:t>$5 million - $6 million = -$1 million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/>
          <p:cNvSpPr/>
          <p:nvPr/>
        </p:nvSpPr>
        <p:spPr bwMode="auto">
          <a:xfrm>
            <a:off x="1481959" y="1681612"/>
            <a:ext cx="4746921" cy="459862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1380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Price Subsidies for Bread</a:t>
            </a:r>
          </a:p>
        </p:txBody>
      </p:sp>
      <p:sp>
        <p:nvSpPr>
          <p:cNvPr id="42" name="Rectangle 41"/>
          <p:cNvSpPr/>
          <p:nvPr/>
        </p:nvSpPr>
        <p:spPr bwMode="auto">
          <a:xfrm>
            <a:off x="1562100" y="1752600"/>
            <a:ext cx="4586288" cy="4456113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" name="Right Triangle 39"/>
          <p:cNvSpPr/>
          <p:nvPr/>
        </p:nvSpPr>
        <p:spPr bwMode="auto">
          <a:xfrm>
            <a:off x="2482882" y="2642630"/>
            <a:ext cx="2101294" cy="2091357"/>
          </a:xfrm>
          <a:prstGeom prst="rtTriangl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1385" name="Line 5"/>
          <p:cNvSpPr>
            <a:spLocks noChangeShapeType="1"/>
          </p:cNvSpPr>
          <p:nvPr/>
        </p:nvSpPr>
        <p:spPr bwMode="auto">
          <a:xfrm flipV="1">
            <a:off x="3863975" y="4054475"/>
            <a:ext cx="0" cy="1362075"/>
          </a:xfrm>
          <a:prstGeom prst="line">
            <a:avLst/>
          </a:prstGeom>
          <a:noFill/>
          <a:ln w="9525">
            <a:noFill/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1386" name="Line 4"/>
          <p:cNvSpPr>
            <a:spLocks noChangeShapeType="1"/>
          </p:cNvSpPr>
          <p:nvPr/>
        </p:nvSpPr>
        <p:spPr bwMode="auto">
          <a:xfrm>
            <a:off x="2468563" y="2643188"/>
            <a:ext cx="2762250" cy="2754312"/>
          </a:xfrm>
          <a:prstGeom prst="line">
            <a:avLst/>
          </a:prstGeom>
          <a:noFill/>
          <a:ln w="57150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1387" name="Line 6"/>
          <p:cNvSpPr>
            <a:spLocks noChangeShapeType="1"/>
          </p:cNvSpPr>
          <p:nvPr/>
        </p:nvSpPr>
        <p:spPr bwMode="auto">
          <a:xfrm rot="16200000" flipV="1">
            <a:off x="4064794" y="2442369"/>
            <a:ext cx="1587" cy="3190875"/>
          </a:xfrm>
          <a:prstGeom prst="line">
            <a:avLst/>
          </a:prstGeom>
          <a:noFill/>
          <a:ln w="57150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101388" name="Straight Connector 37"/>
          <p:cNvCxnSpPr>
            <a:cxnSpLocks noChangeShapeType="1"/>
          </p:cNvCxnSpPr>
          <p:nvPr/>
        </p:nvCxnSpPr>
        <p:spPr bwMode="auto">
          <a:xfrm rot="5400000">
            <a:off x="4234657" y="5064919"/>
            <a:ext cx="660400" cy="1587"/>
          </a:xfrm>
          <a:prstGeom prst="line">
            <a:avLst/>
          </a:prstGeom>
          <a:noFill/>
          <a:ln w="381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101389" name="Line 8"/>
          <p:cNvSpPr>
            <a:spLocks noChangeShapeType="1"/>
          </p:cNvSpPr>
          <p:nvPr/>
        </p:nvSpPr>
        <p:spPr bwMode="auto">
          <a:xfrm>
            <a:off x="2463800" y="5394325"/>
            <a:ext cx="33226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1390" name="Text Box 10"/>
          <p:cNvSpPr txBox="1">
            <a:spLocks noChangeArrowheads="1"/>
          </p:cNvSpPr>
          <p:nvPr/>
        </p:nvSpPr>
        <p:spPr bwMode="auto">
          <a:xfrm>
            <a:off x="2220913" y="5653088"/>
            <a:ext cx="37084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800"/>
              <a:t>Quantity (millions of loaves/month)</a:t>
            </a:r>
          </a:p>
        </p:txBody>
      </p:sp>
      <p:sp>
        <p:nvSpPr>
          <p:cNvPr id="101391" name="Text Box 16"/>
          <p:cNvSpPr txBox="1">
            <a:spLocks noChangeArrowheads="1"/>
          </p:cNvSpPr>
          <p:nvPr/>
        </p:nvSpPr>
        <p:spPr bwMode="auto">
          <a:xfrm>
            <a:off x="2789238" y="5418138"/>
            <a:ext cx="492125" cy="341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2</a:t>
            </a:r>
          </a:p>
        </p:txBody>
      </p:sp>
      <p:sp>
        <p:nvSpPr>
          <p:cNvPr id="101392" name="Text Box 18"/>
          <p:cNvSpPr txBox="1">
            <a:spLocks noChangeArrowheads="1"/>
          </p:cNvSpPr>
          <p:nvPr/>
        </p:nvSpPr>
        <p:spPr bwMode="auto">
          <a:xfrm>
            <a:off x="3503613" y="5418138"/>
            <a:ext cx="492125" cy="341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4</a:t>
            </a:r>
          </a:p>
        </p:txBody>
      </p:sp>
      <p:sp>
        <p:nvSpPr>
          <p:cNvPr id="101393" name="Text Box 19"/>
          <p:cNvSpPr txBox="1">
            <a:spLocks noChangeArrowheads="1"/>
          </p:cNvSpPr>
          <p:nvPr/>
        </p:nvSpPr>
        <p:spPr bwMode="auto">
          <a:xfrm>
            <a:off x="4198938" y="5418138"/>
            <a:ext cx="492125" cy="341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6</a:t>
            </a:r>
          </a:p>
        </p:txBody>
      </p:sp>
      <p:sp>
        <p:nvSpPr>
          <p:cNvPr id="101394" name="Text Box 22"/>
          <p:cNvSpPr txBox="1">
            <a:spLocks noChangeArrowheads="1"/>
          </p:cNvSpPr>
          <p:nvPr/>
        </p:nvSpPr>
        <p:spPr bwMode="auto">
          <a:xfrm>
            <a:off x="1584325" y="3192463"/>
            <a:ext cx="890588" cy="341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$3.00</a:t>
            </a:r>
          </a:p>
        </p:txBody>
      </p:sp>
      <p:sp>
        <p:nvSpPr>
          <p:cNvPr id="101395" name="Text Box 23"/>
          <p:cNvSpPr txBox="1">
            <a:spLocks noChangeArrowheads="1"/>
          </p:cNvSpPr>
          <p:nvPr/>
        </p:nvSpPr>
        <p:spPr bwMode="auto">
          <a:xfrm>
            <a:off x="1584325" y="4556125"/>
            <a:ext cx="890588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$1.00</a:t>
            </a:r>
          </a:p>
        </p:txBody>
      </p:sp>
      <p:sp>
        <p:nvSpPr>
          <p:cNvPr id="101396" name="Text Box 25"/>
          <p:cNvSpPr txBox="1">
            <a:spLocks noChangeArrowheads="1"/>
          </p:cNvSpPr>
          <p:nvPr/>
        </p:nvSpPr>
        <p:spPr bwMode="auto">
          <a:xfrm>
            <a:off x="1584325" y="2511425"/>
            <a:ext cx="890588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$4.00</a:t>
            </a:r>
          </a:p>
        </p:txBody>
      </p:sp>
      <p:sp>
        <p:nvSpPr>
          <p:cNvPr id="101397" name="Text Box 26"/>
          <p:cNvSpPr txBox="1">
            <a:spLocks noChangeArrowheads="1"/>
          </p:cNvSpPr>
          <p:nvPr/>
        </p:nvSpPr>
        <p:spPr bwMode="auto">
          <a:xfrm>
            <a:off x="4899025" y="5418138"/>
            <a:ext cx="492125" cy="341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8</a:t>
            </a:r>
          </a:p>
        </p:txBody>
      </p:sp>
      <p:sp>
        <p:nvSpPr>
          <p:cNvPr id="101398" name="Text Box 30"/>
          <p:cNvSpPr txBox="1">
            <a:spLocks noChangeArrowheads="1"/>
          </p:cNvSpPr>
          <p:nvPr/>
        </p:nvSpPr>
        <p:spPr bwMode="auto">
          <a:xfrm>
            <a:off x="1584325" y="3873500"/>
            <a:ext cx="890588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800"/>
              <a:t>$2.00</a:t>
            </a:r>
          </a:p>
        </p:txBody>
      </p:sp>
      <p:sp>
        <p:nvSpPr>
          <p:cNvPr id="101399" name="Text Box 13"/>
          <p:cNvSpPr txBox="1">
            <a:spLocks noChangeArrowheads="1"/>
          </p:cNvSpPr>
          <p:nvPr/>
        </p:nvSpPr>
        <p:spPr bwMode="auto">
          <a:xfrm>
            <a:off x="5086350" y="4913313"/>
            <a:ext cx="39846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2400"/>
              <a:t>D</a:t>
            </a:r>
          </a:p>
        </p:txBody>
      </p:sp>
      <p:sp>
        <p:nvSpPr>
          <p:cNvPr id="101400" name="Text Box 14"/>
          <p:cNvSpPr txBox="1">
            <a:spLocks noChangeArrowheads="1"/>
          </p:cNvSpPr>
          <p:nvPr/>
        </p:nvSpPr>
        <p:spPr bwMode="auto">
          <a:xfrm>
            <a:off x="5583238" y="3736975"/>
            <a:ext cx="398462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2400"/>
              <a:t>S</a:t>
            </a:r>
          </a:p>
        </p:txBody>
      </p:sp>
      <p:sp>
        <p:nvSpPr>
          <p:cNvPr id="101401" name="Text Box 10"/>
          <p:cNvSpPr txBox="1">
            <a:spLocks noChangeArrowheads="1"/>
          </p:cNvSpPr>
          <p:nvPr/>
        </p:nvSpPr>
        <p:spPr bwMode="auto">
          <a:xfrm>
            <a:off x="1584325" y="1787525"/>
            <a:ext cx="1020763" cy="59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800"/>
              <a:t>Price </a:t>
            </a:r>
            <a:br>
              <a:rPr lang="en-US" sz="1800"/>
            </a:br>
            <a:r>
              <a:rPr lang="en-US" sz="1800"/>
              <a:t>($/loaf)</a:t>
            </a:r>
          </a:p>
        </p:txBody>
      </p:sp>
      <p:cxnSp>
        <p:nvCxnSpPr>
          <p:cNvPr id="101402" name="Straight Connector 34"/>
          <p:cNvCxnSpPr>
            <a:cxnSpLocks noChangeShapeType="1"/>
          </p:cNvCxnSpPr>
          <p:nvPr/>
        </p:nvCxnSpPr>
        <p:spPr bwMode="auto">
          <a:xfrm rot="5400000">
            <a:off x="3178968" y="4710907"/>
            <a:ext cx="1370013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25" name="Line 4"/>
          <p:cNvSpPr>
            <a:spLocks noChangeShapeType="1"/>
          </p:cNvSpPr>
          <p:nvPr/>
        </p:nvSpPr>
        <p:spPr bwMode="auto">
          <a:xfrm>
            <a:off x="2493963" y="2652713"/>
            <a:ext cx="2760662" cy="2754312"/>
          </a:xfrm>
          <a:prstGeom prst="line">
            <a:avLst/>
          </a:pr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algn="ctr">
              <a:defRPr/>
            </a:pP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101404" name="Straight Arrow Connector 48"/>
          <p:cNvCxnSpPr>
            <a:cxnSpLocks noChangeShapeType="1"/>
          </p:cNvCxnSpPr>
          <p:nvPr/>
        </p:nvCxnSpPr>
        <p:spPr bwMode="auto">
          <a:xfrm rot="5400000">
            <a:off x="3087688" y="2408238"/>
            <a:ext cx="1236662" cy="1420812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50" name="TextBox 49"/>
          <p:cNvSpPr txBox="1"/>
          <p:nvPr/>
        </p:nvSpPr>
        <p:spPr>
          <a:xfrm>
            <a:off x="3175802" y="2100747"/>
            <a:ext cx="2480166" cy="40011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>
              <a:defRPr/>
            </a:pPr>
            <a:r>
              <a:rPr lang="en-US" sz="2000" b="1" dirty="0"/>
              <a:t>Consumer Surplus</a:t>
            </a:r>
          </a:p>
        </p:txBody>
      </p:sp>
      <p:sp>
        <p:nvSpPr>
          <p:cNvPr id="101408" name="TextBox 53"/>
          <p:cNvSpPr txBox="1">
            <a:spLocks noChangeArrowheads="1"/>
          </p:cNvSpPr>
          <p:nvPr/>
        </p:nvSpPr>
        <p:spPr bwMode="auto">
          <a:xfrm>
            <a:off x="5673725" y="4665663"/>
            <a:ext cx="215265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/>
              <a:t>S with subsidy</a:t>
            </a:r>
          </a:p>
        </p:txBody>
      </p:sp>
      <p:sp>
        <p:nvSpPr>
          <p:cNvPr id="41" name="Rectangle 40"/>
          <p:cNvSpPr/>
          <p:nvPr/>
        </p:nvSpPr>
        <p:spPr bwMode="auto">
          <a:xfrm>
            <a:off x="2472978" y="4025794"/>
            <a:ext cx="2095432" cy="70819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486400" y="4165600"/>
            <a:ext cx="2679700" cy="4000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/>
              <a:t>Government Losses</a:t>
            </a:r>
          </a:p>
        </p:txBody>
      </p:sp>
      <p:sp>
        <p:nvSpPr>
          <p:cNvPr id="56" name="Right Triangle 55"/>
          <p:cNvSpPr/>
          <p:nvPr/>
        </p:nvSpPr>
        <p:spPr bwMode="auto">
          <a:xfrm rot="16200000" flipH="1">
            <a:off x="3874959" y="4016998"/>
            <a:ext cx="689863" cy="710392"/>
          </a:xfrm>
          <a:prstGeom prst="rtTriangle">
            <a:avLst/>
          </a:prstGeom>
          <a:solidFill>
            <a:srgbClr val="FFFF00"/>
          </a:solidFill>
          <a:ln>
            <a:headEnd type="none" w="med" len="med"/>
            <a:tailEnd type="none" w="med" len="med"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484813" y="2992438"/>
            <a:ext cx="2451100" cy="708025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/>
              <a:t>Total Surplus Lost </a:t>
            </a:r>
            <a:br>
              <a:rPr lang="en-US" sz="2000" dirty="0"/>
            </a:br>
            <a:r>
              <a:rPr lang="en-US" sz="2000" dirty="0"/>
              <a:t>= $1 M/month</a:t>
            </a:r>
          </a:p>
        </p:txBody>
      </p:sp>
      <p:sp>
        <p:nvSpPr>
          <p:cNvPr id="26" name="Line 6"/>
          <p:cNvSpPr>
            <a:spLocks noChangeShapeType="1"/>
          </p:cNvSpPr>
          <p:nvPr/>
        </p:nvSpPr>
        <p:spPr bwMode="auto">
          <a:xfrm rot="16200000" flipV="1">
            <a:off x="4067969" y="2431256"/>
            <a:ext cx="1588" cy="3190875"/>
          </a:xfrm>
          <a:prstGeom prst="line">
            <a:avLst/>
          </a:prstGeom>
          <a:ln>
            <a:solidFill>
              <a:srgbClr val="FF0000"/>
            </a:solidFill>
            <a:headEnd/>
            <a:tailEnd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 algn="ctr">
              <a:defRPr/>
            </a:pP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36" name="Line 6"/>
          <p:cNvSpPr>
            <a:spLocks noChangeShapeType="1"/>
          </p:cNvSpPr>
          <p:nvPr/>
        </p:nvSpPr>
        <p:spPr bwMode="auto">
          <a:xfrm rot="16200000" flipV="1">
            <a:off x="4077494" y="3139281"/>
            <a:ext cx="1588" cy="3190875"/>
          </a:xfrm>
          <a:prstGeom prst="line">
            <a:avLst/>
          </a:prstGeom>
          <a:ln>
            <a:solidFill>
              <a:srgbClr val="FF0000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algn="ctr">
              <a:defRPr/>
            </a:pP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101419" name="Straight Connector 32"/>
          <p:cNvCxnSpPr>
            <a:cxnSpLocks noChangeShapeType="1"/>
            <a:stCxn id="101389" idx="0"/>
          </p:cNvCxnSpPr>
          <p:nvPr/>
        </p:nvCxnSpPr>
        <p:spPr bwMode="auto">
          <a:xfrm rot="5400000" flipH="1" flipV="1">
            <a:off x="830263" y="3733800"/>
            <a:ext cx="3294062" cy="26988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3" name="Straight Arrow Connector 62"/>
          <p:cNvCxnSpPr>
            <a:cxnSpLocks noChangeShapeType="1"/>
          </p:cNvCxnSpPr>
          <p:nvPr/>
        </p:nvCxnSpPr>
        <p:spPr bwMode="auto">
          <a:xfrm rot="10800000" flipV="1">
            <a:off x="4330700" y="3192463"/>
            <a:ext cx="1155700" cy="102235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45" name="Straight Arrow Connector 44"/>
          <p:cNvCxnSpPr>
            <a:cxnSpLocks noChangeShapeType="1"/>
            <a:stCxn id="44" idx="1"/>
          </p:cNvCxnSpPr>
          <p:nvPr/>
        </p:nvCxnSpPr>
        <p:spPr bwMode="auto">
          <a:xfrm rot="10800000">
            <a:off x="3281363" y="4365625"/>
            <a:ext cx="2205037" cy="1588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arrow" w="med" len="med"/>
          </a:ln>
        </p:spPr>
      </p:cxnSp>
      <p:pic>
        <p:nvPicPr>
          <p:cNvPr id="37" name="Picture 3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6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Title 1"/>
          <p:cNvSpPr>
            <a:spLocks noGrp="1"/>
          </p:cNvSpPr>
          <p:nvPr>
            <p:ph type="title" idx="4294967295"/>
          </p:nvPr>
        </p:nvSpPr>
        <p:spPr>
          <a:xfrm>
            <a:off x="685800" y="3810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Effects of Tax and Subsidy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48780" y="1619250"/>
            <a:ext cx="8229600" cy="4790017"/>
          </a:xfrm>
        </p:spPr>
        <p:txBody>
          <a:bodyPr/>
          <a:lstStyle/>
          <a:p>
            <a:pPr eaLnBrk="1" hangingPunct="1"/>
            <a:r>
              <a:rPr lang="en-US" dirty="0"/>
              <a:t>Taxes lead to underproduction</a:t>
            </a:r>
          </a:p>
          <a:p>
            <a:pPr eaLnBrk="1" hangingPunct="1"/>
            <a:r>
              <a:rPr lang="en-US" dirty="0"/>
              <a:t>Output stops where marginal benefit still exceeds marginal cost</a:t>
            </a:r>
          </a:p>
          <a:p>
            <a:pPr eaLnBrk="1" hangingPunct="1"/>
            <a:r>
              <a:rPr lang="en-US" dirty="0"/>
              <a:t>Cash-on-the-Table and inefficiency</a:t>
            </a:r>
          </a:p>
          <a:p>
            <a:pPr eaLnBrk="1" hangingPunct="1"/>
            <a:r>
              <a:rPr lang="en-US" dirty="0"/>
              <a:t>Subsidy leads to overproduction</a:t>
            </a:r>
          </a:p>
          <a:p>
            <a:pPr eaLnBrk="1" hangingPunct="1"/>
            <a:r>
              <a:rPr lang="en-US" dirty="0"/>
              <a:t>Output level reflects marginal cost exceeds marginal benefit</a:t>
            </a:r>
          </a:p>
          <a:p>
            <a:pPr eaLnBrk="1" hangingPunct="1"/>
            <a:r>
              <a:rPr lang="en-US" dirty="0"/>
              <a:t>Waste of resources and inefficiency</a:t>
            </a:r>
          </a:p>
          <a:p>
            <a:pPr eaLnBrk="1" hangingPunct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957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Underproduction (Tax)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  <p:cxnSp>
        <p:nvCxnSpPr>
          <p:cNvPr id="11" name="Straight Arrow Connector 4"/>
          <p:cNvCxnSpPr>
            <a:cxnSpLocks noChangeShapeType="1"/>
          </p:cNvCxnSpPr>
          <p:nvPr/>
        </p:nvCxnSpPr>
        <p:spPr bwMode="auto">
          <a:xfrm flipV="1">
            <a:off x="1763688" y="2060848"/>
            <a:ext cx="0" cy="3816350"/>
          </a:xfrm>
          <a:prstGeom prst="straightConnector1">
            <a:avLst/>
          </a:prstGeom>
          <a:noFill/>
          <a:ln w="5715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13" name="Straight Arrow Connector 6"/>
          <p:cNvCxnSpPr>
            <a:cxnSpLocks noChangeShapeType="1"/>
          </p:cNvCxnSpPr>
          <p:nvPr/>
        </p:nvCxnSpPr>
        <p:spPr bwMode="auto">
          <a:xfrm>
            <a:off x="1763688" y="5877272"/>
            <a:ext cx="5832475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14" name="Straight Connector 8"/>
          <p:cNvCxnSpPr>
            <a:cxnSpLocks noChangeShapeType="1"/>
          </p:cNvCxnSpPr>
          <p:nvPr/>
        </p:nvCxnSpPr>
        <p:spPr bwMode="auto">
          <a:xfrm>
            <a:off x="1763688" y="2708920"/>
            <a:ext cx="5184775" cy="2376488"/>
          </a:xfrm>
          <a:prstGeom prst="line">
            <a:avLst/>
          </a:prstGeom>
          <a:noFill/>
          <a:ln w="76200" algn="ctr">
            <a:solidFill>
              <a:srgbClr val="0070C0"/>
            </a:solidFill>
            <a:round/>
            <a:headEnd/>
            <a:tailEnd/>
          </a:ln>
        </p:spPr>
      </p:cxnSp>
      <p:cxnSp>
        <p:nvCxnSpPr>
          <p:cNvPr id="15" name="Straight Connector 10"/>
          <p:cNvCxnSpPr>
            <a:cxnSpLocks noChangeShapeType="1"/>
          </p:cNvCxnSpPr>
          <p:nvPr/>
        </p:nvCxnSpPr>
        <p:spPr bwMode="auto">
          <a:xfrm>
            <a:off x="2771800" y="3212976"/>
            <a:ext cx="0" cy="2664296"/>
          </a:xfrm>
          <a:prstGeom prst="line">
            <a:avLst/>
          </a:prstGeom>
          <a:noFill/>
          <a:ln w="28575" algn="ctr">
            <a:solidFill>
              <a:schemeClr val="tx1"/>
            </a:solidFill>
            <a:prstDash val="lgDash"/>
            <a:round/>
            <a:headEnd/>
            <a:tailEnd/>
          </a:ln>
        </p:spPr>
      </p:cxnSp>
      <p:sp>
        <p:nvSpPr>
          <p:cNvPr id="16" name="TextBox 22"/>
          <p:cNvSpPr txBox="1">
            <a:spLocks noChangeArrowheads="1"/>
          </p:cNvSpPr>
          <p:nvPr/>
        </p:nvSpPr>
        <p:spPr bwMode="auto">
          <a:xfrm>
            <a:off x="6588224" y="5949280"/>
            <a:ext cx="20161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 i="1" dirty="0">
                <a:cs typeface="Arial" charset="0"/>
              </a:rPr>
              <a:t>Quantity</a:t>
            </a:r>
            <a:endParaRPr lang="en-SG" sz="2800" b="1" i="1" dirty="0">
              <a:cs typeface="Arial" charset="0"/>
            </a:endParaRPr>
          </a:p>
        </p:txBody>
      </p:sp>
      <p:sp>
        <p:nvSpPr>
          <p:cNvPr id="17" name="TextBox 24"/>
          <p:cNvSpPr txBox="1">
            <a:spLocks noChangeArrowheads="1"/>
          </p:cNvSpPr>
          <p:nvPr/>
        </p:nvSpPr>
        <p:spPr bwMode="auto">
          <a:xfrm>
            <a:off x="6804248" y="4509120"/>
            <a:ext cx="180022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 i="1" dirty="0">
                <a:cs typeface="Arial" charset="0"/>
              </a:rPr>
              <a:t>Demand (MB)</a:t>
            </a:r>
            <a:endParaRPr lang="en-SG" sz="2800" b="1" i="1" dirty="0">
              <a:cs typeface="Arial" charset="0"/>
            </a:endParaRPr>
          </a:p>
        </p:txBody>
      </p:sp>
      <p:sp>
        <p:nvSpPr>
          <p:cNvPr id="18" name="TextBox 26"/>
          <p:cNvSpPr txBox="1">
            <a:spLocks noChangeArrowheads="1"/>
          </p:cNvSpPr>
          <p:nvPr/>
        </p:nvSpPr>
        <p:spPr bwMode="auto">
          <a:xfrm>
            <a:off x="2483768" y="5949280"/>
            <a:ext cx="64807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i="1" dirty="0">
                <a:cs typeface="Arial" charset="0"/>
              </a:rPr>
              <a:t>Q</a:t>
            </a:r>
            <a:endParaRPr lang="en-SG" sz="2800" b="1" i="1" dirty="0">
              <a:cs typeface="Arial" charset="0"/>
            </a:endParaRPr>
          </a:p>
        </p:txBody>
      </p:sp>
      <p:cxnSp>
        <p:nvCxnSpPr>
          <p:cNvPr id="19" name="Straight Connector 14"/>
          <p:cNvCxnSpPr>
            <a:cxnSpLocks noChangeShapeType="1"/>
          </p:cNvCxnSpPr>
          <p:nvPr/>
        </p:nvCxnSpPr>
        <p:spPr bwMode="auto">
          <a:xfrm flipV="1">
            <a:off x="1789566" y="2109978"/>
            <a:ext cx="3529012" cy="2881312"/>
          </a:xfrm>
          <a:prstGeom prst="line">
            <a:avLst/>
          </a:prstGeom>
          <a:noFill/>
          <a:ln w="76200" algn="ctr">
            <a:solidFill>
              <a:srgbClr val="C00000"/>
            </a:solidFill>
            <a:round/>
            <a:headEnd/>
            <a:tailEnd/>
          </a:ln>
        </p:spPr>
      </p:cxnSp>
      <p:sp>
        <p:nvSpPr>
          <p:cNvPr id="20" name="Isosceles Triangle 20"/>
          <p:cNvSpPr>
            <a:spLocks noChangeArrowheads="1"/>
          </p:cNvSpPr>
          <p:nvPr/>
        </p:nvSpPr>
        <p:spPr bwMode="auto">
          <a:xfrm rot="5400000">
            <a:off x="2664643" y="3320133"/>
            <a:ext cx="935038" cy="720725"/>
          </a:xfrm>
          <a:prstGeom prst="triangle">
            <a:avLst>
              <a:gd name="adj" fmla="val 36676"/>
            </a:avLst>
          </a:prstGeom>
          <a:solidFill>
            <a:srgbClr val="FF99FF">
              <a:alpha val="52156"/>
            </a:srgbClr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pPr eaLnBrk="0" hangingPunct="0"/>
            <a:endParaRPr lang="en-SG" sz="2400"/>
          </a:p>
        </p:txBody>
      </p:sp>
      <p:sp>
        <p:nvSpPr>
          <p:cNvPr id="21" name="TextBox 22"/>
          <p:cNvSpPr txBox="1">
            <a:spLocks noChangeArrowheads="1"/>
          </p:cNvSpPr>
          <p:nvPr/>
        </p:nvSpPr>
        <p:spPr bwMode="auto">
          <a:xfrm>
            <a:off x="2267744" y="2060848"/>
            <a:ext cx="2087563" cy="8302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dirty="0"/>
              <a:t>Deadweight loss</a:t>
            </a:r>
            <a:endParaRPr lang="en-SG" sz="2400" b="1" dirty="0"/>
          </a:p>
        </p:txBody>
      </p:sp>
      <p:cxnSp>
        <p:nvCxnSpPr>
          <p:cNvPr id="22" name="Straight Connector 24"/>
          <p:cNvCxnSpPr>
            <a:cxnSpLocks noChangeShapeType="1"/>
          </p:cNvCxnSpPr>
          <p:nvPr/>
        </p:nvCxnSpPr>
        <p:spPr bwMode="auto">
          <a:xfrm flipV="1">
            <a:off x="2987824" y="2924944"/>
            <a:ext cx="396875" cy="682625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3" name="TextBox 24"/>
          <p:cNvSpPr txBox="1">
            <a:spLocks noChangeArrowheads="1"/>
          </p:cNvSpPr>
          <p:nvPr/>
        </p:nvSpPr>
        <p:spPr bwMode="auto">
          <a:xfrm>
            <a:off x="5220072" y="1556792"/>
            <a:ext cx="180022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 i="1" dirty="0">
                <a:cs typeface="Arial" charset="0"/>
              </a:rPr>
              <a:t>Supply (MC)</a:t>
            </a:r>
            <a:endParaRPr lang="en-SG" sz="2800" b="1" i="1" dirty="0">
              <a:cs typeface="Arial" charset="0"/>
            </a:endParaRPr>
          </a:p>
        </p:txBody>
      </p:sp>
      <p:sp>
        <p:nvSpPr>
          <p:cNvPr id="24" name="TextBox 24"/>
          <p:cNvSpPr txBox="1">
            <a:spLocks noChangeArrowheads="1"/>
          </p:cNvSpPr>
          <p:nvPr/>
        </p:nvSpPr>
        <p:spPr bwMode="auto">
          <a:xfrm>
            <a:off x="6516216" y="3212976"/>
            <a:ext cx="18002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 i="1" dirty="0">
                <a:cs typeface="Arial" charset="0"/>
              </a:rPr>
              <a:t>MB &gt; MC</a:t>
            </a:r>
            <a:endParaRPr lang="en-SG" sz="2800" b="1" i="1" dirty="0">
              <a:cs typeface="Arial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Over Production (Subsidy)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  <p:cxnSp>
        <p:nvCxnSpPr>
          <p:cNvPr id="11" name="Straight Arrow Connector 4"/>
          <p:cNvCxnSpPr>
            <a:cxnSpLocks noChangeShapeType="1"/>
          </p:cNvCxnSpPr>
          <p:nvPr/>
        </p:nvCxnSpPr>
        <p:spPr bwMode="auto">
          <a:xfrm flipV="1">
            <a:off x="1835696" y="2060848"/>
            <a:ext cx="0" cy="3816350"/>
          </a:xfrm>
          <a:prstGeom prst="straightConnector1">
            <a:avLst/>
          </a:prstGeom>
          <a:noFill/>
          <a:ln w="5715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13" name="Straight Arrow Connector 6"/>
          <p:cNvCxnSpPr>
            <a:cxnSpLocks noChangeShapeType="1"/>
          </p:cNvCxnSpPr>
          <p:nvPr/>
        </p:nvCxnSpPr>
        <p:spPr bwMode="auto">
          <a:xfrm>
            <a:off x="1835696" y="5877272"/>
            <a:ext cx="5832475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14" name="Straight Connector 8"/>
          <p:cNvCxnSpPr>
            <a:cxnSpLocks noChangeShapeType="1"/>
          </p:cNvCxnSpPr>
          <p:nvPr/>
        </p:nvCxnSpPr>
        <p:spPr bwMode="auto">
          <a:xfrm>
            <a:off x="1835696" y="2708920"/>
            <a:ext cx="5184775" cy="2376488"/>
          </a:xfrm>
          <a:prstGeom prst="line">
            <a:avLst/>
          </a:prstGeom>
          <a:noFill/>
          <a:ln w="76200" algn="ctr">
            <a:solidFill>
              <a:srgbClr val="0070C0"/>
            </a:solidFill>
            <a:round/>
            <a:headEnd/>
            <a:tailEnd/>
          </a:ln>
        </p:spPr>
      </p:cxnSp>
      <p:cxnSp>
        <p:nvCxnSpPr>
          <p:cNvPr id="15" name="Straight Connector 10"/>
          <p:cNvCxnSpPr>
            <a:cxnSpLocks noChangeShapeType="1"/>
          </p:cNvCxnSpPr>
          <p:nvPr/>
        </p:nvCxnSpPr>
        <p:spPr bwMode="auto">
          <a:xfrm>
            <a:off x="4370602" y="2924944"/>
            <a:ext cx="0" cy="2880320"/>
          </a:xfrm>
          <a:prstGeom prst="line">
            <a:avLst/>
          </a:prstGeom>
          <a:noFill/>
          <a:ln w="28575" algn="ctr">
            <a:solidFill>
              <a:schemeClr val="tx1"/>
            </a:solidFill>
            <a:prstDash val="lgDash"/>
            <a:round/>
            <a:headEnd/>
            <a:tailEnd/>
          </a:ln>
        </p:spPr>
      </p:cxnSp>
      <p:sp>
        <p:nvSpPr>
          <p:cNvPr id="16" name="TextBox 22"/>
          <p:cNvSpPr txBox="1">
            <a:spLocks noChangeArrowheads="1"/>
          </p:cNvSpPr>
          <p:nvPr/>
        </p:nvSpPr>
        <p:spPr bwMode="auto">
          <a:xfrm>
            <a:off x="6660232" y="6021288"/>
            <a:ext cx="20161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 i="1" dirty="0">
                <a:cs typeface="Arial" charset="0"/>
              </a:rPr>
              <a:t>Quantity</a:t>
            </a:r>
            <a:endParaRPr lang="en-SG" sz="2800" b="1" i="1" dirty="0">
              <a:cs typeface="Arial" charset="0"/>
            </a:endParaRPr>
          </a:p>
        </p:txBody>
      </p:sp>
      <p:sp>
        <p:nvSpPr>
          <p:cNvPr id="17" name="TextBox 23"/>
          <p:cNvSpPr txBox="1">
            <a:spLocks noChangeArrowheads="1"/>
          </p:cNvSpPr>
          <p:nvPr/>
        </p:nvSpPr>
        <p:spPr bwMode="auto">
          <a:xfrm>
            <a:off x="640821" y="1602847"/>
            <a:ext cx="122396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 i="1" dirty="0">
                <a:cs typeface="Arial" charset="0"/>
              </a:rPr>
              <a:t>Price</a:t>
            </a:r>
            <a:endParaRPr lang="en-SG" sz="2800" b="1" i="1" dirty="0">
              <a:cs typeface="Arial" charset="0"/>
            </a:endParaRPr>
          </a:p>
        </p:txBody>
      </p:sp>
      <p:sp>
        <p:nvSpPr>
          <p:cNvPr id="18" name="TextBox 24"/>
          <p:cNvSpPr txBox="1">
            <a:spLocks noChangeArrowheads="1"/>
          </p:cNvSpPr>
          <p:nvPr/>
        </p:nvSpPr>
        <p:spPr bwMode="auto">
          <a:xfrm>
            <a:off x="6876256" y="4509120"/>
            <a:ext cx="180022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 i="1" dirty="0">
                <a:cs typeface="Arial" charset="0"/>
              </a:rPr>
              <a:t>Demand (MB)</a:t>
            </a:r>
            <a:endParaRPr lang="en-SG" sz="2800" b="1" i="1" dirty="0">
              <a:cs typeface="Arial" charset="0"/>
            </a:endParaRPr>
          </a:p>
        </p:txBody>
      </p:sp>
      <p:sp>
        <p:nvSpPr>
          <p:cNvPr id="19" name="TextBox 26"/>
          <p:cNvSpPr txBox="1">
            <a:spLocks noChangeArrowheads="1"/>
          </p:cNvSpPr>
          <p:nvPr/>
        </p:nvSpPr>
        <p:spPr bwMode="auto">
          <a:xfrm>
            <a:off x="4067944" y="5949280"/>
            <a:ext cx="71970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i="1" dirty="0">
                <a:cs typeface="Arial" charset="0"/>
              </a:rPr>
              <a:t>Q</a:t>
            </a:r>
            <a:endParaRPr lang="en-SG" sz="2800" b="1" i="1" dirty="0">
              <a:cs typeface="Arial" charset="0"/>
            </a:endParaRPr>
          </a:p>
        </p:txBody>
      </p:sp>
      <p:cxnSp>
        <p:nvCxnSpPr>
          <p:cNvPr id="20" name="Straight Connector 14"/>
          <p:cNvCxnSpPr>
            <a:cxnSpLocks noChangeShapeType="1"/>
          </p:cNvCxnSpPr>
          <p:nvPr/>
        </p:nvCxnSpPr>
        <p:spPr bwMode="auto">
          <a:xfrm flipV="1">
            <a:off x="1907704" y="1988840"/>
            <a:ext cx="3529012" cy="2881312"/>
          </a:xfrm>
          <a:prstGeom prst="line">
            <a:avLst/>
          </a:prstGeom>
          <a:noFill/>
          <a:ln w="76200" algn="ctr">
            <a:solidFill>
              <a:srgbClr val="C00000"/>
            </a:solidFill>
            <a:round/>
            <a:headEnd/>
            <a:tailEnd/>
          </a:ln>
        </p:spPr>
      </p:cxnSp>
      <p:sp>
        <p:nvSpPr>
          <p:cNvPr id="21" name="Isosceles Triangle 20"/>
          <p:cNvSpPr>
            <a:spLocks noChangeArrowheads="1"/>
          </p:cNvSpPr>
          <p:nvPr/>
        </p:nvSpPr>
        <p:spPr bwMode="auto">
          <a:xfrm rot="-5400000">
            <a:off x="3528740" y="3032100"/>
            <a:ext cx="935038" cy="720725"/>
          </a:xfrm>
          <a:prstGeom prst="triangle">
            <a:avLst>
              <a:gd name="adj" fmla="val 36676"/>
            </a:avLst>
          </a:prstGeom>
          <a:solidFill>
            <a:srgbClr val="FF99FF">
              <a:alpha val="52156"/>
            </a:srgbClr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pPr eaLnBrk="0" hangingPunct="0"/>
            <a:endParaRPr lang="en-SG" sz="2400"/>
          </a:p>
        </p:txBody>
      </p:sp>
      <p:sp>
        <p:nvSpPr>
          <p:cNvPr id="22" name="TextBox 22"/>
          <p:cNvSpPr txBox="1">
            <a:spLocks noChangeArrowheads="1"/>
          </p:cNvSpPr>
          <p:nvPr/>
        </p:nvSpPr>
        <p:spPr bwMode="auto">
          <a:xfrm>
            <a:off x="2339752" y="1916832"/>
            <a:ext cx="2087563" cy="8302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/>
              <a:t>Deadweight loss</a:t>
            </a:r>
            <a:endParaRPr lang="en-SG" sz="2400" b="1"/>
          </a:p>
        </p:txBody>
      </p:sp>
      <p:cxnSp>
        <p:nvCxnSpPr>
          <p:cNvPr id="23" name="Straight Connector 24"/>
          <p:cNvCxnSpPr>
            <a:cxnSpLocks noChangeShapeType="1"/>
          </p:cNvCxnSpPr>
          <p:nvPr/>
        </p:nvCxnSpPr>
        <p:spPr bwMode="auto">
          <a:xfrm flipH="1" flipV="1">
            <a:off x="3491880" y="2780928"/>
            <a:ext cx="611188" cy="60960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4" name="TextBox 24"/>
          <p:cNvSpPr txBox="1">
            <a:spLocks noChangeArrowheads="1"/>
          </p:cNvSpPr>
          <p:nvPr/>
        </p:nvSpPr>
        <p:spPr bwMode="auto">
          <a:xfrm>
            <a:off x="5436096" y="1700808"/>
            <a:ext cx="180022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 i="1" dirty="0">
                <a:cs typeface="Arial" charset="0"/>
              </a:rPr>
              <a:t>Supply (MC)</a:t>
            </a:r>
            <a:endParaRPr lang="en-SG" sz="2800" b="1" i="1" dirty="0">
              <a:cs typeface="Arial" charset="0"/>
            </a:endParaRPr>
          </a:p>
        </p:txBody>
      </p:sp>
      <p:sp>
        <p:nvSpPr>
          <p:cNvPr id="27" name="TextBox 24"/>
          <p:cNvSpPr txBox="1">
            <a:spLocks noChangeArrowheads="1"/>
          </p:cNvSpPr>
          <p:nvPr/>
        </p:nvSpPr>
        <p:spPr bwMode="auto">
          <a:xfrm>
            <a:off x="6228184" y="3356992"/>
            <a:ext cx="18002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 i="1" dirty="0">
                <a:cs typeface="Arial" charset="0"/>
              </a:rPr>
              <a:t>MC &gt; MB</a:t>
            </a:r>
            <a:endParaRPr lang="en-SG" sz="2800" b="1" i="1" dirty="0">
              <a:cs typeface="Arial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Thank You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48864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This is the end of </a:t>
            </a:r>
            <a:r>
              <a:rPr lang="en-US"/>
              <a:t>Lecture 3.  </a:t>
            </a:r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Thank you for your participation.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Please send your query to me via my email at khayboon@ntu.edu.sg.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33193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18483</TotalTime>
  <Words>3261</Words>
  <Application>Microsoft Office PowerPoint</Application>
  <PresentationFormat>On-screen Show (4:3)</PresentationFormat>
  <Paragraphs>796</Paragraphs>
  <Slides>61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6" baseType="lpstr">
      <vt:lpstr>Arial</vt:lpstr>
      <vt:lpstr>Arial Black</vt:lpstr>
      <vt:lpstr>Times New Roman</vt:lpstr>
      <vt:lpstr>Wingdings</vt:lpstr>
      <vt:lpstr>1_Default Design</vt:lpstr>
      <vt:lpstr>HE5091 Principles of Economics Lecture 3 Perfect Competition, Production and Efficiency</vt:lpstr>
      <vt:lpstr>Topics</vt:lpstr>
      <vt:lpstr>Profit Maximization</vt:lpstr>
      <vt:lpstr>Perfectly Competitive Firms</vt:lpstr>
      <vt:lpstr>Perfectly Competitive Firm’s Demand</vt:lpstr>
      <vt:lpstr>Perfectly Competitive Firm's Demand</vt:lpstr>
      <vt:lpstr>Production Ideas</vt:lpstr>
      <vt:lpstr>Production Data</vt:lpstr>
      <vt:lpstr>Production in the Short Run</vt:lpstr>
      <vt:lpstr>Law of Diminishing Returns</vt:lpstr>
      <vt:lpstr>Law of Diminishing Returns</vt:lpstr>
      <vt:lpstr>Cost Concepts</vt:lpstr>
      <vt:lpstr>Find the Output Level that Maximizes Profit</vt:lpstr>
      <vt:lpstr>Maximizing Profit</vt:lpstr>
      <vt:lpstr>Fixed Cost and Profit Maximization</vt:lpstr>
      <vt:lpstr>Shut-Down Decision</vt:lpstr>
      <vt:lpstr>Shut-Down Condition</vt:lpstr>
      <vt:lpstr>AVC and ATC</vt:lpstr>
      <vt:lpstr>Profitable Firms</vt:lpstr>
      <vt:lpstr>Cost Curves</vt:lpstr>
      <vt:lpstr>Graphical Profit Maximization</vt:lpstr>
      <vt:lpstr>Graphical Profit Maximization</vt:lpstr>
      <vt:lpstr>Losses</vt:lpstr>
      <vt:lpstr>Accounting Profit</vt:lpstr>
      <vt:lpstr>Economic Profit</vt:lpstr>
      <vt:lpstr>Three Kinds of Profit</vt:lpstr>
      <vt:lpstr>Example: Economic Profit Guides Decisions</vt:lpstr>
      <vt:lpstr>Example: Economic Profit Guides Decisions, A Change in Revenue</vt:lpstr>
      <vt:lpstr>Example: Owned Inputs</vt:lpstr>
      <vt:lpstr>The Invisible Hand (Price)</vt:lpstr>
      <vt:lpstr>Two Functions of Price</vt:lpstr>
      <vt:lpstr>Responses to Profits and Losses</vt:lpstr>
      <vt:lpstr>Response to Economic Profits</vt:lpstr>
      <vt:lpstr>Shrinking Economic Profits</vt:lpstr>
      <vt:lpstr>Market Equilibrium</vt:lpstr>
      <vt:lpstr>Economic Losses</vt:lpstr>
      <vt:lpstr>Market Equilibrium</vt:lpstr>
      <vt:lpstr>Example: Movement Toward Equilibrium</vt:lpstr>
      <vt:lpstr>Example: Movement Toward Equilibrium</vt:lpstr>
      <vt:lpstr>Short-Run Adjustments</vt:lpstr>
      <vt:lpstr>Short-Run Adjustments</vt:lpstr>
      <vt:lpstr>Cost-Saving Innovations</vt:lpstr>
      <vt:lpstr>Market Equilibrium</vt:lpstr>
      <vt:lpstr>Market Equilibrium and Efficiency</vt:lpstr>
      <vt:lpstr>Price Below Equilibrium</vt:lpstr>
      <vt:lpstr>Price Below Equilibrium</vt:lpstr>
      <vt:lpstr>Price above Equilibrium</vt:lpstr>
      <vt:lpstr>Trade-Offs</vt:lpstr>
      <vt:lpstr>The  Cost of Preventing Price Adjustments</vt:lpstr>
      <vt:lpstr>Example: Heating Oil Market</vt:lpstr>
      <vt:lpstr>Price Ceiling on Heating Oil</vt:lpstr>
      <vt:lpstr>Surplus Lost to a Price Ceiling</vt:lpstr>
      <vt:lpstr>Alternative Heating Oil Policy</vt:lpstr>
      <vt:lpstr>Example: Price Subsidy for Bread</vt:lpstr>
      <vt:lpstr>Price Subsidies for Bread</vt:lpstr>
      <vt:lpstr>The Cost of the Subsidy</vt:lpstr>
      <vt:lpstr>Price Subsidies for Bread</vt:lpstr>
      <vt:lpstr>Effects of Tax and Subsidy</vt:lpstr>
      <vt:lpstr>Underproduction (Tax)</vt:lpstr>
      <vt:lpstr>Over Production (Subsidy)</vt:lpstr>
      <vt:lpstr>Thank You</vt:lpstr>
    </vt:vector>
  </TitlesOfParts>
  <Company>McGraw-Hill/Irwin - The McGraw Hill Companies, Inc.</Company>
  <LinksUpToDate>false</LinksUpToDate>
  <SharedDoc>false</SharedDoc>
  <HyperlinkBase>assets/\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Han, Sarah</dc:creator>
  <cp:lastModifiedBy>Dr Tan Khay Boon</cp:lastModifiedBy>
  <cp:revision>1631</cp:revision>
  <cp:lastPrinted>2016-08-03T05:59:51Z</cp:lastPrinted>
  <dcterms:created xsi:type="dcterms:W3CDTF">2010-08-25T16:49:18Z</dcterms:created>
  <dcterms:modified xsi:type="dcterms:W3CDTF">2024-08-07T02:35:34Z</dcterms:modified>
</cp:coreProperties>
</file>