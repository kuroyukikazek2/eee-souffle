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3"/>
  </p:notesMasterIdLst>
  <p:sldIdLst>
    <p:sldId id="338" r:id="rId2"/>
    <p:sldId id="339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2" r:id="rId25"/>
    <p:sldId id="283" r:id="rId26"/>
    <p:sldId id="284" r:id="rId27"/>
    <p:sldId id="285" r:id="rId28"/>
    <p:sldId id="300" r:id="rId29"/>
    <p:sldId id="302" r:id="rId30"/>
    <p:sldId id="304" r:id="rId31"/>
    <p:sldId id="305" r:id="rId32"/>
    <p:sldId id="306" r:id="rId33"/>
    <p:sldId id="307" r:id="rId34"/>
    <p:sldId id="309" r:id="rId35"/>
    <p:sldId id="310" r:id="rId36"/>
    <p:sldId id="312" r:id="rId37"/>
    <p:sldId id="313" r:id="rId38"/>
    <p:sldId id="314" r:id="rId39"/>
    <p:sldId id="315" r:id="rId40"/>
    <p:sldId id="317" r:id="rId41"/>
    <p:sldId id="318" r:id="rId42"/>
    <p:sldId id="319" r:id="rId43"/>
    <p:sldId id="320" r:id="rId44"/>
    <p:sldId id="322" r:id="rId45"/>
    <p:sldId id="323" r:id="rId46"/>
    <p:sldId id="324" r:id="rId47"/>
    <p:sldId id="325" r:id="rId48"/>
    <p:sldId id="327" r:id="rId49"/>
    <p:sldId id="329" r:id="rId50"/>
    <p:sldId id="330" r:id="rId51"/>
    <p:sldId id="460" r:id="rId5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88" autoAdjust="0"/>
    <p:restoredTop sz="94660"/>
  </p:normalViewPr>
  <p:slideViewPr>
    <p:cSldViewPr>
      <p:cViewPr varScale="1">
        <p:scale>
          <a:sx n="62" d="100"/>
          <a:sy n="62" d="100"/>
        </p:scale>
        <p:origin x="12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53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14237C-2EC8-43E0-BE5E-B2B2FEF7872F}" type="doc">
      <dgm:prSet loTypeId="urn:microsoft.com/office/officeart/2005/8/layout/balance1" loCatId="relationship" qsTypeId="urn:microsoft.com/office/officeart/2005/8/quickstyle/3d2#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B8419F6-5FD7-4B55-A7EF-2596E5062E37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dirty="0"/>
            <a:t>Buyer</a:t>
          </a:r>
        </a:p>
      </dgm:t>
    </dgm:pt>
    <dgm:pt modelId="{EB1A6FEF-EAFC-4277-BBE7-24EAADC7F270}" type="parTrans" cxnId="{C87DA281-D380-4770-9833-2C490CC10FA0}">
      <dgm:prSet/>
      <dgm:spPr/>
      <dgm:t>
        <a:bodyPr/>
        <a:lstStyle/>
        <a:p>
          <a:endParaRPr lang="en-US"/>
        </a:p>
      </dgm:t>
    </dgm:pt>
    <dgm:pt modelId="{AA0E8C56-1214-4187-B0D3-946B39A1032C}" type="sibTrans" cxnId="{C87DA281-D380-4770-9833-2C490CC10FA0}">
      <dgm:prSet/>
      <dgm:spPr/>
      <dgm:t>
        <a:bodyPr/>
        <a:lstStyle/>
        <a:p>
          <a:endParaRPr lang="en-US"/>
        </a:p>
      </dgm:t>
    </dgm:pt>
    <dgm:pt modelId="{B47EA2D0-27BD-4037-8F20-F59ED0C5FDAC}">
      <dgm:prSet phldrT="[Text]"/>
      <dgm:spPr/>
      <dgm:t>
        <a:bodyPr/>
        <a:lstStyle/>
        <a:p>
          <a:r>
            <a:rPr lang="en-US" b="1" dirty="0"/>
            <a:t>Fact 2</a:t>
          </a:r>
        </a:p>
      </dgm:t>
    </dgm:pt>
    <dgm:pt modelId="{8E5F92DF-ACDA-4EFA-AE31-AEA0DFF49B18}" type="parTrans" cxnId="{CE4E0C65-5D4E-49AA-9582-B5F2600003FB}">
      <dgm:prSet/>
      <dgm:spPr/>
      <dgm:t>
        <a:bodyPr/>
        <a:lstStyle/>
        <a:p>
          <a:endParaRPr lang="en-US"/>
        </a:p>
      </dgm:t>
    </dgm:pt>
    <dgm:pt modelId="{56BCB52C-3BE3-4432-B563-D75A9F7434A5}" type="sibTrans" cxnId="{CE4E0C65-5D4E-49AA-9582-B5F2600003FB}">
      <dgm:prSet/>
      <dgm:spPr/>
      <dgm:t>
        <a:bodyPr/>
        <a:lstStyle/>
        <a:p>
          <a:endParaRPr lang="en-US"/>
        </a:p>
      </dgm:t>
    </dgm:pt>
    <dgm:pt modelId="{3F059485-10B0-4257-9EE1-7A0F84D9A819}">
      <dgm:prSet phldrT="[Text]"/>
      <dgm:spPr/>
      <dgm:t>
        <a:bodyPr/>
        <a:lstStyle/>
        <a:p>
          <a:r>
            <a:rPr lang="en-US" b="1" dirty="0"/>
            <a:t>Fact 1</a:t>
          </a:r>
        </a:p>
      </dgm:t>
    </dgm:pt>
    <dgm:pt modelId="{9400921A-2F61-4726-A52D-C8B01DA84E25}" type="parTrans" cxnId="{9B13DDB4-0A1A-448E-BC8B-4AA87F771F7C}">
      <dgm:prSet/>
      <dgm:spPr/>
      <dgm:t>
        <a:bodyPr/>
        <a:lstStyle/>
        <a:p>
          <a:endParaRPr lang="en-US"/>
        </a:p>
      </dgm:t>
    </dgm:pt>
    <dgm:pt modelId="{8202DD35-6A68-4BA5-AD75-9DB4D3F36E41}" type="sibTrans" cxnId="{9B13DDB4-0A1A-448E-BC8B-4AA87F771F7C}">
      <dgm:prSet/>
      <dgm:spPr/>
      <dgm:t>
        <a:bodyPr/>
        <a:lstStyle/>
        <a:p>
          <a:endParaRPr lang="en-US"/>
        </a:p>
      </dgm:t>
    </dgm:pt>
    <dgm:pt modelId="{F6E24A47-D0E7-47B2-BC17-73EA71B1D1E9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dirty="0"/>
            <a:t>Seller</a:t>
          </a:r>
        </a:p>
      </dgm:t>
    </dgm:pt>
    <dgm:pt modelId="{2F93FB47-786C-4C26-9DFF-64C0366CFF56}" type="parTrans" cxnId="{685C3151-C705-4B66-9B49-48F4BD8CFB59}">
      <dgm:prSet/>
      <dgm:spPr/>
      <dgm:t>
        <a:bodyPr/>
        <a:lstStyle/>
        <a:p>
          <a:endParaRPr lang="en-US"/>
        </a:p>
      </dgm:t>
    </dgm:pt>
    <dgm:pt modelId="{06F6B62A-C1A0-4661-A4C9-2C3722F0C096}" type="sibTrans" cxnId="{685C3151-C705-4B66-9B49-48F4BD8CFB59}">
      <dgm:prSet/>
      <dgm:spPr/>
      <dgm:t>
        <a:bodyPr/>
        <a:lstStyle/>
        <a:p>
          <a:endParaRPr lang="en-US"/>
        </a:p>
      </dgm:t>
    </dgm:pt>
    <dgm:pt modelId="{F85C7F36-9E7B-4CB6-BDDA-40E14E82E45E}">
      <dgm:prSet phldrT="[Text]"/>
      <dgm:spPr/>
      <dgm:t>
        <a:bodyPr/>
        <a:lstStyle/>
        <a:p>
          <a:r>
            <a:rPr lang="en-US" b="1" dirty="0"/>
            <a:t>Fact C</a:t>
          </a:r>
        </a:p>
      </dgm:t>
    </dgm:pt>
    <dgm:pt modelId="{FEFE69BB-1510-48C5-A23A-7DACBFDD9A82}" type="parTrans" cxnId="{A4FBE3F5-3452-4BBD-9289-FE312E001A3B}">
      <dgm:prSet/>
      <dgm:spPr/>
      <dgm:t>
        <a:bodyPr/>
        <a:lstStyle/>
        <a:p>
          <a:endParaRPr lang="en-US"/>
        </a:p>
      </dgm:t>
    </dgm:pt>
    <dgm:pt modelId="{A3661E49-1AB8-4C9F-B2D7-B91B82DEBD20}" type="sibTrans" cxnId="{A4FBE3F5-3452-4BBD-9289-FE312E001A3B}">
      <dgm:prSet/>
      <dgm:spPr/>
      <dgm:t>
        <a:bodyPr/>
        <a:lstStyle/>
        <a:p>
          <a:endParaRPr lang="en-US"/>
        </a:p>
      </dgm:t>
    </dgm:pt>
    <dgm:pt modelId="{6A3C7568-3ACF-42E6-A5B5-0A8F03B82878}">
      <dgm:prSet phldrT="[Text]"/>
      <dgm:spPr/>
      <dgm:t>
        <a:bodyPr/>
        <a:lstStyle/>
        <a:p>
          <a:r>
            <a:rPr lang="en-US" b="1" dirty="0"/>
            <a:t>Fact B</a:t>
          </a:r>
        </a:p>
      </dgm:t>
    </dgm:pt>
    <dgm:pt modelId="{BCB6A25D-4E85-4341-8F47-1B9AD5A0DC42}" type="parTrans" cxnId="{34D489A9-D785-4AFC-AD8E-2AC1A158C335}">
      <dgm:prSet/>
      <dgm:spPr/>
      <dgm:t>
        <a:bodyPr/>
        <a:lstStyle/>
        <a:p>
          <a:endParaRPr lang="en-US"/>
        </a:p>
      </dgm:t>
    </dgm:pt>
    <dgm:pt modelId="{389E9700-180E-443B-9014-3642409EAEE3}" type="sibTrans" cxnId="{34D489A9-D785-4AFC-AD8E-2AC1A158C335}">
      <dgm:prSet/>
      <dgm:spPr/>
      <dgm:t>
        <a:bodyPr/>
        <a:lstStyle/>
        <a:p>
          <a:endParaRPr lang="en-US"/>
        </a:p>
      </dgm:t>
    </dgm:pt>
    <dgm:pt modelId="{4649760B-A8D6-4899-806D-748F8EB358EC}">
      <dgm:prSet phldrT="[Text]" custT="1"/>
      <dgm:spPr/>
      <dgm:t>
        <a:bodyPr/>
        <a:lstStyle/>
        <a:p>
          <a:r>
            <a:rPr lang="en-US" sz="1600" b="1" dirty="0"/>
            <a:t>Fact A</a:t>
          </a:r>
        </a:p>
      </dgm:t>
    </dgm:pt>
    <dgm:pt modelId="{5FE3FD94-4378-45B6-B9C7-19A0CEC38DD7}" type="parTrans" cxnId="{BD24C6FF-B3B7-43F5-B2ED-7D741E02A0F8}">
      <dgm:prSet/>
      <dgm:spPr/>
      <dgm:t>
        <a:bodyPr/>
        <a:lstStyle/>
        <a:p>
          <a:endParaRPr lang="en-US"/>
        </a:p>
      </dgm:t>
    </dgm:pt>
    <dgm:pt modelId="{CCEDC713-137A-4B5F-9B71-32D1820805A5}" type="sibTrans" cxnId="{BD24C6FF-B3B7-43F5-B2ED-7D741E02A0F8}">
      <dgm:prSet/>
      <dgm:spPr/>
      <dgm:t>
        <a:bodyPr/>
        <a:lstStyle/>
        <a:p>
          <a:endParaRPr lang="en-US"/>
        </a:p>
      </dgm:t>
    </dgm:pt>
    <dgm:pt modelId="{80300E3E-7498-46AB-AABC-ADC633158490}">
      <dgm:prSet phldrT="[Text]"/>
      <dgm:spPr/>
      <dgm:t>
        <a:bodyPr/>
        <a:lstStyle/>
        <a:p>
          <a:r>
            <a:rPr lang="en-US" b="1" dirty="0"/>
            <a:t>Fact D</a:t>
          </a:r>
        </a:p>
      </dgm:t>
    </dgm:pt>
    <dgm:pt modelId="{71E375D0-EE41-49B8-8543-8EFCCE5EB14C}" type="parTrans" cxnId="{08A244AF-82C8-44A9-A685-02C80B004A56}">
      <dgm:prSet/>
      <dgm:spPr/>
      <dgm:t>
        <a:bodyPr/>
        <a:lstStyle/>
        <a:p>
          <a:endParaRPr lang="en-US"/>
        </a:p>
      </dgm:t>
    </dgm:pt>
    <dgm:pt modelId="{08F15757-B21F-4AEA-BE68-FE92C658ACF9}" type="sibTrans" cxnId="{08A244AF-82C8-44A9-A685-02C80B004A56}">
      <dgm:prSet/>
      <dgm:spPr/>
      <dgm:t>
        <a:bodyPr/>
        <a:lstStyle/>
        <a:p>
          <a:endParaRPr lang="en-US"/>
        </a:p>
      </dgm:t>
    </dgm:pt>
    <dgm:pt modelId="{50BF4886-8DED-49A7-9346-DA2950120012}" type="pres">
      <dgm:prSet presAssocID="{C014237C-2EC8-43E0-BE5E-B2B2FEF7872F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6DB4289A-1FBD-4E8A-B761-E5EC60D1B85F}" type="pres">
      <dgm:prSet presAssocID="{C014237C-2EC8-43E0-BE5E-B2B2FEF7872F}" presName="dummyMaxCanvas" presStyleCnt="0"/>
      <dgm:spPr/>
    </dgm:pt>
    <dgm:pt modelId="{072C3547-DA25-4F92-AFFA-044077CF48B3}" type="pres">
      <dgm:prSet presAssocID="{C014237C-2EC8-43E0-BE5E-B2B2FEF7872F}" presName="parentComposite" presStyleCnt="0"/>
      <dgm:spPr/>
    </dgm:pt>
    <dgm:pt modelId="{867C04DB-D4C0-42E5-A762-6AEF10FB1EDB}" type="pres">
      <dgm:prSet presAssocID="{C014237C-2EC8-43E0-BE5E-B2B2FEF7872F}" presName="parent1" presStyleLbl="alignAccFollowNode1" presStyleIdx="0" presStyleCnt="4">
        <dgm:presLayoutVars>
          <dgm:chMax val="4"/>
        </dgm:presLayoutVars>
      </dgm:prSet>
      <dgm:spPr/>
    </dgm:pt>
    <dgm:pt modelId="{DB54A8B8-95D3-4CC6-B0DA-A93A62283D8B}" type="pres">
      <dgm:prSet presAssocID="{C014237C-2EC8-43E0-BE5E-B2B2FEF7872F}" presName="parent2" presStyleLbl="alignAccFollowNode1" presStyleIdx="1" presStyleCnt="4">
        <dgm:presLayoutVars>
          <dgm:chMax val="4"/>
        </dgm:presLayoutVars>
      </dgm:prSet>
      <dgm:spPr/>
    </dgm:pt>
    <dgm:pt modelId="{CBCD2D79-7896-41DE-9ED4-C447023EB197}" type="pres">
      <dgm:prSet presAssocID="{C014237C-2EC8-43E0-BE5E-B2B2FEF7872F}" presName="childrenComposite" presStyleCnt="0"/>
      <dgm:spPr/>
    </dgm:pt>
    <dgm:pt modelId="{E0286D14-2C1D-4A62-A5C5-FB651A48954A}" type="pres">
      <dgm:prSet presAssocID="{C014237C-2EC8-43E0-BE5E-B2B2FEF7872F}" presName="dummyMaxCanvas_ChildArea" presStyleCnt="0"/>
      <dgm:spPr/>
    </dgm:pt>
    <dgm:pt modelId="{18F23BBB-0C1F-4102-858B-6E70E23E8140}" type="pres">
      <dgm:prSet presAssocID="{C014237C-2EC8-43E0-BE5E-B2B2FEF7872F}" presName="fulcrum" presStyleLbl="alignAccFollowNode1" presStyleIdx="2" presStyleCnt="4"/>
      <dgm:spPr>
        <a:solidFill>
          <a:schemeClr val="bg1">
            <a:alpha val="90000"/>
          </a:schemeClr>
        </a:solidFill>
      </dgm:spPr>
    </dgm:pt>
    <dgm:pt modelId="{7E729839-5E33-4A00-A034-F086C77D35C2}" type="pres">
      <dgm:prSet presAssocID="{C014237C-2EC8-43E0-BE5E-B2B2FEF7872F}" presName="balance_24" presStyleLbl="alignAccFollowNode1" presStyleIdx="3" presStyleCnt="4">
        <dgm:presLayoutVars>
          <dgm:bulletEnabled val="1"/>
        </dgm:presLayoutVars>
      </dgm:prSet>
      <dgm:spPr>
        <a:solidFill>
          <a:schemeClr val="bg1">
            <a:alpha val="90000"/>
          </a:schemeClr>
        </a:solidFill>
      </dgm:spPr>
    </dgm:pt>
    <dgm:pt modelId="{5765FC49-DB58-42E5-A713-8D1E56B4129F}" type="pres">
      <dgm:prSet presAssocID="{C014237C-2EC8-43E0-BE5E-B2B2FEF7872F}" presName="right_24_1" presStyleLbl="node1" presStyleIdx="0" presStyleCnt="6">
        <dgm:presLayoutVars>
          <dgm:bulletEnabled val="1"/>
        </dgm:presLayoutVars>
      </dgm:prSet>
      <dgm:spPr/>
    </dgm:pt>
    <dgm:pt modelId="{3842B0F4-5C79-446C-B784-EBF1938D0256}" type="pres">
      <dgm:prSet presAssocID="{C014237C-2EC8-43E0-BE5E-B2B2FEF7872F}" presName="right_24_2" presStyleLbl="node1" presStyleIdx="1" presStyleCnt="6" custLinFactNeighborY="9632">
        <dgm:presLayoutVars>
          <dgm:bulletEnabled val="1"/>
        </dgm:presLayoutVars>
      </dgm:prSet>
      <dgm:spPr/>
    </dgm:pt>
    <dgm:pt modelId="{5BF29111-7611-41F2-AD44-11D76C7EE6AD}" type="pres">
      <dgm:prSet presAssocID="{C014237C-2EC8-43E0-BE5E-B2B2FEF7872F}" presName="right_24_3" presStyleLbl="node1" presStyleIdx="2" presStyleCnt="6" custScaleY="142162" custLinFactNeighborY="-6250">
        <dgm:presLayoutVars>
          <dgm:bulletEnabled val="1"/>
        </dgm:presLayoutVars>
      </dgm:prSet>
      <dgm:spPr/>
    </dgm:pt>
    <dgm:pt modelId="{EF0D8602-1D23-493B-9924-7A498420EC32}" type="pres">
      <dgm:prSet presAssocID="{C014237C-2EC8-43E0-BE5E-B2B2FEF7872F}" presName="right_24_4" presStyleLbl="node1" presStyleIdx="3" presStyleCnt="6" custScaleY="137816" custLinFactNeighborY="-41994">
        <dgm:presLayoutVars>
          <dgm:bulletEnabled val="1"/>
        </dgm:presLayoutVars>
      </dgm:prSet>
      <dgm:spPr/>
    </dgm:pt>
    <dgm:pt modelId="{9FBD76FA-D289-4E5B-9EA1-8E6D26843EE8}" type="pres">
      <dgm:prSet presAssocID="{C014237C-2EC8-43E0-BE5E-B2B2FEF7872F}" presName="left_24_1" presStyleLbl="node1" presStyleIdx="4" presStyleCnt="6" custLinFactNeighborY="9632">
        <dgm:presLayoutVars>
          <dgm:bulletEnabled val="1"/>
        </dgm:presLayoutVars>
      </dgm:prSet>
      <dgm:spPr/>
    </dgm:pt>
    <dgm:pt modelId="{D7ED47EC-9E83-4EC2-A503-6367311AC302}" type="pres">
      <dgm:prSet presAssocID="{C014237C-2EC8-43E0-BE5E-B2B2FEF7872F}" presName="left_24_2" presStyleLbl="node1" presStyleIdx="5" presStyleCnt="6" custLinFactNeighborY="16054">
        <dgm:presLayoutVars>
          <dgm:bulletEnabled val="1"/>
        </dgm:presLayoutVars>
      </dgm:prSet>
      <dgm:spPr/>
    </dgm:pt>
  </dgm:ptLst>
  <dgm:cxnLst>
    <dgm:cxn modelId="{F010120F-6D7F-4D16-86B1-0862EF49B724}" type="presOf" srcId="{0B8419F6-5FD7-4B55-A7EF-2596E5062E37}" destId="{867C04DB-D4C0-42E5-A762-6AEF10FB1EDB}" srcOrd="0" destOrd="0" presId="urn:microsoft.com/office/officeart/2005/8/layout/balance1"/>
    <dgm:cxn modelId="{74BD7730-6AC9-4025-A220-AF1EC5DD45EE}" type="presOf" srcId="{4649760B-A8D6-4899-806D-748F8EB358EC}" destId="{EF0D8602-1D23-493B-9924-7A498420EC32}" srcOrd="0" destOrd="0" presId="urn:microsoft.com/office/officeart/2005/8/layout/balance1"/>
    <dgm:cxn modelId="{E155B235-D942-4072-B9C8-B0ABB3EC3364}" type="presOf" srcId="{B47EA2D0-27BD-4037-8F20-F59ED0C5FDAC}" destId="{9FBD76FA-D289-4E5B-9EA1-8E6D26843EE8}" srcOrd="0" destOrd="0" presId="urn:microsoft.com/office/officeart/2005/8/layout/balance1"/>
    <dgm:cxn modelId="{74EF4F44-1769-4E6A-B525-7018019D16A7}" type="presOf" srcId="{80300E3E-7498-46AB-AABC-ADC633158490}" destId="{5765FC49-DB58-42E5-A713-8D1E56B4129F}" srcOrd="0" destOrd="0" presId="urn:microsoft.com/office/officeart/2005/8/layout/balance1"/>
    <dgm:cxn modelId="{CE4E0C65-5D4E-49AA-9582-B5F2600003FB}" srcId="{0B8419F6-5FD7-4B55-A7EF-2596E5062E37}" destId="{B47EA2D0-27BD-4037-8F20-F59ED0C5FDAC}" srcOrd="0" destOrd="0" parTransId="{8E5F92DF-ACDA-4EFA-AE31-AEA0DFF49B18}" sibTransId="{56BCB52C-3BE3-4432-B563-D75A9F7434A5}"/>
    <dgm:cxn modelId="{685C3151-C705-4B66-9B49-48F4BD8CFB59}" srcId="{C014237C-2EC8-43E0-BE5E-B2B2FEF7872F}" destId="{F6E24A47-D0E7-47B2-BC17-73EA71B1D1E9}" srcOrd="1" destOrd="0" parTransId="{2F93FB47-786C-4C26-9DFF-64C0366CFF56}" sibTransId="{06F6B62A-C1A0-4661-A4C9-2C3722F0C096}"/>
    <dgm:cxn modelId="{C87DA281-D380-4770-9833-2C490CC10FA0}" srcId="{C014237C-2EC8-43E0-BE5E-B2B2FEF7872F}" destId="{0B8419F6-5FD7-4B55-A7EF-2596E5062E37}" srcOrd="0" destOrd="0" parTransId="{EB1A6FEF-EAFC-4277-BBE7-24EAADC7F270}" sibTransId="{AA0E8C56-1214-4187-B0D3-946B39A1032C}"/>
    <dgm:cxn modelId="{0FA3138D-5BF0-4846-85EA-46B8F6B6FE9A}" type="presOf" srcId="{6A3C7568-3ACF-42E6-A5B5-0A8F03B82878}" destId="{5BF29111-7611-41F2-AD44-11D76C7EE6AD}" srcOrd="0" destOrd="0" presId="urn:microsoft.com/office/officeart/2005/8/layout/balance1"/>
    <dgm:cxn modelId="{B904DFA8-ACD1-49A9-8CCF-6DF4CCD558D3}" type="presOf" srcId="{C014237C-2EC8-43E0-BE5E-B2B2FEF7872F}" destId="{50BF4886-8DED-49A7-9346-DA2950120012}" srcOrd="0" destOrd="0" presId="urn:microsoft.com/office/officeart/2005/8/layout/balance1"/>
    <dgm:cxn modelId="{34D489A9-D785-4AFC-AD8E-2AC1A158C335}" srcId="{F6E24A47-D0E7-47B2-BC17-73EA71B1D1E9}" destId="{6A3C7568-3ACF-42E6-A5B5-0A8F03B82878}" srcOrd="2" destOrd="0" parTransId="{BCB6A25D-4E85-4341-8F47-1B9AD5A0DC42}" sibTransId="{389E9700-180E-443B-9014-3642409EAEE3}"/>
    <dgm:cxn modelId="{B20F89AA-57D2-4DA1-A578-8D1A42AF31C0}" type="presOf" srcId="{3F059485-10B0-4257-9EE1-7A0F84D9A819}" destId="{D7ED47EC-9E83-4EC2-A503-6367311AC302}" srcOrd="0" destOrd="0" presId="urn:microsoft.com/office/officeart/2005/8/layout/balance1"/>
    <dgm:cxn modelId="{57D72DAC-7FA5-4F28-8677-6629434CD42D}" type="presOf" srcId="{F85C7F36-9E7B-4CB6-BDDA-40E14E82E45E}" destId="{3842B0F4-5C79-446C-B784-EBF1938D0256}" srcOrd="0" destOrd="0" presId="urn:microsoft.com/office/officeart/2005/8/layout/balance1"/>
    <dgm:cxn modelId="{078167AC-2357-4699-BAFE-4B2C3C933BBC}" type="presOf" srcId="{F6E24A47-D0E7-47B2-BC17-73EA71B1D1E9}" destId="{DB54A8B8-95D3-4CC6-B0DA-A93A62283D8B}" srcOrd="0" destOrd="0" presId="urn:microsoft.com/office/officeart/2005/8/layout/balance1"/>
    <dgm:cxn modelId="{08A244AF-82C8-44A9-A685-02C80B004A56}" srcId="{F6E24A47-D0E7-47B2-BC17-73EA71B1D1E9}" destId="{80300E3E-7498-46AB-AABC-ADC633158490}" srcOrd="0" destOrd="0" parTransId="{71E375D0-EE41-49B8-8543-8EFCCE5EB14C}" sibTransId="{08F15757-B21F-4AEA-BE68-FE92C658ACF9}"/>
    <dgm:cxn modelId="{9B13DDB4-0A1A-448E-BC8B-4AA87F771F7C}" srcId="{0B8419F6-5FD7-4B55-A7EF-2596E5062E37}" destId="{3F059485-10B0-4257-9EE1-7A0F84D9A819}" srcOrd="1" destOrd="0" parTransId="{9400921A-2F61-4726-A52D-C8B01DA84E25}" sibTransId="{8202DD35-6A68-4BA5-AD75-9DB4D3F36E41}"/>
    <dgm:cxn modelId="{A4FBE3F5-3452-4BBD-9289-FE312E001A3B}" srcId="{F6E24A47-D0E7-47B2-BC17-73EA71B1D1E9}" destId="{F85C7F36-9E7B-4CB6-BDDA-40E14E82E45E}" srcOrd="1" destOrd="0" parTransId="{FEFE69BB-1510-48C5-A23A-7DACBFDD9A82}" sibTransId="{A3661E49-1AB8-4C9F-B2D7-B91B82DEBD20}"/>
    <dgm:cxn modelId="{BD24C6FF-B3B7-43F5-B2ED-7D741E02A0F8}" srcId="{F6E24A47-D0E7-47B2-BC17-73EA71B1D1E9}" destId="{4649760B-A8D6-4899-806D-748F8EB358EC}" srcOrd="3" destOrd="0" parTransId="{5FE3FD94-4378-45B6-B9C7-19A0CEC38DD7}" sibTransId="{CCEDC713-137A-4B5F-9B71-32D1820805A5}"/>
    <dgm:cxn modelId="{E5EFFD99-2514-4B68-8550-CAE4C0A2D7BB}" type="presParOf" srcId="{50BF4886-8DED-49A7-9346-DA2950120012}" destId="{6DB4289A-1FBD-4E8A-B761-E5EC60D1B85F}" srcOrd="0" destOrd="0" presId="urn:microsoft.com/office/officeart/2005/8/layout/balance1"/>
    <dgm:cxn modelId="{8D8ED4C4-7872-418F-9682-F750802F8431}" type="presParOf" srcId="{50BF4886-8DED-49A7-9346-DA2950120012}" destId="{072C3547-DA25-4F92-AFFA-044077CF48B3}" srcOrd="1" destOrd="0" presId="urn:microsoft.com/office/officeart/2005/8/layout/balance1"/>
    <dgm:cxn modelId="{B85F363B-F1F4-4E15-B275-54716AB25B6E}" type="presParOf" srcId="{072C3547-DA25-4F92-AFFA-044077CF48B3}" destId="{867C04DB-D4C0-42E5-A762-6AEF10FB1EDB}" srcOrd="0" destOrd="0" presId="urn:microsoft.com/office/officeart/2005/8/layout/balance1"/>
    <dgm:cxn modelId="{7350252A-D951-42F9-A031-A662C2F22E4F}" type="presParOf" srcId="{072C3547-DA25-4F92-AFFA-044077CF48B3}" destId="{DB54A8B8-95D3-4CC6-B0DA-A93A62283D8B}" srcOrd="1" destOrd="0" presId="urn:microsoft.com/office/officeart/2005/8/layout/balance1"/>
    <dgm:cxn modelId="{C8A3A3D5-F1FD-4E01-BFEA-5F17908B7A27}" type="presParOf" srcId="{50BF4886-8DED-49A7-9346-DA2950120012}" destId="{CBCD2D79-7896-41DE-9ED4-C447023EB197}" srcOrd="2" destOrd="0" presId="urn:microsoft.com/office/officeart/2005/8/layout/balance1"/>
    <dgm:cxn modelId="{41096549-926B-4B6B-8C60-AF1C945635F8}" type="presParOf" srcId="{CBCD2D79-7896-41DE-9ED4-C447023EB197}" destId="{E0286D14-2C1D-4A62-A5C5-FB651A48954A}" srcOrd="0" destOrd="0" presId="urn:microsoft.com/office/officeart/2005/8/layout/balance1"/>
    <dgm:cxn modelId="{64519758-9469-4DE2-9104-067863425161}" type="presParOf" srcId="{CBCD2D79-7896-41DE-9ED4-C447023EB197}" destId="{18F23BBB-0C1F-4102-858B-6E70E23E8140}" srcOrd="1" destOrd="0" presId="urn:microsoft.com/office/officeart/2005/8/layout/balance1"/>
    <dgm:cxn modelId="{735D2177-40C2-4C9C-9B39-4E67CEC77679}" type="presParOf" srcId="{CBCD2D79-7896-41DE-9ED4-C447023EB197}" destId="{7E729839-5E33-4A00-A034-F086C77D35C2}" srcOrd="2" destOrd="0" presId="urn:microsoft.com/office/officeart/2005/8/layout/balance1"/>
    <dgm:cxn modelId="{118E39B6-4F9E-485E-B9D6-7D3D1805BDE4}" type="presParOf" srcId="{CBCD2D79-7896-41DE-9ED4-C447023EB197}" destId="{5765FC49-DB58-42E5-A713-8D1E56B4129F}" srcOrd="3" destOrd="0" presId="urn:microsoft.com/office/officeart/2005/8/layout/balance1"/>
    <dgm:cxn modelId="{FA8CFBC8-BDB3-43AE-A256-E1D3EAF6E7EC}" type="presParOf" srcId="{CBCD2D79-7896-41DE-9ED4-C447023EB197}" destId="{3842B0F4-5C79-446C-B784-EBF1938D0256}" srcOrd="4" destOrd="0" presId="urn:microsoft.com/office/officeart/2005/8/layout/balance1"/>
    <dgm:cxn modelId="{6D73EB73-602F-4A76-A336-2821900A9D83}" type="presParOf" srcId="{CBCD2D79-7896-41DE-9ED4-C447023EB197}" destId="{5BF29111-7611-41F2-AD44-11D76C7EE6AD}" srcOrd="5" destOrd="0" presId="urn:microsoft.com/office/officeart/2005/8/layout/balance1"/>
    <dgm:cxn modelId="{8FAF7321-7083-4A4E-9C50-6C736517587A}" type="presParOf" srcId="{CBCD2D79-7896-41DE-9ED4-C447023EB197}" destId="{EF0D8602-1D23-493B-9924-7A498420EC32}" srcOrd="6" destOrd="0" presId="urn:microsoft.com/office/officeart/2005/8/layout/balance1"/>
    <dgm:cxn modelId="{3D49492D-2000-4B6D-BD0F-7F18267583B9}" type="presParOf" srcId="{CBCD2D79-7896-41DE-9ED4-C447023EB197}" destId="{9FBD76FA-D289-4E5B-9EA1-8E6D26843EE8}" srcOrd="7" destOrd="0" presId="urn:microsoft.com/office/officeart/2005/8/layout/balance1"/>
    <dgm:cxn modelId="{14A926C1-8AF1-4B1E-9177-BACD377BFE5E}" type="presParOf" srcId="{CBCD2D79-7896-41DE-9ED4-C447023EB197}" destId="{D7ED47EC-9E83-4EC2-A503-6367311AC302}" srcOrd="8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C04DB-D4C0-42E5-A762-6AEF10FB1EDB}">
      <dsp:nvSpPr>
        <dsp:cNvPr id="0" name=""/>
        <dsp:cNvSpPr/>
      </dsp:nvSpPr>
      <dsp:spPr>
        <a:xfrm>
          <a:off x="746800" y="0"/>
          <a:ext cx="1049637" cy="583132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Buyer</a:t>
          </a:r>
        </a:p>
      </dsp:txBody>
      <dsp:txXfrm>
        <a:off x="763879" y="17079"/>
        <a:ext cx="1015479" cy="548974"/>
      </dsp:txXfrm>
    </dsp:sp>
    <dsp:sp modelId="{DB54A8B8-95D3-4CC6-B0DA-A93A62283D8B}">
      <dsp:nvSpPr>
        <dsp:cNvPr id="0" name=""/>
        <dsp:cNvSpPr/>
      </dsp:nvSpPr>
      <dsp:spPr>
        <a:xfrm>
          <a:off x="2262943" y="0"/>
          <a:ext cx="1049637" cy="583132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Seller</a:t>
          </a:r>
        </a:p>
      </dsp:txBody>
      <dsp:txXfrm>
        <a:off x="2280022" y="17079"/>
        <a:ext cx="1015479" cy="548974"/>
      </dsp:txXfrm>
    </dsp:sp>
    <dsp:sp modelId="{18F23BBB-0C1F-4102-858B-6E70E23E8140}">
      <dsp:nvSpPr>
        <dsp:cNvPr id="0" name=""/>
        <dsp:cNvSpPr/>
      </dsp:nvSpPr>
      <dsp:spPr>
        <a:xfrm>
          <a:off x="1811016" y="2478311"/>
          <a:ext cx="437349" cy="437349"/>
        </a:xfrm>
        <a:prstGeom prst="triangle">
          <a:avLst/>
        </a:prstGeom>
        <a:solidFill>
          <a:schemeClr val="bg1">
            <a:alpha val="9000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E729839-5E33-4A00-A034-F086C77D35C2}">
      <dsp:nvSpPr>
        <dsp:cNvPr id="0" name=""/>
        <dsp:cNvSpPr/>
      </dsp:nvSpPr>
      <dsp:spPr>
        <a:xfrm rot="240000">
          <a:off x="717243" y="2290902"/>
          <a:ext cx="2624895" cy="183550"/>
        </a:xfrm>
        <a:prstGeom prst="rect">
          <a:avLst/>
        </a:prstGeom>
        <a:solidFill>
          <a:schemeClr val="bg1">
            <a:alpha val="9000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765FC49-DB58-42E5-A713-8D1E56B4129F}">
      <dsp:nvSpPr>
        <dsp:cNvPr id="0" name=""/>
        <dsp:cNvSpPr/>
      </dsp:nvSpPr>
      <dsp:spPr>
        <a:xfrm rot="240000">
          <a:off x="2296089" y="1960228"/>
          <a:ext cx="1041659" cy="35973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Fact D</a:t>
          </a:r>
        </a:p>
      </dsp:txBody>
      <dsp:txXfrm>
        <a:off x="2313650" y="1977789"/>
        <a:ext cx="1006537" cy="324609"/>
      </dsp:txXfrm>
    </dsp:sp>
    <dsp:sp modelId="{3842B0F4-5C79-446C-B784-EBF1938D0256}">
      <dsp:nvSpPr>
        <dsp:cNvPr id="0" name=""/>
        <dsp:cNvSpPr/>
      </dsp:nvSpPr>
      <dsp:spPr>
        <a:xfrm rot="240000">
          <a:off x="2325245" y="1616925"/>
          <a:ext cx="1041659" cy="35973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Fact C</a:t>
          </a:r>
        </a:p>
      </dsp:txBody>
      <dsp:txXfrm>
        <a:off x="2342806" y="1634486"/>
        <a:ext cx="1006537" cy="324609"/>
      </dsp:txXfrm>
    </dsp:sp>
    <dsp:sp modelId="{5BF29111-7611-41F2-AD44-11D76C7EE6AD}">
      <dsp:nvSpPr>
        <dsp:cNvPr id="0" name=""/>
        <dsp:cNvSpPr/>
      </dsp:nvSpPr>
      <dsp:spPr>
        <a:xfrm rot="240000">
          <a:off x="2360810" y="1071886"/>
          <a:ext cx="1028843" cy="54300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Fact B</a:t>
          </a:r>
        </a:p>
      </dsp:txBody>
      <dsp:txXfrm>
        <a:off x="2387317" y="1098393"/>
        <a:ext cx="975829" cy="489994"/>
      </dsp:txXfrm>
    </dsp:sp>
    <dsp:sp modelId="{EF0D8602-1D23-493B-9924-7A498420EC32}">
      <dsp:nvSpPr>
        <dsp:cNvPr id="0" name=""/>
        <dsp:cNvSpPr/>
      </dsp:nvSpPr>
      <dsp:spPr>
        <a:xfrm rot="240000">
          <a:off x="2389306" y="542223"/>
          <a:ext cx="1030164" cy="52411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Fact A</a:t>
          </a:r>
        </a:p>
      </dsp:txBody>
      <dsp:txXfrm>
        <a:off x="2414891" y="567808"/>
        <a:ext cx="978994" cy="472946"/>
      </dsp:txXfrm>
    </dsp:sp>
    <dsp:sp modelId="{9FBD76FA-D289-4E5B-9EA1-8E6D26843EE8}">
      <dsp:nvSpPr>
        <dsp:cNvPr id="0" name=""/>
        <dsp:cNvSpPr/>
      </dsp:nvSpPr>
      <dsp:spPr>
        <a:xfrm rot="240000">
          <a:off x="779946" y="1896828"/>
          <a:ext cx="1041659" cy="35973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Fact 2</a:t>
          </a:r>
        </a:p>
      </dsp:txBody>
      <dsp:txXfrm>
        <a:off x="797507" y="1914389"/>
        <a:ext cx="1006537" cy="324609"/>
      </dsp:txXfrm>
    </dsp:sp>
    <dsp:sp modelId="{D7ED47EC-9E83-4EC2-A503-6367311AC302}">
      <dsp:nvSpPr>
        <dsp:cNvPr id="0" name=""/>
        <dsp:cNvSpPr/>
      </dsp:nvSpPr>
      <dsp:spPr>
        <a:xfrm rot="240000">
          <a:off x="809102" y="1539673"/>
          <a:ext cx="1041659" cy="35973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Fact 1</a:t>
          </a:r>
        </a:p>
      </dsp:txBody>
      <dsp:txXfrm>
        <a:off x="826663" y="1557234"/>
        <a:ext cx="1006537" cy="3246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5A82658-62A9-43C5-9B59-419BF67D6E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975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31B9B8-C4A3-464B-86C4-DD11CC19D77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945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1A209E-0B29-44EB-AA6D-7E2088952F4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150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536AA3-F272-4686-840C-59691A5354B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355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599F6D-BF93-4664-95A2-D5641671D2B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A04150-AE21-4708-89B8-C99A7D2BE9F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08F5E3-751D-4CB2-9175-DE206A7C84A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584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59453E9F-169B-4DDF-A962-9065DF8C5A59}" type="slidenum">
              <a:rPr lang="en-US" sz="1200">
                <a:latin typeface="+mn-lt"/>
              </a:rPr>
              <a:pPr algn="r">
                <a:defRPr/>
              </a:pPr>
              <a:t>8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CFAB3A-3D4E-4A4C-9D09-D7414D5511E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F8D913-E180-4102-AF2A-908FFF090A0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064277-82A4-4E57-BFC3-E0229991290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9B49D5-495B-4DCB-8E1F-700882CA12D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789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C9E55C-C219-4C05-9055-8EDA5170764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A5C5BA-42B4-4A88-BB37-D5776AA4E05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5F44F4-869B-40BC-BFFE-8C6ACD75541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ED1E03-270E-44B2-AE52-CB3F08ACEEC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C6D28F-FDA1-4F39-A3FC-9C3B84761C47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813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2BF634-8CD5-47CC-AEB3-94E8D718CD3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9F49DE-34DC-4898-9232-5BDA2135622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DEED87-9360-44E1-9287-71275382B1B7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427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960C8F-BCA3-4F81-9248-340F13DDEED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632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7036DE-4EE9-497C-9E55-1D91E7DACFF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EC0AEB-47CB-4BC4-A28B-C8837810FB1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246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17BD69-2B59-4DD8-BD92-29EDBEDF3D1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656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A55545-B473-438F-9EAA-C8A9A24AE10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632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C9E9E3DC-957B-47A7-B1B9-45887DA1DCF0}" type="slidenum">
              <a:rPr lang="en-US" sz="1200">
                <a:latin typeface="+mn-lt"/>
              </a:rPr>
              <a:pPr algn="r">
                <a:defRPr/>
              </a:pPr>
              <a:t>26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CA117E-6D69-4979-B4E5-5005F1544827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837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D725B56-6E90-41BF-85E6-E5F936CBB6A3}" type="slidenum">
              <a:rPr lang="en-US" sz="1200">
                <a:latin typeface="+mn-lt"/>
              </a:rPr>
              <a:pPr algn="r">
                <a:defRPr/>
              </a:pPr>
              <a:t>27</a:t>
            </a:fld>
            <a:endParaRPr lang="en-US" sz="1200">
              <a:latin typeface="+mn-lt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6144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03E9FCA-2325-4C11-AC6E-CC834AD60AB0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29200"/>
            <a:ext cx="9144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8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30375"/>
            <a:ext cx="7772400" cy="1470025"/>
          </a:xfrm>
        </p:spPr>
        <p:txBody>
          <a:bodyPr/>
          <a:lstStyle>
            <a:lvl1pPr algn="l">
              <a:defRPr sz="4200">
                <a:latin typeface="Arial Black" pitchFamily="34" charset="0"/>
              </a:defRPr>
            </a:lvl1pPr>
          </a:lstStyle>
          <a:p>
            <a:endParaRPr 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200400"/>
            <a:ext cx="7467600" cy="1676400"/>
          </a:xfrm>
        </p:spPr>
        <p:txBody>
          <a:bodyPr/>
          <a:lstStyle>
            <a:lvl1pPr marL="0" indent="0" algn="ctr">
              <a:buFontTx/>
              <a:buNone/>
              <a:defRPr sz="4800">
                <a:latin typeface="Arial Black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FEA332B1-F4BC-49FD-82B1-642C8818CF95}" type="datetime1">
              <a:rPr lang="en-US"/>
              <a:pPr>
                <a:defRPr/>
              </a:pPr>
              <a:t>8/7/2024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10-1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92A1330-5BDF-4C28-9376-3B7440925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304800"/>
            <a:ext cx="2057400" cy="58213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6019800" cy="58213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 descr="Frank Brief 2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685800" cy="693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33" name="Rectangle 21"/>
          <p:cNvSpPr>
            <a:spLocks noChangeArrowheads="1"/>
          </p:cNvSpPr>
          <p:nvPr userDrawn="1"/>
        </p:nvSpPr>
        <p:spPr bwMode="auto">
          <a:xfrm>
            <a:off x="6934200" y="64008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r>
              <a:rPr lang="en-US" sz="1000">
                <a:latin typeface="Times New Roman" pitchFamily="18" charset="0"/>
              </a:rPr>
              <a:t>10-</a:t>
            </a:r>
            <a:fld id="{0E0E3649-C02E-4A94-97FB-288081E38D50}" type="slidenum">
              <a:rPr lang="en-US" sz="1000">
                <a:latin typeface="Times New Roman" pitchFamily="18" charset="0"/>
              </a:rPr>
              <a:pPr algn="r">
                <a:defRPr/>
              </a:pPr>
              <a:t>‹#›</a:t>
            </a:fld>
            <a:endParaRPr lang="en-US" sz="10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hayboon@ntu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171574" y="266700"/>
            <a:ext cx="7515225" cy="4000500"/>
          </a:xfrm>
        </p:spPr>
        <p:txBody>
          <a:bodyPr/>
          <a:lstStyle/>
          <a:p>
            <a:r>
              <a:rPr lang="en-US">
                <a:latin typeface="Arial" charset="0"/>
              </a:rPr>
              <a:t>HE5091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Principles of Economics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Lecture 5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Externalities, Property Rights and Economics of Information</a:t>
            </a:r>
            <a:endParaRPr lang="en-US" dirty="0"/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155700" y="4229100"/>
            <a:ext cx="7721600" cy="1819275"/>
          </a:xfrm>
        </p:spPr>
        <p:txBody>
          <a:bodyPr/>
          <a:lstStyle/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Tan Khay Boon</a:t>
            </a:r>
          </a:p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Email</a:t>
            </a:r>
            <a:r>
              <a:rPr lang="en-US"/>
              <a:t>: </a:t>
            </a:r>
            <a:r>
              <a:rPr lang="en-US">
                <a:hlinkClick r:id="rId3"/>
              </a:rPr>
              <a:t>khayboon@ntu.edu.sg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Topics</a:t>
            </a:r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990600" y="1600200"/>
            <a:ext cx="7950200" cy="4324350"/>
          </a:xfrm>
        </p:spPr>
        <p:txBody>
          <a:bodyPr/>
          <a:lstStyle/>
          <a:p>
            <a:r>
              <a:rPr lang="en-US" dirty="0"/>
              <a:t>External Costs and Benefits</a:t>
            </a:r>
          </a:p>
          <a:p>
            <a:r>
              <a:rPr lang="en-US" dirty="0"/>
              <a:t>The </a:t>
            </a:r>
            <a:r>
              <a:rPr lang="en-US" dirty="0" err="1"/>
              <a:t>Coase</a:t>
            </a:r>
            <a:r>
              <a:rPr lang="en-US" dirty="0"/>
              <a:t> Theorem</a:t>
            </a:r>
          </a:p>
          <a:p>
            <a:r>
              <a:rPr lang="en-US" dirty="0"/>
              <a:t>Property Rights and the Tragedy of the Commons</a:t>
            </a:r>
          </a:p>
          <a:p>
            <a:r>
              <a:rPr lang="en-US" dirty="0"/>
              <a:t>Optimal Amount of Information</a:t>
            </a:r>
          </a:p>
          <a:p>
            <a:r>
              <a:rPr lang="en-US" dirty="0"/>
              <a:t>Asymmetric Information</a:t>
            </a:r>
          </a:p>
          <a:p>
            <a:r>
              <a:rPr lang="en-US" dirty="0"/>
              <a:t>Adverse Selection and Moral Hazard</a:t>
            </a:r>
          </a:p>
          <a:p>
            <a:r>
              <a:rPr lang="en-US" dirty="0"/>
              <a:t>Reference: FBAH </a:t>
            </a:r>
            <a:r>
              <a:rPr lang="en-US"/>
              <a:t>or FBL, </a:t>
            </a:r>
            <a:r>
              <a:rPr lang="en-US" dirty="0"/>
              <a:t>chapters 10 &amp; 11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External Costs and Benefits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1600200"/>
            <a:ext cx="8229600" cy="4525963"/>
          </a:xfrm>
        </p:spPr>
        <p:txBody>
          <a:bodyPr/>
          <a:lstStyle/>
          <a:p>
            <a:pPr marL="347663" indent="-347663" eaLnBrk="1" hangingPunct="1"/>
            <a:r>
              <a:rPr lang="en-US" dirty="0"/>
              <a:t>An </a:t>
            </a:r>
            <a:r>
              <a:rPr lang="en-US" b="1" dirty="0"/>
              <a:t>externality </a:t>
            </a:r>
            <a:r>
              <a:rPr lang="en-US" dirty="0"/>
              <a:t>is the name given to an external cost or external benefit of an activity</a:t>
            </a:r>
          </a:p>
          <a:p>
            <a:pPr marL="347663" indent="-347663" eaLnBrk="1" hangingPunct="1"/>
            <a:r>
              <a:rPr lang="en-US" dirty="0"/>
              <a:t>An </a:t>
            </a:r>
            <a:r>
              <a:rPr lang="en-US" b="1" dirty="0"/>
              <a:t>external cost</a:t>
            </a:r>
            <a:r>
              <a:rPr lang="en-US" dirty="0"/>
              <a:t> is a cost of an activity that falls on  people other than those who pursue the activity</a:t>
            </a:r>
          </a:p>
          <a:p>
            <a:pPr marL="752475" lvl="1" indent="-290513" eaLnBrk="1" hangingPunct="1"/>
            <a:r>
              <a:rPr lang="en-US" dirty="0"/>
              <a:t>Also called a </a:t>
            </a:r>
            <a:r>
              <a:rPr lang="en-US" b="1" dirty="0"/>
              <a:t>negative externality</a:t>
            </a:r>
          </a:p>
          <a:p>
            <a:pPr marL="347663" indent="-347663" eaLnBrk="1" hangingPunct="1"/>
            <a:r>
              <a:rPr lang="en-US" dirty="0"/>
              <a:t>An </a:t>
            </a:r>
            <a:r>
              <a:rPr lang="en-US" b="1" dirty="0"/>
              <a:t>external benefit</a:t>
            </a:r>
            <a:r>
              <a:rPr lang="en-US" dirty="0"/>
              <a:t> is a benefit of an activity received by people other than those who pursue the activity</a:t>
            </a:r>
          </a:p>
          <a:p>
            <a:pPr marL="752475" lvl="1" indent="-290513" eaLnBrk="1" hangingPunct="1"/>
            <a:r>
              <a:rPr lang="en-US" dirty="0"/>
              <a:t>Also called a </a:t>
            </a:r>
            <a:r>
              <a:rPr lang="en-US" b="1" dirty="0"/>
              <a:t>positive externality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685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Externalities Affect Resource Allocation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90600" y="2179637"/>
            <a:ext cx="8229600" cy="4525963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Externalities reduce economic efficiency</a:t>
            </a:r>
          </a:p>
          <a:p>
            <a:pPr marL="511175" lvl="1" indent="-290513" eaLnBrk="1" hangingPunct="1"/>
            <a:r>
              <a:rPr lang="en-US" dirty="0"/>
              <a:t>Need to rectify the externalities for the market to be efficient</a:t>
            </a:r>
          </a:p>
          <a:p>
            <a:pPr marL="511175" lvl="1" indent="-290513" eaLnBrk="1" hangingPunct="1"/>
            <a:r>
              <a:rPr lang="en-US" dirty="0"/>
              <a:t>Possible to rectify externality by private parties – </a:t>
            </a:r>
            <a:r>
              <a:rPr lang="en-US" dirty="0" err="1"/>
              <a:t>Coase</a:t>
            </a:r>
            <a:r>
              <a:rPr lang="en-US" dirty="0"/>
              <a:t> Theorem</a:t>
            </a:r>
          </a:p>
          <a:p>
            <a:pPr marL="511175" lvl="1" indent="-290513" eaLnBrk="1" hangingPunct="1"/>
            <a:r>
              <a:rPr lang="en-US" dirty="0"/>
              <a:t>When private efficient solutions to externalities are not possible, government intervention or other collective action may be used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-84138"/>
            <a:ext cx="8229600" cy="1143001"/>
          </a:xfrm>
        </p:spPr>
        <p:txBody>
          <a:bodyPr/>
          <a:lstStyle/>
          <a:p>
            <a:pPr eaLnBrk="1" hangingPunct="1"/>
            <a:r>
              <a:rPr lang="en-US" dirty="0"/>
              <a:t>Honeybee Keeper – Scenario 1</a:t>
            </a:r>
          </a:p>
        </p:txBody>
      </p:sp>
      <p:sp>
        <p:nvSpPr>
          <p:cNvPr id="203779" name="Rectangle 1027"/>
          <p:cNvSpPr>
            <a:spLocks noGrp="1" noChangeArrowheads="1"/>
          </p:cNvSpPr>
          <p:nvPr>
            <p:ph idx="4294967295"/>
          </p:nvPr>
        </p:nvSpPr>
        <p:spPr>
          <a:xfrm>
            <a:off x="902677" y="1058863"/>
            <a:ext cx="8229600" cy="5327650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Phoebe harvests and sells honey from her bees</a:t>
            </a:r>
          </a:p>
          <a:p>
            <a:pPr marL="511175" lvl="1" indent="-290513" eaLnBrk="1" hangingPunct="1"/>
            <a:r>
              <a:rPr lang="en-US" dirty="0"/>
              <a:t>Bees pollinate the apple orchards </a:t>
            </a:r>
          </a:p>
          <a:p>
            <a:pPr marL="692150" lvl="2" eaLnBrk="1" hangingPunct="1"/>
            <a:r>
              <a:rPr lang="en-US" dirty="0"/>
              <a:t>No payments made to Phoebe</a:t>
            </a:r>
          </a:p>
          <a:p>
            <a:pPr marL="225425" indent="-225425" eaLnBrk="1" hangingPunct="1"/>
            <a:r>
              <a:rPr lang="en-US" dirty="0"/>
              <a:t>The bees provide a free service to the local farmers, Phoebe is giving away a service</a:t>
            </a:r>
          </a:p>
          <a:p>
            <a:pPr marL="225425" indent="-225425" eaLnBrk="1" hangingPunct="1"/>
            <a:r>
              <a:rPr lang="en-US" dirty="0"/>
              <a:t>Phoebe harvest bees until the Private costs (MC) are equal to private benefits (MB) </a:t>
            </a:r>
          </a:p>
          <a:p>
            <a:pPr marL="225425" indent="-225425" eaLnBrk="1" hangingPunct="1"/>
            <a:r>
              <a:rPr lang="en-US" dirty="0">
                <a:sym typeface="Symbol"/>
              </a:rPr>
              <a:t> Market equilibrium</a:t>
            </a:r>
          </a:p>
          <a:p>
            <a:pPr marL="225425" indent="-225425" eaLnBrk="1" hangingPunct="1"/>
            <a:r>
              <a:rPr lang="en-US" dirty="0"/>
              <a:t>Social benefits are greater than private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410200"/>
            <a:ext cx="7535334" cy="120032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When external benefits exist, </a:t>
            </a:r>
            <a:br>
              <a:rPr lang="en-US" sz="2400" b="1" dirty="0"/>
            </a:br>
            <a:r>
              <a:rPr lang="en-US" sz="2400" b="1" dirty="0"/>
              <a:t>market equilibrium produces less </a:t>
            </a:r>
            <a:br>
              <a:rPr lang="en-US" sz="2400" b="1" dirty="0"/>
            </a:br>
            <a:r>
              <a:rPr lang="en-US" sz="2400" b="1" dirty="0"/>
              <a:t>than the social optimum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-28575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Honeybee Keeper – Scenario 2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1355725"/>
            <a:ext cx="8229600" cy="4525963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Phoebe harvests and sells honey from her bees</a:t>
            </a:r>
          </a:p>
          <a:p>
            <a:pPr marL="225425" indent="-225425" eaLnBrk="1" hangingPunct="1"/>
            <a:r>
              <a:rPr lang="en-US" dirty="0"/>
              <a:t>People at a neighboring school and nursing home are bothered by bee stings</a:t>
            </a:r>
          </a:p>
          <a:p>
            <a:pPr marL="225425" indent="-225425" eaLnBrk="1" hangingPunct="1"/>
            <a:r>
              <a:rPr lang="en-US" dirty="0"/>
              <a:t>The bees are a nuisance to the neighbors</a:t>
            </a:r>
          </a:p>
          <a:p>
            <a:pPr marL="511175" lvl="1" indent="-290513" eaLnBrk="1" hangingPunct="1"/>
            <a:r>
              <a:rPr lang="en-US" dirty="0"/>
              <a:t>Phoebe is not paying all the costs of her honeybees</a:t>
            </a:r>
          </a:p>
          <a:p>
            <a:pPr marL="692150" lvl="2" eaLnBrk="1" hangingPunct="1"/>
            <a:r>
              <a:rPr lang="en-US" dirty="0"/>
              <a:t>Private costs (MC) are equal to private benefits (MB)</a:t>
            </a:r>
          </a:p>
          <a:p>
            <a:pPr marL="692150" lvl="2" eaLnBrk="1" hangingPunct="1"/>
            <a:r>
              <a:rPr lang="en-US" dirty="0">
                <a:sym typeface="Symbol"/>
              </a:rPr>
              <a:t> Market equilibrium</a:t>
            </a:r>
          </a:p>
          <a:p>
            <a:pPr marL="692150" lvl="2" eaLnBrk="1" hangingPunct="1"/>
            <a:r>
              <a:rPr lang="en-US" dirty="0"/>
              <a:t>Social costs are greater than private costs</a:t>
            </a:r>
          </a:p>
          <a:p>
            <a:pPr marL="511175" lvl="1" indent="-290513" eaLnBrk="1" hangingPunct="1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66800" y="5181600"/>
            <a:ext cx="7535334" cy="120032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When external costs exist, </a:t>
            </a:r>
            <a:br>
              <a:rPr lang="en-US" sz="2400" b="1" dirty="0"/>
            </a:br>
            <a:r>
              <a:rPr lang="en-US" sz="2400" b="1" dirty="0"/>
              <a:t>market equilibrium produces more</a:t>
            </a:r>
            <a:br>
              <a:rPr lang="en-US" sz="2400" b="1" dirty="0"/>
            </a:br>
            <a:r>
              <a:rPr lang="en-US" sz="2400" b="1" dirty="0"/>
              <a:t>than the social optimum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>
            <a:grpSpLocks/>
          </p:cNvGrpSpPr>
          <p:nvPr/>
        </p:nvGrpSpPr>
        <p:grpSpPr bwMode="auto">
          <a:xfrm>
            <a:off x="4737100" y="1541463"/>
            <a:ext cx="4259263" cy="4232275"/>
            <a:chOff x="4737366" y="1540933"/>
            <a:chExt cx="4258205" cy="4233334"/>
          </a:xfrm>
        </p:grpSpPr>
        <p:grpSp>
          <p:nvGrpSpPr>
            <p:cNvPr id="26678" name="Group 83"/>
            <p:cNvGrpSpPr>
              <a:grpSpLocks/>
            </p:cNvGrpSpPr>
            <p:nvPr/>
          </p:nvGrpSpPr>
          <p:grpSpPr bwMode="auto">
            <a:xfrm>
              <a:off x="4737366" y="1540933"/>
              <a:ext cx="4258205" cy="4233334"/>
              <a:chOff x="4737366" y="1540933"/>
              <a:chExt cx="4258205" cy="4233334"/>
            </a:xfrm>
          </p:grpSpPr>
          <p:sp>
            <p:nvSpPr>
              <p:cNvPr id="60" name="Rectangle 59"/>
              <p:cNvSpPr/>
              <p:nvPr/>
            </p:nvSpPr>
            <p:spPr bwMode="auto">
              <a:xfrm>
                <a:off x="4737366" y="1540933"/>
                <a:ext cx="4258205" cy="4233334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2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9" name="Rectangle 58"/>
              <p:cNvSpPr/>
              <p:nvPr/>
            </p:nvSpPr>
            <p:spPr bwMode="auto">
              <a:xfrm>
                <a:off x="4805612" y="1617152"/>
                <a:ext cx="4121713" cy="4080896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US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6679" name="Text Box 128"/>
            <p:cNvSpPr txBox="1">
              <a:spLocks noChangeArrowheads="1"/>
            </p:cNvSpPr>
            <p:nvPr/>
          </p:nvSpPr>
          <p:spPr bwMode="auto">
            <a:xfrm>
              <a:off x="6064918" y="1706311"/>
              <a:ext cx="190789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u="sng"/>
                <a:t>External Cost </a:t>
              </a:r>
            </a:p>
          </p:txBody>
        </p:sp>
        <p:sp>
          <p:nvSpPr>
            <p:cNvPr id="26680" name="Line 94"/>
            <p:cNvSpPr>
              <a:spLocks noChangeShapeType="1"/>
            </p:cNvSpPr>
            <p:nvPr/>
          </p:nvSpPr>
          <p:spPr bwMode="auto">
            <a:xfrm rot="16200000" flipV="1">
              <a:off x="6389689" y="3198562"/>
              <a:ext cx="0" cy="13747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81" name="Line 97"/>
            <p:cNvSpPr>
              <a:spLocks noChangeShapeType="1"/>
            </p:cNvSpPr>
            <p:nvPr/>
          </p:nvSpPr>
          <p:spPr bwMode="auto">
            <a:xfrm>
              <a:off x="5689601" y="4852736"/>
              <a:ext cx="25574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82" name="Text Box 98"/>
            <p:cNvSpPr txBox="1">
              <a:spLocks noChangeArrowheads="1"/>
            </p:cNvSpPr>
            <p:nvPr/>
          </p:nvSpPr>
          <p:spPr bwMode="auto">
            <a:xfrm>
              <a:off x="5600173" y="5239557"/>
              <a:ext cx="276542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Quantity (tons/year)</a:t>
              </a:r>
            </a:p>
          </p:txBody>
        </p:sp>
        <p:sp>
          <p:nvSpPr>
            <p:cNvPr id="26683" name="Line 105"/>
            <p:cNvSpPr>
              <a:spLocks noChangeShapeType="1"/>
            </p:cNvSpPr>
            <p:nvPr/>
          </p:nvSpPr>
          <p:spPr bwMode="auto">
            <a:xfrm>
              <a:off x="5697539" y="2360361"/>
              <a:ext cx="0" cy="2492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84" name="Line 95"/>
            <p:cNvSpPr>
              <a:spLocks noChangeShapeType="1"/>
            </p:cNvSpPr>
            <p:nvPr/>
          </p:nvSpPr>
          <p:spPr bwMode="auto">
            <a:xfrm flipV="1">
              <a:off x="7081839" y="3846262"/>
              <a:ext cx="0" cy="10144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85" name="Text Box 102"/>
            <p:cNvSpPr txBox="1">
              <a:spLocks noChangeArrowheads="1"/>
            </p:cNvSpPr>
            <p:nvPr/>
          </p:nvSpPr>
          <p:spPr bwMode="auto">
            <a:xfrm>
              <a:off x="6694489" y="4870199"/>
              <a:ext cx="10414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12,000</a:t>
              </a:r>
            </a:p>
          </p:txBody>
        </p:sp>
        <p:sp>
          <p:nvSpPr>
            <p:cNvPr id="26686" name="Text Box 103"/>
            <p:cNvSpPr txBox="1">
              <a:spLocks noChangeArrowheads="1"/>
            </p:cNvSpPr>
            <p:nvPr/>
          </p:nvSpPr>
          <p:spPr bwMode="auto">
            <a:xfrm>
              <a:off x="4887914" y="3730374"/>
              <a:ext cx="80962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1.3</a:t>
              </a:r>
            </a:p>
          </p:txBody>
        </p:sp>
        <p:sp>
          <p:nvSpPr>
            <p:cNvPr id="26687" name="Text Box 76"/>
            <p:cNvSpPr txBox="1">
              <a:spLocks noChangeArrowheads="1"/>
            </p:cNvSpPr>
            <p:nvPr/>
          </p:nvSpPr>
          <p:spPr bwMode="auto">
            <a:xfrm rot="-5400000">
              <a:off x="3702736" y="3494133"/>
              <a:ext cx="270051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Price ($000s / ton)</a:t>
              </a:r>
            </a:p>
          </p:txBody>
        </p:sp>
        <p:sp>
          <p:nvSpPr>
            <p:cNvPr id="26688" name="Text Box 100"/>
            <p:cNvSpPr txBox="1">
              <a:spLocks noChangeArrowheads="1"/>
            </p:cNvSpPr>
            <p:nvPr/>
          </p:nvSpPr>
          <p:spPr bwMode="auto">
            <a:xfrm>
              <a:off x="7862889" y="4355849"/>
              <a:ext cx="295275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D</a:t>
              </a:r>
            </a:p>
          </p:txBody>
        </p:sp>
        <p:sp>
          <p:nvSpPr>
            <p:cNvPr id="181344" name="Line 96"/>
            <p:cNvSpPr>
              <a:spLocks noChangeShapeType="1"/>
            </p:cNvSpPr>
            <p:nvPr/>
          </p:nvSpPr>
          <p:spPr bwMode="auto">
            <a:xfrm rot="5400000">
              <a:off x="6409920" y="3035616"/>
              <a:ext cx="1027369" cy="1893417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6690" name="Text Box 101"/>
            <p:cNvSpPr txBox="1">
              <a:spLocks noChangeArrowheads="1"/>
            </p:cNvSpPr>
            <p:nvPr/>
          </p:nvSpPr>
          <p:spPr bwMode="auto">
            <a:xfrm>
              <a:off x="7712077" y="3488267"/>
              <a:ext cx="1135062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Private MC</a:t>
              </a:r>
            </a:p>
          </p:txBody>
        </p:sp>
        <p:sp>
          <p:nvSpPr>
            <p:cNvPr id="181352" name="Line 104"/>
            <p:cNvSpPr>
              <a:spLocks noChangeShapeType="1"/>
            </p:cNvSpPr>
            <p:nvPr/>
          </p:nvSpPr>
          <p:spPr bwMode="auto">
            <a:xfrm>
              <a:off x="5775333" y="2628642"/>
              <a:ext cx="2210839" cy="2135722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181362" name="AutoShape 114"/>
          <p:cNvSpPr>
            <a:spLocks noChangeArrowheads="1"/>
          </p:cNvSpPr>
          <p:nvPr/>
        </p:nvSpPr>
        <p:spPr bwMode="auto">
          <a:xfrm>
            <a:off x="7440614" y="3120774"/>
            <a:ext cx="142875" cy="439738"/>
          </a:xfrm>
          <a:prstGeom prst="upDownArrow">
            <a:avLst>
              <a:gd name="adj1" fmla="val 50000"/>
              <a:gd name="adj2" fmla="val 61556"/>
            </a:avLst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1367" name="Text Box 119"/>
          <p:cNvSpPr txBox="1">
            <a:spLocks noChangeArrowheads="1"/>
          </p:cNvSpPr>
          <p:nvPr/>
        </p:nvSpPr>
        <p:spPr bwMode="auto">
          <a:xfrm>
            <a:off x="7589838" y="3036888"/>
            <a:ext cx="13255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$1,000/ton</a:t>
            </a:r>
            <a:endParaRPr lang="en-US" i="1"/>
          </a:p>
        </p:txBody>
      </p:sp>
      <p:sp>
        <p:nvSpPr>
          <p:cNvPr id="52" name="Rectangle 51"/>
          <p:cNvSpPr/>
          <p:nvPr/>
        </p:nvSpPr>
        <p:spPr bwMode="auto">
          <a:xfrm>
            <a:off x="817034" y="1507068"/>
            <a:ext cx="3657600" cy="36576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884238" y="1592263"/>
            <a:ext cx="3522662" cy="3487737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6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4800"/>
              <a:t>External Costs</a:t>
            </a:r>
          </a:p>
        </p:txBody>
      </p:sp>
      <p:sp>
        <p:nvSpPr>
          <p:cNvPr id="26635" name="Text Box 76"/>
          <p:cNvSpPr txBox="1">
            <a:spLocks noChangeArrowheads="1"/>
          </p:cNvSpPr>
          <p:nvPr/>
        </p:nvSpPr>
        <p:spPr bwMode="auto">
          <a:xfrm rot="-5400000">
            <a:off x="-124619" y="3218657"/>
            <a:ext cx="270033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Price ($000s / ton)</a:t>
            </a:r>
          </a:p>
        </p:txBody>
      </p:sp>
      <p:sp>
        <p:nvSpPr>
          <p:cNvPr id="26636" name="Text Box 127"/>
          <p:cNvSpPr txBox="1">
            <a:spLocks noChangeArrowheads="1"/>
          </p:cNvSpPr>
          <p:nvPr/>
        </p:nvSpPr>
        <p:spPr bwMode="auto">
          <a:xfrm>
            <a:off x="1763713" y="1755775"/>
            <a:ext cx="201295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u="sng"/>
              <a:t>No External Cost </a:t>
            </a:r>
          </a:p>
        </p:txBody>
      </p:sp>
      <p:sp>
        <p:nvSpPr>
          <p:cNvPr id="26637" name="Line 73"/>
          <p:cNvSpPr>
            <a:spLocks noChangeShapeType="1"/>
          </p:cNvSpPr>
          <p:nvPr/>
        </p:nvSpPr>
        <p:spPr bwMode="auto">
          <a:xfrm>
            <a:off x="1773238" y="4383088"/>
            <a:ext cx="22177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8" name="Line 90"/>
          <p:cNvSpPr>
            <a:spLocks noChangeShapeType="1"/>
          </p:cNvSpPr>
          <p:nvPr/>
        </p:nvSpPr>
        <p:spPr bwMode="auto">
          <a:xfrm>
            <a:off x="1779588" y="2220913"/>
            <a:ext cx="0" cy="2162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9" name="Text Box 118"/>
          <p:cNvSpPr txBox="1">
            <a:spLocks noChangeArrowheads="1"/>
          </p:cNvSpPr>
          <p:nvPr/>
        </p:nvSpPr>
        <p:spPr bwMode="auto">
          <a:xfrm>
            <a:off x="1804988" y="4595813"/>
            <a:ext cx="2397125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Quantity (tons/year)</a:t>
            </a:r>
          </a:p>
        </p:txBody>
      </p:sp>
      <p:grpSp>
        <p:nvGrpSpPr>
          <p:cNvPr id="53" name="Group 52"/>
          <p:cNvGrpSpPr>
            <a:grpSpLocks/>
          </p:cNvGrpSpPr>
          <p:nvPr/>
        </p:nvGrpSpPr>
        <p:grpSpPr bwMode="auto">
          <a:xfrm>
            <a:off x="1290638" y="3408363"/>
            <a:ext cx="2035175" cy="1309687"/>
            <a:chOff x="1290313" y="3409073"/>
            <a:chExt cx="2035621" cy="1308721"/>
          </a:xfrm>
        </p:grpSpPr>
        <p:sp>
          <p:nvSpPr>
            <p:cNvPr id="26674" name="Line 71"/>
            <p:cNvSpPr>
              <a:spLocks noChangeShapeType="1"/>
            </p:cNvSpPr>
            <p:nvPr/>
          </p:nvSpPr>
          <p:spPr bwMode="auto">
            <a:xfrm flipV="1">
              <a:off x="2980393" y="3566012"/>
              <a:ext cx="0" cy="8232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75" name="Line 93"/>
            <p:cNvSpPr>
              <a:spLocks noChangeShapeType="1"/>
            </p:cNvSpPr>
            <p:nvPr/>
          </p:nvSpPr>
          <p:spPr bwMode="auto">
            <a:xfrm rot="16200000" flipV="1">
              <a:off x="2380169" y="2947892"/>
              <a:ext cx="0" cy="1192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76" name="Text Box 82"/>
            <p:cNvSpPr txBox="1">
              <a:spLocks noChangeArrowheads="1"/>
            </p:cNvSpPr>
            <p:nvPr/>
          </p:nvSpPr>
          <p:spPr bwMode="auto">
            <a:xfrm>
              <a:off x="2422845" y="4397514"/>
              <a:ext cx="903089" cy="320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12,000</a:t>
              </a:r>
            </a:p>
          </p:txBody>
        </p:sp>
        <p:sp>
          <p:nvSpPr>
            <p:cNvPr id="26677" name="Text Box 86"/>
            <p:cNvSpPr txBox="1">
              <a:spLocks noChangeArrowheads="1"/>
            </p:cNvSpPr>
            <p:nvPr/>
          </p:nvSpPr>
          <p:spPr bwMode="auto">
            <a:xfrm>
              <a:off x="1290313" y="3409073"/>
              <a:ext cx="53926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1.3</a:t>
              </a:r>
            </a:p>
          </p:txBody>
        </p:sp>
      </p:grpSp>
      <p:grpSp>
        <p:nvGrpSpPr>
          <p:cNvPr id="83" name="Group 82"/>
          <p:cNvGrpSpPr>
            <a:grpSpLocks/>
          </p:cNvGrpSpPr>
          <p:nvPr/>
        </p:nvGrpSpPr>
        <p:grpSpPr bwMode="auto">
          <a:xfrm>
            <a:off x="1847850" y="2454275"/>
            <a:ext cx="2403475" cy="1851025"/>
            <a:chOff x="1847401" y="2453671"/>
            <a:chExt cx="2403649" cy="1851607"/>
          </a:xfrm>
        </p:grpSpPr>
        <p:sp>
          <p:nvSpPr>
            <p:cNvPr id="181320" name="Line 72"/>
            <p:cNvSpPr>
              <a:spLocks noChangeShapeType="1"/>
            </p:cNvSpPr>
            <p:nvPr/>
          </p:nvSpPr>
          <p:spPr bwMode="auto">
            <a:xfrm rot="5400000">
              <a:off x="2398990" y="2805611"/>
              <a:ext cx="889280" cy="1643182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6671" name="Text Box 77"/>
            <p:cNvSpPr txBox="1">
              <a:spLocks noChangeArrowheads="1"/>
            </p:cNvSpPr>
            <p:nvPr/>
          </p:nvSpPr>
          <p:spPr bwMode="auto">
            <a:xfrm>
              <a:off x="3657710" y="3951476"/>
              <a:ext cx="256059" cy="318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D</a:t>
              </a:r>
            </a:p>
          </p:txBody>
        </p:sp>
        <p:sp>
          <p:nvSpPr>
            <p:cNvPr id="26672" name="Text Box 78"/>
            <p:cNvSpPr txBox="1">
              <a:spLocks noChangeArrowheads="1"/>
            </p:cNvSpPr>
            <p:nvPr/>
          </p:nvSpPr>
          <p:spPr bwMode="auto">
            <a:xfrm>
              <a:off x="2987276" y="2890072"/>
              <a:ext cx="1263774" cy="318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Private MC</a:t>
              </a:r>
            </a:p>
          </p:txBody>
        </p:sp>
        <p:sp>
          <p:nvSpPr>
            <p:cNvPr id="181336" name="Line 88"/>
            <p:cNvSpPr>
              <a:spLocks noChangeShapeType="1"/>
            </p:cNvSpPr>
            <p:nvPr/>
          </p:nvSpPr>
          <p:spPr bwMode="auto">
            <a:xfrm>
              <a:off x="1847401" y="2453671"/>
              <a:ext cx="1917839" cy="1851607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181365" name="Text Box 117"/>
          <p:cNvSpPr txBox="1">
            <a:spLocks noChangeArrowheads="1"/>
          </p:cNvSpPr>
          <p:nvPr/>
        </p:nvSpPr>
        <p:spPr bwMode="auto">
          <a:xfrm>
            <a:off x="7382935" y="5988483"/>
            <a:ext cx="1693333" cy="59093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b="1" dirty="0"/>
              <a:t>Private</a:t>
            </a:r>
          </a:p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/>
              <a:t>Equilibrium</a:t>
            </a:r>
          </a:p>
        </p:txBody>
      </p:sp>
      <p:sp>
        <p:nvSpPr>
          <p:cNvPr id="181379" name="Text Box 131"/>
          <p:cNvSpPr txBox="1">
            <a:spLocks noChangeArrowheads="1"/>
          </p:cNvSpPr>
          <p:nvPr/>
        </p:nvSpPr>
        <p:spPr bwMode="auto">
          <a:xfrm>
            <a:off x="3081872" y="5933083"/>
            <a:ext cx="2709332" cy="64633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/>
              <a:t>Deadweight loss from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/>
              <a:t>pollution = $2 M/yr</a:t>
            </a:r>
          </a:p>
        </p:txBody>
      </p:sp>
      <p:sp>
        <p:nvSpPr>
          <p:cNvPr id="181364" name="Text Box 116"/>
          <p:cNvSpPr txBox="1">
            <a:spLocks noChangeArrowheads="1"/>
          </p:cNvSpPr>
          <p:nvPr/>
        </p:nvSpPr>
        <p:spPr bwMode="auto">
          <a:xfrm>
            <a:off x="5944295" y="5988483"/>
            <a:ext cx="1285549" cy="59093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b="1" dirty="0"/>
              <a:t>Social</a:t>
            </a:r>
          </a:p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/>
              <a:t>Optimum</a:t>
            </a:r>
          </a:p>
        </p:txBody>
      </p:sp>
      <p:grpSp>
        <p:nvGrpSpPr>
          <p:cNvPr id="88" name="Group 87"/>
          <p:cNvGrpSpPr>
            <a:grpSpLocks/>
          </p:cNvGrpSpPr>
          <p:nvPr/>
        </p:nvGrpSpPr>
        <p:grpSpPr bwMode="auto">
          <a:xfrm>
            <a:off x="4887913" y="3063875"/>
            <a:ext cx="2217737" cy="1785938"/>
            <a:chOff x="4887914" y="3063624"/>
            <a:chExt cx="2217736" cy="1785402"/>
          </a:xfrm>
        </p:grpSpPr>
        <p:cxnSp>
          <p:nvCxnSpPr>
            <p:cNvPr id="26664" name="Straight Connector 57"/>
            <p:cNvCxnSpPr>
              <a:cxnSpLocks noChangeShapeType="1"/>
            </p:cNvCxnSpPr>
            <p:nvPr/>
          </p:nvCxnSpPr>
          <p:spPr bwMode="auto">
            <a:xfrm rot="5400000">
              <a:off x="6283843" y="4045474"/>
              <a:ext cx="1605516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26665" name="Line 110"/>
            <p:cNvSpPr>
              <a:spLocks noChangeShapeType="1"/>
            </p:cNvSpPr>
            <p:nvPr/>
          </p:nvSpPr>
          <p:spPr bwMode="auto">
            <a:xfrm rot="16200000" flipV="1">
              <a:off x="6389689" y="2558799"/>
              <a:ext cx="0" cy="13747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378" name="Freeform 130"/>
            <p:cNvSpPr>
              <a:spLocks/>
            </p:cNvSpPr>
            <p:nvPr/>
          </p:nvSpPr>
          <p:spPr bwMode="auto">
            <a:xfrm>
              <a:off x="6682478" y="3251578"/>
              <a:ext cx="423172" cy="6604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256" y="0"/>
                </a:cxn>
                <a:cxn ang="0">
                  <a:pos x="256" y="416"/>
                </a:cxn>
                <a:cxn ang="0">
                  <a:pos x="0" y="144"/>
                </a:cxn>
              </a:cxnLst>
              <a:rect l="0" t="0" r="r" b="b"/>
              <a:pathLst>
                <a:path w="256" h="416">
                  <a:moveTo>
                    <a:pt x="0" y="144"/>
                  </a:moveTo>
                  <a:lnTo>
                    <a:pt x="256" y="0"/>
                  </a:lnTo>
                  <a:lnTo>
                    <a:pt x="256" y="416"/>
                  </a:lnTo>
                  <a:lnTo>
                    <a:pt x="0" y="144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6669" name="Text Box 113"/>
            <p:cNvSpPr txBox="1">
              <a:spLocks noChangeArrowheads="1"/>
            </p:cNvSpPr>
            <p:nvPr/>
          </p:nvSpPr>
          <p:spPr bwMode="auto">
            <a:xfrm>
              <a:off x="4887914" y="3063624"/>
              <a:ext cx="80962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2.3</a:t>
              </a:r>
            </a:p>
          </p:txBody>
        </p:sp>
      </p:grpSp>
      <p:cxnSp>
        <p:nvCxnSpPr>
          <p:cNvPr id="65" name="Straight Arrow Connector 64"/>
          <p:cNvCxnSpPr>
            <a:stCxn id="0" idx="0"/>
          </p:cNvCxnSpPr>
          <p:nvPr/>
        </p:nvCxnSpPr>
        <p:spPr bwMode="auto">
          <a:xfrm rot="16200000" flipV="1">
            <a:off x="6624638" y="4383088"/>
            <a:ext cx="2058987" cy="115093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0" name="Group 89"/>
          <p:cNvGrpSpPr>
            <a:grpSpLocks/>
          </p:cNvGrpSpPr>
          <p:nvPr/>
        </p:nvGrpSpPr>
        <p:grpSpPr bwMode="auto">
          <a:xfrm>
            <a:off x="5976938" y="2490788"/>
            <a:ext cx="2870200" cy="1352550"/>
            <a:chOff x="5976939" y="2491065"/>
            <a:chExt cx="2870199" cy="1352022"/>
          </a:xfrm>
        </p:grpSpPr>
        <p:sp>
          <p:nvSpPr>
            <p:cNvPr id="26662" name="Text Box 120"/>
            <p:cNvSpPr txBox="1">
              <a:spLocks noChangeArrowheads="1"/>
            </p:cNvSpPr>
            <p:nvPr/>
          </p:nvSpPr>
          <p:spPr bwMode="auto">
            <a:xfrm>
              <a:off x="7560735" y="2491065"/>
              <a:ext cx="128640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Social MC </a:t>
              </a:r>
            </a:p>
          </p:txBody>
        </p:sp>
        <p:sp>
          <p:nvSpPr>
            <p:cNvPr id="181359" name="Line 111"/>
            <p:cNvSpPr>
              <a:spLocks noChangeShapeType="1"/>
            </p:cNvSpPr>
            <p:nvPr/>
          </p:nvSpPr>
          <p:spPr bwMode="auto">
            <a:xfrm rot="5400000">
              <a:off x="6410526" y="2382788"/>
              <a:ext cx="1026712" cy="1893886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97" name="Group 96"/>
          <p:cNvGrpSpPr>
            <a:grpSpLocks/>
          </p:cNvGrpSpPr>
          <p:nvPr/>
        </p:nvGrpSpPr>
        <p:grpSpPr bwMode="auto">
          <a:xfrm>
            <a:off x="4887913" y="3278188"/>
            <a:ext cx="1912937" cy="1960562"/>
            <a:chOff x="4887914" y="3277937"/>
            <a:chExt cx="1912937" cy="1961594"/>
          </a:xfrm>
        </p:grpSpPr>
        <p:sp>
          <p:nvSpPr>
            <p:cNvPr id="26657" name="Line 106"/>
            <p:cNvSpPr>
              <a:spLocks noChangeShapeType="1"/>
            </p:cNvSpPr>
            <p:nvPr/>
          </p:nvSpPr>
          <p:spPr bwMode="auto">
            <a:xfrm flipV="1">
              <a:off x="6642101" y="3436687"/>
              <a:ext cx="0" cy="14239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658" name="Group 93"/>
            <p:cNvGrpSpPr>
              <a:grpSpLocks/>
            </p:cNvGrpSpPr>
            <p:nvPr/>
          </p:nvGrpSpPr>
          <p:grpSpPr bwMode="auto">
            <a:xfrm>
              <a:off x="4887914" y="3277937"/>
              <a:ext cx="1912937" cy="1961594"/>
              <a:chOff x="4887914" y="3277937"/>
              <a:chExt cx="1912937" cy="1961594"/>
            </a:xfrm>
          </p:grpSpPr>
          <p:sp>
            <p:nvSpPr>
              <p:cNvPr id="26659" name="Line 107"/>
              <p:cNvSpPr>
                <a:spLocks noChangeShapeType="1"/>
              </p:cNvSpPr>
              <p:nvPr/>
            </p:nvSpPr>
            <p:spPr bwMode="auto">
              <a:xfrm rot="16200000" flipV="1">
                <a:off x="6183314" y="2989012"/>
                <a:ext cx="0" cy="9604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60" name="Text Box 112"/>
              <p:cNvSpPr txBox="1">
                <a:spLocks noChangeArrowheads="1"/>
              </p:cNvSpPr>
              <p:nvPr/>
            </p:nvSpPr>
            <p:spPr bwMode="auto">
              <a:xfrm>
                <a:off x="4887914" y="3277937"/>
                <a:ext cx="809625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/>
                  <a:t>2.0</a:t>
                </a:r>
              </a:p>
            </p:txBody>
          </p:sp>
          <p:sp>
            <p:nvSpPr>
              <p:cNvPr id="26661" name="Text Box 115"/>
              <p:cNvSpPr txBox="1">
                <a:spLocks noChangeArrowheads="1"/>
              </p:cNvSpPr>
              <p:nvPr/>
            </p:nvSpPr>
            <p:spPr bwMode="auto">
              <a:xfrm>
                <a:off x="5759451" y="4870199"/>
                <a:ext cx="10414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/>
                  <a:t>8,000</a:t>
                </a:r>
              </a:p>
            </p:txBody>
          </p:sp>
        </p:grpSp>
      </p:grpSp>
      <p:cxnSp>
        <p:nvCxnSpPr>
          <p:cNvPr id="69" name="Straight Arrow Connector 68"/>
          <p:cNvCxnSpPr>
            <a:stCxn id="0" idx="0"/>
          </p:cNvCxnSpPr>
          <p:nvPr/>
        </p:nvCxnSpPr>
        <p:spPr bwMode="auto">
          <a:xfrm rot="5400000" flipH="1" flipV="1">
            <a:off x="4459288" y="3516313"/>
            <a:ext cx="2393950" cy="24384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0" idx="0"/>
          </p:cNvCxnSpPr>
          <p:nvPr/>
        </p:nvCxnSpPr>
        <p:spPr bwMode="auto">
          <a:xfrm rot="5400000" flipH="1" flipV="1">
            <a:off x="5361782" y="4712494"/>
            <a:ext cx="2500312" cy="508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1" name="Picture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3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93687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Positive Externality for Consumers</a:t>
            </a:r>
          </a:p>
        </p:txBody>
      </p:sp>
      <p:grpSp>
        <p:nvGrpSpPr>
          <p:cNvPr id="28674" name="Group 39"/>
          <p:cNvGrpSpPr>
            <a:grpSpLocks/>
          </p:cNvGrpSpPr>
          <p:nvPr/>
        </p:nvGrpSpPr>
        <p:grpSpPr bwMode="auto">
          <a:xfrm>
            <a:off x="1201738" y="1657350"/>
            <a:ext cx="7493000" cy="4895850"/>
            <a:chOff x="1125538" y="1490133"/>
            <a:chExt cx="7721600" cy="5046134"/>
          </a:xfrm>
        </p:grpSpPr>
        <p:sp>
          <p:nvSpPr>
            <p:cNvPr id="39" name="Rectangle 38"/>
            <p:cNvSpPr/>
            <p:nvPr/>
          </p:nvSpPr>
          <p:spPr bwMode="auto">
            <a:xfrm>
              <a:off x="1125538" y="1490133"/>
              <a:ext cx="7721600" cy="504613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1210606" y="1567035"/>
              <a:ext cx="7551463" cy="4892328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11004" name="Text Box 60"/>
          <p:cNvSpPr txBox="1">
            <a:spLocks noChangeArrowheads="1"/>
          </p:cNvSpPr>
          <p:nvPr/>
        </p:nvSpPr>
        <p:spPr bwMode="auto">
          <a:xfrm>
            <a:off x="5562468" y="1893950"/>
            <a:ext cx="2847254" cy="707886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000" b="1">
                <a:solidFill>
                  <a:srgbClr val="FFFFFF"/>
                </a:solidFill>
              </a:rPr>
              <a:t>Deadweight loss from</a:t>
            </a:r>
          </a:p>
          <a:p>
            <a:pPr>
              <a:defRPr/>
            </a:pPr>
            <a:r>
              <a:rPr lang="en-US" sz="2000" b="1">
                <a:solidFill>
                  <a:srgbClr val="FFFFFF"/>
                </a:solidFill>
              </a:rPr>
              <a:t>positive externality</a:t>
            </a:r>
          </a:p>
        </p:txBody>
      </p:sp>
      <p:sp>
        <p:nvSpPr>
          <p:cNvPr id="210990" name="AutoShape 46"/>
          <p:cNvSpPr>
            <a:spLocks noChangeArrowheads="1"/>
          </p:cNvSpPr>
          <p:nvPr/>
        </p:nvSpPr>
        <p:spPr bwMode="auto">
          <a:xfrm>
            <a:off x="4189848" y="2285932"/>
            <a:ext cx="222528" cy="786414"/>
          </a:xfrm>
          <a:prstGeom prst="upDownArrow">
            <a:avLst>
              <a:gd name="adj1" fmla="val 50000"/>
              <a:gd name="adj2" fmla="val 70597"/>
            </a:avLst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0991" name="Text Box 47"/>
          <p:cNvSpPr txBox="1">
            <a:spLocks noChangeArrowheads="1"/>
          </p:cNvSpPr>
          <p:nvPr/>
        </p:nvSpPr>
        <p:spPr bwMode="auto">
          <a:xfrm>
            <a:off x="4300538" y="2571750"/>
            <a:ext cx="569912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XB</a:t>
            </a:r>
          </a:p>
        </p:txBody>
      </p:sp>
      <p:grpSp>
        <p:nvGrpSpPr>
          <p:cNvPr id="52" name="Group 51"/>
          <p:cNvGrpSpPr>
            <a:grpSpLocks/>
          </p:cNvGrpSpPr>
          <p:nvPr/>
        </p:nvGrpSpPr>
        <p:grpSpPr bwMode="auto">
          <a:xfrm>
            <a:off x="1770063" y="2962275"/>
            <a:ext cx="4149725" cy="1147762"/>
            <a:chOff x="1845912" y="2795925"/>
            <a:chExt cx="4150542" cy="1147199"/>
          </a:xfrm>
        </p:grpSpPr>
        <p:sp>
          <p:nvSpPr>
            <p:cNvPr id="211003" name="Freeform 59"/>
            <p:cNvSpPr>
              <a:spLocks/>
            </p:cNvSpPr>
            <p:nvPr/>
          </p:nvSpPr>
          <p:spPr bwMode="auto">
            <a:xfrm>
              <a:off x="5318905" y="2945560"/>
              <a:ext cx="677549" cy="9975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00"/>
                </a:cxn>
                <a:cxn ang="0">
                  <a:pos x="408" y="376"/>
                </a:cxn>
                <a:cxn ang="0">
                  <a:pos x="0" y="0"/>
                </a:cxn>
              </a:cxnLst>
              <a:rect l="0" t="0" r="r" b="b"/>
              <a:pathLst>
                <a:path w="408" h="600">
                  <a:moveTo>
                    <a:pt x="0" y="0"/>
                  </a:moveTo>
                  <a:lnTo>
                    <a:pt x="0" y="600"/>
                  </a:lnTo>
                  <a:lnTo>
                    <a:pt x="408" y="376"/>
                  </a:lnTo>
                  <a:lnTo>
                    <a:pt x="0" y="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8716" name="Line 52"/>
            <p:cNvSpPr>
              <a:spLocks noChangeShapeType="1"/>
            </p:cNvSpPr>
            <p:nvPr/>
          </p:nvSpPr>
          <p:spPr bwMode="auto">
            <a:xfrm rot="16200000" flipV="1">
              <a:off x="4309225" y="1950838"/>
              <a:ext cx="0" cy="20110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17" name="Text Box 53"/>
            <p:cNvSpPr txBox="1">
              <a:spLocks noChangeArrowheads="1"/>
            </p:cNvSpPr>
            <p:nvPr/>
          </p:nvSpPr>
          <p:spPr bwMode="auto">
            <a:xfrm>
              <a:off x="1845912" y="2795925"/>
              <a:ext cx="1471345" cy="3868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MB</a:t>
              </a:r>
              <a:r>
                <a:rPr lang="en-US" baseline="-25000"/>
                <a:t>PVT </a:t>
              </a:r>
              <a:r>
                <a:rPr lang="en-US"/>
                <a:t>+ XB</a:t>
              </a:r>
            </a:p>
          </p:txBody>
        </p:sp>
      </p:grpSp>
      <p:grpSp>
        <p:nvGrpSpPr>
          <p:cNvPr id="48" name="Group 47"/>
          <p:cNvGrpSpPr>
            <a:grpSpLocks/>
          </p:cNvGrpSpPr>
          <p:nvPr/>
        </p:nvGrpSpPr>
        <p:grpSpPr bwMode="auto">
          <a:xfrm>
            <a:off x="3976688" y="1858962"/>
            <a:ext cx="4295775" cy="3125788"/>
            <a:chOff x="4053483" y="1691953"/>
            <a:chExt cx="4294467" cy="3125702"/>
          </a:xfrm>
        </p:grpSpPr>
        <p:sp>
          <p:nvSpPr>
            <p:cNvPr id="28711" name="Text Box 45"/>
            <p:cNvSpPr txBox="1">
              <a:spLocks noChangeArrowheads="1"/>
            </p:cNvSpPr>
            <p:nvPr/>
          </p:nvSpPr>
          <p:spPr bwMode="auto">
            <a:xfrm>
              <a:off x="7119062" y="4009628"/>
              <a:ext cx="1228888" cy="6769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Social Demand</a:t>
              </a:r>
            </a:p>
          </p:txBody>
        </p:sp>
        <p:sp>
          <p:nvSpPr>
            <p:cNvPr id="210988" name="Line 44"/>
            <p:cNvSpPr>
              <a:spLocks noChangeShapeType="1"/>
            </p:cNvSpPr>
            <p:nvPr/>
          </p:nvSpPr>
          <p:spPr bwMode="auto">
            <a:xfrm>
              <a:off x="4053483" y="1691953"/>
              <a:ext cx="3232752" cy="3125702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49" name="Group 48"/>
          <p:cNvGrpSpPr>
            <a:grpSpLocks/>
          </p:cNvGrpSpPr>
          <p:nvPr/>
        </p:nvGrpSpPr>
        <p:grpSpPr bwMode="auto">
          <a:xfrm>
            <a:off x="2309813" y="3525837"/>
            <a:ext cx="4095750" cy="2393950"/>
            <a:chOff x="2385627" y="3359549"/>
            <a:chExt cx="4095742" cy="2393574"/>
          </a:xfrm>
        </p:grpSpPr>
        <p:sp>
          <p:nvSpPr>
            <p:cNvPr id="28707" name="Line 49"/>
            <p:cNvSpPr>
              <a:spLocks noChangeShapeType="1"/>
            </p:cNvSpPr>
            <p:nvPr/>
          </p:nvSpPr>
          <p:spPr bwMode="auto">
            <a:xfrm flipV="1">
              <a:off x="6028008" y="3595640"/>
              <a:ext cx="0" cy="1770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08" name="Text Box 50"/>
            <p:cNvSpPr txBox="1">
              <a:spLocks noChangeArrowheads="1"/>
            </p:cNvSpPr>
            <p:nvPr/>
          </p:nvSpPr>
          <p:spPr bwMode="auto">
            <a:xfrm>
              <a:off x="2385627" y="3359549"/>
              <a:ext cx="931630" cy="3868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MB</a:t>
              </a:r>
              <a:r>
                <a:rPr lang="en-US" baseline="-25000"/>
                <a:t>SOC</a:t>
              </a:r>
              <a:endParaRPr lang="en-US"/>
            </a:p>
          </p:txBody>
        </p:sp>
        <p:sp>
          <p:nvSpPr>
            <p:cNvPr id="28709" name="Text Box 54"/>
            <p:cNvSpPr txBox="1">
              <a:spLocks noChangeArrowheads="1"/>
            </p:cNvSpPr>
            <p:nvPr/>
          </p:nvSpPr>
          <p:spPr bwMode="auto">
            <a:xfrm>
              <a:off x="5719125" y="5366317"/>
              <a:ext cx="762244" cy="3868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Q</a:t>
              </a:r>
              <a:r>
                <a:rPr lang="en-US" baseline="-25000"/>
                <a:t>SOC</a:t>
              </a:r>
              <a:endParaRPr lang="en-US"/>
            </a:p>
          </p:txBody>
        </p:sp>
        <p:sp>
          <p:nvSpPr>
            <p:cNvPr id="28710" name="Line 48"/>
            <p:cNvSpPr>
              <a:spLocks noChangeShapeType="1"/>
            </p:cNvSpPr>
            <p:nvPr/>
          </p:nvSpPr>
          <p:spPr bwMode="auto">
            <a:xfrm rot="16200000" flipV="1">
              <a:off x="4629733" y="2233858"/>
              <a:ext cx="0" cy="26537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1"/>
          <p:cNvGrpSpPr>
            <a:grpSpLocks/>
          </p:cNvGrpSpPr>
          <p:nvPr/>
        </p:nvGrpSpPr>
        <p:grpSpPr bwMode="auto">
          <a:xfrm>
            <a:off x="1414463" y="1873250"/>
            <a:ext cx="7067550" cy="4478337"/>
            <a:chOff x="1490545" y="1706917"/>
            <a:chExt cx="7068308" cy="4478483"/>
          </a:xfrm>
        </p:grpSpPr>
        <p:sp>
          <p:nvSpPr>
            <p:cNvPr id="28695" name="Line 3"/>
            <p:cNvSpPr>
              <a:spLocks noChangeShapeType="1"/>
            </p:cNvSpPr>
            <p:nvPr/>
          </p:nvSpPr>
          <p:spPr bwMode="auto">
            <a:xfrm>
              <a:off x="3284598" y="5354679"/>
              <a:ext cx="37398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96" name="Text Box 4"/>
            <p:cNvSpPr txBox="1">
              <a:spLocks noChangeArrowheads="1"/>
            </p:cNvSpPr>
            <p:nvPr/>
          </p:nvSpPr>
          <p:spPr bwMode="auto">
            <a:xfrm rot="-5400000">
              <a:off x="66005" y="3322659"/>
              <a:ext cx="3235434" cy="3863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Price</a:t>
              </a:r>
            </a:p>
          </p:txBody>
        </p:sp>
        <p:sp>
          <p:nvSpPr>
            <p:cNvPr id="28697" name="Line 5"/>
            <p:cNvSpPr>
              <a:spLocks noChangeShapeType="1"/>
            </p:cNvSpPr>
            <p:nvPr/>
          </p:nvSpPr>
          <p:spPr bwMode="auto">
            <a:xfrm>
              <a:off x="3296222" y="1706917"/>
              <a:ext cx="0" cy="36477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98" name="Text Box 28"/>
            <p:cNvSpPr txBox="1">
              <a:spLocks noChangeArrowheads="1"/>
            </p:cNvSpPr>
            <p:nvPr/>
          </p:nvSpPr>
          <p:spPr bwMode="auto">
            <a:xfrm>
              <a:off x="4375651" y="5798594"/>
              <a:ext cx="1750335" cy="3868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Quantity</a:t>
              </a:r>
            </a:p>
          </p:txBody>
        </p:sp>
        <p:sp>
          <p:nvSpPr>
            <p:cNvPr id="28699" name="Line 13"/>
            <p:cNvSpPr>
              <a:spLocks noChangeShapeType="1"/>
            </p:cNvSpPr>
            <p:nvPr/>
          </p:nvSpPr>
          <p:spPr bwMode="auto">
            <a:xfrm rot="16200000" flipV="1">
              <a:off x="4309225" y="2933438"/>
              <a:ext cx="0" cy="20110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00" name="Line 14"/>
            <p:cNvSpPr>
              <a:spLocks noChangeShapeType="1"/>
            </p:cNvSpPr>
            <p:nvPr/>
          </p:nvSpPr>
          <p:spPr bwMode="auto">
            <a:xfrm flipV="1">
              <a:off x="5320567" y="3976377"/>
              <a:ext cx="0" cy="13899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01" name="Text Box 16"/>
            <p:cNvSpPr txBox="1">
              <a:spLocks noChangeArrowheads="1"/>
            </p:cNvSpPr>
            <p:nvPr/>
          </p:nvSpPr>
          <p:spPr bwMode="auto">
            <a:xfrm>
              <a:off x="6634148" y="4993893"/>
              <a:ext cx="1924705" cy="3868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Private Demand</a:t>
              </a:r>
            </a:p>
          </p:txBody>
        </p:sp>
        <p:sp>
          <p:nvSpPr>
            <p:cNvPr id="28702" name="Text Box 17"/>
            <p:cNvSpPr txBox="1">
              <a:spLocks noChangeArrowheads="1"/>
            </p:cNvSpPr>
            <p:nvPr/>
          </p:nvSpPr>
          <p:spPr bwMode="auto">
            <a:xfrm>
              <a:off x="6145915" y="2915633"/>
              <a:ext cx="989753" cy="384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MC</a:t>
              </a:r>
            </a:p>
          </p:txBody>
        </p:sp>
        <p:sp>
          <p:nvSpPr>
            <p:cNvPr id="28703" name="Text Box 18"/>
            <p:cNvSpPr txBox="1">
              <a:spLocks noChangeArrowheads="1"/>
            </p:cNvSpPr>
            <p:nvPr/>
          </p:nvSpPr>
          <p:spPr bwMode="auto">
            <a:xfrm>
              <a:off x="4945257" y="5366317"/>
              <a:ext cx="763349" cy="3868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Q</a:t>
              </a:r>
              <a:r>
                <a:rPr lang="en-US" baseline="-25000"/>
                <a:t>PVT</a:t>
              </a:r>
              <a:endParaRPr lang="en-US"/>
            </a:p>
          </p:txBody>
        </p:sp>
        <p:sp>
          <p:nvSpPr>
            <p:cNvPr id="28704" name="Text Box 43"/>
            <p:cNvSpPr txBox="1">
              <a:spLocks noChangeArrowheads="1"/>
            </p:cNvSpPr>
            <p:nvPr/>
          </p:nvSpPr>
          <p:spPr bwMode="auto">
            <a:xfrm>
              <a:off x="2398911" y="3805129"/>
              <a:ext cx="918345" cy="3868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MB</a:t>
              </a:r>
              <a:r>
                <a:rPr lang="en-US" baseline="-25000"/>
                <a:t>PVT</a:t>
              </a:r>
              <a:endParaRPr lang="en-US"/>
            </a:p>
          </p:txBody>
        </p:sp>
        <p:sp>
          <p:nvSpPr>
            <p:cNvPr id="210959" name="Line 15"/>
            <p:cNvSpPr>
              <a:spLocks noChangeShapeType="1"/>
            </p:cNvSpPr>
            <p:nvPr/>
          </p:nvSpPr>
          <p:spPr bwMode="auto">
            <a:xfrm rot="5400000">
              <a:off x="4338086" y="2695065"/>
              <a:ext cx="1503412" cy="2768897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10964" name="Line 20"/>
            <p:cNvSpPr>
              <a:spLocks noChangeShapeType="1"/>
            </p:cNvSpPr>
            <p:nvPr/>
          </p:nvSpPr>
          <p:spPr bwMode="auto">
            <a:xfrm>
              <a:off x="3410038" y="2099042"/>
              <a:ext cx="3234085" cy="3125890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43" name="Text Box 117"/>
          <p:cNvSpPr txBox="1">
            <a:spLocks noChangeArrowheads="1"/>
          </p:cNvSpPr>
          <p:nvPr/>
        </p:nvSpPr>
        <p:spPr bwMode="auto">
          <a:xfrm>
            <a:off x="2599269" y="5799570"/>
            <a:ext cx="1693333" cy="59093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b="1" dirty="0"/>
              <a:t>Private</a:t>
            </a:r>
          </a:p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/>
              <a:t>Equilibrium</a:t>
            </a:r>
          </a:p>
        </p:txBody>
      </p:sp>
      <p:cxnSp>
        <p:nvCxnSpPr>
          <p:cNvPr id="45" name="Straight Arrow Connector 44"/>
          <p:cNvCxnSpPr/>
          <p:nvPr/>
        </p:nvCxnSpPr>
        <p:spPr bwMode="auto">
          <a:xfrm rot="5400000" flipH="1" flipV="1">
            <a:off x="3550445" y="4109243"/>
            <a:ext cx="1585912" cy="17938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 Box 116"/>
          <p:cNvSpPr txBox="1">
            <a:spLocks noChangeArrowheads="1"/>
          </p:cNvSpPr>
          <p:nvPr/>
        </p:nvSpPr>
        <p:spPr bwMode="auto">
          <a:xfrm>
            <a:off x="6477695" y="5782636"/>
            <a:ext cx="1285549" cy="59093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b="1" dirty="0"/>
              <a:t>Social</a:t>
            </a:r>
          </a:p>
          <a:p>
            <a:pPr algn="ctr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/>
              <a:t>Optimum</a:t>
            </a:r>
          </a:p>
        </p:txBody>
      </p:sp>
      <p:cxnSp>
        <p:nvCxnSpPr>
          <p:cNvPr id="51" name="Straight Arrow Connector 50"/>
          <p:cNvCxnSpPr/>
          <p:nvPr/>
        </p:nvCxnSpPr>
        <p:spPr bwMode="auto">
          <a:xfrm rot="16200000" flipV="1">
            <a:off x="5488782" y="4152106"/>
            <a:ext cx="2043112" cy="12192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 bwMode="auto">
          <a:xfrm rot="10800000" flipV="1">
            <a:off x="5511800" y="2587625"/>
            <a:ext cx="1524000" cy="10160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Picture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9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Effects of Externalities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1100669" y="2387600"/>
            <a:ext cx="7467600" cy="265853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With externalities, </a:t>
            </a:r>
            <a:br>
              <a:rPr lang="en-US" sz="2400" b="1" dirty="0"/>
            </a:br>
            <a:r>
              <a:rPr lang="en-US" sz="2400" b="1" dirty="0"/>
              <a:t>private market outcomes </a:t>
            </a:r>
            <a:br>
              <a:rPr lang="en-US" sz="2400" b="1" dirty="0"/>
            </a:br>
            <a:r>
              <a:rPr lang="en-US" sz="2400" b="1" dirty="0"/>
              <a:t>do not achieve </a:t>
            </a:r>
            <a:br>
              <a:rPr lang="en-US" sz="2400" b="1" dirty="0"/>
            </a:br>
            <a:r>
              <a:rPr lang="en-US" sz="2400" b="1" dirty="0"/>
              <a:t>the largest possible economic surplus</a:t>
            </a:r>
          </a:p>
          <a:p>
            <a:pPr lvl="1"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1" dirty="0"/>
          </a:p>
          <a:p>
            <a:pPr lvl="1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Cash is left on the table</a:t>
            </a:r>
          </a:p>
          <a:p>
            <a:pPr lvl="1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Market Failure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Remedying Externalities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1600200"/>
            <a:ext cx="8229600" cy="4525963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With externalities, private market outcomes do not achieve the largest possible economic surplus</a:t>
            </a:r>
          </a:p>
          <a:p>
            <a:pPr marL="225425" indent="-225425" eaLnBrk="1" hangingPunct="1"/>
            <a:r>
              <a:rPr lang="en-US" dirty="0"/>
              <a:t>Possible to implement actions to capture the extra surplus from the market outcomes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350837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Abercrombie the Polluter – Scenario 1</a:t>
            </a:r>
          </a:p>
        </p:txBody>
      </p:sp>
      <p:sp>
        <p:nvSpPr>
          <p:cNvPr id="214019" name="Rectangle 1027"/>
          <p:cNvSpPr>
            <a:spLocks noGrp="1" noChangeArrowheads="1"/>
          </p:cNvSpPr>
          <p:nvPr>
            <p:ph idx="4294967295"/>
          </p:nvPr>
        </p:nvSpPr>
        <p:spPr>
          <a:xfrm>
            <a:off x="838200" y="1646237"/>
            <a:ext cx="8229600" cy="4525963"/>
          </a:xfrm>
        </p:spPr>
        <p:txBody>
          <a:bodyPr/>
          <a:lstStyle/>
          <a:p>
            <a:pPr marL="225425" indent="-225425" eaLnBrk="1" hangingPunct="1"/>
            <a:r>
              <a:rPr lang="en-US"/>
              <a:t>Abercrombie’s company dumps toxic waste in the river</a:t>
            </a:r>
          </a:p>
          <a:p>
            <a:pPr marL="511175" lvl="1" indent="-290513" eaLnBrk="1" hangingPunct="1"/>
            <a:r>
              <a:rPr lang="en-US"/>
              <a:t>Fitch cannot fish the river</a:t>
            </a:r>
          </a:p>
          <a:p>
            <a:pPr marL="511175" lvl="1" indent="-290513" eaLnBrk="1" hangingPunct="1"/>
            <a:r>
              <a:rPr lang="en-US"/>
              <a:t>No one else is harmed</a:t>
            </a:r>
          </a:p>
          <a:p>
            <a:pPr marL="225425" indent="-225425" eaLnBrk="1" hangingPunct="1"/>
            <a:r>
              <a:rPr lang="en-US"/>
              <a:t>Abercrombie could install a filter to remove the harm to Fitch</a:t>
            </a:r>
          </a:p>
          <a:p>
            <a:pPr marL="511175" lvl="1" indent="-290513" eaLnBrk="1" hangingPunct="1"/>
            <a:r>
              <a:rPr lang="en-US"/>
              <a:t>Filter imposes costs on Abercrombie</a:t>
            </a:r>
          </a:p>
          <a:p>
            <a:pPr marL="511175" lvl="1" indent="-290513" eaLnBrk="1" hangingPunct="1"/>
            <a:r>
              <a:rPr lang="en-US"/>
              <a:t>Filter benefits Fitch</a:t>
            </a:r>
          </a:p>
          <a:p>
            <a:pPr marL="225425" indent="-225425" eaLnBrk="1" hangingPunct="1"/>
            <a:r>
              <a:rPr lang="en-US"/>
              <a:t>Parties do not communicate</a:t>
            </a:r>
          </a:p>
          <a:p>
            <a:pPr marL="225425" indent="-225425" eaLnBrk="1" hangingPunct="1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Abercrombie's Filter Options</a:t>
            </a:r>
          </a:p>
        </p:txBody>
      </p:sp>
      <p:graphicFrame>
        <p:nvGraphicFramePr>
          <p:cNvPr id="26649" name="Group 25"/>
          <p:cNvGraphicFramePr>
            <a:graphicFrameLocks noGrp="1"/>
          </p:cNvGraphicFramePr>
          <p:nvPr>
            <p:ph idx="4294967295"/>
          </p:nvPr>
        </p:nvGraphicFramePr>
        <p:xfrm>
          <a:off x="838200" y="1600200"/>
          <a:ext cx="8229600" cy="2670176"/>
        </p:xfrm>
        <a:graphic>
          <a:graphicData uri="http://schemas.openxmlformats.org/drawingml/2006/table">
            <a:tbl>
              <a:tblPr/>
              <a:tblGrid>
                <a:gridCol w="32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3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8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With Filter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Without Filter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Abercrombie's Gains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$100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$130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Fitch's Gains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$100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$50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Total Gains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$200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$180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846138" y="4554538"/>
            <a:ext cx="8001000" cy="175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36538" indent="-236538">
              <a:lnSpc>
                <a:spcPct val="114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/>
              <a:t>Abercrombie does not install the filter</a:t>
            </a:r>
          </a:p>
          <a:p>
            <a:pPr marL="693738" lvl="1" indent="-236538">
              <a:lnSpc>
                <a:spcPct val="114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/>
              <a:t>Marginal cost of filter to Abercrombie is $30 per day</a:t>
            </a:r>
          </a:p>
          <a:p>
            <a:pPr marL="693738" lvl="1" indent="-236538">
              <a:lnSpc>
                <a:spcPct val="114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/>
              <a:t>The marginal benefit to Fitch is $50 per day</a:t>
            </a:r>
          </a:p>
          <a:p>
            <a:pPr marL="236538" indent="-236538">
              <a:lnSpc>
                <a:spcPct val="114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/>
              <a:t>There is a net welfare loss of $20 per day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Abercrombie the Polluter – Scenario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marL="225425" indent="-225425" eaLnBrk="1" hangingPunct="1"/>
            <a:r>
              <a:rPr lang="en-US"/>
              <a:t>Communication changes the outcome</a:t>
            </a:r>
          </a:p>
          <a:p>
            <a:pPr marL="511175" lvl="1" indent="-290513" eaLnBrk="1" hangingPunct="1"/>
            <a:r>
              <a:rPr lang="en-US"/>
              <a:t>Fitch pays Abercrombie between $30 and $50 per day to use the filter</a:t>
            </a:r>
          </a:p>
          <a:p>
            <a:pPr marL="511175" lvl="1" indent="-290513" eaLnBrk="1" hangingPunct="1"/>
            <a:r>
              <a:rPr lang="en-US"/>
              <a:t>Net gain in total surplus of $20 per day</a:t>
            </a:r>
          </a:p>
        </p:txBody>
      </p:sp>
      <p:graphicFrame>
        <p:nvGraphicFramePr>
          <p:cNvPr id="28697" name="Group 25"/>
          <p:cNvGraphicFramePr>
            <a:graphicFrameLocks noGrp="1"/>
          </p:cNvGraphicFramePr>
          <p:nvPr/>
        </p:nvGraphicFramePr>
        <p:xfrm>
          <a:off x="914400" y="3581400"/>
          <a:ext cx="7924800" cy="2670176"/>
        </p:xfrm>
        <a:graphic>
          <a:graphicData uri="http://schemas.openxmlformats.org/drawingml/2006/table">
            <a:tbl>
              <a:tblPr/>
              <a:tblGrid>
                <a:gridCol w="3106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8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8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With Filter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Without Filter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Abercrombie's Gains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$100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$130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Fitch's Gains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$100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$50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Total Gains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$200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$180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The Coase Theorem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1371600"/>
            <a:ext cx="8229600" cy="5105400"/>
          </a:xfrm>
        </p:spPr>
        <p:txBody>
          <a:bodyPr/>
          <a:lstStyle/>
          <a:p>
            <a:pPr marL="225425" indent="-225425" eaLnBrk="1" hangingPunct="1"/>
            <a:r>
              <a:rPr lang="en-US" sz="2600" dirty="0"/>
              <a:t>The </a:t>
            </a:r>
            <a:r>
              <a:rPr lang="en-US" sz="2600" b="1" dirty="0" err="1"/>
              <a:t>Coase</a:t>
            </a:r>
            <a:r>
              <a:rPr lang="en-US" sz="2600" b="1" dirty="0"/>
              <a:t> Theorem </a:t>
            </a:r>
            <a:r>
              <a:rPr lang="en-US" sz="2600" dirty="0"/>
              <a:t>says that if people can negotiate the right to perform activities that cause externalities, they can always arrive at efficient solutions to problems caused by externalities</a:t>
            </a:r>
          </a:p>
          <a:p>
            <a:pPr marL="511175" lvl="1" indent="-290513" eaLnBrk="1" hangingPunct="1"/>
            <a:r>
              <a:rPr lang="en-US" sz="2600" dirty="0"/>
              <a:t>Negotiations must be costless</a:t>
            </a:r>
          </a:p>
          <a:p>
            <a:pPr marL="225425" indent="-225425" eaLnBrk="1" hangingPunct="1"/>
            <a:r>
              <a:rPr lang="en-US" sz="2600" dirty="0"/>
              <a:t>Sometimes those harmed pay to stop pollution</a:t>
            </a:r>
          </a:p>
          <a:p>
            <a:pPr marL="511175" lvl="1" indent="-290513" eaLnBrk="1" hangingPunct="1"/>
            <a:r>
              <a:rPr lang="en-US" sz="2600" dirty="0"/>
              <a:t>Fitch pays Abercrombie</a:t>
            </a:r>
          </a:p>
          <a:p>
            <a:pPr marL="225425" indent="-225425" eaLnBrk="1" hangingPunct="1"/>
            <a:r>
              <a:rPr lang="en-US" sz="2600" dirty="0"/>
              <a:t>Sometimes polluter buys the right to pollute</a:t>
            </a:r>
          </a:p>
          <a:p>
            <a:pPr marL="511175" lvl="1" indent="-290513" eaLnBrk="1" hangingPunct="1"/>
            <a:r>
              <a:rPr lang="en-US" sz="2600" dirty="0"/>
              <a:t>Abercrombie pays Fitch </a:t>
            </a:r>
          </a:p>
          <a:p>
            <a:pPr marL="225425" indent="-225425" eaLnBrk="1" hangingPunct="1"/>
            <a:r>
              <a:rPr lang="en-US" sz="2600" dirty="0"/>
              <a:t>The adjustment to the externality is usually done by the party with the lowest cost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Abercrombie the Polluter – Scenario 3</a:t>
            </a:r>
          </a:p>
        </p:txBody>
      </p:sp>
      <p:sp>
        <p:nvSpPr>
          <p:cNvPr id="214019" name="Rectangle 1027"/>
          <p:cNvSpPr>
            <a:spLocks noGrp="1" noChangeArrowheads="1"/>
          </p:cNvSpPr>
          <p:nvPr>
            <p:ph idx="4294967295"/>
          </p:nvPr>
        </p:nvSpPr>
        <p:spPr>
          <a:xfrm>
            <a:off x="838200" y="1600200"/>
            <a:ext cx="8229600" cy="4525963"/>
          </a:xfrm>
        </p:spPr>
        <p:txBody>
          <a:bodyPr/>
          <a:lstStyle/>
          <a:p>
            <a:pPr marL="225425" indent="-225425" eaLnBrk="1" hangingPunct="1"/>
            <a:r>
              <a:rPr lang="en-US"/>
              <a:t>Abercrombie’s company produces toxic waste</a:t>
            </a:r>
          </a:p>
          <a:p>
            <a:pPr marL="511175" lvl="1" indent="-290513" eaLnBrk="1" hangingPunct="1"/>
            <a:r>
              <a:rPr lang="en-US"/>
              <a:t>Laws prohibit dumping the waste in the river UNLESS Fitch agrees</a:t>
            </a:r>
          </a:p>
          <a:p>
            <a:pPr marL="511175" lvl="1" indent="-290513" eaLnBrk="1" hangingPunct="1"/>
            <a:r>
              <a:rPr lang="en-US"/>
              <a:t>New gains matrix</a:t>
            </a:r>
          </a:p>
        </p:txBody>
      </p:sp>
      <p:graphicFrame>
        <p:nvGraphicFramePr>
          <p:cNvPr id="32792" name="Group 24"/>
          <p:cNvGraphicFramePr>
            <a:graphicFrameLocks noGrp="1"/>
          </p:cNvGraphicFramePr>
          <p:nvPr/>
        </p:nvGraphicFramePr>
        <p:xfrm>
          <a:off x="922338" y="3548063"/>
          <a:ext cx="7924800" cy="2673352"/>
        </p:xfrm>
        <a:graphic>
          <a:graphicData uri="http://schemas.openxmlformats.org/drawingml/2006/table">
            <a:tbl>
              <a:tblPr/>
              <a:tblGrid>
                <a:gridCol w="3106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8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8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With Filter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Without Filter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Abercrombie's Gains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$100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$150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Fitch's Gains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$100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$70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Total Gains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$200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$220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3"/>
          <p:cNvSpPr>
            <a:spLocks noGrp="1"/>
          </p:cNvSpPr>
          <p:nvPr>
            <p:ph type="title" idx="4294967295"/>
          </p:nvPr>
        </p:nvSpPr>
        <p:spPr>
          <a:xfrm>
            <a:off x="7620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Abercrombie the Polluter – Scenario 3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838200" y="1600200"/>
            <a:ext cx="8229600" cy="4525963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Abercrombie can pay Fitch up to $50 per day for the right to pollute</a:t>
            </a:r>
          </a:p>
          <a:p>
            <a:pPr marL="511175" lvl="1" indent="-290513" eaLnBrk="1" hangingPunct="1"/>
            <a:r>
              <a:rPr lang="en-US" dirty="0"/>
              <a:t>Fitch will accept any offer over $30 per day</a:t>
            </a:r>
          </a:p>
          <a:p>
            <a:pPr marL="225425" indent="-225425" eaLnBrk="1" hangingPunct="1"/>
            <a:r>
              <a:rPr lang="en-US" dirty="0"/>
              <a:t>In this scenario, polluting is the right thing to do</a:t>
            </a:r>
          </a:p>
        </p:txBody>
      </p:sp>
      <p:graphicFrame>
        <p:nvGraphicFramePr>
          <p:cNvPr id="34840" name="Group 24"/>
          <p:cNvGraphicFramePr>
            <a:graphicFrameLocks noGrp="1"/>
          </p:cNvGraphicFramePr>
          <p:nvPr/>
        </p:nvGraphicFramePr>
        <p:xfrm>
          <a:off x="922338" y="3548063"/>
          <a:ext cx="7924800" cy="2673352"/>
        </p:xfrm>
        <a:graphic>
          <a:graphicData uri="http://schemas.openxmlformats.org/drawingml/2006/table">
            <a:tbl>
              <a:tblPr/>
              <a:tblGrid>
                <a:gridCol w="3106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8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8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With Filter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Without Filter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Abercrombie's Gains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$100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$150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Fitch's Gains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$100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$70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Total Gains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$200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$220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050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Laws Can Change the Outcome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294967295"/>
          </p:nvPr>
        </p:nvSpPr>
        <p:spPr>
          <a:xfrm>
            <a:off x="762000" y="1600200"/>
            <a:ext cx="8229600" cy="5105400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Suppose the law makes polluters liable for the cost of cleaning up their pollution</a:t>
            </a:r>
          </a:p>
          <a:p>
            <a:pPr marL="511175" lvl="1" indent="-290513" eaLnBrk="1" hangingPunct="1"/>
            <a:r>
              <a:rPr lang="en-US" dirty="0"/>
              <a:t>Polluters need to compensate non-polluters and get lower incomes </a:t>
            </a:r>
          </a:p>
          <a:p>
            <a:pPr marL="511175" lvl="1" indent="-290513" eaLnBrk="1" hangingPunct="1"/>
            <a:r>
              <a:rPr lang="en-US" dirty="0"/>
              <a:t>Non-polluters get higher incomes after compensation</a:t>
            </a:r>
          </a:p>
        </p:txBody>
      </p:sp>
      <p:graphicFrame>
        <p:nvGraphicFramePr>
          <p:cNvPr id="36888" name="Group 24"/>
          <p:cNvGraphicFramePr>
            <a:graphicFrameLocks noGrp="1"/>
          </p:cNvGraphicFramePr>
          <p:nvPr/>
        </p:nvGraphicFramePr>
        <p:xfrm>
          <a:off x="990600" y="3962400"/>
          <a:ext cx="7924800" cy="2673352"/>
        </p:xfrm>
        <a:graphic>
          <a:graphicData uri="http://schemas.openxmlformats.org/drawingml/2006/table">
            <a:tbl>
              <a:tblPr/>
              <a:tblGrid>
                <a:gridCol w="3106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8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8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With Filter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Without Filter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Abercrombie's Gains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$100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$150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Fitch's Gains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$100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$70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Total Gains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$200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$220 / day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 idx="4294967295"/>
          </p:nvPr>
        </p:nvSpPr>
        <p:spPr>
          <a:xfrm>
            <a:off x="6858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Shared Living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62000" y="1371600"/>
            <a:ext cx="8229600" cy="5105400"/>
          </a:xfrm>
        </p:spPr>
        <p:txBody>
          <a:bodyPr/>
          <a:lstStyle/>
          <a:p>
            <a:pPr marL="225425" indent="-225425" eaLnBrk="1" hangingPunct="1"/>
            <a:r>
              <a:rPr lang="en-US" sz="2600" dirty="0"/>
              <a:t>Ann and Betty are evaluating housing options</a:t>
            </a:r>
          </a:p>
          <a:p>
            <a:pPr marL="511175" lvl="1" indent="-290513" eaLnBrk="1" hangingPunct="1"/>
            <a:r>
              <a:rPr lang="en-US" sz="2600" dirty="0"/>
              <a:t>2-bedroom apartment for $600 per month  OR</a:t>
            </a:r>
          </a:p>
          <a:p>
            <a:pPr marL="511175" lvl="1" indent="-290513" eaLnBrk="1" hangingPunct="1"/>
            <a:r>
              <a:rPr lang="en-US" sz="2600" dirty="0"/>
              <a:t>1-bedroom apartment for $400 per month each</a:t>
            </a:r>
          </a:p>
          <a:p>
            <a:pPr marL="225425" indent="-225425" eaLnBrk="1" hangingPunct="1"/>
            <a:r>
              <a:rPr lang="en-US" sz="2600" dirty="0"/>
              <a:t>If the costs were the same, Ann and Betty would be indifferent between the two arrangements</a:t>
            </a:r>
          </a:p>
          <a:p>
            <a:pPr marL="225425" indent="-225425" eaLnBrk="1" hangingPunct="1"/>
            <a:r>
              <a:rPr lang="en-US" sz="2600" dirty="0"/>
              <a:t>The externality here is Ann's telephone usage is high</a:t>
            </a:r>
          </a:p>
          <a:p>
            <a:pPr marL="511175" lvl="1" indent="-290513" eaLnBrk="1" hangingPunct="1"/>
            <a:r>
              <a:rPr lang="en-US" sz="2600" dirty="0"/>
              <a:t>She would pay up to $250 per month to be able to use the phone whenever she wants</a:t>
            </a:r>
          </a:p>
          <a:p>
            <a:pPr marL="511175" lvl="1" indent="-290513" eaLnBrk="1" hangingPunct="1"/>
            <a:r>
              <a:rPr lang="en-US" sz="2600" dirty="0"/>
              <a:t>Betty would pay up to $150 per month to get better phone access</a:t>
            </a:r>
          </a:p>
          <a:p>
            <a:pPr marL="511175" lvl="1" indent="-290513" eaLnBrk="1" hangingPunct="1"/>
            <a:r>
              <a:rPr lang="en-US" sz="2600" dirty="0"/>
              <a:t>No second phone line is possible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 idx="4294967295"/>
          </p:nvPr>
        </p:nvSpPr>
        <p:spPr>
          <a:xfrm>
            <a:off x="685800" y="3810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Benefits and Costs of Shared Living</a:t>
            </a:r>
          </a:p>
        </p:txBody>
      </p:sp>
      <p:graphicFrame>
        <p:nvGraphicFramePr>
          <p:cNvPr id="41000" name="Group 40"/>
          <p:cNvGraphicFramePr>
            <a:graphicFrameLocks noGrp="1"/>
          </p:cNvGraphicFramePr>
          <p:nvPr>
            <p:ph idx="4294967295"/>
          </p:nvPr>
        </p:nvGraphicFramePr>
        <p:xfrm>
          <a:off x="990600" y="2454275"/>
          <a:ext cx="7924800" cy="396875"/>
        </p:xfrm>
        <a:graphic>
          <a:graphicData uri="http://schemas.openxmlformats.org/drawingml/2006/table">
            <a:tbl>
              <a:tblPr/>
              <a:tblGrid>
                <a:gridCol w="300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$800 per month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$600 per month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$200 per month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001" name="Group 41"/>
          <p:cNvGraphicFramePr>
            <a:graphicFrameLocks noGrp="1"/>
          </p:cNvGraphicFramePr>
          <p:nvPr>
            <p:ph idx="4294967295"/>
          </p:nvPr>
        </p:nvGraphicFramePr>
        <p:xfrm>
          <a:off x="990600" y="2868613"/>
          <a:ext cx="7924800" cy="701675"/>
        </p:xfrm>
        <a:graphic>
          <a:graphicData uri="http://schemas.openxmlformats.org/drawingml/2006/table">
            <a:tbl>
              <a:tblPr/>
              <a:tblGrid>
                <a:gridCol w="2989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3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Total Cost of Separate Apartments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Total Cost of Shared Apartment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D5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Rent Savings from Sharing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D5F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96938" y="1671638"/>
            <a:ext cx="79502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36538" indent="-236538" fontAlgn="auto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</a:schemeClr>
              </a:buClr>
              <a:buFont typeface="Wingdings" pitchFamily="2" charset="2"/>
              <a:buChar char="§"/>
              <a:defRPr/>
            </a:pPr>
            <a:r>
              <a:rPr lang="en-US" sz="2400" dirty="0">
                <a:latin typeface="+mn-lt"/>
              </a:rPr>
              <a:t>Live together if the benefits exceed the costs</a:t>
            </a:r>
          </a:p>
        </p:txBody>
      </p:sp>
      <p:graphicFrame>
        <p:nvGraphicFramePr>
          <p:cNvPr id="41002" name="Group 42"/>
          <p:cNvGraphicFramePr>
            <a:graphicFrameLocks noGrp="1"/>
          </p:cNvGraphicFramePr>
          <p:nvPr/>
        </p:nvGraphicFramePr>
        <p:xfrm>
          <a:off x="990600" y="4092575"/>
          <a:ext cx="7924800" cy="1005840"/>
        </p:xfrm>
        <a:graphic>
          <a:graphicData uri="http://schemas.openxmlformats.org/drawingml/2006/table">
            <a:tbl>
              <a:tblPr/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Problem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Ann's Cost of Solving the Problem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Betty's Cost of Solving the Problem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Least-Cost Solution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003" name="Group 43"/>
          <p:cNvGraphicFramePr>
            <a:graphicFrameLocks noGrp="1"/>
          </p:cNvGraphicFramePr>
          <p:nvPr/>
        </p:nvGraphicFramePr>
        <p:xfrm>
          <a:off x="990600" y="5103813"/>
          <a:ext cx="7924800" cy="1005840"/>
        </p:xfrm>
        <a:graphic>
          <a:graphicData uri="http://schemas.openxmlformats.org/drawingml/2006/table">
            <a:tbl>
              <a:tblPr/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4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Ann's phone usage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Pay Ann $250 to decrease usage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Pay Betty $150 to tolerate Ann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Ann pays Betty $150 per month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9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Net Benefit of Shared Living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294967295"/>
          </p:nvPr>
        </p:nvSpPr>
        <p:spPr>
          <a:xfrm>
            <a:off x="838200" y="1600200"/>
            <a:ext cx="8229600" cy="4525963"/>
          </a:xfrm>
        </p:spPr>
        <p:txBody>
          <a:bodyPr/>
          <a:lstStyle/>
          <a:p>
            <a:pPr marL="225425" indent="-225425" eaLnBrk="1" hangingPunct="1"/>
            <a:endParaRPr lang="en-US" dirty="0"/>
          </a:p>
          <a:p>
            <a:pPr marL="225425" indent="-225425" eaLnBrk="1" hangingPunct="1"/>
            <a:endParaRPr lang="en-US" dirty="0"/>
          </a:p>
          <a:p>
            <a:pPr marL="225425" indent="-225425" eaLnBrk="1" hangingPunct="1"/>
            <a:endParaRPr lang="en-US" dirty="0"/>
          </a:p>
          <a:p>
            <a:pPr marL="225425" indent="-225425" eaLnBrk="1" hangingPunct="1"/>
            <a:endParaRPr lang="en-US" dirty="0"/>
          </a:p>
          <a:p>
            <a:pPr marL="225425" indent="-225425" eaLnBrk="1" hangingPunct="1"/>
            <a:endParaRPr lang="en-US" dirty="0"/>
          </a:p>
          <a:p>
            <a:pPr marL="225425" indent="-225425" eaLnBrk="1" hangingPunct="1"/>
            <a:r>
              <a:rPr lang="en-US" dirty="0"/>
              <a:t>Ann and Betty will live together</a:t>
            </a:r>
          </a:p>
        </p:txBody>
      </p:sp>
      <p:graphicFrame>
        <p:nvGraphicFramePr>
          <p:cNvPr id="43029" name="Group 21"/>
          <p:cNvGraphicFramePr>
            <a:graphicFrameLocks noGrp="1"/>
          </p:cNvGraphicFramePr>
          <p:nvPr/>
        </p:nvGraphicFramePr>
        <p:xfrm>
          <a:off x="922338" y="2992438"/>
          <a:ext cx="7924800" cy="457200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$200 per month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$150 per month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$50 per month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028" name="Group 20"/>
          <p:cNvGraphicFramePr>
            <a:graphicFrameLocks noGrp="1"/>
          </p:cNvGraphicFramePr>
          <p:nvPr/>
        </p:nvGraphicFramePr>
        <p:xfrm>
          <a:off x="922338" y="2162175"/>
          <a:ext cx="7924800" cy="822960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Rent Savings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Cost of Phone Accommodation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Gain in Surplus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 idx="4294967295"/>
          </p:nvPr>
        </p:nvSpPr>
        <p:spPr>
          <a:xfrm>
            <a:off x="762000" y="304800"/>
            <a:ext cx="8229600" cy="838200"/>
          </a:xfrm>
        </p:spPr>
        <p:txBody>
          <a:bodyPr/>
          <a:lstStyle/>
          <a:p>
            <a:pPr eaLnBrk="1" hangingPunct="1"/>
            <a:r>
              <a:rPr lang="en-US" dirty="0"/>
              <a:t>Dividing the 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62000" y="1295400"/>
            <a:ext cx="8229600" cy="5257800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Betty would spend $400 per month to live alone</a:t>
            </a:r>
          </a:p>
          <a:p>
            <a:pPr marL="511175" lvl="1" indent="-290513" eaLnBrk="1" hangingPunct="1"/>
            <a:r>
              <a:rPr lang="en-US" dirty="0"/>
              <a:t>Cost of tolerating Ann's phone use is $150 per month</a:t>
            </a:r>
          </a:p>
          <a:p>
            <a:pPr marL="511175" lvl="1" indent="-290513" eaLnBrk="1" hangingPunct="1"/>
            <a:r>
              <a:rPr lang="en-US" dirty="0"/>
              <a:t>Betty willing to pay up to $250 = $400 - $150 to live with Ann.  Above $250, she will live alone</a:t>
            </a:r>
          </a:p>
          <a:p>
            <a:pPr marL="225425" indent="-225425" eaLnBrk="1" hangingPunct="1"/>
            <a:r>
              <a:rPr lang="en-US" dirty="0"/>
              <a:t>Ann is willing to pay up to $400 per month, the cost of living alone</a:t>
            </a:r>
          </a:p>
          <a:p>
            <a:pPr marL="225425" indent="-225425" eaLnBrk="1" hangingPunct="1"/>
            <a:r>
              <a:rPr lang="en-US" dirty="0"/>
              <a:t>Betty's maximum rent is $250</a:t>
            </a:r>
          </a:p>
          <a:p>
            <a:pPr marL="225425" indent="-225425" eaLnBrk="1" hangingPunct="1"/>
            <a:r>
              <a:rPr lang="en-US" dirty="0"/>
              <a:t>Ann's maximum rent is $400</a:t>
            </a:r>
          </a:p>
          <a:p>
            <a:pPr marL="225425" indent="-225425" eaLnBrk="1" hangingPunct="1"/>
            <a:r>
              <a:rPr lang="en-US" dirty="0"/>
              <a:t>If they divide the surplus ($50) equally, </a:t>
            </a:r>
          </a:p>
          <a:p>
            <a:pPr marL="511175" lvl="1" indent="-290513" eaLnBrk="1" hangingPunct="1"/>
            <a:r>
              <a:rPr lang="en-US" dirty="0"/>
              <a:t>Betty pays $225 = $250 – $25</a:t>
            </a:r>
          </a:p>
          <a:p>
            <a:pPr marL="511175" lvl="1" indent="-290513" eaLnBrk="1" hangingPunct="1"/>
            <a:r>
              <a:rPr lang="en-US" dirty="0"/>
              <a:t>Ann pays $375 = $400 – 25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685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Legal Remedies for Externalities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2000" y="2255837"/>
            <a:ext cx="8229600" cy="4525963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If negotiation is costless, the party with the lowest cost usually makes the adjustment</a:t>
            </a:r>
          </a:p>
          <a:p>
            <a:pPr marL="511175" lvl="1" indent="-290513" eaLnBrk="1" hangingPunct="1"/>
            <a:r>
              <a:rPr lang="en-US" dirty="0"/>
              <a:t>Private solution is generally adequate</a:t>
            </a:r>
          </a:p>
          <a:p>
            <a:pPr marL="225425" indent="-225425" eaLnBrk="1" hangingPunct="1"/>
            <a:r>
              <a:rPr lang="en-US" dirty="0"/>
              <a:t>When negotiation is not costless laws may be used to correct for externalities</a:t>
            </a:r>
          </a:p>
          <a:p>
            <a:pPr marL="511175" lvl="1" indent="-290513" eaLnBrk="1" hangingPunct="1"/>
            <a:r>
              <a:rPr lang="en-US" dirty="0"/>
              <a:t>The burden of the law can be placed on those who have the lowest cost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 idx="4294967295"/>
          </p:nvPr>
        </p:nvSpPr>
        <p:spPr>
          <a:xfrm>
            <a:off x="561975" y="457200"/>
            <a:ext cx="8534400" cy="1143000"/>
          </a:xfrm>
        </p:spPr>
        <p:txBody>
          <a:bodyPr/>
          <a:lstStyle/>
          <a:p>
            <a:pPr eaLnBrk="1" hangingPunct="1"/>
            <a:r>
              <a:rPr lang="en-US" dirty="0"/>
              <a:t>Legal Remedies for Externalities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48559" y="2057400"/>
            <a:ext cx="8229600" cy="4525963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Noise regulations (cars, parties, honking horns)</a:t>
            </a:r>
          </a:p>
          <a:p>
            <a:pPr marL="225425" indent="-225425" eaLnBrk="1" hangingPunct="1"/>
            <a:r>
              <a:rPr lang="en-US" dirty="0"/>
              <a:t>Most traffic and traffic-related laws</a:t>
            </a:r>
          </a:p>
          <a:p>
            <a:pPr marL="511175" lvl="1" indent="-290513" eaLnBrk="1" hangingPunct="1"/>
            <a:r>
              <a:rPr lang="en-US" dirty="0"/>
              <a:t>Car emission standards and inspections</a:t>
            </a:r>
          </a:p>
          <a:p>
            <a:pPr marL="225425" indent="-225425" eaLnBrk="1" hangingPunct="1"/>
            <a:r>
              <a:rPr lang="en-US" dirty="0"/>
              <a:t>Zoning laws for schools</a:t>
            </a:r>
          </a:p>
          <a:p>
            <a:pPr marL="225425" indent="-225425" eaLnBrk="1" hangingPunct="1"/>
            <a:r>
              <a:rPr lang="en-US" dirty="0"/>
              <a:t>Building height regulations </a:t>
            </a:r>
          </a:p>
          <a:p>
            <a:pPr marL="225425" indent="-225425" eaLnBrk="1" hangingPunct="1"/>
            <a:r>
              <a:rPr lang="en-US" dirty="0"/>
              <a:t>Air and water pollution laws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Optimal Amount of Negative Externalities</a:t>
            </a:r>
          </a:p>
        </p:txBody>
      </p:sp>
      <p:grpSp>
        <p:nvGrpSpPr>
          <p:cNvPr id="65538" name="Group 26"/>
          <p:cNvGrpSpPr>
            <a:grpSpLocks/>
          </p:cNvGrpSpPr>
          <p:nvPr/>
        </p:nvGrpSpPr>
        <p:grpSpPr bwMode="auto">
          <a:xfrm>
            <a:off x="1497013" y="1524000"/>
            <a:ext cx="6826250" cy="4910138"/>
            <a:chOff x="1497738" y="1524001"/>
            <a:chExt cx="6824994" cy="4910667"/>
          </a:xfrm>
        </p:grpSpPr>
        <p:sp>
          <p:nvSpPr>
            <p:cNvPr id="24" name="Rectangle 23"/>
            <p:cNvSpPr/>
            <p:nvPr/>
          </p:nvSpPr>
          <p:spPr bwMode="auto">
            <a:xfrm>
              <a:off x="1497738" y="1524001"/>
              <a:ext cx="6824994" cy="491066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1564401" y="1606560"/>
              <a:ext cx="6691669" cy="4745549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5557" name="Line 3"/>
            <p:cNvSpPr>
              <a:spLocks noChangeShapeType="1"/>
            </p:cNvSpPr>
            <p:nvPr/>
          </p:nvSpPr>
          <p:spPr bwMode="auto">
            <a:xfrm>
              <a:off x="3269791" y="5357049"/>
              <a:ext cx="35144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58" name="Line 5"/>
            <p:cNvSpPr>
              <a:spLocks noChangeShapeType="1"/>
            </p:cNvSpPr>
            <p:nvPr/>
          </p:nvSpPr>
          <p:spPr bwMode="auto">
            <a:xfrm>
              <a:off x="3280715" y="1933108"/>
              <a:ext cx="0" cy="34239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559" name="Text Box 6"/>
            <p:cNvSpPr txBox="1">
              <a:spLocks noChangeArrowheads="1"/>
            </p:cNvSpPr>
            <p:nvPr/>
          </p:nvSpPr>
          <p:spPr bwMode="auto">
            <a:xfrm>
              <a:off x="3868029" y="5792976"/>
              <a:ext cx="2795022" cy="393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Quantity of Pollution</a:t>
              </a:r>
            </a:p>
          </p:txBody>
        </p:sp>
        <p:sp>
          <p:nvSpPr>
            <p:cNvPr id="65560" name="Text Box 31"/>
            <p:cNvSpPr txBox="1">
              <a:spLocks noChangeArrowheads="1"/>
            </p:cNvSpPr>
            <p:nvPr/>
          </p:nvSpPr>
          <p:spPr bwMode="auto">
            <a:xfrm>
              <a:off x="1709198" y="1772366"/>
              <a:ext cx="1644865" cy="393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MC &amp; MB</a:t>
              </a:r>
            </a:p>
          </p:txBody>
        </p:sp>
      </p:grpSp>
      <p:sp>
        <p:nvSpPr>
          <p:cNvPr id="238600" name="Line 8"/>
          <p:cNvSpPr>
            <a:spLocks noChangeShapeType="1"/>
          </p:cNvSpPr>
          <p:nvPr/>
        </p:nvSpPr>
        <p:spPr bwMode="auto">
          <a:xfrm rot="16200000" flipV="1">
            <a:off x="4232276" y="2605087"/>
            <a:ext cx="0" cy="18891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8601" name="Line 9"/>
          <p:cNvSpPr>
            <a:spLocks noChangeShapeType="1"/>
          </p:cNvSpPr>
          <p:nvPr/>
        </p:nvSpPr>
        <p:spPr bwMode="auto">
          <a:xfrm flipV="1">
            <a:off x="5245100" y="3632200"/>
            <a:ext cx="0" cy="17351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9" name="Group 28"/>
          <p:cNvGrpSpPr>
            <a:grpSpLocks/>
          </p:cNvGrpSpPr>
          <p:nvPr/>
        </p:nvGrpSpPr>
        <p:grpSpPr bwMode="auto">
          <a:xfrm>
            <a:off x="3663950" y="2108200"/>
            <a:ext cx="3614738" cy="2757488"/>
            <a:chOff x="3663841" y="2107893"/>
            <a:chExt cx="3615113" cy="2758350"/>
          </a:xfrm>
        </p:grpSpPr>
        <p:sp>
          <p:nvSpPr>
            <p:cNvPr id="238602" name="Line 10"/>
            <p:cNvSpPr>
              <a:spLocks noChangeShapeType="1"/>
            </p:cNvSpPr>
            <p:nvPr/>
          </p:nvSpPr>
          <p:spPr bwMode="auto">
            <a:xfrm rot="5400000">
              <a:off x="3896972" y="2174894"/>
              <a:ext cx="2458218" cy="2924478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dirty="0"/>
            </a:p>
          </p:txBody>
        </p:sp>
        <p:sp>
          <p:nvSpPr>
            <p:cNvPr id="65552" name="Text Box 12"/>
            <p:cNvSpPr txBox="1">
              <a:spLocks noChangeArrowheads="1"/>
            </p:cNvSpPr>
            <p:nvPr/>
          </p:nvSpPr>
          <p:spPr bwMode="auto">
            <a:xfrm>
              <a:off x="6671884" y="2107893"/>
              <a:ext cx="607070" cy="401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MC</a:t>
              </a:r>
            </a:p>
          </p:txBody>
        </p:sp>
      </p:grpSp>
      <p:sp>
        <p:nvSpPr>
          <p:cNvPr id="238605" name="Text Box 13"/>
          <p:cNvSpPr txBox="1">
            <a:spLocks noChangeArrowheads="1"/>
          </p:cNvSpPr>
          <p:nvPr/>
        </p:nvSpPr>
        <p:spPr bwMode="auto">
          <a:xfrm>
            <a:off x="4965700" y="5367338"/>
            <a:ext cx="6064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Q</a:t>
            </a:r>
          </a:p>
        </p:txBody>
      </p:sp>
      <p:sp>
        <p:nvSpPr>
          <p:cNvPr id="238607" name="Text Box 15"/>
          <p:cNvSpPr txBox="1">
            <a:spLocks noChangeArrowheads="1"/>
          </p:cNvSpPr>
          <p:nvPr/>
        </p:nvSpPr>
        <p:spPr bwMode="auto">
          <a:xfrm>
            <a:off x="2057400" y="3352800"/>
            <a:ext cx="1295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MC</a:t>
            </a:r>
            <a:r>
              <a:rPr lang="en-US" sz="2000" baseline="-25000"/>
              <a:t> </a:t>
            </a:r>
            <a:r>
              <a:rPr lang="en-US" sz="2000"/>
              <a:t> = MB</a:t>
            </a:r>
          </a:p>
        </p:txBody>
      </p: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3562350" y="1920875"/>
            <a:ext cx="3836988" cy="3246438"/>
            <a:chOff x="3561622" y="1920623"/>
            <a:chExt cx="3838245" cy="3246630"/>
          </a:xfrm>
        </p:grpSpPr>
        <p:sp>
          <p:nvSpPr>
            <p:cNvPr id="238606" name="Line 14"/>
            <p:cNvSpPr>
              <a:spLocks noChangeShapeType="1"/>
            </p:cNvSpPr>
            <p:nvPr/>
          </p:nvSpPr>
          <p:spPr bwMode="auto">
            <a:xfrm>
              <a:off x="3561622" y="1920623"/>
              <a:ext cx="3037883" cy="2933874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dirty="0"/>
            </a:p>
          </p:txBody>
        </p:sp>
        <p:sp>
          <p:nvSpPr>
            <p:cNvPr id="65550" name="Text Box 30"/>
            <p:cNvSpPr txBox="1">
              <a:spLocks noChangeArrowheads="1"/>
            </p:cNvSpPr>
            <p:nvPr/>
          </p:nvSpPr>
          <p:spPr bwMode="auto">
            <a:xfrm>
              <a:off x="6684370" y="4767143"/>
              <a:ext cx="71549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MB</a:t>
              </a:r>
            </a:p>
          </p:txBody>
        </p:sp>
      </p:grpSp>
      <p:sp>
        <p:nvSpPr>
          <p:cNvPr id="238624" name="Text Box 32"/>
          <p:cNvSpPr txBox="1">
            <a:spLocks noChangeArrowheads="1"/>
          </p:cNvSpPr>
          <p:nvPr/>
        </p:nvSpPr>
        <p:spPr bwMode="auto">
          <a:xfrm>
            <a:off x="5994587" y="3240885"/>
            <a:ext cx="2116684" cy="69588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/>
              <a:t>Optimal amount of pollution</a:t>
            </a:r>
          </a:p>
        </p:txBody>
      </p:sp>
      <p:cxnSp>
        <p:nvCxnSpPr>
          <p:cNvPr id="31" name="Straight Arrow Connector 30"/>
          <p:cNvCxnSpPr>
            <a:stCxn id="0" idx="1"/>
          </p:cNvCxnSpPr>
          <p:nvPr/>
        </p:nvCxnSpPr>
        <p:spPr bwMode="auto">
          <a:xfrm rot="10800000">
            <a:off x="5214938" y="3587750"/>
            <a:ext cx="779462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600" grpId="0" animBg="1"/>
      <p:bldP spid="238601" grpId="0" animBg="1"/>
      <p:bldP spid="238605" grpId="0"/>
      <p:bldP spid="23860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 idx="4294967295"/>
          </p:nvPr>
        </p:nvSpPr>
        <p:spPr>
          <a:xfrm>
            <a:off x="838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Taxes and Subsidies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38200" y="1600200"/>
            <a:ext cx="8229600" cy="4525963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When transaction costs prohibit negotiation:</a:t>
            </a:r>
          </a:p>
          <a:p>
            <a:pPr marL="511175" lvl="1" indent="-290513" eaLnBrk="1" hangingPunct="1"/>
            <a:r>
              <a:rPr lang="en-US" dirty="0"/>
              <a:t>Negative externalities result in overproduction</a:t>
            </a:r>
          </a:p>
          <a:p>
            <a:pPr marL="511175" lvl="1" indent="-290513" eaLnBrk="1" hangingPunct="1"/>
            <a:r>
              <a:rPr lang="en-US" dirty="0"/>
              <a:t>Positive externalities result in underproduction</a:t>
            </a:r>
          </a:p>
          <a:p>
            <a:pPr marL="225425" indent="-225425" eaLnBrk="1" hangingPunct="1"/>
            <a:r>
              <a:rPr lang="en-US" dirty="0"/>
              <a:t>A per unit tax on output can move the market to the socially optimal output when there is a negative externality</a:t>
            </a:r>
          </a:p>
          <a:p>
            <a:pPr marL="225425" indent="-225425" eaLnBrk="1" hangingPunct="1"/>
            <a:r>
              <a:rPr lang="en-US" dirty="0"/>
              <a:t>A per unit subsidy on output can move the market to the socially optimal output when there is a positive externality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>
            <a:grpSpLocks/>
          </p:cNvGrpSpPr>
          <p:nvPr/>
        </p:nvGrpSpPr>
        <p:grpSpPr bwMode="auto">
          <a:xfrm>
            <a:off x="4960938" y="1566863"/>
            <a:ext cx="4064000" cy="4130675"/>
            <a:chOff x="4961465" y="1566334"/>
            <a:chExt cx="4064000" cy="4131733"/>
          </a:xfrm>
        </p:grpSpPr>
        <p:sp>
          <p:nvSpPr>
            <p:cNvPr id="61" name="Rectangle 60"/>
            <p:cNvSpPr/>
            <p:nvPr/>
          </p:nvSpPr>
          <p:spPr bwMode="auto">
            <a:xfrm>
              <a:off x="4961465" y="1566334"/>
              <a:ext cx="4064000" cy="4131733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5040840" y="1634613"/>
              <a:ext cx="3905250" cy="3995173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8677" name="Line 8"/>
            <p:cNvSpPr>
              <a:spLocks noChangeShapeType="1"/>
            </p:cNvSpPr>
            <p:nvPr/>
          </p:nvSpPr>
          <p:spPr bwMode="auto">
            <a:xfrm>
              <a:off x="5762548" y="4746626"/>
              <a:ext cx="214883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78" name="Text Box 9"/>
            <p:cNvSpPr txBox="1">
              <a:spLocks noChangeArrowheads="1"/>
            </p:cNvSpPr>
            <p:nvPr/>
          </p:nvSpPr>
          <p:spPr bwMode="auto">
            <a:xfrm>
              <a:off x="5673180" y="5184258"/>
              <a:ext cx="232356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Quantity (tons/year)</a:t>
              </a:r>
            </a:p>
          </p:txBody>
        </p:sp>
        <p:sp>
          <p:nvSpPr>
            <p:cNvPr id="68679" name="Text Box 10"/>
            <p:cNvSpPr txBox="1">
              <a:spLocks noChangeArrowheads="1"/>
            </p:cNvSpPr>
            <p:nvPr/>
          </p:nvSpPr>
          <p:spPr bwMode="auto">
            <a:xfrm rot="-5400000">
              <a:off x="4069167" y="3303866"/>
              <a:ext cx="221297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Price ($000s / ton)</a:t>
              </a:r>
            </a:p>
          </p:txBody>
        </p:sp>
        <p:sp>
          <p:nvSpPr>
            <p:cNvPr id="68680" name="Line 11"/>
            <p:cNvSpPr>
              <a:spLocks noChangeShapeType="1"/>
            </p:cNvSpPr>
            <p:nvPr/>
          </p:nvSpPr>
          <p:spPr bwMode="auto">
            <a:xfrm>
              <a:off x="5769217" y="2254251"/>
              <a:ext cx="0" cy="2492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81" name="Text Box 17"/>
            <p:cNvSpPr txBox="1">
              <a:spLocks noChangeArrowheads="1"/>
            </p:cNvSpPr>
            <p:nvPr/>
          </p:nvSpPr>
          <p:spPr bwMode="auto">
            <a:xfrm>
              <a:off x="7588587" y="4249738"/>
              <a:ext cx="248096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D</a:t>
              </a:r>
            </a:p>
          </p:txBody>
        </p:sp>
        <p:sp>
          <p:nvSpPr>
            <p:cNvPr id="268306" name="Line 18"/>
            <p:cNvSpPr>
              <a:spLocks noChangeShapeType="1"/>
            </p:cNvSpPr>
            <p:nvPr/>
          </p:nvSpPr>
          <p:spPr bwMode="auto">
            <a:xfrm>
              <a:off x="5834590" y="2522254"/>
              <a:ext cx="1857375" cy="2135734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8683" name="Line 26"/>
            <p:cNvSpPr>
              <a:spLocks noChangeShapeType="1"/>
            </p:cNvSpPr>
            <p:nvPr/>
          </p:nvSpPr>
          <p:spPr bwMode="auto">
            <a:xfrm rot="16200000" flipV="1">
              <a:off x="6350775" y="3202282"/>
              <a:ext cx="0" cy="11551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84" name="Line 27"/>
            <p:cNvSpPr>
              <a:spLocks noChangeShapeType="1"/>
            </p:cNvSpPr>
            <p:nvPr/>
          </p:nvSpPr>
          <p:spPr bwMode="auto">
            <a:xfrm flipV="1">
              <a:off x="6932333" y="3754006"/>
              <a:ext cx="0" cy="10144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316" name="Line 28"/>
            <p:cNvSpPr>
              <a:spLocks noChangeShapeType="1"/>
            </p:cNvSpPr>
            <p:nvPr/>
          </p:nvSpPr>
          <p:spPr bwMode="auto">
            <a:xfrm rot="5400000">
              <a:off x="6286101" y="3080606"/>
              <a:ext cx="1027376" cy="1590675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8686" name="Text Box 29"/>
            <p:cNvSpPr txBox="1">
              <a:spLocks noChangeArrowheads="1"/>
            </p:cNvSpPr>
            <p:nvPr/>
          </p:nvSpPr>
          <p:spPr bwMode="auto">
            <a:xfrm>
              <a:off x="7374939" y="3435349"/>
              <a:ext cx="144732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Private MC</a:t>
              </a:r>
            </a:p>
          </p:txBody>
        </p:sp>
        <p:sp>
          <p:nvSpPr>
            <p:cNvPr id="68687" name="Text Box 30"/>
            <p:cNvSpPr txBox="1">
              <a:spLocks noChangeArrowheads="1"/>
            </p:cNvSpPr>
            <p:nvPr/>
          </p:nvSpPr>
          <p:spPr bwMode="auto">
            <a:xfrm>
              <a:off x="6642015" y="4764088"/>
              <a:ext cx="10965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12,000</a:t>
              </a:r>
            </a:p>
          </p:txBody>
        </p:sp>
        <p:sp>
          <p:nvSpPr>
            <p:cNvPr id="68688" name="Text Box 31"/>
            <p:cNvSpPr txBox="1">
              <a:spLocks noChangeArrowheads="1"/>
            </p:cNvSpPr>
            <p:nvPr/>
          </p:nvSpPr>
          <p:spPr bwMode="auto">
            <a:xfrm>
              <a:off x="5110296" y="3624263"/>
              <a:ext cx="68026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1.3</a:t>
              </a:r>
            </a:p>
          </p:txBody>
        </p:sp>
        <p:sp>
          <p:nvSpPr>
            <p:cNvPr id="68689" name="Text Box 57"/>
            <p:cNvSpPr txBox="1">
              <a:spLocks noChangeArrowheads="1"/>
            </p:cNvSpPr>
            <p:nvPr/>
          </p:nvSpPr>
          <p:spPr bwMode="auto">
            <a:xfrm>
              <a:off x="6049020" y="1708673"/>
              <a:ext cx="1744674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u="sng"/>
                <a:t>Pollution Tax</a:t>
              </a:r>
              <a:br>
                <a:rPr lang="en-US" sz="2000"/>
              </a:br>
              <a:r>
                <a:rPr lang="en-US" sz="2000"/>
                <a:t>$1,000 / ton</a:t>
              </a:r>
            </a:p>
          </p:txBody>
        </p:sp>
      </p:grpSp>
      <p:sp>
        <p:nvSpPr>
          <p:cNvPr id="6861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Taxing a Negative Externality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795866" y="1566334"/>
            <a:ext cx="3928533" cy="413173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871538" y="1633538"/>
            <a:ext cx="3776662" cy="399732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8" name="Group 77"/>
          <p:cNvGrpSpPr>
            <a:grpSpLocks/>
          </p:cNvGrpSpPr>
          <p:nvPr/>
        </p:nvGrpSpPr>
        <p:grpSpPr bwMode="auto">
          <a:xfrm>
            <a:off x="6003925" y="2435225"/>
            <a:ext cx="3038475" cy="1301750"/>
            <a:chOff x="6003975" y="2435752"/>
            <a:chExt cx="3038420" cy="1301224"/>
          </a:xfrm>
        </p:grpSpPr>
        <p:sp>
          <p:nvSpPr>
            <p:cNvPr id="68667" name="Text Box 43"/>
            <p:cNvSpPr txBox="1">
              <a:spLocks noChangeArrowheads="1"/>
            </p:cNvSpPr>
            <p:nvPr/>
          </p:nvSpPr>
          <p:spPr bwMode="auto">
            <a:xfrm>
              <a:off x="7348494" y="2976563"/>
              <a:ext cx="169390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Tax</a:t>
              </a:r>
            </a:p>
          </p:txBody>
        </p:sp>
        <p:sp>
          <p:nvSpPr>
            <p:cNvPr id="268325" name="Line 37"/>
            <p:cNvSpPr>
              <a:spLocks noChangeShapeType="1"/>
            </p:cNvSpPr>
            <p:nvPr/>
          </p:nvSpPr>
          <p:spPr bwMode="auto">
            <a:xfrm rot="5400000">
              <a:off x="6285950" y="2428304"/>
              <a:ext cx="1026697" cy="1590646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268327" name="AutoShape 39"/>
            <p:cNvSpPr>
              <a:spLocks noChangeArrowheads="1"/>
            </p:cNvSpPr>
            <p:nvPr/>
          </p:nvSpPr>
          <p:spPr bwMode="auto">
            <a:xfrm>
              <a:off x="7233783" y="3014663"/>
              <a:ext cx="120047" cy="439738"/>
            </a:xfrm>
            <a:prstGeom prst="upDownArrow">
              <a:avLst>
                <a:gd name="adj1" fmla="val 50000"/>
                <a:gd name="adj2" fmla="val 61556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8672" name="Text Box 44"/>
            <p:cNvSpPr txBox="1">
              <a:spLocks noChangeArrowheads="1"/>
            </p:cNvSpPr>
            <p:nvPr/>
          </p:nvSpPr>
          <p:spPr bwMode="auto">
            <a:xfrm>
              <a:off x="6741324" y="2435752"/>
              <a:ext cx="199627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Private MC + Tax</a:t>
              </a:r>
            </a:p>
          </p:txBody>
        </p:sp>
      </p:grpSp>
      <p:sp>
        <p:nvSpPr>
          <p:cNvPr id="68616" name="Line 45"/>
          <p:cNvSpPr>
            <a:spLocks noChangeShapeType="1"/>
          </p:cNvSpPr>
          <p:nvPr/>
        </p:nvSpPr>
        <p:spPr bwMode="auto">
          <a:xfrm flipV="1">
            <a:off x="6932613" y="3773488"/>
            <a:ext cx="0" cy="4762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76" name="Group 75"/>
          <p:cNvGrpSpPr>
            <a:grpSpLocks/>
          </p:cNvGrpSpPr>
          <p:nvPr/>
        </p:nvGrpSpPr>
        <p:grpSpPr bwMode="auto">
          <a:xfrm>
            <a:off x="1103313" y="2957513"/>
            <a:ext cx="1844675" cy="2181225"/>
            <a:chOff x="1104088" y="2956994"/>
            <a:chExt cx="1843379" cy="2182257"/>
          </a:xfrm>
        </p:grpSpPr>
        <p:sp>
          <p:nvSpPr>
            <p:cNvPr id="68660" name="Line 53"/>
            <p:cNvSpPr>
              <a:spLocks noChangeShapeType="1"/>
            </p:cNvSpPr>
            <p:nvPr/>
          </p:nvSpPr>
          <p:spPr bwMode="auto">
            <a:xfrm rot="16200000" flipV="1">
              <a:off x="2317891" y="2633831"/>
              <a:ext cx="0" cy="10590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61" name="Text Box 54"/>
            <p:cNvSpPr txBox="1">
              <a:spLocks noChangeArrowheads="1"/>
            </p:cNvSpPr>
            <p:nvPr/>
          </p:nvSpPr>
          <p:spPr bwMode="auto">
            <a:xfrm>
              <a:off x="1104088" y="2956994"/>
              <a:ext cx="68026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2.3</a:t>
              </a:r>
            </a:p>
          </p:txBody>
        </p:sp>
        <p:sp>
          <p:nvSpPr>
            <p:cNvPr id="68662" name="Line 50"/>
            <p:cNvSpPr>
              <a:spLocks noChangeShapeType="1"/>
            </p:cNvSpPr>
            <p:nvPr/>
          </p:nvSpPr>
          <p:spPr bwMode="auto">
            <a:xfrm flipV="1">
              <a:off x="2573990" y="3404669"/>
              <a:ext cx="0" cy="13557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63" name="Line 51"/>
            <p:cNvSpPr>
              <a:spLocks noChangeShapeType="1"/>
            </p:cNvSpPr>
            <p:nvPr/>
          </p:nvSpPr>
          <p:spPr bwMode="auto">
            <a:xfrm rot="16200000" flipV="1">
              <a:off x="2163164" y="2991757"/>
              <a:ext cx="0" cy="7496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64" name="Text Box 52"/>
            <p:cNvSpPr txBox="1">
              <a:spLocks noChangeArrowheads="1"/>
            </p:cNvSpPr>
            <p:nvPr/>
          </p:nvSpPr>
          <p:spPr bwMode="auto">
            <a:xfrm>
              <a:off x="1104088" y="3210994"/>
              <a:ext cx="68026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2.0</a:t>
              </a:r>
            </a:p>
          </p:txBody>
        </p:sp>
        <p:sp>
          <p:nvSpPr>
            <p:cNvPr id="68665" name="Text Box 55"/>
            <p:cNvSpPr txBox="1">
              <a:spLocks noChangeArrowheads="1"/>
            </p:cNvSpPr>
            <p:nvPr/>
          </p:nvSpPr>
          <p:spPr bwMode="auto">
            <a:xfrm>
              <a:off x="1965249" y="4769919"/>
              <a:ext cx="87500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8,000</a:t>
              </a:r>
            </a:p>
          </p:txBody>
        </p:sp>
        <p:sp>
          <p:nvSpPr>
            <p:cNvPr id="68666" name="Line 14"/>
            <p:cNvSpPr>
              <a:spLocks noChangeShapeType="1"/>
            </p:cNvSpPr>
            <p:nvPr/>
          </p:nvSpPr>
          <p:spPr bwMode="auto">
            <a:xfrm flipV="1">
              <a:off x="2947467" y="3126424"/>
              <a:ext cx="0" cy="16097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0" name="Group 79"/>
          <p:cNvGrpSpPr>
            <a:grpSpLocks/>
          </p:cNvGrpSpPr>
          <p:nvPr/>
        </p:nvGrpSpPr>
        <p:grpSpPr bwMode="auto">
          <a:xfrm>
            <a:off x="5110163" y="3171825"/>
            <a:ext cx="1711325" cy="1962150"/>
            <a:chOff x="5110296" y="3171826"/>
            <a:chExt cx="1711742" cy="1961594"/>
          </a:xfrm>
        </p:grpSpPr>
        <p:sp>
          <p:nvSpPr>
            <p:cNvPr id="68656" name="Line 36"/>
            <p:cNvSpPr>
              <a:spLocks noChangeShapeType="1"/>
            </p:cNvSpPr>
            <p:nvPr/>
          </p:nvSpPr>
          <p:spPr bwMode="auto">
            <a:xfrm flipV="1">
              <a:off x="6562857" y="3330576"/>
              <a:ext cx="0" cy="14239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57" name="Line 35"/>
            <p:cNvSpPr>
              <a:spLocks noChangeShapeType="1"/>
            </p:cNvSpPr>
            <p:nvPr/>
          </p:nvSpPr>
          <p:spPr bwMode="auto">
            <a:xfrm rot="16200000" flipV="1">
              <a:off x="6177375" y="2959630"/>
              <a:ext cx="0" cy="8069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58" name="Text Box 38"/>
            <p:cNvSpPr txBox="1">
              <a:spLocks noChangeArrowheads="1"/>
            </p:cNvSpPr>
            <p:nvPr/>
          </p:nvSpPr>
          <p:spPr bwMode="auto">
            <a:xfrm>
              <a:off x="5110296" y="3171826"/>
              <a:ext cx="68026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2.0</a:t>
              </a:r>
            </a:p>
          </p:txBody>
        </p:sp>
        <p:sp>
          <p:nvSpPr>
            <p:cNvPr id="68659" name="Text Box 40"/>
            <p:cNvSpPr txBox="1">
              <a:spLocks noChangeArrowheads="1"/>
            </p:cNvSpPr>
            <p:nvPr/>
          </p:nvSpPr>
          <p:spPr bwMode="auto">
            <a:xfrm>
              <a:off x="5947033" y="4764088"/>
              <a:ext cx="87500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8,000</a:t>
              </a:r>
            </a:p>
          </p:txBody>
        </p:sp>
      </p:grpSp>
      <p:grpSp>
        <p:nvGrpSpPr>
          <p:cNvPr id="68619" name="Group 73"/>
          <p:cNvGrpSpPr>
            <a:grpSpLocks/>
          </p:cNvGrpSpPr>
          <p:nvPr/>
        </p:nvGrpSpPr>
        <p:grpSpPr bwMode="auto">
          <a:xfrm>
            <a:off x="973138" y="1714500"/>
            <a:ext cx="3546475" cy="3835400"/>
            <a:chOff x="973531" y="1714504"/>
            <a:chExt cx="3546543" cy="3835392"/>
          </a:xfrm>
        </p:grpSpPr>
        <p:sp>
          <p:nvSpPr>
            <p:cNvPr id="68643" name="Text Box 12"/>
            <p:cNvSpPr txBox="1">
              <a:spLocks noChangeArrowheads="1"/>
            </p:cNvSpPr>
            <p:nvPr/>
          </p:nvSpPr>
          <p:spPr bwMode="auto">
            <a:xfrm>
              <a:off x="1808361" y="5180564"/>
              <a:ext cx="232356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Quantity (tons/year)</a:t>
              </a:r>
            </a:p>
          </p:txBody>
        </p:sp>
        <p:sp>
          <p:nvSpPr>
            <p:cNvPr id="68644" name="Line 5"/>
            <p:cNvSpPr>
              <a:spLocks noChangeShapeType="1"/>
            </p:cNvSpPr>
            <p:nvPr/>
          </p:nvSpPr>
          <p:spPr bwMode="auto">
            <a:xfrm>
              <a:off x="1777682" y="4752457"/>
              <a:ext cx="214883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45" name="Line 7"/>
            <p:cNvSpPr>
              <a:spLocks noChangeShapeType="1"/>
            </p:cNvSpPr>
            <p:nvPr/>
          </p:nvSpPr>
          <p:spPr bwMode="auto">
            <a:xfrm>
              <a:off x="1784351" y="2260082"/>
              <a:ext cx="0" cy="2492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646" name="Text Box 6"/>
            <p:cNvSpPr txBox="1">
              <a:spLocks noChangeArrowheads="1"/>
            </p:cNvSpPr>
            <p:nvPr/>
          </p:nvSpPr>
          <p:spPr bwMode="auto">
            <a:xfrm rot="-5400000">
              <a:off x="51709" y="3313666"/>
              <a:ext cx="221297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Price ($000s / ton)</a:t>
              </a:r>
            </a:p>
          </p:txBody>
        </p:sp>
        <p:sp>
          <p:nvSpPr>
            <p:cNvPr id="68647" name="Line 19"/>
            <p:cNvSpPr>
              <a:spLocks noChangeShapeType="1"/>
            </p:cNvSpPr>
            <p:nvPr/>
          </p:nvSpPr>
          <p:spPr bwMode="auto">
            <a:xfrm rot="16200000" flipV="1">
              <a:off x="2365909" y="3208113"/>
              <a:ext cx="0" cy="11551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308" name="Line 20"/>
            <p:cNvSpPr>
              <a:spLocks noChangeShapeType="1"/>
            </p:cNvSpPr>
            <p:nvPr/>
          </p:nvSpPr>
          <p:spPr bwMode="auto">
            <a:xfrm rot="5400000">
              <a:off x="2301510" y="3086878"/>
              <a:ext cx="1027111" cy="1590705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8649" name="Text Box 21"/>
            <p:cNvSpPr txBox="1">
              <a:spLocks noChangeArrowheads="1"/>
            </p:cNvSpPr>
            <p:nvPr/>
          </p:nvSpPr>
          <p:spPr bwMode="auto">
            <a:xfrm>
              <a:off x="3603721" y="4255569"/>
              <a:ext cx="248096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D</a:t>
              </a:r>
            </a:p>
          </p:txBody>
        </p:sp>
        <p:sp>
          <p:nvSpPr>
            <p:cNvPr id="68650" name="Text Box 22"/>
            <p:cNvSpPr txBox="1">
              <a:spLocks noChangeArrowheads="1"/>
            </p:cNvSpPr>
            <p:nvPr/>
          </p:nvSpPr>
          <p:spPr bwMode="auto">
            <a:xfrm>
              <a:off x="3295601" y="3412607"/>
              <a:ext cx="1224473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Private MC</a:t>
              </a:r>
            </a:p>
          </p:txBody>
        </p:sp>
        <p:sp>
          <p:nvSpPr>
            <p:cNvPr id="68651" name="Text Box 24"/>
            <p:cNvSpPr txBox="1">
              <a:spLocks noChangeArrowheads="1"/>
            </p:cNvSpPr>
            <p:nvPr/>
          </p:nvSpPr>
          <p:spPr bwMode="auto">
            <a:xfrm>
              <a:off x="1104088" y="3630094"/>
              <a:ext cx="68026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1.3</a:t>
              </a:r>
            </a:p>
          </p:txBody>
        </p:sp>
        <p:sp>
          <p:nvSpPr>
            <p:cNvPr id="68652" name="Text Box 56"/>
            <p:cNvSpPr txBox="1">
              <a:spLocks noChangeArrowheads="1"/>
            </p:cNvSpPr>
            <p:nvPr/>
          </p:nvSpPr>
          <p:spPr bwMode="auto">
            <a:xfrm>
              <a:off x="2607657" y="4769919"/>
              <a:ext cx="98171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12,000</a:t>
              </a:r>
            </a:p>
          </p:txBody>
        </p:sp>
        <p:sp>
          <p:nvSpPr>
            <p:cNvPr id="68653" name="Text Box 33"/>
            <p:cNvSpPr txBox="1">
              <a:spLocks noChangeArrowheads="1"/>
            </p:cNvSpPr>
            <p:nvPr/>
          </p:nvSpPr>
          <p:spPr bwMode="auto">
            <a:xfrm>
              <a:off x="1711391" y="1714504"/>
              <a:ext cx="215053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u="sng"/>
                <a:t>No Pollution Tax</a:t>
              </a:r>
            </a:p>
          </p:txBody>
        </p:sp>
        <p:cxnSp>
          <p:nvCxnSpPr>
            <p:cNvPr id="68654" name="Straight Connector 70"/>
            <p:cNvCxnSpPr>
              <a:cxnSpLocks noChangeShapeType="1"/>
            </p:cNvCxnSpPr>
            <p:nvPr/>
          </p:nvCxnSpPr>
          <p:spPr bwMode="auto">
            <a:xfrm rot="5400000">
              <a:off x="2455334" y="4284133"/>
              <a:ext cx="982133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268313" name="Line 25"/>
            <p:cNvSpPr>
              <a:spLocks noChangeShapeType="1"/>
            </p:cNvSpPr>
            <p:nvPr/>
          </p:nvSpPr>
          <p:spPr bwMode="auto">
            <a:xfrm>
              <a:off x="1849848" y="2528890"/>
              <a:ext cx="1857411" cy="2135183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3217864" y="5816601"/>
            <a:ext cx="1591204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Private Equilibrium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6530" y="5816601"/>
            <a:ext cx="1591204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Social Optimum</a:t>
            </a:r>
          </a:p>
        </p:txBody>
      </p:sp>
      <p:cxnSp>
        <p:nvCxnSpPr>
          <p:cNvPr id="84" name="Straight Arrow Connector 83"/>
          <p:cNvCxnSpPr>
            <a:stCxn id="0" idx="0"/>
          </p:cNvCxnSpPr>
          <p:nvPr/>
        </p:nvCxnSpPr>
        <p:spPr bwMode="auto">
          <a:xfrm rot="16200000" flipV="1">
            <a:off x="2510632" y="4314031"/>
            <a:ext cx="1955800" cy="104933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0" idx="0"/>
          </p:cNvCxnSpPr>
          <p:nvPr/>
        </p:nvCxnSpPr>
        <p:spPr bwMode="auto">
          <a:xfrm rot="5400000" flipH="1" flipV="1">
            <a:off x="969963" y="4229100"/>
            <a:ext cx="2430462" cy="74453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249864" y="5816601"/>
            <a:ext cx="1591204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After Tax Equilibrium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98797" y="5816601"/>
            <a:ext cx="1591204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Before Tax Equilibrium</a:t>
            </a:r>
          </a:p>
        </p:txBody>
      </p:sp>
      <p:cxnSp>
        <p:nvCxnSpPr>
          <p:cNvPr id="90" name="Straight Arrow Connector 89"/>
          <p:cNvCxnSpPr>
            <a:stCxn id="0" idx="0"/>
          </p:cNvCxnSpPr>
          <p:nvPr/>
        </p:nvCxnSpPr>
        <p:spPr bwMode="auto">
          <a:xfrm rot="5400000" flipH="1" flipV="1">
            <a:off x="5109369" y="4390231"/>
            <a:ext cx="2362200" cy="49053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0" idx="0"/>
          </p:cNvCxnSpPr>
          <p:nvPr/>
        </p:nvCxnSpPr>
        <p:spPr bwMode="auto">
          <a:xfrm rot="16200000" flipV="1">
            <a:off x="6540501" y="4262437"/>
            <a:ext cx="1955800" cy="115252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5" name="Group 74"/>
          <p:cNvGrpSpPr>
            <a:grpSpLocks/>
          </p:cNvGrpSpPr>
          <p:nvPr/>
        </p:nvGrpSpPr>
        <p:grpSpPr bwMode="auto">
          <a:xfrm>
            <a:off x="1858963" y="2489200"/>
            <a:ext cx="2746375" cy="1347788"/>
            <a:chOff x="1859047" y="2489733"/>
            <a:chExt cx="2746818" cy="1346736"/>
          </a:xfrm>
        </p:grpSpPr>
        <p:sp>
          <p:nvSpPr>
            <p:cNvPr id="268334" name="Line 46"/>
            <p:cNvSpPr>
              <a:spLocks noChangeShapeType="1"/>
            </p:cNvSpPr>
            <p:nvPr/>
          </p:nvSpPr>
          <p:spPr bwMode="auto">
            <a:xfrm rot="5400000">
              <a:off x="2140565" y="2527054"/>
              <a:ext cx="1027897" cy="1590932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8638" name="Text Box 47"/>
            <p:cNvSpPr txBox="1">
              <a:spLocks noChangeArrowheads="1"/>
            </p:cNvSpPr>
            <p:nvPr/>
          </p:nvSpPr>
          <p:spPr bwMode="auto">
            <a:xfrm>
              <a:off x="3217180" y="2489733"/>
              <a:ext cx="138868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Social MC</a:t>
              </a:r>
            </a:p>
          </p:txBody>
        </p:sp>
        <p:sp>
          <p:nvSpPr>
            <p:cNvPr id="68639" name="Text Box 49"/>
            <p:cNvSpPr txBox="1">
              <a:spLocks noChangeArrowheads="1"/>
            </p:cNvSpPr>
            <p:nvPr/>
          </p:nvSpPr>
          <p:spPr bwMode="auto">
            <a:xfrm>
              <a:off x="3252918" y="2968107"/>
              <a:ext cx="50187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XC</a:t>
              </a:r>
            </a:p>
          </p:txBody>
        </p:sp>
        <p:sp>
          <p:nvSpPr>
            <p:cNvPr id="268351" name="AutoShape 63"/>
            <p:cNvSpPr>
              <a:spLocks noChangeArrowheads="1"/>
            </p:cNvSpPr>
            <p:nvPr/>
          </p:nvSpPr>
          <p:spPr bwMode="auto">
            <a:xfrm>
              <a:off x="3147545" y="3058594"/>
              <a:ext cx="120047" cy="439738"/>
            </a:xfrm>
            <a:prstGeom prst="upDownArrow">
              <a:avLst>
                <a:gd name="adj1" fmla="val 50000"/>
                <a:gd name="adj2" fmla="val 61556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pic>
        <p:nvPicPr>
          <p:cNvPr id="67" name="Picture 6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466725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Subsidizing a Positive Externality</a:t>
            </a:r>
          </a:p>
        </p:txBody>
      </p:sp>
      <p:grpSp>
        <p:nvGrpSpPr>
          <p:cNvPr id="70658" name="Group 110"/>
          <p:cNvGrpSpPr>
            <a:grpSpLocks/>
          </p:cNvGrpSpPr>
          <p:nvPr/>
        </p:nvGrpSpPr>
        <p:grpSpPr bwMode="auto">
          <a:xfrm>
            <a:off x="885825" y="1808163"/>
            <a:ext cx="3927475" cy="4440237"/>
            <a:chOff x="809096" y="1714225"/>
            <a:chExt cx="3928533" cy="4131733"/>
          </a:xfrm>
        </p:grpSpPr>
        <p:sp>
          <p:nvSpPr>
            <p:cNvPr id="59" name="Rectangle 58"/>
            <p:cNvSpPr/>
            <p:nvPr/>
          </p:nvSpPr>
          <p:spPr bwMode="auto">
            <a:xfrm>
              <a:off x="809096" y="1714225"/>
              <a:ext cx="3928533" cy="4131733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885317" y="1782176"/>
              <a:ext cx="3776092" cy="3995830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70659" name="Text Box 55"/>
          <p:cNvSpPr txBox="1">
            <a:spLocks noChangeArrowheads="1"/>
          </p:cNvSpPr>
          <p:nvPr/>
        </p:nvSpPr>
        <p:spPr bwMode="auto">
          <a:xfrm>
            <a:off x="2379663" y="5021263"/>
            <a:ext cx="660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12</a:t>
            </a:r>
          </a:p>
        </p:txBody>
      </p:sp>
      <p:sp>
        <p:nvSpPr>
          <p:cNvPr id="70660" name="Text Box 12"/>
          <p:cNvSpPr txBox="1">
            <a:spLocks noChangeArrowheads="1"/>
          </p:cNvSpPr>
          <p:nvPr/>
        </p:nvSpPr>
        <p:spPr bwMode="auto">
          <a:xfrm>
            <a:off x="1884363" y="5430838"/>
            <a:ext cx="23241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Quantity </a:t>
            </a:r>
            <a:br>
              <a:rPr lang="en-US"/>
            </a:br>
            <a:r>
              <a:rPr lang="en-US"/>
              <a:t>(000s tons/year)</a:t>
            </a:r>
          </a:p>
        </p:txBody>
      </p:sp>
      <p:sp>
        <p:nvSpPr>
          <p:cNvPr id="70661" name="Line 5"/>
          <p:cNvSpPr>
            <a:spLocks noChangeShapeType="1"/>
          </p:cNvSpPr>
          <p:nvPr/>
        </p:nvSpPr>
        <p:spPr bwMode="auto">
          <a:xfrm>
            <a:off x="1854200" y="5003800"/>
            <a:ext cx="21478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0662" name="Line 7"/>
          <p:cNvSpPr>
            <a:spLocks noChangeShapeType="1"/>
          </p:cNvSpPr>
          <p:nvPr/>
        </p:nvSpPr>
        <p:spPr bwMode="auto">
          <a:xfrm>
            <a:off x="1860550" y="2511425"/>
            <a:ext cx="0" cy="2492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0663" name="Text Box 6"/>
          <p:cNvSpPr txBox="1">
            <a:spLocks noChangeArrowheads="1"/>
          </p:cNvSpPr>
          <p:nvPr/>
        </p:nvSpPr>
        <p:spPr bwMode="auto">
          <a:xfrm rot="-5400000">
            <a:off x="127794" y="3564732"/>
            <a:ext cx="22129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Price ($ / ton)</a:t>
            </a:r>
          </a:p>
        </p:txBody>
      </p:sp>
      <p:sp>
        <p:nvSpPr>
          <p:cNvPr id="268308" name="Line 20"/>
          <p:cNvSpPr>
            <a:spLocks noChangeShapeType="1"/>
          </p:cNvSpPr>
          <p:nvPr/>
        </p:nvSpPr>
        <p:spPr bwMode="auto">
          <a:xfrm rot="5400000">
            <a:off x="2393157" y="3010694"/>
            <a:ext cx="1263650" cy="1722437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0665" name="Text Box 21"/>
          <p:cNvSpPr txBox="1">
            <a:spLocks noChangeArrowheads="1"/>
          </p:cNvSpPr>
          <p:nvPr/>
        </p:nvSpPr>
        <p:spPr bwMode="auto">
          <a:xfrm flipH="1">
            <a:off x="3243263" y="4438650"/>
            <a:ext cx="12858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Private Demand</a:t>
            </a:r>
          </a:p>
        </p:txBody>
      </p:sp>
      <p:sp>
        <p:nvSpPr>
          <p:cNvPr id="70666" name="Text Box 22"/>
          <p:cNvSpPr txBox="1">
            <a:spLocks noChangeArrowheads="1"/>
          </p:cNvSpPr>
          <p:nvPr/>
        </p:nvSpPr>
        <p:spPr bwMode="auto">
          <a:xfrm>
            <a:off x="3327400" y="2960688"/>
            <a:ext cx="70008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MC</a:t>
            </a:r>
          </a:p>
        </p:txBody>
      </p:sp>
      <p:sp>
        <p:nvSpPr>
          <p:cNvPr id="70667" name="Text Box 24"/>
          <p:cNvSpPr txBox="1">
            <a:spLocks noChangeArrowheads="1"/>
          </p:cNvSpPr>
          <p:nvPr/>
        </p:nvSpPr>
        <p:spPr bwMode="auto">
          <a:xfrm>
            <a:off x="1179513" y="3914775"/>
            <a:ext cx="6810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/>
              <a:t>8</a:t>
            </a:r>
          </a:p>
        </p:txBody>
      </p:sp>
      <p:sp>
        <p:nvSpPr>
          <p:cNvPr id="268313" name="Line 25"/>
          <p:cNvSpPr>
            <a:spLocks noChangeShapeType="1"/>
          </p:cNvSpPr>
          <p:nvPr/>
        </p:nvSpPr>
        <p:spPr bwMode="auto">
          <a:xfrm>
            <a:off x="2055813" y="3332163"/>
            <a:ext cx="1238250" cy="1422400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0669" name="Text Box 33"/>
          <p:cNvSpPr txBox="1">
            <a:spLocks noChangeArrowheads="1"/>
          </p:cNvSpPr>
          <p:nvPr/>
        </p:nvSpPr>
        <p:spPr bwMode="auto">
          <a:xfrm>
            <a:off x="1787525" y="1965325"/>
            <a:ext cx="21510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u="sng"/>
              <a:t>No Subsidy</a:t>
            </a:r>
          </a:p>
        </p:txBody>
      </p:sp>
      <p:grpSp>
        <p:nvGrpSpPr>
          <p:cNvPr id="109" name="Group 108"/>
          <p:cNvGrpSpPr>
            <a:grpSpLocks/>
          </p:cNvGrpSpPr>
          <p:nvPr/>
        </p:nvGrpSpPr>
        <p:grpSpPr bwMode="auto">
          <a:xfrm>
            <a:off x="1906588" y="2779713"/>
            <a:ext cx="2741612" cy="1627187"/>
            <a:chOff x="1829859" y="2528375"/>
            <a:chExt cx="2742662" cy="1628462"/>
          </a:xfrm>
        </p:grpSpPr>
        <p:sp>
          <p:nvSpPr>
            <p:cNvPr id="70716" name="Text Box 49"/>
            <p:cNvSpPr txBox="1">
              <a:spLocks noChangeArrowheads="1"/>
            </p:cNvSpPr>
            <p:nvPr/>
          </p:nvSpPr>
          <p:spPr bwMode="auto">
            <a:xfrm>
              <a:off x="1829859" y="2798771"/>
              <a:ext cx="50187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XB</a:t>
              </a:r>
            </a:p>
          </p:txBody>
        </p:sp>
        <p:sp>
          <p:nvSpPr>
            <p:cNvPr id="268351" name="AutoShape 63"/>
            <p:cNvSpPr>
              <a:spLocks noChangeArrowheads="1"/>
            </p:cNvSpPr>
            <p:nvPr/>
          </p:nvSpPr>
          <p:spPr bwMode="auto">
            <a:xfrm>
              <a:off x="2283400" y="2940040"/>
              <a:ext cx="120047" cy="439738"/>
            </a:xfrm>
            <a:prstGeom prst="upDownArrow">
              <a:avLst>
                <a:gd name="adj1" fmla="val 50000"/>
                <a:gd name="adj2" fmla="val 61556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7" name="Line 25"/>
            <p:cNvSpPr>
              <a:spLocks noChangeShapeType="1"/>
            </p:cNvSpPr>
            <p:nvPr/>
          </p:nvSpPr>
          <p:spPr bwMode="auto">
            <a:xfrm>
              <a:off x="2034724" y="2528375"/>
              <a:ext cx="1284780" cy="1450523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0721" name="Text Box 21"/>
            <p:cNvSpPr txBox="1">
              <a:spLocks noChangeArrowheads="1"/>
            </p:cNvSpPr>
            <p:nvPr/>
          </p:nvSpPr>
          <p:spPr bwMode="auto">
            <a:xfrm flipH="1">
              <a:off x="3285590" y="3510506"/>
              <a:ext cx="1286931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Social Demand</a:t>
              </a:r>
            </a:p>
          </p:txBody>
        </p:sp>
      </p:grpSp>
      <p:cxnSp>
        <p:nvCxnSpPr>
          <p:cNvPr id="70671" name="Straight Connector 72"/>
          <p:cNvCxnSpPr>
            <a:cxnSpLocks noChangeShapeType="1"/>
          </p:cNvCxnSpPr>
          <p:nvPr/>
        </p:nvCxnSpPr>
        <p:spPr bwMode="auto">
          <a:xfrm rot="5400000" flipH="1" flipV="1">
            <a:off x="2243138" y="4568825"/>
            <a:ext cx="915988" cy="158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70672" name="Straight Connector 78"/>
          <p:cNvCxnSpPr>
            <a:cxnSpLocks noChangeShapeType="1"/>
            <a:stCxn id="70667" idx="3"/>
          </p:cNvCxnSpPr>
          <p:nvPr/>
        </p:nvCxnSpPr>
        <p:spPr bwMode="auto">
          <a:xfrm flipV="1">
            <a:off x="1860550" y="4094163"/>
            <a:ext cx="841375" cy="4762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grpSp>
        <p:nvGrpSpPr>
          <p:cNvPr id="110" name="Group 109"/>
          <p:cNvGrpSpPr>
            <a:grpSpLocks/>
          </p:cNvGrpSpPr>
          <p:nvPr/>
        </p:nvGrpSpPr>
        <p:grpSpPr bwMode="auto">
          <a:xfrm>
            <a:off x="1179513" y="3208338"/>
            <a:ext cx="2198687" cy="2181225"/>
            <a:chOff x="1104088" y="2956994"/>
            <a:chExt cx="2197912" cy="2182257"/>
          </a:xfrm>
        </p:grpSpPr>
        <p:sp>
          <p:nvSpPr>
            <p:cNvPr id="70709" name="Text Box 54"/>
            <p:cNvSpPr txBox="1">
              <a:spLocks noChangeArrowheads="1"/>
            </p:cNvSpPr>
            <p:nvPr/>
          </p:nvSpPr>
          <p:spPr bwMode="auto">
            <a:xfrm>
              <a:off x="1104088" y="2956994"/>
              <a:ext cx="68026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14</a:t>
              </a:r>
            </a:p>
          </p:txBody>
        </p:sp>
        <p:sp>
          <p:nvSpPr>
            <p:cNvPr id="70710" name="Text Box 52"/>
            <p:cNvSpPr txBox="1">
              <a:spLocks noChangeArrowheads="1"/>
            </p:cNvSpPr>
            <p:nvPr/>
          </p:nvSpPr>
          <p:spPr bwMode="auto">
            <a:xfrm>
              <a:off x="1121021" y="3363391"/>
              <a:ext cx="68026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10</a:t>
              </a:r>
            </a:p>
          </p:txBody>
        </p:sp>
        <p:sp>
          <p:nvSpPr>
            <p:cNvPr id="70711" name="Text Box 56"/>
            <p:cNvSpPr txBox="1">
              <a:spLocks noChangeArrowheads="1"/>
            </p:cNvSpPr>
            <p:nvPr/>
          </p:nvSpPr>
          <p:spPr bwMode="auto">
            <a:xfrm>
              <a:off x="2743200" y="4761436"/>
              <a:ext cx="558800" cy="37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16</a:t>
              </a:r>
            </a:p>
          </p:txBody>
        </p:sp>
        <p:cxnSp>
          <p:nvCxnSpPr>
            <p:cNvPr id="70712" name="Straight Connector 84"/>
            <p:cNvCxnSpPr>
              <a:cxnSpLocks noChangeShapeType="1"/>
            </p:cNvCxnSpPr>
            <p:nvPr/>
          </p:nvCxnSpPr>
          <p:spPr bwMode="auto">
            <a:xfrm rot="5400000" flipH="1" flipV="1">
              <a:off x="1838706" y="4004353"/>
              <a:ext cx="1574801" cy="762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70713" name="Straight Connector 93"/>
            <p:cNvCxnSpPr>
              <a:cxnSpLocks noChangeShapeType="1"/>
            </p:cNvCxnSpPr>
            <p:nvPr/>
          </p:nvCxnSpPr>
          <p:spPr bwMode="auto">
            <a:xfrm rot="10800000">
              <a:off x="1761067" y="3198813"/>
              <a:ext cx="864658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70714" name="Straight Connector 104"/>
            <p:cNvCxnSpPr>
              <a:cxnSpLocks noChangeShapeType="1"/>
            </p:cNvCxnSpPr>
            <p:nvPr/>
          </p:nvCxnSpPr>
          <p:spPr bwMode="auto">
            <a:xfrm rot="10800000">
              <a:off x="1761068" y="3621088"/>
              <a:ext cx="1236133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70715" name="Straight Connector 106"/>
            <p:cNvCxnSpPr>
              <a:cxnSpLocks noChangeShapeType="1"/>
            </p:cNvCxnSpPr>
            <p:nvPr/>
          </p:nvCxnSpPr>
          <p:spPr bwMode="auto">
            <a:xfrm rot="5400000">
              <a:off x="2404004" y="4215078"/>
              <a:ext cx="1187189" cy="79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grpSp>
        <p:nvGrpSpPr>
          <p:cNvPr id="144" name="Group 143"/>
          <p:cNvGrpSpPr>
            <a:grpSpLocks/>
          </p:cNvGrpSpPr>
          <p:nvPr/>
        </p:nvGrpSpPr>
        <p:grpSpPr bwMode="auto">
          <a:xfrm>
            <a:off x="4932363" y="1808163"/>
            <a:ext cx="3929062" cy="4440237"/>
            <a:chOff x="4856162" y="1557865"/>
            <a:chExt cx="3928533" cy="4440491"/>
          </a:xfrm>
        </p:grpSpPr>
        <p:grpSp>
          <p:nvGrpSpPr>
            <p:cNvPr id="70695" name="Group 111"/>
            <p:cNvGrpSpPr>
              <a:grpSpLocks/>
            </p:cNvGrpSpPr>
            <p:nvPr/>
          </p:nvGrpSpPr>
          <p:grpSpPr bwMode="auto">
            <a:xfrm>
              <a:off x="4856162" y="1557865"/>
              <a:ext cx="3928533" cy="4440491"/>
              <a:chOff x="809096" y="1714225"/>
              <a:chExt cx="3928533" cy="4131733"/>
            </a:xfrm>
          </p:grpSpPr>
          <p:sp>
            <p:nvSpPr>
              <p:cNvPr id="113" name="Rectangle 112"/>
              <p:cNvSpPr/>
              <p:nvPr/>
            </p:nvSpPr>
            <p:spPr bwMode="auto">
              <a:xfrm>
                <a:off x="809096" y="1714225"/>
                <a:ext cx="3928533" cy="413173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2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14" name="Rectangle 113"/>
              <p:cNvSpPr/>
              <p:nvPr/>
            </p:nvSpPr>
            <p:spPr bwMode="auto">
              <a:xfrm>
                <a:off x="885286" y="1782176"/>
                <a:ext cx="3776154" cy="3995830"/>
              </a:xfrm>
              <a:prstGeom prst="rect">
                <a:avLst/>
              </a:prstGeom>
              <a:solidFill>
                <a:schemeClr val="bg1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US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70696" name="Text Box 12"/>
            <p:cNvSpPr txBox="1">
              <a:spLocks noChangeArrowheads="1"/>
            </p:cNvSpPr>
            <p:nvPr/>
          </p:nvSpPr>
          <p:spPr bwMode="auto">
            <a:xfrm>
              <a:off x="5855427" y="5180565"/>
              <a:ext cx="2323565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Quantity </a:t>
              </a:r>
              <a:br>
                <a:rPr lang="en-US"/>
              </a:br>
              <a:r>
                <a:rPr lang="en-US"/>
                <a:t>(000s tons/year)</a:t>
              </a:r>
            </a:p>
          </p:txBody>
        </p:sp>
        <p:sp>
          <p:nvSpPr>
            <p:cNvPr id="70697" name="Line 5"/>
            <p:cNvSpPr>
              <a:spLocks noChangeShapeType="1"/>
            </p:cNvSpPr>
            <p:nvPr/>
          </p:nvSpPr>
          <p:spPr bwMode="auto">
            <a:xfrm>
              <a:off x="5824748" y="4752458"/>
              <a:ext cx="214883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98" name="Line 7"/>
            <p:cNvSpPr>
              <a:spLocks noChangeShapeType="1"/>
            </p:cNvSpPr>
            <p:nvPr/>
          </p:nvSpPr>
          <p:spPr bwMode="auto">
            <a:xfrm>
              <a:off x="5831417" y="2260083"/>
              <a:ext cx="0" cy="2492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99" name="Text Box 6"/>
            <p:cNvSpPr txBox="1">
              <a:spLocks noChangeArrowheads="1"/>
            </p:cNvSpPr>
            <p:nvPr/>
          </p:nvSpPr>
          <p:spPr bwMode="auto">
            <a:xfrm rot="-5400000">
              <a:off x="4098775" y="3313667"/>
              <a:ext cx="221297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Price ($ / ton)</a:t>
              </a:r>
            </a:p>
          </p:txBody>
        </p:sp>
        <p:sp>
          <p:nvSpPr>
            <p:cNvPr id="70700" name="Text Box 33"/>
            <p:cNvSpPr txBox="1">
              <a:spLocks noChangeArrowheads="1"/>
            </p:cNvSpPr>
            <p:nvPr/>
          </p:nvSpPr>
          <p:spPr bwMode="auto">
            <a:xfrm>
              <a:off x="5758457" y="1714505"/>
              <a:ext cx="215053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u="sng"/>
                <a:t>Subsidy</a:t>
              </a:r>
            </a:p>
          </p:txBody>
        </p:sp>
        <p:sp>
          <p:nvSpPr>
            <p:cNvPr id="120" name="Line 20"/>
            <p:cNvSpPr>
              <a:spLocks noChangeShapeType="1"/>
            </p:cNvSpPr>
            <p:nvPr/>
          </p:nvSpPr>
          <p:spPr bwMode="auto">
            <a:xfrm rot="5400000">
              <a:off x="6364757" y="2759042"/>
              <a:ext cx="1262134" cy="1723793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0702" name="Text Box 21"/>
            <p:cNvSpPr txBox="1">
              <a:spLocks noChangeArrowheads="1"/>
            </p:cNvSpPr>
            <p:nvPr/>
          </p:nvSpPr>
          <p:spPr bwMode="auto">
            <a:xfrm flipH="1">
              <a:off x="7213601" y="4187838"/>
              <a:ext cx="1286931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Private Demand</a:t>
              </a:r>
            </a:p>
          </p:txBody>
        </p:sp>
        <p:sp>
          <p:nvSpPr>
            <p:cNvPr id="70703" name="Text Box 22"/>
            <p:cNvSpPr txBox="1">
              <a:spLocks noChangeArrowheads="1"/>
            </p:cNvSpPr>
            <p:nvPr/>
          </p:nvSpPr>
          <p:spPr bwMode="auto">
            <a:xfrm>
              <a:off x="7298271" y="2709336"/>
              <a:ext cx="70006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MC</a:t>
              </a:r>
            </a:p>
          </p:txBody>
        </p:sp>
        <p:sp>
          <p:nvSpPr>
            <p:cNvPr id="124" name="Line 25"/>
            <p:cNvSpPr>
              <a:spLocks noChangeShapeType="1"/>
            </p:cNvSpPr>
            <p:nvPr/>
          </p:nvSpPr>
          <p:spPr bwMode="auto">
            <a:xfrm>
              <a:off x="6025991" y="3081952"/>
              <a:ext cx="1238083" cy="1422481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126" name="Group 125"/>
          <p:cNvGrpSpPr>
            <a:grpSpLocks/>
          </p:cNvGrpSpPr>
          <p:nvPr/>
        </p:nvGrpSpPr>
        <p:grpSpPr bwMode="auto">
          <a:xfrm>
            <a:off x="6157913" y="2779713"/>
            <a:ext cx="2571750" cy="1627187"/>
            <a:chOff x="2034838" y="2528375"/>
            <a:chExt cx="2571549" cy="1628462"/>
          </a:xfrm>
        </p:grpSpPr>
        <p:sp>
          <p:nvSpPr>
            <p:cNvPr id="128" name="AutoShape 63"/>
            <p:cNvSpPr>
              <a:spLocks noChangeArrowheads="1"/>
            </p:cNvSpPr>
            <p:nvPr/>
          </p:nvSpPr>
          <p:spPr bwMode="auto">
            <a:xfrm>
              <a:off x="2283400" y="2940040"/>
              <a:ext cx="120047" cy="439738"/>
            </a:xfrm>
            <a:prstGeom prst="upDownArrow">
              <a:avLst>
                <a:gd name="adj1" fmla="val 50000"/>
                <a:gd name="adj2" fmla="val 61556"/>
              </a:avLst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9" name="Line 25"/>
            <p:cNvSpPr>
              <a:spLocks noChangeShapeType="1"/>
            </p:cNvSpPr>
            <p:nvPr/>
          </p:nvSpPr>
          <p:spPr bwMode="auto">
            <a:xfrm>
              <a:off x="2034838" y="2528375"/>
              <a:ext cx="1284187" cy="1450523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0693" name="Text Box 21"/>
            <p:cNvSpPr txBox="1">
              <a:spLocks noChangeArrowheads="1"/>
            </p:cNvSpPr>
            <p:nvPr/>
          </p:nvSpPr>
          <p:spPr bwMode="auto">
            <a:xfrm flipH="1">
              <a:off x="3268133" y="3510506"/>
              <a:ext cx="1338254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Subsidized Demand</a:t>
              </a:r>
            </a:p>
          </p:txBody>
        </p:sp>
        <p:sp>
          <p:nvSpPr>
            <p:cNvPr id="70694" name="Text Box 49"/>
            <p:cNvSpPr txBox="1">
              <a:spLocks noChangeArrowheads="1"/>
            </p:cNvSpPr>
            <p:nvPr/>
          </p:nvSpPr>
          <p:spPr bwMode="auto">
            <a:xfrm>
              <a:off x="2252131" y="2624664"/>
              <a:ext cx="106679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Subsidy</a:t>
              </a:r>
            </a:p>
          </p:txBody>
        </p:sp>
      </p:grpSp>
      <p:grpSp>
        <p:nvGrpSpPr>
          <p:cNvPr id="145" name="Group 144"/>
          <p:cNvGrpSpPr>
            <a:grpSpLocks/>
          </p:cNvGrpSpPr>
          <p:nvPr/>
        </p:nvGrpSpPr>
        <p:grpSpPr bwMode="auto">
          <a:xfrm>
            <a:off x="5227638" y="3914775"/>
            <a:ext cx="1860550" cy="1474788"/>
            <a:chOff x="5151154" y="3663961"/>
            <a:chExt cx="1860297" cy="1475291"/>
          </a:xfrm>
        </p:grpSpPr>
        <p:sp>
          <p:nvSpPr>
            <p:cNvPr id="70685" name="Text Box 55"/>
            <p:cNvSpPr txBox="1">
              <a:spLocks noChangeArrowheads="1"/>
            </p:cNvSpPr>
            <p:nvPr/>
          </p:nvSpPr>
          <p:spPr bwMode="auto">
            <a:xfrm>
              <a:off x="6350976" y="4769920"/>
              <a:ext cx="66047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12</a:t>
              </a:r>
            </a:p>
          </p:txBody>
        </p:sp>
        <p:sp>
          <p:nvSpPr>
            <p:cNvPr id="70686" name="Text Box 24"/>
            <p:cNvSpPr txBox="1">
              <a:spLocks noChangeArrowheads="1"/>
            </p:cNvSpPr>
            <p:nvPr/>
          </p:nvSpPr>
          <p:spPr bwMode="auto">
            <a:xfrm>
              <a:off x="5151154" y="3663961"/>
              <a:ext cx="68026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8</a:t>
              </a:r>
            </a:p>
          </p:txBody>
        </p:sp>
        <p:cxnSp>
          <p:nvCxnSpPr>
            <p:cNvPr id="70687" name="Straight Connector 130"/>
            <p:cNvCxnSpPr>
              <a:cxnSpLocks noChangeShapeType="1"/>
            </p:cNvCxnSpPr>
            <p:nvPr/>
          </p:nvCxnSpPr>
          <p:spPr bwMode="auto">
            <a:xfrm rot="5400000" flipH="1" flipV="1">
              <a:off x="6214797" y="4318001"/>
              <a:ext cx="915194" cy="79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70688" name="Straight Connector 131"/>
            <p:cNvCxnSpPr>
              <a:cxnSpLocks noChangeShapeType="1"/>
              <a:stCxn id="70686" idx="3"/>
            </p:cNvCxnSpPr>
            <p:nvPr/>
          </p:nvCxnSpPr>
          <p:spPr bwMode="auto">
            <a:xfrm flipV="1">
              <a:off x="5831417" y="3843339"/>
              <a:ext cx="841374" cy="52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grpSp>
        <p:nvGrpSpPr>
          <p:cNvPr id="133" name="Group 132"/>
          <p:cNvGrpSpPr>
            <a:grpSpLocks/>
          </p:cNvGrpSpPr>
          <p:nvPr/>
        </p:nvGrpSpPr>
        <p:grpSpPr bwMode="auto">
          <a:xfrm>
            <a:off x="5227638" y="3208338"/>
            <a:ext cx="2197100" cy="2181225"/>
            <a:chOff x="1104088" y="2956994"/>
            <a:chExt cx="2197912" cy="2182257"/>
          </a:xfrm>
        </p:grpSpPr>
        <p:sp>
          <p:nvSpPr>
            <p:cNvPr id="70678" name="Text Box 54"/>
            <p:cNvSpPr txBox="1">
              <a:spLocks noChangeArrowheads="1"/>
            </p:cNvSpPr>
            <p:nvPr/>
          </p:nvSpPr>
          <p:spPr bwMode="auto">
            <a:xfrm>
              <a:off x="1104088" y="2956994"/>
              <a:ext cx="68026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14</a:t>
              </a:r>
            </a:p>
          </p:txBody>
        </p:sp>
        <p:sp>
          <p:nvSpPr>
            <p:cNvPr id="70679" name="Text Box 52"/>
            <p:cNvSpPr txBox="1">
              <a:spLocks noChangeArrowheads="1"/>
            </p:cNvSpPr>
            <p:nvPr/>
          </p:nvSpPr>
          <p:spPr bwMode="auto">
            <a:xfrm>
              <a:off x="1121021" y="3363391"/>
              <a:ext cx="68026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10</a:t>
              </a:r>
            </a:p>
          </p:txBody>
        </p:sp>
        <p:sp>
          <p:nvSpPr>
            <p:cNvPr id="70680" name="Text Box 56"/>
            <p:cNvSpPr txBox="1">
              <a:spLocks noChangeArrowheads="1"/>
            </p:cNvSpPr>
            <p:nvPr/>
          </p:nvSpPr>
          <p:spPr bwMode="auto">
            <a:xfrm>
              <a:off x="2743200" y="4761436"/>
              <a:ext cx="558800" cy="37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16</a:t>
              </a:r>
            </a:p>
          </p:txBody>
        </p:sp>
        <p:cxnSp>
          <p:nvCxnSpPr>
            <p:cNvPr id="70681" name="Straight Connector 136"/>
            <p:cNvCxnSpPr>
              <a:cxnSpLocks noChangeShapeType="1"/>
            </p:cNvCxnSpPr>
            <p:nvPr/>
          </p:nvCxnSpPr>
          <p:spPr bwMode="auto">
            <a:xfrm rot="5400000" flipH="1" flipV="1">
              <a:off x="1838706" y="4004353"/>
              <a:ext cx="1574801" cy="762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70682" name="Straight Connector 137"/>
            <p:cNvCxnSpPr>
              <a:cxnSpLocks noChangeShapeType="1"/>
            </p:cNvCxnSpPr>
            <p:nvPr/>
          </p:nvCxnSpPr>
          <p:spPr bwMode="auto">
            <a:xfrm rot="10800000">
              <a:off x="1761067" y="3198813"/>
              <a:ext cx="864658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70683" name="Straight Connector 138"/>
            <p:cNvCxnSpPr>
              <a:cxnSpLocks noChangeShapeType="1"/>
            </p:cNvCxnSpPr>
            <p:nvPr/>
          </p:nvCxnSpPr>
          <p:spPr bwMode="auto">
            <a:xfrm rot="10800000">
              <a:off x="1761068" y="3621088"/>
              <a:ext cx="1236133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cxnSp>
          <p:nvCxnSpPr>
            <p:cNvPr id="70684" name="Straight Connector 139"/>
            <p:cNvCxnSpPr>
              <a:cxnSpLocks noChangeShapeType="1"/>
            </p:cNvCxnSpPr>
            <p:nvPr/>
          </p:nvCxnSpPr>
          <p:spPr bwMode="auto">
            <a:xfrm rot="5400000">
              <a:off x="2404004" y="4215078"/>
              <a:ext cx="1187189" cy="79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pic>
        <p:nvPicPr>
          <p:cNvPr id="63" name="Picture 6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48864" y="557056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Information and Invisible Hand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2000" y="1752600"/>
            <a:ext cx="8229600" cy="4953000"/>
          </a:xfrm>
        </p:spPr>
        <p:txBody>
          <a:bodyPr/>
          <a:lstStyle/>
          <a:p>
            <a:pPr eaLnBrk="1" hangingPunct="1"/>
            <a:r>
              <a:rPr lang="en-US" dirty="0"/>
              <a:t>Perfect competition assumes perfect information  where all parties have all relevant information</a:t>
            </a:r>
          </a:p>
          <a:p>
            <a:pPr lvl="1" eaLnBrk="1" hangingPunct="1"/>
            <a:r>
              <a:rPr lang="en-US" dirty="0"/>
              <a:t>The outcome is socially efficient</a:t>
            </a:r>
          </a:p>
          <a:p>
            <a:pPr eaLnBrk="1" hangingPunct="1"/>
            <a:r>
              <a:rPr lang="en-US" dirty="0"/>
              <a:t>Without free and perfect information, market results are not efficient</a:t>
            </a:r>
          </a:p>
          <a:p>
            <a:pPr eaLnBrk="1" hangingPunct="1"/>
            <a:r>
              <a:rPr lang="en-US" dirty="0"/>
              <a:t>In reality, information is imperfect and can only be obtained with a cost via research or middleman</a:t>
            </a:r>
          </a:p>
          <a:p>
            <a:pPr eaLnBrk="1" hangingPunct="1"/>
            <a:r>
              <a:rPr lang="en-US" dirty="0"/>
              <a:t>Parties must decide how much information to gather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 idx="4294967295"/>
          </p:nvPr>
        </p:nvSpPr>
        <p:spPr>
          <a:xfrm>
            <a:off x="780396" y="198304"/>
            <a:ext cx="8229600" cy="112372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Consumer Choice: Buying DSLR Camera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80396" y="1498293"/>
            <a:ext cx="8229600" cy="5244029"/>
          </a:xfrm>
        </p:spPr>
        <p:txBody>
          <a:bodyPr/>
          <a:lstStyle/>
          <a:p>
            <a:pPr eaLnBrk="1" hangingPunct="1"/>
            <a:r>
              <a:rPr lang="en-US" dirty="0"/>
              <a:t>Best Denki recommends $1,200 Nikon D7100 DSLR camera</a:t>
            </a:r>
          </a:p>
          <a:p>
            <a:pPr lvl="1" eaLnBrk="1" hangingPunct="1"/>
            <a:r>
              <a:rPr lang="en-US" dirty="0"/>
              <a:t>Sales rep seems knowledgeable</a:t>
            </a:r>
          </a:p>
          <a:p>
            <a:pPr eaLnBrk="1" hangingPunct="1"/>
            <a:r>
              <a:rPr lang="en-US" dirty="0"/>
              <a:t>Your next move is</a:t>
            </a:r>
          </a:p>
          <a:p>
            <a:pPr lvl="1" eaLnBrk="1" hangingPunct="1"/>
            <a:r>
              <a:rPr lang="en-US" dirty="0"/>
              <a:t>Thank them and do more research</a:t>
            </a:r>
          </a:p>
          <a:p>
            <a:pPr lvl="1" eaLnBrk="1" hangingPunct="1"/>
            <a:r>
              <a:rPr lang="en-US" dirty="0"/>
              <a:t>Trust the sales rep and buy them</a:t>
            </a:r>
          </a:p>
          <a:p>
            <a:pPr lvl="1" eaLnBrk="1" hangingPunct="1"/>
            <a:r>
              <a:rPr lang="en-US" dirty="0"/>
              <a:t>Go home and buy at the best price online ($950)</a:t>
            </a:r>
          </a:p>
          <a:p>
            <a:pPr eaLnBrk="1" hangingPunct="1"/>
            <a:r>
              <a:rPr lang="en-US" dirty="0"/>
              <a:t>Sales representatives supply information to buyers</a:t>
            </a:r>
          </a:p>
          <a:p>
            <a:pPr eaLnBrk="1" hangingPunct="1"/>
            <a:r>
              <a:rPr lang="en-US" dirty="0"/>
              <a:t>Information makes markets more efficient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Selling Product Online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Koh wants to sell a stamp.</a:t>
            </a:r>
          </a:p>
          <a:p>
            <a:pPr lvl="1" eaLnBrk="1" hangingPunct="1"/>
            <a:r>
              <a:rPr lang="en-US" dirty="0"/>
              <a:t>His reservation price is $300</a:t>
            </a:r>
          </a:p>
          <a:p>
            <a:pPr lvl="1" eaLnBrk="1" hangingPunct="1"/>
            <a:r>
              <a:rPr lang="en-US" dirty="0"/>
              <a:t>An ad in the local newspaper cost $5</a:t>
            </a:r>
          </a:p>
          <a:p>
            <a:pPr lvl="1" eaLnBrk="1" hangingPunct="1"/>
            <a:r>
              <a:rPr lang="en-US" dirty="0"/>
              <a:t>eBay cost is 5% of the Internet auction price</a:t>
            </a:r>
          </a:p>
          <a:p>
            <a:pPr lvl="1" eaLnBrk="1" hangingPunct="1"/>
            <a:r>
              <a:rPr lang="en-US" dirty="0"/>
              <a:t>The maximum price in the local market is $400</a:t>
            </a:r>
          </a:p>
          <a:p>
            <a:pPr lvl="1" eaLnBrk="1" hangingPunct="1"/>
            <a:r>
              <a:rPr lang="en-US" dirty="0"/>
              <a:t>Two eBay shoppers have secret reservation prices of $800 and $900, respectively</a:t>
            </a:r>
          </a:p>
          <a:p>
            <a:pPr lvl="1" eaLnBrk="1" hangingPunct="1"/>
            <a:r>
              <a:rPr lang="en-US" dirty="0"/>
              <a:t>Rule of eBay is that the highest bidder secured the product but pay the second highest price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20566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Selling Win the War stamp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17332" y="1615966"/>
            <a:ext cx="8229600" cy="4861034"/>
          </a:xfrm>
        </p:spPr>
        <p:txBody>
          <a:bodyPr/>
          <a:lstStyle/>
          <a:p>
            <a:pPr eaLnBrk="1" hangingPunct="1"/>
            <a:r>
              <a:rPr lang="en-US" dirty="0"/>
              <a:t>Benefits of eBay</a:t>
            </a:r>
          </a:p>
          <a:p>
            <a:pPr lvl="1" eaLnBrk="1" hangingPunct="1"/>
            <a:r>
              <a:rPr lang="en-US" dirty="0"/>
              <a:t>Stamp sells for $800 on eBay less $40 commission</a:t>
            </a:r>
          </a:p>
          <a:p>
            <a:pPr lvl="1" eaLnBrk="1" hangingPunct="1"/>
            <a:r>
              <a:rPr lang="en-US" dirty="0"/>
              <a:t>Koh nets $760, $460 above his reservation price</a:t>
            </a:r>
          </a:p>
          <a:p>
            <a:pPr lvl="1" eaLnBrk="1" hangingPunct="1"/>
            <a:r>
              <a:rPr lang="en-US" dirty="0"/>
              <a:t>Buyer surplus is $100</a:t>
            </a:r>
          </a:p>
          <a:p>
            <a:pPr eaLnBrk="1" hangingPunct="1"/>
            <a:r>
              <a:rPr lang="en-US" dirty="0"/>
              <a:t>Local option is inferior</a:t>
            </a:r>
          </a:p>
          <a:p>
            <a:pPr lvl="1" eaLnBrk="1" hangingPunct="1"/>
            <a:r>
              <a:rPr lang="en-US" dirty="0"/>
              <a:t>Stamp sells for $400 less $5 cost of ad</a:t>
            </a:r>
          </a:p>
          <a:p>
            <a:pPr lvl="1" eaLnBrk="1" hangingPunct="1"/>
            <a:r>
              <a:rPr lang="en-US" dirty="0" err="1"/>
              <a:t>Koh</a:t>
            </a:r>
            <a:r>
              <a:rPr lang="en-US" dirty="0"/>
              <a:t> nets $395, $95 more than his reservation price</a:t>
            </a:r>
          </a:p>
          <a:p>
            <a:pPr lvl="1" eaLnBrk="1" hangingPunct="1"/>
            <a:r>
              <a:rPr lang="en-US" dirty="0"/>
              <a:t>Buyer surplus is $0</a:t>
            </a:r>
          </a:p>
          <a:p>
            <a:pPr eaLnBrk="1" hangingPunct="1"/>
            <a:r>
              <a:rPr lang="en-US" dirty="0"/>
              <a:t>Economic surplus is increased when a product goes to the person who values it the most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5400457" y="3876083"/>
            <a:ext cx="3440113" cy="2511425"/>
            <a:chOff x="5368402" y="3560317"/>
            <a:chExt cx="3440039" cy="2511402"/>
          </a:xfrm>
        </p:grpSpPr>
        <p:sp>
          <p:nvSpPr>
            <p:cNvPr id="21" name="Rectangle 20"/>
            <p:cNvSpPr/>
            <p:nvPr/>
          </p:nvSpPr>
          <p:spPr bwMode="auto">
            <a:xfrm>
              <a:off x="5368402" y="3560317"/>
              <a:ext cx="3440039" cy="25114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5430314" y="3617466"/>
              <a:ext cx="3316216" cy="2397103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882" name="Text Box 4"/>
            <p:cNvSpPr txBox="1">
              <a:spLocks noChangeArrowheads="1"/>
            </p:cNvSpPr>
            <p:nvPr/>
          </p:nvSpPr>
          <p:spPr bwMode="auto">
            <a:xfrm rot="-5400000">
              <a:off x="5099226" y="4420772"/>
              <a:ext cx="1002510" cy="298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$/unit</a:t>
              </a:r>
            </a:p>
          </p:txBody>
        </p:sp>
        <p:sp>
          <p:nvSpPr>
            <p:cNvPr id="36883" name="Line 6"/>
            <p:cNvSpPr>
              <a:spLocks noChangeShapeType="1"/>
            </p:cNvSpPr>
            <p:nvPr/>
          </p:nvSpPr>
          <p:spPr bwMode="auto">
            <a:xfrm>
              <a:off x="5846829" y="3775680"/>
              <a:ext cx="0" cy="16093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4" name="Line 7"/>
            <p:cNvSpPr>
              <a:spLocks noChangeShapeType="1"/>
            </p:cNvSpPr>
            <p:nvPr/>
          </p:nvSpPr>
          <p:spPr bwMode="auto">
            <a:xfrm>
              <a:off x="5836494" y="5385013"/>
              <a:ext cx="27617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85" name="Text Box 5"/>
            <p:cNvSpPr txBox="1">
              <a:spLocks noChangeArrowheads="1"/>
            </p:cNvSpPr>
            <p:nvPr/>
          </p:nvSpPr>
          <p:spPr bwMode="auto">
            <a:xfrm>
              <a:off x="5836495" y="5684419"/>
              <a:ext cx="233057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Units of information</a:t>
              </a:r>
            </a:p>
          </p:txBody>
        </p:sp>
        <p:sp>
          <p:nvSpPr>
            <p:cNvPr id="105481" name="Freeform 9"/>
            <p:cNvSpPr>
              <a:spLocks/>
            </p:cNvSpPr>
            <p:nvPr/>
          </p:nvSpPr>
          <p:spPr bwMode="auto">
            <a:xfrm>
              <a:off x="6339931" y="3807965"/>
              <a:ext cx="1863685" cy="146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65" y="797"/>
                </a:cxn>
                <a:cxn ang="0">
                  <a:pos x="2525" y="1981"/>
                </a:cxn>
              </a:cxnLst>
              <a:rect l="0" t="0" r="r" b="b"/>
              <a:pathLst>
                <a:path w="2525" h="1981">
                  <a:moveTo>
                    <a:pt x="0" y="0"/>
                  </a:moveTo>
                  <a:cubicBezTo>
                    <a:pt x="772" y="233"/>
                    <a:pt x="1544" y="467"/>
                    <a:pt x="1965" y="797"/>
                  </a:cubicBezTo>
                  <a:cubicBezTo>
                    <a:pt x="2386" y="1127"/>
                    <a:pt x="2432" y="1785"/>
                    <a:pt x="2525" y="1981"/>
                  </a:cubicBezTo>
                </a:path>
              </a:pathLst>
            </a:cu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6887" name="Text Box 11"/>
            <p:cNvSpPr txBox="1">
              <a:spLocks noChangeArrowheads="1"/>
            </p:cNvSpPr>
            <p:nvPr/>
          </p:nvSpPr>
          <p:spPr bwMode="auto">
            <a:xfrm>
              <a:off x="8218748" y="4888187"/>
              <a:ext cx="429065" cy="298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MB</a:t>
              </a:r>
            </a:p>
          </p:txBody>
        </p:sp>
      </p:grpSp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401372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The Optimal Amount of Information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idx="4294967295"/>
          </p:nvPr>
        </p:nvSpPr>
        <p:spPr>
          <a:xfrm>
            <a:off x="717332" y="1721409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More information is better than less</a:t>
            </a:r>
          </a:p>
          <a:p>
            <a:pPr lvl="1" eaLnBrk="1" hangingPunct="1"/>
            <a:r>
              <a:rPr lang="en-US" dirty="0"/>
              <a:t>Gathering information has a cost</a:t>
            </a:r>
          </a:p>
          <a:p>
            <a:pPr eaLnBrk="1" hangingPunct="1"/>
            <a:r>
              <a:rPr lang="en-US" dirty="0"/>
              <a:t>Marginal benefit starts high, then falls rapidly</a:t>
            </a:r>
          </a:p>
          <a:p>
            <a:pPr lvl="1" eaLnBrk="1" hangingPunct="1"/>
            <a:r>
              <a:rPr lang="en-US" dirty="0"/>
              <a:t>Low-Hanging Fruit Principle</a:t>
            </a:r>
          </a:p>
          <a:p>
            <a:pPr eaLnBrk="1" hangingPunct="1"/>
            <a:r>
              <a:rPr lang="en-US" dirty="0"/>
              <a:t>Marginal cost starts low, </a:t>
            </a:r>
          </a:p>
          <a:p>
            <a:pPr eaLnBrk="1" hangingPunct="1">
              <a:buFontTx/>
              <a:buNone/>
            </a:pPr>
            <a:r>
              <a:rPr lang="en-US" dirty="0"/>
              <a:t>	then increases</a:t>
            </a:r>
          </a:p>
          <a:p>
            <a:pPr eaLnBrk="1" hangingPunct="1"/>
            <a:r>
              <a:rPr lang="en-US" dirty="0"/>
              <a:t>Optimal amount of </a:t>
            </a:r>
          </a:p>
          <a:p>
            <a:pPr eaLnBrk="1" hangingPunct="1">
              <a:buFontTx/>
              <a:buNone/>
            </a:pPr>
            <a:r>
              <a:rPr lang="en-US" dirty="0"/>
              <a:t>	information is I* where </a:t>
            </a:r>
          </a:p>
          <a:p>
            <a:pPr eaLnBrk="1" hangingPunct="1">
              <a:buFontTx/>
              <a:buNone/>
            </a:pPr>
            <a:r>
              <a:rPr lang="en-US" dirty="0"/>
              <a:t>	MC = MB</a:t>
            </a:r>
          </a:p>
        </p:txBody>
      </p: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6125945" y="4109445"/>
            <a:ext cx="2360612" cy="1463675"/>
            <a:chOff x="6094873" y="3793397"/>
            <a:chExt cx="2359553" cy="1464641"/>
          </a:xfrm>
        </p:grpSpPr>
        <p:sp>
          <p:nvSpPr>
            <p:cNvPr id="105480" name="Freeform 8"/>
            <p:cNvSpPr>
              <a:spLocks/>
            </p:cNvSpPr>
            <p:nvPr/>
          </p:nvSpPr>
          <p:spPr bwMode="auto">
            <a:xfrm>
              <a:off x="6094873" y="4006262"/>
              <a:ext cx="1788309" cy="1251776"/>
            </a:xfrm>
            <a:custGeom>
              <a:avLst/>
              <a:gdLst/>
              <a:ahLst/>
              <a:cxnLst>
                <a:cxn ang="0">
                  <a:pos x="0" y="1696"/>
                </a:cxn>
                <a:cxn ang="0">
                  <a:pos x="1854" y="1088"/>
                </a:cxn>
                <a:cxn ang="0">
                  <a:pos x="2422" y="0"/>
                </a:cxn>
              </a:cxnLst>
              <a:rect l="0" t="0" r="r" b="b"/>
              <a:pathLst>
                <a:path w="2422" h="1696">
                  <a:moveTo>
                    <a:pt x="0" y="1696"/>
                  </a:moveTo>
                  <a:cubicBezTo>
                    <a:pt x="725" y="1533"/>
                    <a:pt x="1450" y="1371"/>
                    <a:pt x="1854" y="1088"/>
                  </a:cubicBezTo>
                  <a:cubicBezTo>
                    <a:pt x="2258" y="805"/>
                    <a:pt x="2340" y="402"/>
                    <a:pt x="2422" y="0"/>
                  </a:cubicBezTo>
                </a:path>
              </a:pathLst>
            </a:cu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6877" name="Text Box 10"/>
            <p:cNvSpPr txBox="1">
              <a:spLocks noChangeArrowheads="1"/>
            </p:cNvSpPr>
            <p:nvPr/>
          </p:nvSpPr>
          <p:spPr bwMode="auto">
            <a:xfrm>
              <a:off x="8014998" y="3793397"/>
              <a:ext cx="439428" cy="298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MC</a:t>
              </a:r>
            </a:p>
          </p:txBody>
        </p:sp>
      </p:grp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7240370" y="3374433"/>
            <a:ext cx="1042987" cy="2735262"/>
            <a:chOff x="7208513" y="3059668"/>
            <a:chExt cx="1043876" cy="2734540"/>
          </a:xfrm>
        </p:grpSpPr>
        <p:sp>
          <p:nvSpPr>
            <p:cNvPr id="36870" name="Text Box 12"/>
            <p:cNvSpPr txBox="1">
              <a:spLocks noChangeArrowheads="1"/>
            </p:cNvSpPr>
            <p:nvPr/>
          </p:nvSpPr>
          <p:spPr bwMode="auto">
            <a:xfrm>
              <a:off x="7609164" y="5424876"/>
              <a:ext cx="55790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/>
                <a:t>I </a:t>
              </a:r>
              <a:r>
                <a:rPr lang="en-US" baseline="30000"/>
                <a:t>*</a:t>
              </a:r>
              <a:endParaRPr lang="en-US"/>
            </a:p>
          </p:txBody>
        </p:sp>
        <p:sp>
          <p:nvSpPr>
            <p:cNvPr id="36871" name="Line 13"/>
            <p:cNvSpPr>
              <a:spLocks noChangeShapeType="1"/>
            </p:cNvSpPr>
            <p:nvPr/>
          </p:nvSpPr>
          <p:spPr bwMode="auto">
            <a:xfrm>
              <a:off x="7789839" y="4407601"/>
              <a:ext cx="0" cy="9611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208513" y="3059668"/>
              <a:ext cx="1043876" cy="369332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b="1" dirty="0"/>
                <a:t>Optimal</a:t>
              </a:r>
            </a:p>
          </p:txBody>
        </p:sp>
        <p:cxnSp>
          <p:nvCxnSpPr>
            <p:cNvPr id="36875" name="Straight Arrow Connector 32"/>
            <p:cNvCxnSpPr>
              <a:cxnSpLocks noChangeShapeType="1"/>
              <a:endCxn id="36871" idx="0"/>
            </p:cNvCxnSpPr>
            <p:nvPr/>
          </p:nvCxnSpPr>
          <p:spPr bwMode="auto">
            <a:xfrm rot="16200000" flipH="1">
              <a:off x="7270845" y="3888606"/>
              <a:ext cx="978601" cy="593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Free Rider Problem</a:t>
            </a:r>
          </a:p>
        </p:txBody>
      </p:sp>
      <p:sp>
        <p:nvSpPr>
          <p:cNvPr id="107522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717332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A</a:t>
            </a:r>
            <a:r>
              <a:rPr lang="en-US" b="1"/>
              <a:t> free-rider problem</a:t>
            </a:r>
            <a:r>
              <a:rPr lang="en-US"/>
              <a:t> exists when non-payers cannot be excluded from consuming a good</a:t>
            </a:r>
          </a:p>
          <a:p>
            <a:pPr lvl="1" eaLnBrk="1" hangingPunct="1"/>
            <a:r>
              <a:rPr lang="en-US"/>
              <a:t>Interferes with incentives</a:t>
            </a:r>
          </a:p>
          <a:p>
            <a:pPr lvl="1" eaLnBrk="1" hangingPunct="1"/>
            <a:r>
              <a:rPr lang="en-US"/>
              <a:t>Market quantity is below social optimum</a:t>
            </a:r>
          </a:p>
          <a:p>
            <a:pPr eaLnBrk="1" hangingPunct="1"/>
            <a:r>
              <a:rPr lang="en-US"/>
              <a:t>Stores bear the cost of training sales reps on merchandise</a:t>
            </a:r>
          </a:p>
          <a:p>
            <a:pPr lvl="1" eaLnBrk="1" hangingPunct="1"/>
            <a:r>
              <a:rPr lang="en-US"/>
              <a:t>Shoppers use sales reps as information source</a:t>
            </a:r>
          </a:p>
          <a:p>
            <a:pPr lvl="2" eaLnBrk="1" hangingPunct="1"/>
            <a:r>
              <a:rPr lang="en-US"/>
              <a:t>Then some shoppers buy elsewhere</a:t>
            </a:r>
          </a:p>
          <a:p>
            <a:pPr lvl="1" eaLnBrk="1" hangingPunct="1"/>
            <a:r>
              <a:rPr lang="en-US"/>
              <a:t>Store is unable to capture some of the value it delivered to the shopper:  a free-rider problem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Rational Search Guidelines</a:t>
            </a:r>
          </a:p>
        </p:txBody>
      </p:sp>
      <p:sp>
        <p:nvSpPr>
          <p:cNvPr id="108546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6858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dirty="0"/>
              <a:t>Additional search time is more likely to be worthwhile for expensive items than cheap ones</a:t>
            </a:r>
          </a:p>
          <a:p>
            <a:pPr lvl="1" eaLnBrk="1" hangingPunct="1"/>
            <a:r>
              <a:rPr lang="en-US" dirty="0"/>
              <a:t>Apartment search in Taipei involves less time than Tokyo</a:t>
            </a:r>
          </a:p>
          <a:p>
            <a:pPr lvl="2" eaLnBrk="1" hangingPunct="1"/>
            <a:r>
              <a:rPr lang="en-US" dirty="0"/>
              <a:t>Taipei has lower rents and narrower price range</a:t>
            </a:r>
          </a:p>
          <a:p>
            <a:pPr eaLnBrk="1" hangingPunct="1"/>
            <a:r>
              <a:rPr lang="en-US" dirty="0"/>
              <a:t>Prices paid will be higher when the cost of a search is higher</a:t>
            </a:r>
          </a:p>
          <a:p>
            <a:pPr lvl="1" eaLnBrk="1" hangingPunct="1"/>
            <a:r>
              <a:rPr lang="en-US" dirty="0"/>
              <a:t>Two buyers of piano, only one with a car</a:t>
            </a:r>
          </a:p>
          <a:p>
            <a:pPr lvl="2" eaLnBrk="1" hangingPunct="1"/>
            <a:r>
              <a:rPr lang="en-US" dirty="0"/>
              <a:t>Buyer with the car will look at more pianos before buying, likely to pay lower price for piano</a:t>
            </a:r>
          </a:p>
          <a:p>
            <a:pPr lvl="2" eaLnBrk="1" hangingPunct="1"/>
            <a:r>
              <a:rPr lang="en-US" dirty="0"/>
              <a:t>Buyer without car has higher search cost, likely to search less and pay more for the piano.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Gamble Inherent in Search</a:t>
            </a:r>
          </a:p>
        </p:txBody>
      </p:sp>
      <p:sp>
        <p:nvSpPr>
          <p:cNvPr id="111618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717332" y="1219200"/>
            <a:ext cx="8229600" cy="5486400"/>
          </a:xfrm>
        </p:spPr>
        <p:txBody>
          <a:bodyPr/>
          <a:lstStyle/>
          <a:p>
            <a:pPr eaLnBrk="1" hangingPunct="1"/>
            <a:r>
              <a:rPr lang="en-US" dirty="0"/>
              <a:t>Additional search has costs that are certain</a:t>
            </a:r>
          </a:p>
          <a:p>
            <a:pPr lvl="1" eaLnBrk="1" hangingPunct="1"/>
            <a:r>
              <a:rPr lang="en-US" dirty="0"/>
              <a:t>Benefits are uncertain benefits</a:t>
            </a:r>
          </a:p>
          <a:p>
            <a:pPr lvl="1" eaLnBrk="1" hangingPunct="1"/>
            <a:r>
              <a:rPr lang="en-US" dirty="0"/>
              <a:t>Additional search has elements of a gamble</a:t>
            </a:r>
          </a:p>
          <a:p>
            <a:pPr eaLnBrk="1" hangingPunct="1"/>
            <a:r>
              <a:rPr lang="en-US" dirty="0"/>
              <a:t>A gamble has a number of possible outcomes</a:t>
            </a:r>
          </a:p>
          <a:p>
            <a:pPr lvl="1" eaLnBrk="1" hangingPunct="1"/>
            <a:r>
              <a:rPr lang="en-US" dirty="0"/>
              <a:t>Each outcome has a probability that it will occur</a:t>
            </a:r>
          </a:p>
          <a:p>
            <a:pPr eaLnBrk="1" hangingPunct="1"/>
            <a:r>
              <a:rPr lang="en-US" dirty="0"/>
              <a:t>The </a:t>
            </a:r>
            <a:r>
              <a:rPr lang="en-US" b="1" dirty="0"/>
              <a:t>expected value of a gamble</a:t>
            </a:r>
            <a:r>
              <a:rPr lang="en-US" dirty="0"/>
              <a:t> is the sum of (the possible outcomes times their respective probability)</a:t>
            </a:r>
          </a:p>
          <a:p>
            <a:pPr lvl="1" eaLnBrk="1" hangingPunct="1"/>
            <a:r>
              <a:rPr lang="en-US" dirty="0"/>
              <a:t>A </a:t>
            </a:r>
            <a:r>
              <a:rPr lang="en-US" b="1" dirty="0"/>
              <a:t>fair gamble</a:t>
            </a:r>
            <a:r>
              <a:rPr lang="en-US" dirty="0"/>
              <a:t> has an expected value of zero</a:t>
            </a:r>
          </a:p>
          <a:p>
            <a:pPr lvl="1" eaLnBrk="1" hangingPunct="1"/>
            <a:r>
              <a:rPr lang="en-US" dirty="0"/>
              <a:t>A </a:t>
            </a:r>
            <a:r>
              <a:rPr lang="en-US" b="1" dirty="0"/>
              <a:t>better-than-fair gamble</a:t>
            </a:r>
            <a:r>
              <a:rPr lang="en-US" dirty="0"/>
              <a:t> has a positive expected value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Risk Preferences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748864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A</a:t>
            </a:r>
            <a:r>
              <a:rPr lang="en-US" b="1" dirty="0"/>
              <a:t> risk-neutral</a:t>
            </a:r>
            <a:r>
              <a:rPr lang="en-US" dirty="0"/>
              <a:t> person would accept any gamble that is fair or better-than-fair</a:t>
            </a:r>
          </a:p>
          <a:p>
            <a:pPr eaLnBrk="1" hangingPunct="1"/>
            <a:r>
              <a:rPr lang="en-US" dirty="0"/>
              <a:t>A </a:t>
            </a:r>
            <a:r>
              <a:rPr lang="en-US" b="1" dirty="0"/>
              <a:t>risk-averse</a:t>
            </a:r>
            <a:r>
              <a:rPr lang="en-US" dirty="0"/>
              <a:t> person would refuse any fair gamble</a:t>
            </a:r>
          </a:p>
          <a:p>
            <a:pPr eaLnBrk="1" hangingPunct="1"/>
            <a:r>
              <a:rPr lang="en-US" dirty="0"/>
              <a:t>A </a:t>
            </a:r>
            <a:r>
              <a:rPr lang="en-US" b="1" dirty="0"/>
              <a:t>risk-seeking</a:t>
            </a:r>
            <a:r>
              <a:rPr lang="en-US" dirty="0"/>
              <a:t> person would accept any gamble that is less than fair</a:t>
            </a:r>
          </a:p>
          <a:p>
            <a:pPr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748864" y="352098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The Gamble in the Search</a:t>
            </a:r>
          </a:p>
        </p:txBody>
      </p:sp>
      <p:sp>
        <p:nvSpPr>
          <p:cNvPr id="116738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748864" y="1647498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You need a one-month sublet in Hong Kong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One type of apartment rents for $400 and it is 80% of the available market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The other type rents for $360 and makes up 20% of the market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You must visit the apartment to get the rental rate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/>
              <a:t>Cost per visit is $6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You are risk-neutral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Hong Kong </a:t>
            </a:r>
            <a:r>
              <a:rPr lang="en-US" dirty="0"/>
              <a:t>Apartment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19100" y="1379475"/>
            <a:ext cx="8686800" cy="4868925"/>
          </a:xfrm>
        </p:spPr>
        <p:txBody>
          <a:bodyPr/>
          <a:lstStyle/>
          <a:p>
            <a:pPr eaLnBrk="1" hangingPunct="1"/>
            <a:r>
              <a:rPr lang="en-US" dirty="0"/>
              <a:t>The first apartment you visit is the $400 version</a:t>
            </a:r>
          </a:p>
          <a:p>
            <a:pPr eaLnBrk="1" hangingPunct="1"/>
            <a:r>
              <a:rPr lang="en-US" dirty="0"/>
              <a:t>Try the next apartment if the gamble is at least fair</a:t>
            </a:r>
          </a:p>
          <a:p>
            <a:pPr lvl="1" eaLnBrk="1" hangingPunct="1"/>
            <a:r>
              <a:rPr lang="en-US" dirty="0"/>
              <a:t>Two outcomes to the gamble</a:t>
            </a:r>
          </a:p>
          <a:p>
            <a:pPr lvl="2" eaLnBrk="1" hangingPunct="1"/>
            <a:r>
              <a:rPr lang="en-US" dirty="0"/>
              <a:t>You find a lower-priced apartment and your net benefit is $34 with 20% probability</a:t>
            </a:r>
          </a:p>
          <a:p>
            <a:pPr lvl="2" eaLnBrk="1" hangingPunct="1"/>
            <a:r>
              <a:rPr lang="en-US" dirty="0"/>
              <a:t>You find another $400 apartment and your net benefit is </a:t>
            </a:r>
            <a:r>
              <a:rPr lang="en-US" dirty="0">
                <a:cs typeface="Arial" charset="0"/>
              </a:rPr>
              <a:t>– </a:t>
            </a:r>
            <a:r>
              <a:rPr lang="en-US" dirty="0"/>
              <a:t>$6 with 80% probability</a:t>
            </a:r>
          </a:p>
          <a:p>
            <a:pPr lvl="1" eaLnBrk="1" hangingPunct="1"/>
            <a:r>
              <a:rPr lang="en-US" dirty="0"/>
              <a:t>Expected value of the gamble is </a:t>
            </a:r>
          </a:p>
          <a:p>
            <a:pPr lvl="3" eaLnBrk="1" hangingPunct="1">
              <a:buFontTx/>
              <a:buNone/>
            </a:pPr>
            <a:r>
              <a:rPr lang="en-US" dirty="0"/>
              <a:t>($34) (0.20) + (</a:t>
            </a:r>
            <a:r>
              <a:rPr lang="en-US" dirty="0">
                <a:cs typeface="Arial" charset="0"/>
              </a:rPr>
              <a:t>–</a:t>
            </a:r>
            <a:r>
              <a:rPr lang="en-US" dirty="0"/>
              <a:t> $6) (0.80) = $2 </a:t>
            </a:r>
          </a:p>
          <a:p>
            <a:pPr lvl="1" eaLnBrk="1" hangingPunct="1"/>
            <a:r>
              <a:rPr lang="en-US" dirty="0"/>
              <a:t>Gamble is more than fair.  Accept the gamble and keep searching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371475" y="525524"/>
            <a:ext cx="866775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Commitment Problems and Search</a:t>
            </a:r>
          </a:p>
        </p:txBody>
      </p:sp>
      <p:sp>
        <p:nvSpPr>
          <p:cNvPr id="118786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533400" y="1752600"/>
            <a:ext cx="8515350" cy="4953000"/>
          </a:xfrm>
        </p:spPr>
        <p:txBody>
          <a:bodyPr/>
          <a:lstStyle/>
          <a:p>
            <a:pPr eaLnBrk="1" hangingPunct="1"/>
            <a:r>
              <a:rPr lang="en-US" dirty="0"/>
              <a:t>Some searches are for circumstances requiring commitment over some period of time</a:t>
            </a:r>
          </a:p>
          <a:p>
            <a:pPr lvl="1" eaLnBrk="1" hangingPunct="1"/>
            <a:r>
              <a:rPr lang="en-US" dirty="0"/>
              <a:t>Leasing an apartment or Taking a job</a:t>
            </a:r>
          </a:p>
          <a:p>
            <a:pPr lvl="1" eaLnBrk="1" hangingPunct="1"/>
            <a:r>
              <a:rPr lang="en-US" dirty="0"/>
              <a:t>Contracts are used to bind parties together and may carry penalties for breaking the arrangement</a:t>
            </a:r>
          </a:p>
          <a:p>
            <a:pPr eaLnBrk="1" hangingPunct="1"/>
            <a:r>
              <a:rPr lang="en-US" dirty="0"/>
              <a:t>Search is costly and therefore limited</a:t>
            </a:r>
          </a:p>
          <a:p>
            <a:pPr lvl="1" eaLnBrk="1" hangingPunct="1"/>
            <a:r>
              <a:rPr lang="en-US" dirty="0"/>
              <a:t>People end their searches when the marginal cost of searching exceeds the marginal benefit</a:t>
            </a:r>
          </a:p>
          <a:p>
            <a:pPr lvl="1" eaLnBrk="1" hangingPunct="1"/>
            <a:r>
              <a:rPr lang="en-US" dirty="0"/>
              <a:t>One party may rationally choose to terminate the agreement and pay the penalties if better option arises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0396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Asymmetric Information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80396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Asymmetric information occurs when either the buyer or seller Is better informed about the goods in the market</a:t>
            </a:r>
          </a:p>
          <a:p>
            <a:pPr lvl="1" eaLnBrk="1" hangingPunct="1"/>
            <a:r>
              <a:rPr lang="en-US" dirty="0"/>
              <a:t>Mutually beneficial trades </a:t>
            </a:r>
            <a:br>
              <a:rPr lang="en-US" dirty="0"/>
            </a:br>
            <a:r>
              <a:rPr lang="en-US" dirty="0"/>
              <a:t>may not occur</a:t>
            </a:r>
          </a:p>
          <a:p>
            <a:pPr lvl="1" eaLnBrk="1" hangingPunct="1"/>
            <a:r>
              <a:rPr lang="en-US" dirty="0"/>
              <a:t>The party with the additional</a:t>
            </a:r>
          </a:p>
          <a:p>
            <a:pPr lvl="1" eaLnBrk="1" hangingPunct="1">
              <a:buNone/>
            </a:pPr>
            <a:r>
              <a:rPr lang="en-US" dirty="0"/>
              <a:t>   information may use to gain</a:t>
            </a:r>
          </a:p>
          <a:p>
            <a:pPr lvl="1" eaLnBrk="1" hangingPunct="1">
              <a:buNone/>
            </a:pPr>
            <a:r>
              <a:rPr lang="en-US" dirty="0"/>
              <a:t>   at the expense of the other</a:t>
            </a:r>
          </a:p>
          <a:p>
            <a:pPr lvl="1" eaLnBrk="1" hangingPunct="1">
              <a:buNone/>
            </a:pPr>
            <a:r>
              <a:rPr lang="en-US" dirty="0"/>
              <a:t>  party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881605948"/>
              </p:ext>
            </p:extLst>
          </p:nvPr>
        </p:nvGraphicFramePr>
        <p:xfrm>
          <a:off x="5031154" y="3050455"/>
          <a:ext cx="4059382" cy="2915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0396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Private Sale of a Used Car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80396" y="1447800"/>
            <a:ext cx="8229600" cy="5008084"/>
          </a:xfrm>
        </p:spPr>
        <p:txBody>
          <a:bodyPr/>
          <a:lstStyle/>
          <a:p>
            <a:pPr eaLnBrk="1" hangingPunct="1"/>
            <a:r>
              <a:rPr lang="en-US" dirty="0" err="1"/>
              <a:t>Akari's</a:t>
            </a:r>
            <a:r>
              <a:rPr lang="en-US" dirty="0"/>
              <a:t> used car is in excellent condition</a:t>
            </a:r>
          </a:p>
          <a:p>
            <a:pPr lvl="1" eaLnBrk="1" hangingPunct="1"/>
            <a:r>
              <a:rPr lang="en-US" dirty="0" err="1"/>
              <a:t>Akari</a:t>
            </a:r>
            <a:r>
              <a:rPr lang="en-US" dirty="0"/>
              <a:t> reservation price is $10,000</a:t>
            </a:r>
          </a:p>
          <a:p>
            <a:pPr lvl="1" eaLnBrk="1" hangingPunct="1"/>
            <a:r>
              <a:rPr lang="en-US" dirty="0"/>
              <a:t>Normal used car value is $8,000</a:t>
            </a:r>
          </a:p>
          <a:p>
            <a:pPr eaLnBrk="1" hangingPunct="1"/>
            <a:r>
              <a:rPr lang="en-US" dirty="0" err="1"/>
              <a:t>Haruto</a:t>
            </a:r>
            <a:r>
              <a:rPr lang="en-US" dirty="0"/>
              <a:t> wants to buy a used car</a:t>
            </a:r>
          </a:p>
          <a:p>
            <a:pPr lvl="1" eaLnBrk="1" hangingPunct="1"/>
            <a:r>
              <a:rPr lang="en-US" dirty="0"/>
              <a:t>His reservation price is $13,000 for one in excellent condition and $9,000 for one in average condition</a:t>
            </a:r>
          </a:p>
          <a:p>
            <a:pPr lvl="1" eaLnBrk="1" hangingPunct="1"/>
            <a:r>
              <a:rPr lang="en-US" dirty="0"/>
              <a:t>Determining the condition of </a:t>
            </a:r>
            <a:r>
              <a:rPr lang="en-US" dirty="0" err="1"/>
              <a:t>Akari's</a:t>
            </a:r>
            <a:r>
              <a:rPr lang="en-US" dirty="0"/>
              <a:t> car has a cost and the results are uncertain</a:t>
            </a:r>
          </a:p>
          <a:p>
            <a:pPr lvl="1" eaLnBrk="1" hangingPunct="1"/>
            <a:r>
              <a:rPr lang="en-US" dirty="0" err="1"/>
              <a:t>Haruto</a:t>
            </a:r>
            <a:r>
              <a:rPr lang="en-US" dirty="0"/>
              <a:t> cannot verify that </a:t>
            </a:r>
            <a:r>
              <a:rPr lang="en-US" dirty="0" err="1"/>
              <a:t>Akari's</a:t>
            </a:r>
            <a:r>
              <a:rPr lang="en-US" dirty="0"/>
              <a:t> car is superior</a:t>
            </a:r>
          </a:p>
          <a:p>
            <a:pPr eaLnBrk="1" hangingPunct="1"/>
            <a:r>
              <a:rPr lang="en-US" dirty="0" err="1"/>
              <a:t>Haruto</a:t>
            </a:r>
            <a:r>
              <a:rPr lang="en-US" dirty="0"/>
              <a:t> buys another used car for $8,000; </a:t>
            </a:r>
            <a:r>
              <a:rPr lang="en-US" dirty="0" err="1"/>
              <a:t>Akari's</a:t>
            </a:r>
            <a:r>
              <a:rPr lang="en-US" dirty="0"/>
              <a:t> is unsold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0396" y="54129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Surplus Loss and Asymmetric Information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80396" y="1978584"/>
            <a:ext cx="8229600" cy="4727016"/>
          </a:xfrm>
        </p:spPr>
        <p:txBody>
          <a:bodyPr/>
          <a:lstStyle/>
          <a:p>
            <a:pPr eaLnBrk="1" hangingPunct="1"/>
            <a:r>
              <a:rPr lang="en-US" dirty="0"/>
              <a:t>If </a:t>
            </a:r>
            <a:r>
              <a:rPr lang="en-US" dirty="0" err="1"/>
              <a:t>Haruto</a:t>
            </a:r>
            <a:r>
              <a:rPr lang="en-US" dirty="0"/>
              <a:t> can be convinced that </a:t>
            </a:r>
            <a:r>
              <a:rPr lang="en-US" dirty="0" err="1"/>
              <a:t>Akari’s</a:t>
            </a:r>
            <a:r>
              <a:rPr lang="en-US" dirty="0"/>
              <a:t> car is good, they can negotiate and agree at $11,000</a:t>
            </a:r>
          </a:p>
          <a:p>
            <a:pPr eaLnBrk="1" hangingPunct="1"/>
            <a:r>
              <a:rPr lang="en-US" dirty="0"/>
              <a:t>Buying a normal car, </a:t>
            </a:r>
            <a:r>
              <a:rPr lang="en-US" dirty="0" err="1"/>
              <a:t>Haruto's</a:t>
            </a:r>
            <a:r>
              <a:rPr lang="en-US" dirty="0"/>
              <a:t> “loss” is $1,000</a:t>
            </a:r>
          </a:p>
          <a:p>
            <a:pPr lvl="1" eaLnBrk="1" hangingPunct="1"/>
            <a:r>
              <a:rPr lang="en-US" dirty="0"/>
              <a:t>Pays $8,000 and has a gain of $1,000</a:t>
            </a:r>
          </a:p>
          <a:p>
            <a:pPr lvl="1" eaLnBrk="1" hangingPunct="1"/>
            <a:r>
              <a:rPr lang="en-US" dirty="0" err="1"/>
              <a:t>Haruto’s</a:t>
            </a:r>
            <a:r>
              <a:rPr lang="en-US" dirty="0"/>
              <a:t> loss from buying an average car instead of </a:t>
            </a:r>
            <a:r>
              <a:rPr lang="en-US" dirty="0" err="1"/>
              <a:t>Akari's</a:t>
            </a:r>
            <a:r>
              <a:rPr lang="en-US" dirty="0"/>
              <a:t> = $13,000 </a:t>
            </a:r>
            <a:r>
              <a:rPr lang="en-US" dirty="0">
                <a:cs typeface="Arial" charset="0"/>
              </a:rPr>
              <a:t>–</a:t>
            </a:r>
            <a:r>
              <a:rPr lang="en-US" dirty="0"/>
              <a:t> $11,000 = $2,000</a:t>
            </a:r>
          </a:p>
          <a:p>
            <a:pPr lvl="1" eaLnBrk="1" hangingPunct="1"/>
            <a:r>
              <a:rPr lang="en-US" dirty="0" err="1"/>
              <a:t>Haruto's</a:t>
            </a:r>
            <a:r>
              <a:rPr lang="en-US" dirty="0"/>
              <a:t> net loss is $1,000</a:t>
            </a:r>
          </a:p>
          <a:p>
            <a:pPr eaLnBrk="1" hangingPunct="1"/>
            <a:r>
              <a:rPr lang="en-US" dirty="0" err="1"/>
              <a:t>Akari’s</a:t>
            </a:r>
            <a:r>
              <a:rPr lang="en-US" dirty="0"/>
              <a:t> “loss” from losing </a:t>
            </a:r>
            <a:r>
              <a:rPr lang="en-US" dirty="0" err="1"/>
              <a:t>Haruto</a:t>
            </a:r>
            <a:r>
              <a:rPr lang="en-US" dirty="0"/>
              <a:t> as a customer is $1,000</a:t>
            </a:r>
          </a:p>
          <a:p>
            <a:pPr eaLnBrk="1" hangingPunct="1"/>
            <a:r>
              <a:rPr lang="en-US" dirty="0"/>
              <a:t>Total loss is $2,000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0396" y="320566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The Lemons Model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80396" y="1615966"/>
            <a:ext cx="8229600" cy="5089634"/>
          </a:xfrm>
        </p:spPr>
        <p:txBody>
          <a:bodyPr/>
          <a:lstStyle/>
          <a:p>
            <a:pPr eaLnBrk="1" hangingPunct="1"/>
            <a:r>
              <a:rPr lang="en-US" dirty="0"/>
              <a:t>People who have below average cars (lemons), are more likely to want to sell them</a:t>
            </a:r>
          </a:p>
          <a:p>
            <a:pPr lvl="1" eaLnBrk="1" hangingPunct="1"/>
            <a:r>
              <a:rPr lang="en-US" dirty="0"/>
              <a:t>Buyers know that below average cars are likely to be on the market and lower their reservation prices</a:t>
            </a:r>
          </a:p>
          <a:p>
            <a:pPr eaLnBrk="1" hangingPunct="1"/>
            <a:r>
              <a:rPr lang="en-US" dirty="0"/>
              <a:t>Good quality cars (jewels) are withdrawn from the market</a:t>
            </a:r>
          </a:p>
          <a:p>
            <a:pPr lvl="1" eaLnBrk="1" hangingPunct="1"/>
            <a:r>
              <a:rPr lang="en-US" dirty="0"/>
              <a:t>Average quality decreases further and reservation prices decrease again</a:t>
            </a:r>
          </a:p>
          <a:p>
            <a:pPr eaLnBrk="1" hangingPunct="1"/>
            <a:r>
              <a:rPr lang="en-US" dirty="0"/>
              <a:t>The </a:t>
            </a:r>
            <a:r>
              <a:rPr lang="en-US" b="1" dirty="0"/>
              <a:t>lemons model</a:t>
            </a:r>
            <a:r>
              <a:rPr lang="en-US" dirty="0"/>
              <a:t> says that asymmetric information tends to reduce the average quality of goods for sale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74992" y="14714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Naive Buyer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74992" y="1190284"/>
            <a:ext cx="8229600" cy="5515316"/>
          </a:xfrm>
        </p:spPr>
        <p:txBody>
          <a:bodyPr/>
          <a:lstStyle/>
          <a:p>
            <a:pPr eaLnBrk="1" hangingPunct="1"/>
            <a:r>
              <a:rPr lang="en-US" dirty="0"/>
              <a:t>Two kinds of cars:  good cars and lemons</a:t>
            </a:r>
          </a:p>
          <a:p>
            <a:pPr lvl="1" eaLnBrk="1" hangingPunct="1"/>
            <a:r>
              <a:rPr lang="en-US" dirty="0"/>
              <a:t>Owners know what kind they have</a:t>
            </a:r>
          </a:p>
          <a:p>
            <a:pPr lvl="1" eaLnBrk="1" hangingPunct="1"/>
            <a:r>
              <a:rPr lang="en-US" dirty="0"/>
              <a:t>Buyers can't determine a car's quality</a:t>
            </a:r>
          </a:p>
          <a:p>
            <a:pPr lvl="1" eaLnBrk="1" hangingPunct="1"/>
            <a:r>
              <a:rPr lang="en-US" dirty="0"/>
              <a:t>Buyers are risk neutral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>
              <a:buFontTx/>
              <a:buNone/>
            </a:pPr>
            <a:endParaRPr lang="en-US" dirty="0"/>
          </a:p>
          <a:p>
            <a:pPr eaLnBrk="1" hangingPunct="1">
              <a:spcBef>
                <a:spcPts val="2200"/>
              </a:spcBef>
            </a:pPr>
            <a:r>
              <a:rPr lang="en-US" dirty="0"/>
              <a:t>Buyer offer the expected value for a used car:</a:t>
            </a:r>
          </a:p>
          <a:p>
            <a:pPr lvl="1" eaLnBrk="1" hangingPunct="1"/>
            <a:r>
              <a:rPr lang="en-US" dirty="0"/>
              <a:t>(0.90)($10,000)+(0.10)($6,000) = $9,600</a:t>
            </a:r>
          </a:p>
          <a:p>
            <a:pPr eaLnBrk="1" hangingPunct="1"/>
            <a:r>
              <a:rPr lang="en-US" dirty="0"/>
              <a:t>Good car owner refuse to sell.  Bad car owners keen to sell.  The buyer will get a lemon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40546"/>
              </p:ext>
            </p:extLst>
          </p:nvPr>
        </p:nvGraphicFramePr>
        <p:xfrm>
          <a:off x="1713192" y="3252835"/>
          <a:ext cx="6096000" cy="1188720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Good Cars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Lemons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Probability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90%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10%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Value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$10,000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$6,000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0396" y="336332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Credibility Problem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80396" y="1600200"/>
            <a:ext cx="8229600" cy="4789583"/>
          </a:xfrm>
        </p:spPr>
        <p:txBody>
          <a:bodyPr/>
          <a:lstStyle/>
          <a:p>
            <a:pPr eaLnBrk="1" hangingPunct="1"/>
            <a:r>
              <a:rPr lang="en-US" dirty="0"/>
              <a:t>Parties gain if they find a way to communicate information truthfully</a:t>
            </a:r>
          </a:p>
          <a:p>
            <a:pPr eaLnBrk="1" hangingPunct="1"/>
            <a:r>
              <a:rPr lang="en-US" dirty="0"/>
              <a:t>If </a:t>
            </a:r>
            <a:r>
              <a:rPr lang="en-US" dirty="0" err="1"/>
              <a:t>Akari</a:t>
            </a:r>
            <a:r>
              <a:rPr lang="en-US" dirty="0"/>
              <a:t> can convince </a:t>
            </a:r>
            <a:r>
              <a:rPr lang="en-US" dirty="0" err="1"/>
              <a:t>Haruto</a:t>
            </a:r>
            <a:r>
              <a:rPr lang="en-US" dirty="0"/>
              <a:t> her car is in excellent condition, </a:t>
            </a:r>
            <a:r>
              <a:rPr lang="en-US" dirty="0" err="1"/>
              <a:t>Haruto</a:t>
            </a:r>
            <a:r>
              <a:rPr lang="en-US" dirty="0"/>
              <a:t> will buy</a:t>
            </a:r>
          </a:p>
          <a:p>
            <a:pPr lvl="1" eaLnBrk="1" hangingPunct="1"/>
            <a:r>
              <a:rPr lang="en-US" dirty="0"/>
              <a:t>Statements are not credible</a:t>
            </a:r>
          </a:p>
          <a:p>
            <a:pPr lvl="1" eaLnBrk="1" hangingPunct="1"/>
            <a:r>
              <a:rPr lang="en-US" dirty="0" err="1"/>
              <a:t>Akari</a:t>
            </a:r>
            <a:r>
              <a:rPr lang="en-US" dirty="0"/>
              <a:t> offers </a:t>
            </a:r>
            <a:r>
              <a:rPr lang="en-US" dirty="0" err="1"/>
              <a:t>Haruto</a:t>
            </a:r>
            <a:r>
              <a:rPr lang="en-US" dirty="0"/>
              <a:t> a six-month warranty on all car defects at the time of purchase</a:t>
            </a:r>
          </a:p>
          <a:p>
            <a:pPr lvl="2" eaLnBrk="1" hangingPunct="1"/>
            <a:r>
              <a:rPr lang="en-US" dirty="0"/>
              <a:t>A warranty for a lemon would cost more than the economic surplus gained</a:t>
            </a:r>
          </a:p>
          <a:p>
            <a:pPr lvl="2" eaLnBrk="1" hangingPunct="1"/>
            <a:r>
              <a:rPr lang="en-US" dirty="0"/>
              <a:t>Only sellers of good quality cars would offer the warranty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0396" y="367864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The Costly-to-Fake Principle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80396" y="1663264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To communicate information credibly, a signal must be costly or difficult to fake</a:t>
            </a:r>
          </a:p>
          <a:p>
            <a:pPr lvl="1" eaLnBrk="1" hangingPunct="1"/>
            <a:r>
              <a:rPr lang="en-US"/>
              <a:t>Sellers have an incentive to exaggerate the quality of their product</a:t>
            </a:r>
          </a:p>
          <a:p>
            <a:pPr lvl="1" eaLnBrk="1" hangingPunct="1"/>
            <a:r>
              <a:rPr lang="en-US"/>
              <a:t>Buyers value objective information about quality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0396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Costly Signals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4294967295"/>
          </p:nvPr>
        </p:nvSpPr>
        <p:spPr>
          <a:xfrm>
            <a:off x="657225" y="1600200"/>
            <a:ext cx="8400396" cy="5105400"/>
          </a:xfrm>
        </p:spPr>
        <p:txBody>
          <a:bodyPr/>
          <a:lstStyle/>
          <a:p>
            <a:pPr eaLnBrk="1" hangingPunct="1"/>
            <a:r>
              <a:rPr lang="en-US" dirty="0"/>
              <a:t>Television advertising is expensive</a:t>
            </a:r>
          </a:p>
          <a:p>
            <a:pPr lvl="1" eaLnBrk="1" hangingPunct="1"/>
            <a:r>
              <a:rPr lang="en-US" dirty="0"/>
              <a:t>Signals a company's commitment to its product and a potential signal of quality</a:t>
            </a:r>
          </a:p>
          <a:p>
            <a:pPr eaLnBrk="1" hangingPunct="1"/>
            <a:r>
              <a:rPr lang="en-US" dirty="0"/>
              <a:t>Educational institutions' brands and students' grades signal quality</a:t>
            </a:r>
          </a:p>
          <a:p>
            <a:pPr lvl="1" eaLnBrk="1" hangingPunct="1"/>
            <a:r>
              <a:rPr lang="en-US" dirty="0"/>
              <a:t>A</a:t>
            </a:r>
            <a:r>
              <a:rPr lang="en-US" baseline="30000" dirty="0"/>
              <a:t>+</a:t>
            </a:r>
            <a:r>
              <a:rPr lang="en-US" dirty="0"/>
              <a:t> student from prestige institution more likely to be offered a job than C student from average institution</a:t>
            </a:r>
          </a:p>
          <a:p>
            <a:pPr eaLnBrk="1" hangingPunct="1"/>
            <a:r>
              <a:rPr lang="en-US" dirty="0"/>
              <a:t>Conspicuous Consumption</a:t>
            </a:r>
          </a:p>
          <a:p>
            <a:pPr lvl="1" eaLnBrk="1" hangingPunct="1"/>
            <a:r>
              <a:rPr lang="en-US" dirty="0"/>
              <a:t>Consume branded goods and cars signal success</a:t>
            </a:r>
          </a:p>
          <a:p>
            <a:pPr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0396" y="63064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Statistical Discrimination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80396" y="1143000"/>
            <a:ext cx="8229600" cy="5486400"/>
          </a:xfrm>
        </p:spPr>
        <p:txBody>
          <a:bodyPr/>
          <a:lstStyle/>
          <a:p>
            <a:pPr eaLnBrk="1" hangingPunct="1"/>
            <a:r>
              <a:rPr lang="en-US" b="1" dirty="0"/>
              <a:t>Statistical discrimination</a:t>
            </a:r>
            <a:r>
              <a:rPr lang="en-US" dirty="0"/>
              <a:t> uses group characteristics to infer individual characteristics</a:t>
            </a:r>
          </a:p>
          <a:p>
            <a:pPr eaLnBrk="1" hangingPunct="1"/>
            <a:r>
              <a:rPr lang="en-US" dirty="0"/>
              <a:t>Example</a:t>
            </a:r>
          </a:p>
          <a:p>
            <a:pPr lvl="1" eaLnBrk="1" hangingPunct="1"/>
            <a:r>
              <a:rPr lang="en-US" dirty="0"/>
              <a:t>Women in late twenties tend to have babies - High cost in employment </a:t>
            </a:r>
          </a:p>
          <a:p>
            <a:pPr lvl="1" eaLnBrk="1" hangingPunct="1"/>
            <a:r>
              <a:rPr lang="en-US" dirty="0"/>
              <a:t>Younger male drivers more likely to involve in car accident – Charge a higher insurance premium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0396" y="80963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Adverse Selection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80396" y="1223962"/>
            <a:ext cx="8229600" cy="5024437"/>
          </a:xfrm>
        </p:spPr>
        <p:txBody>
          <a:bodyPr/>
          <a:lstStyle/>
          <a:p>
            <a:pPr eaLnBrk="1" hangingPunct="1"/>
            <a:r>
              <a:rPr lang="en-US" b="1" dirty="0"/>
              <a:t>Adverse selection</a:t>
            </a:r>
            <a:r>
              <a:rPr lang="en-US" dirty="0"/>
              <a:t> occurs because insurance tends to be purchased more by those who are most costly for companies to insure</a:t>
            </a:r>
          </a:p>
          <a:p>
            <a:pPr lvl="1" eaLnBrk="1" hangingPunct="1"/>
            <a:r>
              <a:rPr lang="en-US" dirty="0"/>
              <a:t>Insurance is most valuable to those with many claims</a:t>
            </a:r>
          </a:p>
          <a:p>
            <a:pPr eaLnBrk="1" hangingPunct="1"/>
            <a:r>
              <a:rPr lang="en-US" dirty="0"/>
              <a:t>Adverse selection increases insurance premiums</a:t>
            </a:r>
          </a:p>
          <a:p>
            <a:pPr lvl="1" eaLnBrk="1" hangingPunct="1"/>
            <a:r>
              <a:rPr lang="en-US" dirty="0"/>
              <a:t>Reduces attractiveness of insurance to low-risk customers</a:t>
            </a:r>
          </a:p>
          <a:p>
            <a:pPr lvl="2" eaLnBrk="1" hangingPunct="1"/>
            <a:r>
              <a:rPr lang="en-US" dirty="0"/>
              <a:t>"Best" insurance risk customers opt out</a:t>
            </a:r>
          </a:p>
          <a:p>
            <a:pPr lvl="1" eaLnBrk="1" hangingPunct="1"/>
            <a:r>
              <a:rPr lang="en-US" dirty="0"/>
              <a:t>Rates increase and drive out good customers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96162" y="63064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Moral Hazard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33400" y="1143000"/>
            <a:ext cx="8492362" cy="5486400"/>
          </a:xfrm>
        </p:spPr>
        <p:txBody>
          <a:bodyPr/>
          <a:lstStyle/>
          <a:p>
            <a:pPr eaLnBrk="1" hangingPunct="1"/>
            <a:r>
              <a:rPr lang="en-US" b="1" dirty="0"/>
              <a:t>Moral hazard</a:t>
            </a:r>
            <a:r>
              <a:rPr lang="en-US" dirty="0"/>
              <a:t> is the tendency of people to expend less effort protecting insured goods</a:t>
            </a:r>
          </a:p>
          <a:p>
            <a:pPr lvl="1" eaLnBrk="1" hangingPunct="1"/>
            <a:r>
              <a:rPr lang="en-US" dirty="0"/>
              <a:t>People take more risk with insured goods or activities</a:t>
            </a:r>
          </a:p>
          <a:p>
            <a:pPr lvl="1" eaLnBrk="1" hangingPunct="1"/>
            <a:r>
              <a:rPr lang="en-US" dirty="0"/>
              <a:t>Deductibles give policy holders an incentive to be more cautious</a:t>
            </a:r>
          </a:p>
          <a:p>
            <a:pPr eaLnBrk="1" hangingPunct="1"/>
            <a:r>
              <a:rPr lang="en-US" dirty="0"/>
              <a:t>Use co-payment to reduce moral hazard</a:t>
            </a:r>
          </a:p>
          <a:p>
            <a:pPr eaLnBrk="1" hangingPunct="1"/>
            <a:r>
              <a:rPr lang="en-US" dirty="0"/>
              <a:t>Suppose a car owner has a $1,000 deductible policy</a:t>
            </a:r>
          </a:p>
          <a:p>
            <a:pPr lvl="1" eaLnBrk="1" hangingPunct="1"/>
            <a:r>
              <a:rPr lang="en-US" dirty="0"/>
              <a:t>The owner pays the first $1,000 of each claim</a:t>
            </a:r>
          </a:p>
          <a:p>
            <a:pPr lvl="2" eaLnBrk="1" hangingPunct="1"/>
            <a:r>
              <a:rPr lang="en-US" dirty="0"/>
              <a:t>Strong incentive to avoid accidents</a:t>
            </a:r>
          </a:p>
          <a:p>
            <a:pPr lvl="1" eaLnBrk="1" hangingPunct="1"/>
            <a:r>
              <a:rPr lang="en-US" dirty="0"/>
              <a:t>Claims less than $1,000 are not reported</a:t>
            </a:r>
          </a:p>
          <a:p>
            <a:pPr lvl="1" eaLnBrk="1" hangingPunct="1"/>
            <a:r>
              <a:rPr lang="en-US" dirty="0"/>
              <a:t>Insurance premiums go down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Thank You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This is the end of </a:t>
            </a:r>
            <a:r>
              <a:rPr lang="en-US"/>
              <a:t>Lecture 5.  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Thank you for your participation.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Please send your query to me via my email at khayboon@ntu.edu.sg.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319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</TotalTime>
  <Words>3205</Words>
  <Application>Microsoft Office PowerPoint</Application>
  <PresentationFormat>On-screen Show (4:3)</PresentationFormat>
  <Paragraphs>543</Paragraphs>
  <Slides>51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Arial Black</vt:lpstr>
      <vt:lpstr>Symbol</vt:lpstr>
      <vt:lpstr>Times New Roman</vt:lpstr>
      <vt:lpstr>Wingdings</vt:lpstr>
      <vt:lpstr>1_Default Design</vt:lpstr>
      <vt:lpstr>HE5091 Principles of Economics Lecture 5 Externalities, Property Rights and Economics of Information</vt:lpstr>
      <vt:lpstr>Topics</vt:lpstr>
      <vt:lpstr>External Costs and Benefits</vt:lpstr>
      <vt:lpstr>Externalities Affect Resource Allocation</vt:lpstr>
      <vt:lpstr>Honeybee Keeper – Scenario 1</vt:lpstr>
      <vt:lpstr>Honeybee Keeper – Scenario 2</vt:lpstr>
      <vt:lpstr>External Costs</vt:lpstr>
      <vt:lpstr>Positive Externality for Consumers</vt:lpstr>
      <vt:lpstr>Effects of Externalities</vt:lpstr>
      <vt:lpstr>Remedying Externalities</vt:lpstr>
      <vt:lpstr>Abercrombie the Polluter – Scenario 1</vt:lpstr>
      <vt:lpstr>Abercrombie's Filter Options</vt:lpstr>
      <vt:lpstr>Abercrombie the Polluter – Scenario 2</vt:lpstr>
      <vt:lpstr>The Coase Theorem</vt:lpstr>
      <vt:lpstr>Abercrombie the Polluter – Scenario 3</vt:lpstr>
      <vt:lpstr>Abercrombie the Polluter – Scenario 3</vt:lpstr>
      <vt:lpstr>Laws Can Change the Outcome</vt:lpstr>
      <vt:lpstr>Shared Living</vt:lpstr>
      <vt:lpstr>Benefits and Costs of Shared Living</vt:lpstr>
      <vt:lpstr>Net Benefit of Shared Living</vt:lpstr>
      <vt:lpstr>Dividing the Rent</vt:lpstr>
      <vt:lpstr>Legal Remedies for Externalities</vt:lpstr>
      <vt:lpstr>Legal Remedies for Externalities</vt:lpstr>
      <vt:lpstr>Optimal Amount of Negative Externalities</vt:lpstr>
      <vt:lpstr>Taxes and Subsidies</vt:lpstr>
      <vt:lpstr>Taxing a Negative Externality</vt:lpstr>
      <vt:lpstr>Subsidizing a Positive Externality</vt:lpstr>
      <vt:lpstr>Information and Invisible Hand</vt:lpstr>
      <vt:lpstr>Consumer Choice: Buying DSLR Camera</vt:lpstr>
      <vt:lpstr>Selling Product Online</vt:lpstr>
      <vt:lpstr>Selling Win the War stamp</vt:lpstr>
      <vt:lpstr>The Optimal Amount of Information</vt:lpstr>
      <vt:lpstr>Free Rider Problem</vt:lpstr>
      <vt:lpstr>Rational Search Guidelines</vt:lpstr>
      <vt:lpstr>Gamble Inherent in Search</vt:lpstr>
      <vt:lpstr>Risk Preferences</vt:lpstr>
      <vt:lpstr>The Gamble in the Search</vt:lpstr>
      <vt:lpstr>Hong Kong Apartment Search</vt:lpstr>
      <vt:lpstr>Commitment Problems and Search</vt:lpstr>
      <vt:lpstr>Asymmetric Information</vt:lpstr>
      <vt:lpstr>Private Sale of a Used Car</vt:lpstr>
      <vt:lpstr>Surplus Loss and Asymmetric Information</vt:lpstr>
      <vt:lpstr>The Lemons Model</vt:lpstr>
      <vt:lpstr>Naive Buyer</vt:lpstr>
      <vt:lpstr>Credibility Problem</vt:lpstr>
      <vt:lpstr>The Costly-to-Fake Principle</vt:lpstr>
      <vt:lpstr>Costly Signals</vt:lpstr>
      <vt:lpstr>Statistical Discrimination</vt:lpstr>
      <vt:lpstr>Adverse Selection</vt:lpstr>
      <vt:lpstr>Moral Hazard</vt:lpstr>
      <vt:lpstr>Thank You</vt:lpstr>
    </vt:vector>
  </TitlesOfParts>
  <Company>The McGraw-Hill Companies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Externalities and Property Rights</dc:title>
  <dc:creator>The McGraw-Hill Companies</dc:creator>
  <cp:lastModifiedBy>Dr Tan Khay Boon</cp:lastModifiedBy>
  <cp:revision>39</cp:revision>
  <dcterms:created xsi:type="dcterms:W3CDTF">2010-10-26T16:04:18Z</dcterms:created>
  <dcterms:modified xsi:type="dcterms:W3CDTF">2024-08-07T02:36:06Z</dcterms:modified>
</cp:coreProperties>
</file>